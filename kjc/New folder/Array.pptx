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9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sldSz cx="9144000" cy="6858000" type="screen4x3"/>
  <p:notesSz cx="9144000" cy="6858000"/>
  <p:embeddedFontLst>
    <p:embeddedFont>
      <p:font typeface="Caladea" panose="020B0604020202020204" charset="0"/>
      <p:regular r:id="rId44"/>
    </p:embeddedFont>
    <p:embeddedFont>
      <p:font typeface="Calibri" panose="020F0502020204030204" pitchFamily="34" charset="0"/>
      <p:regular r:id="rId45"/>
      <p:bold r:id="rId46"/>
      <p:italic r:id="rId47"/>
      <p:boldItalic r:id="rId48"/>
    </p:embeddedFont>
    <p:embeddedFont>
      <p:font typeface="DJKGHD+Courier New" panose="020B0604020202020204" charset="0"/>
      <p:regular r:id="rId49"/>
    </p:embeddedFont>
    <p:embeddedFont>
      <p:font typeface="GCKEMB+Century Schoolbook Bold" panose="020B0604020202020204" charset="0"/>
      <p:regular r:id="rId50"/>
    </p:embeddedFont>
    <p:embeddedFont>
      <p:font typeface="Gill Sans MT" panose="020B0502020104020203" pitchFamily="34" charset="0"/>
      <p:regular r:id="rId51"/>
      <p:bold r:id="rId52"/>
      <p:italic r:id="rId53"/>
      <p:boldItalic r:id="rId54"/>
    </p:embeddedFont>
    <p:embeddedFont>
      <p:font typeface="GPGULP+Century Schoolbook Italic" panose="020B0604020202020204" charset="0"/>
      <p:regular r:id="rId55"/>
    </p:embeddedFont>
    <p:embeddedFont>
      <p:font typeface="GSODNI+Wingdings" panose="020B0604020202020204" charset="2"/>
      <p:regular r:id="rId56"/>
    </p:embeddedFont>
    <p:embeddedFont>
      <p:font typeface="GTOIKD+Courier New Bold" panose="020B0604020202020204" charset="0"/>
      <p:regular r:id="rId57"/>
    </p:embeddedFont>
    <p:embeddedFont>
      <p:font typeface="HFBCCF+Century Schoolbook" panose="020B0604020202020204" charset="0"/>
      <p:regular r:id="rId58"/>
    </p:embeddedFont>
    <p:embeddedFont>
      <p:font typeface="MFMLKN+Courier New Italic" panose="020B0604020202020204" charset="0"/>
      <p:regular r:id="rId59"/>
    </p:embeddedFont>
    <p:embeddedFont>
      <p:font typeface="OFJNAT+Century Schoolbook" panose="020B0604020202020204" charset="0"/>
      <p:regular r:id="rId60"/>
    </p:embeddedFont>
    <p:embeddedFont>
      <p:font typeface="QPIEFM+Courier New" panose="020B0604020202020204" charset="0"/>
      <p:regular r:id="rId61"/>
    </p:embeddedFont>
    <p:embeddedFont>
      <p:font typeface="ROGCQF+DejaVu Serif" panose="020B0604020202020204" charset="0"/>
      <p:regular r:id="rId62"/>
    </p:embeddedFont>
    <p:embeddedFont>
      <p:font typeface="SNFKJM+Wingdings 2" panose="020B0604020202020204" charset="2"/>
      <p:regular r:id="rId63"/>
    </p:embeddedFont>
    <p:embeddedFont>
      <p:font typeface="WVUMFT+Courier New Bold" panose="020B0604020202020204" charset="0"/>
      <p:regular r:id="rId6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A4A3A4"/>
          </p15:clr>
        </p15:guide>
        <p15:guide id="2" pos="244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1400" y="44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4.fntdata"/><Relationship Id="rId50" Type="http://schemas.openxmlformats.org/officeDocument/2006/relationships/font" Target="fonts/font7.fntdata"/><Relationship Id="rId55" Type="http://schemas.openxmlformats.org/officeDocument/2006/relationships/font" Target="fonts/font12.fntdata"/><Relationship Id="rId63" Type="http://schemas.openxmlformats.org/officeDocument/2006/relationships/font" Target="fonts/font20.fntdata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2.fntdata"/><Relationship Id="rId53" Type="http://schemas.openxmlformats.org/officeDocument/2006/relationships/font" Target="fonts/font10.fntdata"/><Relationship Id="rId58" Type="http://schemas.openxmlformats.org/officeDocument/2006/relationships/font" Target="fonts/font15.fntdata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font" Target="fonts/font18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5.fntdata"/><Relationship Id="rId56" Type="http://schemas.openxmlformats.org/officeDocument/2006/relationships/font" Target="fonts/font13.fntdata"/><Relationship Id="rId64" Type="http://schemas.openxmlformats.org/officeDocument/2006/relationships/font" Target="fonts/font21.fntdata"/><Relationship Id="rId8" Type="http://schemas.openxmlformats.org/officeDocument/2006/relationships/slide" Target="slides/slide7.xml"/><Relationship Id="rId51" Type="http://schemas.openxmlformats.org/officeDocument/2006/relationships/font" Target="fonts/font8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3.fntdata"/><Relationship Id="rId59" Type="http://schemas.openxmlformats.org/officeDocument/2006/relationships/font" Target="fonts/font16.fntdata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11.fntdata"/><Relationship Id="rId62" Type="http://schemas.openxmlformats.org/officeDocument/2006/relationships/font" Target="fonts/font1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6.fntdata"/><Relationship Id="rId57" Type="http://schemas.openxmlformats.org/officeDocument/2006/relationships/font" Target="fonts/font14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1.fntdata"/><Relationship Id="rId52" Type="http://schemas.openxmlformats.org/officeDocument/2006/relationships/font" Target="fonts/font9.fntdata"/><Relationship Id="rId60" Type="http://schemas.openxmlformats.org/officeDocument/2006/relationships/font" Target="fonts/font17.fntdata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9/17/2024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33D4B8-ADB6-4FC7-82A8-624928F6F9DE}"/>
              </a:ext>
            </a:extLst>
          </p:cNvPr>
          <p:cNvSpPr txBox="1"/>
          <p:nvPr/>
        </p:nvSpPr>
        <p:spPr>
          <a:xfrm>
            <a:off x="2987824" y="2348880"/>
            <a:ext cx="30243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2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 panose="020B0502020104020203" pitchFamily="34" charset="0"/>
              </a:rPr>
              <a:t>Arrays</a:t>
            </a:r>
          </a:p>
        </p:txBody>
      </p:sp>
    </p:spTree>
    <p:extLst>
      <p:ext uri="{BB962C8B-B14F-4D97-AF65-F5344CB8AC3E}">
        <p14:creationId xmlns:p14="http://schemas.microsoft.com/office/powerpoint/2010/main" val="390896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48640" y="334532"/>
            <a:ext cx="1763368" cy="4962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07"/>
              </a:lnSpc>
              <a:spcBef>
                <a:spcPts val="0"/>
              </a:spcBef>
              <a:spcAft>
                <a:spcPts val="0"/>
              </a:spcAft>
            </a:pPr>
            <a:r>
              <a:rPr sz="3000" dirty="0">
                <a:solidFill>
                  <a:srgbClr val="575F6D"/>
                </a:solidFill>
                <a:latin typeface="HFBCCF+Century Schoolbook"/>
                <a:cs typeface="HFBCCF+Century Schoolbook"/>
              </a:rPr>
              <a:t>ARRAYS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8640" y="822245"/>
            <a:ext cx="7722056" cy="3444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8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FE8637"/>
                </a:solidFill>
                <a:latin typeface="GSODNI+Wingdings"/>
                <a:cs typeface="GSODNI+Wingdings"/>
              </a:rPr>
              <a:t>.</a:t>
            </a:r>
            <a:r>
              <a:rPr sz="1400" spc="2654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An array</a:t>
            </a:r>
            <a:r>
              <a:rPr sz="2000" spc="-25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is</a:t>
            </a:r>
            <a:r>
              <a:rPr sz="2000" spc="-14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 </a:t>
            </a:r>
            <a:r>
              <a:rPr sz="2000" u="sng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collection</a:t>
            </a:r>
            <a:r>
              <a:rPr sz="2000" u="sng" spc="82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u="sng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of</a:t>
            </a:r>
            <a:r>
              <a:rPr sz="2000" u="sng" spc="94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u="sng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elements</a:t>
            </a:r>
            <a:r>
              <a:rPr sz="2000" u="sng" spc="7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u="sng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of</a:t>
            </a:r>
            <a:r>
              <a:rPr sz="2000" u="sng" spc="94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u="sng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the</a:t>
            </a:r>
            <a:r>
              <a:rPr sz="2000" u="sng" spc="104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u="sng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same</a:t>
            </a:r>
            <a:r>
              <a:rPr sz="2000" u="sng" spc="107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u="sng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type</a:t>
            </a:r>
            <a:r>
              <a:rPr sz="2000" u="sng" spc="97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u="sng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that</a:t>
            </a:r>
            <a:r>
              <a:rPr sz="2000" u="sng" spc="102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u="sng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are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06144" y="1066586"/>
            <a:ext cx="3777662" cy="3439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3"/>
              </a:lnSpc>
              <a:spcBef>
                <a:spcPts val="0"/>
              </a:spcBef>
              <a:spcAft>
                <a:spcPts val="0"/>
              </a:spcAft>
            </a:pPr>
            <a:r>
              <a:rPr sz="2000" u="sng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referenced</a:t>
            </a:r>
            <a:r>
              <a:rPr sz="2000" u="sng" spc="76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u="sng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by</a:t>
            </a:r>
            <a:r>
              <a:rPr sz="2000" u="sng" spc="104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u="sng" strike="dblStrike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</a:t>
            </a:r>
            <a:r>
              <a:rPr sz="2000" u="sng" strike="dblStrike" spc="118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u="sng" strike="dblStrike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common</a:t>
            </a:r>
            <a:r>
              <a:rPr sz="2000" u="sng" strike="dblStrike" spc="95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u="sng" strike="dblStrike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name</a:t>
            </a:r>
            <a:r>
              <a:rPr sz="2000" strike="sngStrike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48640" y="1700150"/>
            <a:ext cx="6882377" cy="3658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11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FE8637"/>
                </a:solidFill>
                <a:latin typeface="GSODNI+Wingdings"/>
                <a:cs typeface="GSODNI+Wingdings"/>
              </a:rPr>
              <a:t>.</a:t>
            </a:r>
            <a:r>
              <a:rPr sz="1400" spc="2654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Compared</a:t>
            </a:r>
            <a:r>
              <a:rPr sz="2000" spc="-24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to</a:t>
            </a:r>
            <a:r>
              <a:rPr sz="2000" spc="-23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the</a:t>
            </a:r>
            <a:r>
              <a:rPr sz="2000" spc="-14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basic</a:t>
            </a:r>
            <a:r>
              <a:rPr sz="2000" spc="-18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data</a:t>
            </a:r>
            <a:r>
              <a:rPr sz="2000" spc="-26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type</a:t>
            </a:r>
            <a:r>
              <a:rPr sz="2000" spc="-22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spc="14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(</a:t>
            </a:r>
            <a:r>
              <a:rPr sz="2000" dirty="0">
                <a:solidFill>
                  <a:srgbClr val="000000"/>
                </a:solidFill>
                <a:latin typeface="QPIEFM+Courier New"/>
                <a:cs typeface="QPIEFM+Courier New"/>
              </a:rPr>
              <a:t>int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,</a:t>
            </a:r>
            <a:r>
              <a:rPr sz="2000" spc="-19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QPIEFM+Courier New"/>
                <a:cs typeface="QPIEFM+Courier New"/>
              </a:rPr>
              <a:t>float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)</a:t>
            </a:r>
            <a:r>
              <a:rPr sz="2000" spc="-1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it</a:t>
            </a:r>
            <a:r>
              <a:rPr sz="2000" spc="-12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is</a:t>
            </a:r>
            <a:r>
              <a:rPr sz="2000" spc="-15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06144" y="1950386"/>
            <a:ext cx="3812715" cy="3444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8"/>
              </a:lnSpc>
              <a:spcBef>
                <a:spcPts val="0"/>
              </a:spcBef>
              <a:spcAft>
                <a:spcPts val="0"/>
              </a:spcAft>
            </a:pPr>
            <a:r>
              <a:rPr sz="2000" u="sng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aggregate</a:t>
            </a:r>
            <a:r>
              <a:rPr sz="2000" spc="-42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or </a:t>
            </a:r>
            <a:r>
              <a:rPr sz="2000" u="sng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derived</a:t>
            </a:r>
            <a:r>
              <a:rPr sz="2000" u="sng" spc="79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u="sng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data</a:t>
            </a:r>
            <a:r>
              <a:rPr sz="2000" u="sng" spc="105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u="sng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type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48640" y="2590467"/>
            <a:ext cx="6994719" cy="3439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8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FE8637"/>
                </a:solidFill>
                <a:latin typeface="GSODNI+Wingdings"/>
                <a:cs typeface="GSODNI+Wingdings"/>
              </a:rPr>
              <a:t>.</a:t>
            </a:r>
            <a:r>
              <a:rPr sz="1400" spc="2654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All</a:t>
            </a:r>
            <a:r>
              <a:rPr sz="2000" spc="-27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the</a:t>
            </a:r>
            <a:r>
              <a:rPr sz="2000" spc="-1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elements</a:t>
            </a:r>
            <a:r>
              <a:rPr sz="2000" spc="-43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of an</a:t>
            </a:r>
            <a:r>
              <a:rPr sz="2000" spc="-14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array</a:t>
            </a:r>
            <a:r>
              <a:rPr sz="2000" spc="-13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occupy</a:t>
            </a:r>
            <a:r>
              <a:rPr sz="2000" spc="-1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</a:t>
            </a:r>
            <a:r>
              <a:rPr sz="2000" spc="-13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set</a:t>
            </a:r>
            <a:r>
              <a:rPr sz="2000" spc="-13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of</a:t>
            </a:r>
            <a:r>
              <a:rPr sz="2000" spc="-2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contiguous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006144" y="2834306"/>
            <a:ext cx="2289984" cy="3439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memory</a:t>
            </a:r>
            <a:r>
              <a:rPr sz="2000" spc="-25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locations.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48640" y="3474641"/>
            <a:ext cx="3985231" cy="9840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8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FE8637"/>
                </a:solidFill>
                <a:latin typeface="GSODNI+Wingdings"/>
                <a:cs typeface="GSODNI+Wingdings"/>
              </a:rPr>
              <a:t>.</a:t>
            </a:r>
            <a:r>
              <a:rPr sz="1400" spc="2654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Why</a:t>
            </a:r>
            <a:r>
              <a:rPr sz="2000" spc="-12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need</a:t>
            </a:r>
            <a:r>
              <a:rPr sz="2000" spc="-3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to</a:t>
            </a:r>
            <a:r>
              <a:rPr sz="2000" spc="-12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use array</a:t>
            </a:r>
            <a:r>
              <a:rPr sz="2000" spc="-27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type?</a:t>
            </a:r>
          </a:p>
          <a:p>
            <a:pPr marL="0" marR="0">
              <a:lnSpc>
                <a:spcPts val="2408"/>
              </a:lnSpc>
              <a:spcBef>
                <a:spcPts val="2631"/>
              </a:spcBef>
              <a:spcAft>
                <a:spcPts val="0"/>
              </a:spcAft>
            </a:pPr>
            <a:r>
              <a:rPr sz="1400" dirty="0">
                <a:solidFill>
                  <a:srgbClr val="FE8637"/>
                </a:solidFill>
                <a:latin typeface="GSODNI+Wingdings"/>
                <a:cs typeface="GSODNI+Wingdings"/>
              </a:rPr>
              <a:t>.</a:t>
            </a:r>
            <a:r>
              <a:rPr sz="1400" spc="2654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Consider</a:t>
            </a:r>
            <a:r>
              <a:rPr sz="2000" spc="-43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the</a:t>
            </a:r>
            <a:r>
              <a:rPr sz="2000" spc="-1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following</a:t>
            </a:r>
            <a:r>
              <a:rPr sz="2000" spc="-42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issue: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48640" y="4783535"/>
            <a:ext cx="7285937" cy="1057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7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FE8637"/>
                </a:solidFill>
                <a:latin typeface="GSODNI+Wingdings"/>
                <a:cs typeface="GSODNI+Wingdings"/>
              </a:rPr>
              <a:t></a:t>
            </a:r>
            <a:r>
              <a:rPr sz="1400" spc="604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2000" b="1" dirty="0">
                <a:solidFill>
                  <a:srgbClr val="000000"/>
                </a:solidFill>
                <a:latin typeface="WVUMFT+Courier New Bold"/>
                <a:cs typeface="WVUMFT+Courier New Bold"/>
              </a:rPr>
              <a:t>"We have a list of 1000 students' marks of an</a:t>
            </a:r>
          </a:p>
          <a:p>
            <a:pPr marL="274320" marR="0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000000"/>
                </a:solidFill>
                <a:latin typeface="WVUMFT+Courier New Bold"/>
                <a:cs typeface="WVUMFT+Courier New Bold"/>
              </a:rPr>
              <a:t>integer type. If using the basic data type</a:t>
            </a:r>
          </a:p>
          <a:p>
            <a:pPr marL="274320" marR="0">
              <a:lnSpc>
                <a:spcPts val="1919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000000"/>
                </a:solidFill>
                <a:latin typeface="WVUMFT+Courier New Bold"/>
                <a:cs typeface="WVUMFT+Courier New Bold"/>
              </a:rPr>
              <a:t>(int), we will declare something like the</a:t>
            </a:r>
          </a:p>
          <a:p>
            <a:pPr marL="274320" marR="0">
              <a:lnSpc>
                <a:spcPts val="1919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000000"/>
                </a:solidFill>
                <a:latin typeface="GTOIKD+Courier New Bold"/>
                <a:cs typeface="GTOIKD+Courier New Bold"/>
              </a:rPr>
              <a:t>following…"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080820" y="6159961"/>
            <a:ext cx="6676415" cy="3264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7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FE8637"/>
                </a:solidFill>
                <a:latin typeface="GSODNI+Wingdings"/>
                <a:cs typeface="GSODNI+Wingdings"/>
              </a:rPr>
              <a:t></a:t>
            </a:r>
            <a:r>
              <a:rPr sz="1400" spc="604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2000" dirty="0">
                <a:solidFill>
                  <a:srgbClr val="0070C0"/>
                </a:solidFill>
                <a:latin typeface="QPIEFM+Courier New"/>
                <a:cs typeface="QPIEFM+Courier New"/>
              </a:rPr>
              <a:t>int</a:t>
            </a:r>
            <a:r>
              <a:rPr sz="2000" spc="1200" dirty="0">
                <a:solidFill>
                  <a:srgbClr val="0070C0"/>
                </a:solidFill>
                <a:latin typeface="QPIEFM+Courier New"/>
                <a:cs typeface="QPIEFM+Courier New"/>
              </a:rPr>
              <a:t> </a:t>
            </a:r>
            <a:r>
              <a:rPr sz="2000" dirty="0">
                <a:solidFill>
                  <a:srgbClr val="0070C0"/>
                </a:solidFill>
                <a:latin typeface="QPIEFM+Courier New"/>
                <a:cs typeface="QPIEFM+Courier New"/>
              </a:rPr>
              <a:t>studMark0, studMark1, ...studMark999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48640" y="1604038"/>
            <a:ext cx="6864159" cy="12331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62"/>
              </a:lnSpc>
              <a:spcBef>
                <a:spcPts val="0"/>
              </a:spcBef>
              <a:spcAft>
                <a:spcPts val="0"/>
              </a:spcAft>
            </a:pPr>
            <a:r>
              <a:rPr sz="1950" dirty="0">
                <a:solidFill>
                  <a:srgbClr val="FE8637"/>
                </a:solidFill>
                <a:latin typeface="GSODNI+Wingdings"/>
                <a:cs typeface="GSODNI+Wingdings"/>
              </a:rPr>
              <a:t>.</a:t>
            </a:r>
            <a:r>
              <a:rPr sz="1950" spc="2737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28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Can you imagine</a:t>
            </a:r>
            <a:r>
              <a:rPr sz="2800" spc="43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8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how long</a:t>
            </a:r>
            <a:r>
              <a:rPr sz="2800" spc="1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8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we</a:t>
            </a:r>
            <a:r>
              <a:rPr sz="2800" spc="-1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8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have to</a:t>
            </a:r>
          </a:p>
          <a:p>
            <a:pPr marL="515416" marR="0">
              <a:lnSpc>
                <a:spcPts val="3023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write the declaration</a:t>
            </a:r>
            <a:r>
              <a:rPr sz="2800" spc="18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8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part by using</a:t>
            </a:r>
          </a:p>
          <a:p>
            <a:pPr marL="515416" marR="0">
              <a:lnSpc>
                <a:spcPts val="3023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normal</a:t>
            </a:r>
            <a:r>
              <a:rPr sz="2800" spc="23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8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variable</a:t>
            </a:r>
            <a:r>
              <a:rPr sz="2800" spc="16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8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declaration?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4704" y="3309446"/>
            <a:ext cx="2286329" cy="6616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7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70C0"/>
                </a:solidFill>
                <a:latin typeface="QPIEFM+Courier New"/>
                <a:cs typeface="QPIEFM+Courier New"/>
              </a:rPr>
              <a:t>int main(void)</a:t>
            </a:r>
          </a:p>
          <a:p>
            <a:pPr marL="0" marR="0">
              <a:lnSpc>
                <a:spcPts val="2270"/>
              </a:lnSpc>
              <a:spcBef>
                <a:spcPts val="319"/>
              </a:spcBef>
              <a:spcAft>
                <a:spcPts val="0"/>
              </a:spcAft>
            </a:pPr>
            <a:r>
              <a:rPr sz="2000" dirty="0">
                <a:solidFill>
                  <a:srgbClr val="0070C0"/>
                </a:solidFill>
                <a:latin typeface="QPIEFM+Courier New"/>
                <a:cs typeface="QPIEFM+Courier New"/>
              </a:rPr>
              <a:t>{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280414" y="3980006"/>
            <a:ext cx="6402329" cy="1545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7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70C0"/>
                </a:solidFill>
                <a:latin typeface="QPIEFM+Courier New"/>
                <a:cs typeface="QPIEFM+Courier New"/>
              </a:rPr>
              <a:t>int studMark1, studMark2, studMark3,</a:t>
            </a:r>
          </a:p>
          <a:p>
            <a:pPr marL="0" marR="0">
              <a:lnSpc>
                <a:spcPts val="2159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70C0"/>
                </a:solidFill>
                <a:latin typeface="QPIEFM+Courier New"/>
                <a:cs typeface="QPIEFM+Courier New"/>
              </a:rPr>
              <a:t>studMark4</a:t>
            </a:r>
            <a:r>
              <a:rPr sz="2000" dirty="0">
                <a:solidFill>
                  <a:srgbClr val="0070C0"/>
                </a:solidFill>
                <a:latin typeface="DJKGHD+Courier New"/>
                <a:cs typeface="DJKGHD+Courier New"/>
              </a:rPr>
              <a:t>, …, …, </a:t>
            </a:r>
            <a:r>
              <a:rPr sz="2000" dirty="0">
                <a:solidFill>
                  <a:srgbClr val="0070C0"/>
                </a:solidFill>
                <a:latin typeface="QPIEFM+Courier New"/>
                <a:cs typeface="QPIEFM+Courier New"/>
              </a:rPr>
              <a:t>studMark998, stuMark999,</a:t>
            </a:r>
          </a:p>
          <a:p>
            <a:pPr marL="0" marR="0">
              <a:lnSpc>
                <a:spcPts val="2163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70C0"/>
                </a:solidFill>
                <a:latin typeface="QPIEFM+Courier New"/>
                <a:cs typeface="QPIEFM+Courier New"/>
              </a:rPr>
              <a:t>studMark1000;</a:t>
            </a:r>
          </a:p>
          <a:p>
            <a:pPr marL="0" marR="0">
              <a:lnSpc>
                <a:spcPts val="2270"/>
              </a:lnSpc>
              <a:spcBef>
                <a:spcPts val="319"/>
              </a:spcBef>
              <a:spcAft>
                <a:spcPts val="0"/>
              </a:spcAft>
            </a:pPr>
            <a:r>
              <a:rPr sz="2000" dirty="0">
                <a:solidFill>
                  <a:srgbClr val="0070C0"/>
                </a:solidFill>
                <a:latin typeface="DJKGHD+Courier New"/>
                <a:cs typeface="DJKGHD+Courier New"/>
              </a:rPr>
              <a:t>…</a:t>
            </a:r>
          </a:p>
          <a:p>
            <a:pPr marL="0" marR="0">
              <a:lnSpc>
                <a:spcPts val="2270"/>
              </a:lnSpc>
              <a:spcBef>
                <a:spcPts val="369"/>
              </a:spcBef>
              <a:spcAft>
                <a:spcPts val="0"/>
              </a:spcAft>
            </a:pPr>
            <a:r>
              <a:rPr sz="2000" dirty="0">
                <a:solidFill>
                  <a:srgbClr val="0070C0"/>
                </a:solidFill>
                <a:latin typeface="DJKGHD+Courier New"/>
                <a:cs typeface="DJKGHD+Courier New"/>
              </a:rPr>
              <a:t>…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14704" y="5534867"/>
            <a:ext cx="1890602" cy="661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5709" marR="0">
              <a:lnSpc>
                <a:spcPts val="2272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70C0"/>
                </a:solidFill>
                <a:latin typeface="QPIEFM+Courier New"/>
                <a:cs typeface="QPIEFM+Courier New"/>
              </a:rPr>
              <a:t>return 0;</a:t>
            </a:r>
          </a:p>
          <a:p>
            <a:pPr marL="0" marR="0">
              <a:lnSpc>
                <a:spcPts val="2270"/>
              </a:lnSpc>
              <a:spcBef>
                <a:spcPts val="319"/>
              </a:spcBef>
              <a:spcAft>
                <a:spcPts val="0"/>
              </a:spcAft>
            </a:pPr>
            <a:r>
              <a:rPr sz="2000" dirty="0">
                <a:solidFill>
                  <a:srgbClr val="0070C0"/>
                </a:solidFill>
                <a:latin typeface="QPIEFM+Courier New"/>
                <a:cs typeface="QPIEFM+Courier New"/>
              </a:rPr>
              <a:t>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24840" y="349551"/>
            <a:ext cx="5718346" cy="10865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8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FE8637"/>
                </a:solidFill>
                <a:latin typeface="GSODNI+Wingdings"/>
                <a:cs typeface="GSODNI+Wingdings"/>
              </a:rPr>
              <a:t>.</a:t>
            </a:r>
            <a:r>
              <a:rPr sz="1400" spc="2654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By</a:t>
            </a:r>
            <a:r>
              <a:rPr sz="2000" spc="-1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using</a:t>
            </a:r>
            <a:r>
              <a:rPr sz="2000" spc="-13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an array,</a:t>
            </a:r>
            <a:r>
              <a:rPr sz="2000" spc="-33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we</a:t>
            </a:r>
            <a:r>
              <a:rPr sz="2000" spc="-14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just</a:t>
            </a:r>
            <a:r>
              <a:rPr sz="2000" spc="-12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declare</a:t>
            </a:r>
            <a:r>
              <a:rPr sz="2000" spc="-36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like</a:t>
            </a:r>
            <a:r>
              <a:rPr sz="2000" spc="-37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this,</a:t>
            </a:r>
          </a:p>
          <a:p>
            <a:pPr marL="914654" marR="0">
              <a:lnSpc>
                <a:spcPts val="2270"/>
              </a:lnSpc>
              <a:spcBef>
                <a:spcPts val="3577"/>
              </a:spcBef>
              <a:spcAft>
                <a:spcPts val="0"/>
              </a:spcAft>
            </a:pPr>
            <a:r>
              <a:rPr sz="1200" dirty="0">
                <a:solidFill>
                  <a:srgbClr val="E0752F"/>
                </a:solidFill>
                <a:latin typeface="GSODNI+Wingdings"/>
                <a:cs typeface="GSODNI+Wingdings"/>
              </a:rPr>
              <a:t></a:t>
            </a:r>
            <a:r>
              <a:rPr sz="1200" spc="2267" dirty="0">
                <a:solidFill>
                  <a:srgbClr val="E0752F"/>
                </a:solidFill>
                <a:latin typeface="Caladea"/>
                <a:cs typeface="Caladea"/>
              </a:rPr>
              <a:t> </a:t>
            </a:r>
            <a:r>
              <a:rPr sz="2000" dirty="0">
                <a:solidFill>
                  <a:srgbClr val="0070C0"/>
                </a:solidFill>
                <a:latin typeface="QPIEFM+Courier New"/>
                <a:cs typeface="QPIEFM+Courier New"/>
              </a:rPr>
              <a:t>int</a:t>
            </a:r>
            <a:r>
              <a:rPr sz="2000" spc="1203" dirty="0">
                <a:solidFill>
                  <a:srgbClr val="0070C0"/>
                </a:solidFill>
                <a:latin typeface="QPIEFM+Courier New"/>
                <a:cs typeface="QPIEFM+Courier New"/>
              </a:rPr>
              <a:t> </a:t>
            </a:r>
            <a:r>
              <a:rPr sz="2000" dirty="0">
                <a:solidFill>
                  <a:srgbClr val="0070C0"/>
                </a:solidFill>
                <a:latin typeface="QPIEFM+Courier New"/>
                <a:cs typeface="QPIEFM+Courier New"/>
              </a:rPr>
              <a:t>studMark[1000];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24840" y="1477565"/>
            <a:ext cx="7063206" cy="3439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8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FE8637"/>
                </a:solidFill>
                <a:latin typeface="GSODNI+Wingdings"/>
                <a:cs typeface="GSODNI+Wingdings"/>
              </a:rPr>
              <a:t>.</a:t>
            </a:r>
            <a:r>
              <a:rPr sz="1400" spc="2654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This will</a:t>
            </a:r>
            <a:r>
              <a:rPr sz="2000" spc="-52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reserve</a:t>
            </a:r>
            <a:r>
              <a:rPr sz="2000" spc="-35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1000</a:t>
            </a:r>
            <a:r>
              <a:rPr sz="2000" spc="-1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contiguous</a:t>
            </a:r>
            <a:r>
              <a:rPr sz="2000" spc="-46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memory</a:t>
            </a:r>
            <a:r>
              <a:rPr sz="2000" spc="-23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locations</a:t>
            </a:r>
            <a:r>
              <a:rPr sz="2000" spc="-45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for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82344" y="1782446"/>
            <a:ext cx="3457279" cy="3442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11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OFJNAT+Century Schoolbook"/>
                <a:cs typeface="OFJNAT+Century Schoolbook"/>
              </a:rPr>
              <a:t>storing</a:t>
            </a:r>
            <a:r>
              <a:rPr sz="2000" spc="-26" dirty="0">
                <a:solidFill>
                  <a:srgbClr val="000000"/>
                </a:solidFill>
                <a:latin typeface="OFJNAT+Century Schoolbook"/>
                <a:cs typeface="OFJNAT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OFJNAT+Century Schoolbook"/>
                <a:cs typeface="OFJNAT+Century Schoolbook"/>
              </a:rPr>
              <a:t>the</a:t>
            </a:r>
            <a:r>
              <a:rPr sz="2000" spc="-26" dirty="0">
                <a:solidFill>
                  <a:srgbClr val="000000"/>
                </a:solidFill>
                <a:latin typeface="OFJNAT+Century Schoolbook"/>
                <a:cs typeface="OFJNAT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OFJNAT+Century Schoolbook"/>
                <a:cs typeface="OFJNAT+Century Schoolbook"/>
              </a:rPr>
              <a:t>students’</a:t>
            </a:r>
            <a:r>
              <a:rPr sz="2000" spc="-21" dirty="0">
                <a:solidFill>
                  <a:srgbClr val="000000"/>
                </a:solidFill>
                <a:latin typeface="OFJNAT+Century Schoolbook"/>
                <a:cs typeface="OFJNAT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OFJNAT+Century Schoolbook"/>
                <a:cs typeface="OFJNAT+Century Schoolbook"/>
              </a:rPr>
              <a:t>marks.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24840" y="2163747"/>
            <a:ext cx="6672566" cy="3439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8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FE8637"/>
                </a:solidFill>
                <a:latin typeface="GSODNI+Wingdings"/>
                <a:cs typeface="GSODNI+Wingdings"/>
              </a:rPr>
              <a:t>.</a:t>
            </a:r>
            <a:r>
              <a:rPr sz="1400" spc="2654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Graphically,</a:t>
            </a:r>
            <a:r>
              <a:rPr sz="2000" spc="-45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this</a:t>
            </a:r>
            <a:r>
              <a:rPr sz="2000" spc="-14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can</a:t>
            </a:r>
            <a:r>
              <a:rPr sz="2000" spc="-16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be</a:t>
            </a:r>
            <a:r>
              <a:rPr sz="2000" spc="-1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depicted</a:t>
            </a:r>
            <a:r>
              <a:rPr sz="2000" spc="-38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as</a:t>
            </a:r>
            <a:r>
              <a:rPr sz="2000" spc="-18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in the</a:t>
            </a:r>
            <a:r>
              <a:rPr sz="2000" spc="-1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following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82344" y="2468547"/>
            <a:ext cx="922243" cy="3439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figure.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48640" y="587394"/>
            <a:ext cx="7325886" cy="3737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43"/>
              </a:lnSpc>
              <a:spcBef>
                <a:spcPts val="0"/>
              </a:spcBef>
              <a:spcAft>
                <a:spcPts val="0"/>
              </a:spcAft>
            </a:pPr>
            <a:r>
              <a:rPr sz="1550" dirty="0">
                <a:solidFill>
                  <a:srgbClr val="FE8637"/>
                </a:solidFill>
                <a:latin typeface="GSODNI+Wingdings"/>
                <a:cs typeface="GSODNI+Wingdings"/>
              </a:rPr>
              <a:t>.</a:t>
            </a:r>
            <a:r>
              <a:rPr sz="1550" spc="2552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This absolutely</a:t>
            </a:r>
            <a:r>
              <a:rPr sz="2200" spc="-17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has</a:t>
            </a:r>
            <a:r>
              <a:rPr sz="2200" spc="2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200" u="sng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simplified</a:t>
            </a:r>
            <a:r>
              <a:rPr sz="2200" u="sng" spc="95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200" u="sng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our</a:t>
            </a:r>
            <a:r>
              <a:rPr sz="2200" u="sng" spc="124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200" u="sng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declaration</a:t>
            </a: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of the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06144" y="856119"/>
            <a:ext cx="1415506" cy="3732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38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variables.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48640" y="1544466"/>
            <a:ext cx="6533096" cy="3737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43"/>
              </a:lnSpc>
              <a:spcBef>
                <a:spcPts val="0"/>
              </a:spcBef>
              <a:spcAft>
                <a:spcPts val="0"/>
              </a:spcAft>
            </a:pPr>
            <a:r>
              <a:rPr sz="1550" dirty="0">
                <a:solidFill>
                  <a:srgbClr val="FE8637"/>
                </a:solidFill>
                <a:latin typeface="GSODNI+Wingdings"/>
                <a:cs typeface="GSODNI+Wingdings"/>
              </a:rPr>
              <a:t>.</a:t>
            </a:r>
            <a:r>
              <a:rPr sz="1550" spc="2552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We</a:t>
            </a:r>
            <a:r>
              <a:rPr sz="2200" spc="1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can</a:t>
            </a:r>
            <a:r>
              <a:rPr sz="2200" spc="15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use </a:t>
            </a:r>
            <a:r>
              <a:rPr sz="2200" u="sng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index</a:t>
            </a:r>
            <a:r>
              <a:rPr sz="2200" spc="1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or </a:t>
            </a:r>
            <a:r>
              <a:rPr sz="2200" u="sng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subscript</a:t>
            </a: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to identify each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06144" y="1813071"/>
            <a:ext cx="4657689" cy="3737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43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element</a:t>
            </a:r>
            <a:r>
              <a:rPr sz="2200" spc="-28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or l</a:t>
            </a:r>
            <a:r>
              <a:rPr sz="2200" strike="sngStrike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ocati</a:t>
            </a: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on in </a:t>
            </a:r>
            <a:r>
              <a:rPr sz="2200" strike="sngStrike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the</a:t>
            </a:r>
            <a:r>
              <a:rPr sz="2200" strike="sngStrike" spc="13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200" strike="sngStrike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me</a:t>
            </a: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mory.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48640" y="2496324"/>
            <a:ext cx="6634965" cy="3967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38"/>
              </a:lnSpc>
              <a:spcBef>
                <a:spcPts val="0"/>
              </a:spcBef>
              <a:spcAft>
                <a:spcPts val="0"/>
              </a:spcAft>
            </a:pPr>
            <a:r>
              <a:rPr sz="1550" dirty="0">
                <a:solidFill>
                  <a:srgbClr val="FE8637"/>
                </a:solidFill>
                <a:latin typeface="GSODNI+Wingdings"/>
                <a:cs typeface="GSODNI+Wingdings"/>
              </a:rPr>
              <a:t>.</a:t>
            </a:r>
            <a:r>
              <a:rPr sz="1550" spc="2552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Hence,</a:t>
            </a:r>
            <a:r>
              <a:rPr sz="2200" spc="16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if we</a:t>
            </a:r>
            <a:r>
              <a:rPr sz="2200" spc="18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have</a:t>
            </a:r>
            <a:r>
              <a:rPr sz="2200" spc="17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an index of</a:t>
            </a:r>
            <a:r>
              <a:rPr sz="2200" spc="33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200" dirty="0">
                <a:solidFill>
                  <a:srgbClr val="000000"/>
                </a:solidFill>
                <a:latin typeface="QPIEFM+Courier New"/>
                <a:cs typeface="QPIEFM+Courier New"/>
              </a:rPr>
              <a:t>j</a:t>
            </a: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,</a:t>
            </a:r>
            <a:r>
              <a:rPr sz="2200" spc="14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200" dirty="0">
                <a:solidFill>
                  <a:srgbClr val="000000"/>
                </a:solidFill>
                <a:latin typeface="QPIEFM+Courier New"/>
                <a:cs typeface="QPIEFM+Courier New"/>
              </a:rPr>
              <a:t>studMark[j]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006144" y="2764548"/>
            <a:ext cx="6072649" cy="3967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38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would refer to the</a:t>
            </a:r>
            <a:r>
              <a:rPr sz="2200" spc="14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200" i="1" dirty="0">
                <a:solidFill>
                  <a:srgbClr val="000000"/>
                </a:solidFill>
                <a:latin typeface="MFMLKN+Courier New Italic"/>
                <a:cs typeface="MFMLKN+Courier New Italic"/>
              </a:rPr>
              <a:t>jth</a:t>
            </a:r>
            <a:r>
              <a:rPr sz="2200" i="1" spc="152" dirty="0">
                <a:solidFill>
                  <a:srgbClr val="000000"/>
                </a:solidFill>
                <a:latin typeface="Caladea"/>
                <a:cs typeface="Caladea"/>
              </a:rPr>
              <a:t> </a:t>
            </a: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element</a:t>
            </a:r>
            <a:r>
              <a:rPr sz="2200" spc="-28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in the array of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006144" y="3032725"/>
            <a:ext cx="1571039" cy="397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41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QPIEFM+Courier New"/>
                <a:cs typeface="QPIEFM+Courier New"/>
              </a:rPr>
              <a:t>studMark</a:t>
            </a: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48640" y="3721874"/>
            <a:ext cx="6921424" cy="3967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38"/>
              </a:lnSpc>
              <a:spcBef>
                <a:spcPts val="0"/>
              </a:spcBef>
              <a:spcAft>
                <a:spcPts val="0"/>
              </a:spcAft>
            </a:pPr>
            <a:r>
              <a:rPr sz="1550" dirty="0">
                <a:solidFill>
                  <a:srgbClr val="FE8637"/>
                </a:solidFill>
                <a:latin typeface="GSODNI+Wingdings"/>
                <a:cs typeface="GSODNI+Wingdings"/>
              </a:rPr>
              <a:t>.</a:t>
            </a:r>
            <a:r>
              <a:rPr sz="1550" spc="2552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For example, </a:t>
            </a:r>
            <a:r>
              <a:rPr sz="2200" dirty="0">
                <a:solidFill>
                  <a:srgbClr val="000000"/>
                </a:solidFill>
                <a:latin typeface="QPIEFM+Courier New"/>
                <a:cs typeface="QPIEFM+Courier New"/>
              </a:rPr>
              <a:t>studMark[0]</a:t>
            </a: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will refer to</a:t>
            </a:r>
            <a:r>
              <a:rPr sz="2200" spc="-1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the first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006144" y="3996194"/>
            <a:ext cx="2856067" cy="3732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38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element</a:t>
            </a:r>
            <a:r>
              <a:rPr sz="2200" spc="-28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of the array.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48640" y="4679327"/>
            <a:ext cx="7045338" cy="3967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38"/>
              </a:lnSpc>
              <a:spcBef>
                <a:spcPts val="0"/>
              </a:spcBef>
              <a:spcAft>
                <a:spcPts val="0"/>
              </a:spcAft>
            </a:pPr>
            <a:r>
              <a:rPr sz="1550" dirty="0">
                <a:solidFill>
                  <a:srgbClr val="FE8637"/>
                </a:solidFill>
                <a:latin typeface="GSODNI+Wingdings"/>
                <a:cs typeface="GSODNI+Wingdings"/>
              </a:rPr>
              <a:t>.</a:t>
            </a:r>
            <a:r>
              <a:rPr sz="1550" spc="2552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Thus by</a:t>
            </a:r>
            <a:r>
              <a:rPr sz="2200" spc="13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changing</a:t>
            </a:r>
            <a:r>
              <a:rPr sz="2200" spc="3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the</a:t>
            </a:r>
            <a:r>
              <a:rPr sz="2200" spc="17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value</a:t>
            </a:r>
            <a:r>
              <a:rPr sz="2200" spc="1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of</a:t>
            </a:r>
            <a:r>
              <a:rPr sz="2200" spc="15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200" dirty="0">
                <a:solidFill>
                  <a:srgbClr val="000000"/>
                </a:solidFill>
                <a:latin typeface="QPIEFM+Courier New"/>
                <a:cs typeface="QPIEFM+Courier New"/>
              </a:rPr>
              <a:t>j</a:t>
            </a: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,</a:t>
            </a:r>
            <a:r>
              <a:rPr sz="2200" spc="14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we could refer to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006144" y="4953647"/>
            <a:ext cx="3438489" cy="3732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38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any</a:t>
            </a:r>
            <a:r>
              <a:rPr sz="2200" spc="26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element</a:t>
            </a:r>
            <a:r>
              <a:rPr sz="2200" spc="-28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in the array.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548640" y="5642448"/>
            <a:ext cx="6598120" cy="3735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41"/>
              </a:lnSpc>
              <a:spcBef>
                <a:spcPts val="0"/>
              </a:spcBef>
              <a:spcAft>
                <a:spcPts val="0"/>
              </a:spcAft>
            </a:pPr>
            <a:r>
              <a:rPr sz="1550" dirty="0">
                <a:solidFill>
                  <a:srgbClr val="FE8637"/>
                </a:solidFill>
                <a:latin typeface="GSODNI+Wingdings"/>
                <a:cs typeface="GSODNI+Wingdings"/>
              </a:rPr>
              <a:t>.</a:t>
            </a:r>
            <a:r>
              <a:rPr sz="1550" spc="2552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So, array</a:t>
            </a:r>
            <a:r>
              <a:rPr sz="2200" spc="13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has simplified</a:t>
            </a:r>
            <a:r>
              <a:rPr sz="2200" spc="-26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our declaration</a:t>
            </a:r>
            <a:r>
              <a:rPr sz="2200" spc="-12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and</a:t>
            </a:r>
            <a:r>
              <a:rPr sz="2200" spc="1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of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006144" y="5910973"/>
            <a:ext cx="4418006" cy="3732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38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course, manipulation</a:t>
            </a:r>
            <a:r>
              <a:rPr sz="2200" spc="-12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of the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48640" y="1645998"/>
            <a:ext cx="7026514" cy="4047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886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FE8637"/>
                </a:solidFill>
                <a:latin typeface="GSODNI+Wingdings"/>
                <a:cs typeface="GSODNI+Wingdings"/>
              </a:rPr>
              <a:t>.</a:t>
            </a:r>
            <a:r>
              <a:rPr sz="1700" spc="2451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 single</a:t>
            </a:r>
            <a:r>
              <a:rPr sz="2400" spc="-19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or one</a:t>
            </a:r>
            <a:r>
              <a:rPr sz="2400" spc="-14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dimensional</a:t>
            </a:r>
            <a:r>
              <a:rPr sz="2400" spc="-32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array</a:t>
            </a:r>
            <a:r>
              <a:rPr sz="2400" spc="-1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declaration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06144" y="2012059"/>
            <a:ext cx="3381704" cy="4043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883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has the following</a:t>
            </a:r>
            <a:r>
              <a:rPr sz="2400" spc="-39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form,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06144" y="2740740"/>
            <a:ext cx="6859294" cy="3264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7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FE8637"/>
                </a:solidFill>
                <a:latin typeface="SNFKJM+Wingdings 2"/>
                <a:cs typeface="SNFKJM+Wingdings 2"/>
              </a:rPr>
              <a:t></a:t>
            </a:r>
            <a:r>
              <a:rPr sz="1600" spc="2361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2000" dirty="0">
                <a:solidFill>
                  <a:srgbClr val="0070C0"/>
                </a:solidFill>
                <a:latin typeface="QPIEFM+Courier New"/>
                <a:cs typeface="QPIEFM+Courier New"/>
              </a:rPr>
              <a:t>array_element_data_type array_name[array_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463294" y="3045540"/>
            <a:ext cx="1069875" cy="326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72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70C0"/>
                </a:solidFill>
                <a:latin typeface="QPIEFM+Courier New"/>
                <a:cs typeface="QPIEFM+Courier New"/>
              </a:rPr>
              <a:t>size];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48640" y="3702429"/>
            <a:ext cx="7420821" cy="23862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883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FE8637"/>
                </a:solidFill>
                <a:latin typeface="GSODNI+Wingdings"/>
                <a:cs typeface="GSODNI+Wingdings"/>
              </a:rPr>
              <a:t>.</a:t>
            </a:r>
            <a:r>
              <a:rPr sz="1700" spc="2451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Here,</a:t>
            </a:r>
            <a:r>
              <a:rPr sz="2400" spc="-13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i="1" dirty="0">
                <a:solidFill>
                  <a:srgbClr val="000000"/>
                </a:solidFill>
                <a:latin typeface="GPGULP+Century Schoolbook Italic"/>
                <a:cs typeface="GPGULP+Century Schoolbook Italic"/>
              </a:rPr>
              <a:t>array_element_data_type</a:t>
            </a:r>
            <a:r>
              <a:rPr sz="2400" i="1" spc="-15" dirty="0">
                <a:solidFill>
                  <a:srgbClr val="000000"/>
                </a:solidFill>
                <a:latin typeface="GPGULP+Century Schoolbook Italic"/>
                <a:cs typeface="GPGULP+Century Schoolbook Italic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defines</a:t>
            </a:r>
            <a:r>
              <a:rPr sz="2400" spc="-12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the base</a:t>
            </a:r>
          </a:p>
          <a:p>
            <a:pPr marL="457504" marR="0">
              <a:lnSpc>
                <a:spcPts val="2883"/>
              </a:lnSpc>
              <a:spcBef>
                <a:spcPts val="8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type of the array, which</a:t>
            </a:r>
            <a:r>
              <a:rPr sz="2400" spc="-36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is the type of each</a:t>
            </a:r>
          </a:p>
          <a:p>
            <a:pPr marL="457504" marR="0">
              <a:lnSpc>
                <a:spcPts val="2883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element in</a:t>
            </a:r>
            <a:r>
              <a:rPr sz="2400" spc="-26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the array.</a:t>
            </a:r>
          </a:p>
          <a:p>
            <a:pPr marL="0" marR="0">
              <a:lnSpc>
                <a:spcPts val="2883"/>
              </a:lnSpc>
              <a:spcBef>
                <a:spcPts val="534"/>
              </a:spcBef>
              <a:spcAft>
                <a:spcPts val="0"/>
              </a:spcAft>
            </a:pPr>
            <a:r>
              <a:rPr sz="1700" dirty="0">
                <a:solidFill>
                  <a:srgbClr val="FE8637"/>
                </a:solidFill>
                <a:latin typeface="GSODNI+Wingdings"/>
                <a:cs typeface="GSODNI+Wingdings"/>
              </a:rPr>
              <a:t>.</a:t>
            </a:r>
            <a:r>
              <a:rPr sz="1700" spc="2451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2400" i="1" dirty="0">
                <a:solidFill>
                  <a:srgbClr val="000000"/>
                </a:solidFill>
                <a:latin typeface="GPGULP+Century Schoolbook Italic"/>
                <a:cs typeface="GPGULP+Century Schoolbook Italic"/>
              </a:rPr>
              <a:t>array_name</a:t>
            </a:r>
            <a:r>
              <a:rPr sz="2400" i="1" spc="-19" dirty="0">
                <a:solidFill>
                  <a:srgbClr val="000000"/>
                </a:solidFill>
                <a:latin typeface="GPGULP+Century Schoolbook Italic"/>
                <a:cs typeface="GPGULP+Century Schoolbook Italic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is</a:t>
            </a:r>
            <a:r>
              <a:rPr sz="2400" spc="-14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any valid</a:t>
            </a:r>
            <a:r>
              <a:rPr sz="2400" spc="-19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C identifier</a:t>
            </a:r>
            <a:r>
              <a:rPr sz="2400" spc="-23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name that</a:t>
            </a:r>
          </a:p>
          <a:p>
            <a:pPr marL="457504" marR="0">
              <a:lnSpc>
                <a:spcPts val="2883"/>
              </a:lnSpc>
              <a:spcBef>
                <a:spcPts val="8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obeys</a:t>
            </a:r>
            <a:r>
              <a:rPr sz="2400" spc="1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the same rule for</a:t>
            </a:r>
            <a:r>
              <a:rPr sz="2400" spc="-14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the identifier</a:t>
            </a:r>
            <a:r>
              <a:rPr sz="2400" spc="-29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naming.</a:t>
            </a:r>
          </a:p>
          <a:p>
            <a:pPr marL="0" marR="0">
              <a:lnSpc>
                <a:spcPts val="2886"/>
              </a:lnSpc>
              <a:spcBef>
                <a:spcPts val="583"/>
              </a:spcBef>
              <a:spcAft>
                <a:spcPts val="0"/>
              </a:spcAft>
            </a:pPr>
            <a:r>
              <a:rPr sz="1700" dirty="0">
                <a:solidFill>
                  <a:srgbClr val="FE8637"/>
                </a:solidFill>
                <a:latin typeface="GSODNI+Wingdings"/>
                <a:cs typeface="GSODNI+Wingdings"/>
              </a:rPr>
              <a:t>.</a:t>
            </a:r>
            <a:r>
              <a:rPr sz="1700" spc="2451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2400" i="1" dirty="0">
                <a:solidFill>
                  <a:srgbClr val="000000"/>
                </a:solidFill>
                <a:latin typeface="GPGULP+Century Schoolbook Italic"/>
                <a:cs typeface="GPGULP+Century Schoolbook Italic"/>
              </a:rPr>
              <a:t>array_size</a:t>
            </a:r>
            <a:r>
              <a:rPr sz="2400" i="1" spc="-33" dirty="0">
                <a:solidFill>
                  <a:srgbClr val="000000"/>
                </a:solidFill>
                <a:latin typeface="GPGULP+Century Schoolbook Italic"/>
                <a:cs typeface="GPGULP+Century Schoolbook Italic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defines</a:t>
            </a:r>
            <a:r>
              <a:rPr sz="2400" spc="-3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how many elements</a:t>
            </a:r>
            <a:r>
              <a:rPr sz="2400" spc="-12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the</a:t>
            </a:r>
            <a:r>
              <a:rPr sz="2400" spc="-1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array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006144" y="6051548"/>
            <a:ext cx="1453235" cy="4043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883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will</a:t>
            </a:r>
            <a:r>
              <a:rPr sz="2400" spc="-26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hold.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48640" y="358740"/>
            <a:ext cx="5580080" cy="3735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41"/>
              </a:lnSpc>
              <a:spcBef>
                <a:spcPts val="0"/>
              </a:spcBef>
              <a:spcAft>
                <a:spcPts val="0"/>
              </a:spcAft>
            </a:pPr>
            <a:r>
              <a:rPr sz="1550" dirty="0">
                <a:solidFill>
                  <a:srgbClr val="FE8637"/>
                </a:solidFill>
                <a:latin typeface="GSODNI+Wingdings"/>
                <a:cs typeface="GSODNI+Wingdings"/>
              </a:rPr>
              <a:t>.</a:t>
            </a:r>
            <a:r>
              <a:rPr sz="1550" spc="3008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For example,</a:t>
            </a:r>
            <a:r>
              <a:rPr sz="2200" spc="-1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to declare an</a:t>
            </a:r>
            <a:r>
              <a:rPr sz="2200" spc="14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array</a:t>
            </a:r>
            <a:r>
              <a:rPr sz="2200" spc="13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of</a:t>
            </a:r>
            <a:r>
              <a:rPr sz="2200" spc="2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30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64056" y="627519"/>
            <a:ext cx="4619692" cy="3732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38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characters,</a:t>
            </a:r>
            <a:r>
              <a:rPr sz="2200" spc="16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that construct a people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06144" y="895743"/>
            <a:ext cx="3281424" cy="956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911" marR="0">
              <a:lnSpc>
                <a:spcPts val="2638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name, we could declare,</a:t>
            </a:r>
          </a:p>
          <a:p>
            <a:pPr marL="0" marR="0">
              <a:lnSpc>
                <a:spcPts val="2487"/>
              </a:lnSpc>
              <a:spcBef>
                <a:spcPts val="2101"/>
              </a:spcBef>
              <a:spcAft>
                <a:spcPts val="0"/>
              </a:spcAft>
            </a:pPr>
            <a:r>
              <a:rPr sz="1750" dirty="0">
                <a:solidFill>
                  <a:srgbClr val="FE8637"/>
                </a:solidFill>
                <a:latin typeface="SNFKJM+Wingdings 2"/>
                <a:cs typeface="SNFKJM+Wingdings 2"/>
              </a:rPr>
              <a:t></a:t>
            </a:r>
            <a:r>
              <a:rPr sz="1750" spc="2701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2200" dirty="0">
                <a:solidFill>
                  <a:srgbClr val="0070C0"/>
                </a:solidFill>
                <a:latin typeface="QPIEFM+Courier New"/>
                <a:cs typeface="QPIEFM+Courier New"/>
              </a:rPr>
              <a:t>char cName[30];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48640" y="2045220"/>
            <a:ext cx="4968890" cy="3732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38"/>
              </a:lnSpc>
              <a:spcBef>
                <a:spcPts val="0"/>
              </a:spcBef>
              <a:spcAft>
                <a:spcPts val="0"/>
              </a:spcAft>
            </a:pPr>
            <a:r>
              <a:rPr sz="1550" dirty="0">
                <a:solidFill>
                  <a:srgbClr val="FE8637"/>
                </a:solidFill>
                <a:latin typeface="GSODNI+Wingdings"/>
                <a:cs typeface="GSODNI+Wingdings"/>
              </a:rPr>
              <a:t>.</a:t>
            </a:r>
            <a:r>
              <a:rPr sz="1550" spc="3008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Which</a:t>
            </a:r>
            <a:r>
              <a:rPr sz="2200" spc="13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can</a:t>
            </a:r>
            <a:r>
              <a:rPr sz="2200" spc="12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be depicted as follows,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48640" y="2734068"/>
            <a:ext cx="5514735" cy="3732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38"/>
              </a:lnSpc>
              <a:spcBef>
                <a:spcPts val="0"/>
              </a:spcBef>
              <a:spcAft>
                <a:spcPts val="0"/>
              </a:spcAft>
            </a:pPr>
            <a:r>
              <a:rPr sz="1550" dirty="0">
                <a:solidFill>
                  <a:srgbClr val="FE8637"/>
                </a:solidFill>
                <a:latin typeface="GSODNI+Wingdings"/>
                <a:cs typeface="GSODNI+Wingdings"/>
              </a:rPr>
              <a:t>.</a:t>
            </a:r>
            <a:r>
              <a:rPr sz="1550" spc="2552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In</a:t>
            </a:r>
            <a:r>
              <a:rPr sz="2200" spc="17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this statement,</a:t>
            </a:r>
            <a:r>
              <a:rPr sz="2200" spc="-23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the array</a:t>
            </a:r>
            <a:r>
              <a:rPr sz="2200" spc="19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character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006144" y="3002245"/>
            <a:ext cx="5034763" cy="3735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41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can store up to 30 characters</a:t>
            </a:r>
            <a:r>
              <a:rPr sz="2200" spc="12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with the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006144" y="3270770"/>
            <a:ext cx="4445897" cy="3732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38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first character</a:t>
            </a:r>
            <a:r>
              <a:rPr sz="2200" spc="1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occupying</a:t>
            </a:r>
            <a:r>
              <a:rPr sz="2200" spc="36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location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006144" y="3532898"/>
            <a:ext cx="4418469" cy="3967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38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QPIEFM+Courier New"/>
                <a:cs typeface="QPIEFM+Courier New"/>
              </a:rPr>
              <a:t>cName[0]</a:t>
            </a: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and</a:t>
            </a:r>
            <a:r>
              <a:rPr sz="2200" spc="14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the last</a:t>
            </a:r>
            <a:r>
              <a:rPr sz="2200" spc="-1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character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006144" y="3801122"/>
            <a:ext cx="3096859" cy="3967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38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occupying</a:t>
            </a:r>
            <a:r>
              <a:rPr sz="2200" spc="38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200" dirty="0">
                <a:solidFill>
                  <a:srgbClr val="000000"/>
                </a:solidFill>
                <a:latin typeface="QPIEFM+Courier New"/>
                <a:cs typeface="QPIEFM+Courier New"/>
              </a:rPr>
              <a:t>cName[29]</a:t>
            </a: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48640" y="4489850"/>
            <a:ext cx="5057043" cy="3968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43"/>
              </a:lnSpc>
              <a:spcBef>
                <a:spcPts val="0"/>
              </a:spcBef>
              <a:spcAft>
                <a:spcPts val="0"/>
              </a:spcAft>
            </a:pPr>
            <a:r>
              <a:rPr sz="1550" dirty="0">
                <a:solidFill>
                  <a:srgbClr val="FE8637"/>
                </a:solidFill>
                <a:latin typeface="GSODNI+Wingdings"/>
                <a:cs typeface="GSODNI+Wingdings"/>
              </a:rPr>
              <a:t>.</a:t>
            </a:r>
            <a:r>
              <a:rPr sz="1550" spc="2552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Note that the</a:t>
            </a:r>
            <a:r>
              <a:rPr sz="2200" spc="26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200" u="sng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index</a:t>
            </a:r>
            <a:r>
              <a:rPr sz="2200" u="sng" spc="124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200" u="sng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runs</a:t>
            </a:r>
            <a:r>
              <a:rPr sz="2200" u="sng" spc="142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200" u="sng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from</a:t>
            </a:r>
            <a:r>
              <a:rPr sz="2200" u="sng" spc="139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200" strike="sngStrike" spc="612" dirty="0">
                <a:solidFill>
                  <a:srgbClr val="000000"/>
                </a:solidFill>
                <a:latin typeface="QPIEFM+Courier New"/>
                <a:cs typeface="QPIEFM+Courier New"/>
              </a:rPr>
              <a:t>0</a:t>
            </a:r>
            <a:r>
              <a:rPr sz="2200" u="sng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to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006144" y="4758074"/>
            <a:ext cx="5288967" cy="3968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43"/>
              </a:lnSpc>
              <a:spcBef>
                <a:spcPts val="0"/>
              </a:spcBef>
              <a:spcAft>
                <a:spcPts val="0"/>
              </a:spcAft>
            </a:pPr>
            <a:r>
              <a:rPr sz="2200" u="sng" dirty="0">
                <a:solidFill>
                  <a:srgbClr val="000000"/>
                </a:solidFill>
                <a:latin typeface="QPIEFM+Courier New"/>
                <a:cs typeface="QPIEFM+Courier New"/>
              </a:rPr>
              <a:t>29</a:t>
            </a: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.</a:t>
            </a:r>
            <a:r>
              <a:rPr sz="2200" spc="626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In C,</a:t>
            </a:r>
            <a:r>
              <a:rPr sz="2200" spc="15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an</a:t>
            </a:r>
            <a:r>
              <a:rPr sz="2200" spc="17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in</a:t>
            </a:r>
            <a:r>
              <a:rPr sz="2200" strike="sngStrike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dex</a:t>
            </a:r>
            <a:r>
              <a:rPr sz="2200" strike="sngStrike" spc="122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200" strike="sngStrike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always</a:t>
            </a:r>
            <a:r>
              <a:rPr sz="2200" strike="sngStrike" spc="158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200" u="sng" strike="dblStrike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starts</a:t>
            </a:r>
            <a:r>
              <a:rPr sz="2200" u="sng" strike="dblStrike" spc="118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200" u="sng" strike="dblStrike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f</a:t>
            </a:r>
            <a:r>
              <a:rPr sz="2200" u="sng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rom</a:t>
            </a:r>
            <a:r>
              <a:rPr sz="2200" u="sng" spc="124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200" strike="sngStrike" dirty="0">
                <a:solidFill>
                  <a:srgbClr val="000000"/>
                </a:solidFill>
                <a:latin typeface="QPIEFM+Courier New"/>
                <a:cs typeface="QPIEFM+Courier New"/>
              </a:rPr>
              <a:t>0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006144" y="5032394"/>
            <a:ext cx="4035897" cy="3737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43"/>
              </a:lnSpc>
              <a:spcBef>
                <a:spcPts val="0"/>
              </a:spcBef>
              <a:spcAft>
                <a:spcPts val="0"/>
              </a:spcAft>
            </a:pPr>
            <a:r>
              <a:rPr sz="2200" strike="sngStrike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an</a:t>
            </a: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d</a:t>
            </a:r>
            <a:r>
              <a:rPr sz="2200" spc="12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ends with</a:t>
            </a:r>
            <a:r>
              <a:rPr sz="2200" spc="12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200" u="sng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array's</a:t>
            </a:r>
            <a:r>
              <a:rPr sz="2200" u="sng" spc="154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200" u="sng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(size</a:t>
            </a:r>
            <a:r>
              <a:rPr sz="2200" u="sng" strike="dblStrike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-1)</a:t>
            </a:r>
            <a:r>
              <a:rPr sz="2200" strike="sngStrike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548640" y="5721997"/>
            <a:ext cx="5777216" cy="3732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38"/>
              </a:lnSpc>
              <a:spcBef>
                <a:spcPts val="0"/>
              </a:spcBef>
              <a:spcAft>
                <a:spcPts val="0"/>
              </a:spcAft>
            </a:pPr>
            <a:r>
              <a:rPr sz="1550" dirty="0">
                <a:solidFill>
                  <a:srgbClr val="FE8637"/>
                </a:solidFill>
                <a:latin typeface="GSODNI+Wingdings"/>
                <a:cs typeface="GSODNI+Wingdings"/>
              </a:rPr>
              <a:t>.</a:t>
            </a:r>
            <a:r>
              <a:rPr sz="1550" spc="2552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So, take note the difference</a:t>
            </a:r>
            <a:r>
              <a:rPr sz="2200" spc="15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between the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006144" y="5989720"/>
            <a:ext cx="4953199" cy="3737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43"/>
              </a:lnSpc>
              <a:spcBef>
                <a:spcPts val="0"/>
              </a:spcBef>
              <a:spcAft>
                <a:spcPts val="0"/>
              </a:spcAft>
            </a:pPr>
            <a:r>
              <a:rPr sz="2200" u="sng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array</a:t>
            </a:r>
            <a:r>
              <a:rPr sz="2200" u="sng" spc="146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200" u="sng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size</a:t>
            </a:r>
            <a:r>
              <a:rPr sz="2200" u="sng" spc="124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200" u="sng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and</a:t>
            </a:r>
            <a:r>
              <a:rPr sz="2200" u="sng" spc="126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200" u="sng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subscript/index</a:t>
            </a:r>
            <a:r>
              <a:rPr sz="2200" spc="13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terms.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48640" y="521523"/>
            <a:ext cx="6486115" cy="3278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81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E8637"/>
                </a:solidFill>
                <a:latin typeface="GSODNI+Wingdings"/>
                <a:cs typeface="GSODNI+Wingdings"/>
              </a:rPr>
              <a:t>.</a:t>
            </a:r>
            <a:r>
              <a:rPr sz="1350" spc="2688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Examples</a:t>
            </a:r>
            <a:r>
              <a:rPr sz="1900" spc="25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of the one-dimensional</a:t>
            </a:r>
            <a:r>
              <a:rPr sz="1900" spc="15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array declarations,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63294" y="1072330"/>
            <a:ext cx="4656554" cy="8899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47"/>
              </a:lnSpc>
              <a:spcBef>
                <a:spcPts val="0"/>
              </a:spcBef>
              <a:spcAft>
                <a:spcPts val="0"/>
              </a:spcAft>
            </a:pPr>
            <a:r>
              <a:rPr sz="1150" dirty="0">
                <a:solidFill>
                  <a:srgbClr val="E0752F"/>
                </a:solidFill>
                <a:latin typeface="GSODNI+Wingdings"/>
                <a:cs typeface="GSODNI+Wingdings"/>
              </a:rPr>
              <a:t></a:t>
            </a:r>
            <a:r>
              <a:rPr sz="1150" spc="2322" dirty="0">
                <a:solidFill>
                  <a:srgbClr val="E0752F"/>
                </a:solidFill>
                <a:latin typeface="Caladea"/>
                <a:cs typeface="Caladea"/>
              </a:rPr>
              <a:t> </a:t>
            </a:r>
            <a:r>
              <a:rPr sz="1900" dirty="0">
                <a:solidFill>
                  <a:srgbClr val="0070C0"/>
                </a:solidFill>
                <a:latin typeface="QPIEFM+Courier New"/>
                <a:cs typeface="QPIEFM+Courier New"/>
              </a:rPr>
              <a:t>int</a:t>
            </a:r>
            <a:r>
              <a:rPr sz="1900" spc="5691" dirty="0">
                <a:solidFill>
                  <a:srgbClr val="0070C0"/>
                </a:solidFill>
                <a:latin typeface="QPIEFM+Courier New"/>
                <a:cs typeface="QPIEFM+Courier New"/>
              </a:rPr>
              <a:t> </a:t>
            </a:r>
            <a:r>
              <a:rPr sz="1900" dirty="0">
                <a:solidFill>
                  <a:srgbClr val="0070C0"/>
                </a:solidFill>
                <a:latin typeface="QPIEFM+Courier New"/>
                <a:cs typeface="QPIEFM+Courier New"/>
              </a:rPr>
              <a:t>xNum[20], yNum[50];</a:t>
            </a:r>
          </a:p>
          <a:p>
            <a:pPr marL="0" marR="0">
              <a:lnSpc>
                <a:spcPts val="2147"/>
              </a:lnSpc>
              <a:spcBef>
                <a:spcPts val="182"/>
              </a:spcBef>
              <a:spcAft>
                <a:spcPts val="0"/>
              </a:spcAft>
            </a:pPr>
            <a:r>
              <a:rPr sz="1150" dirty="0">
                <a:solidFill>
                  <a:srgbClr val="E0752F"/>
                </a:solidFill>
                <a:latin typeface="GSODNI+Wingdings"/>
                <a:cs typeface="GSODNI+Wingdings"/>
              </a:rPr>
              <a:t></a:t>
            </a:r>
            <a:r>
              <a:rPr sz="1150" spc="2322" dirty="0">
                <a:solidFill>
                  <a:srgbClr val="E0752F"/>
                </a:solidFill>
                <a:latin typeface="Caladea"/>
                <a:cs typeface="Caladea"/>
              </a:rPr>
              <a:t> </a:t>
            </a:r>
            <a:r>
              <a:rPr sz="1900" dirty="0">
                <a:solidFill>
                  <a:srgbClr val="0070C0"/>
                </a:solidFill>
                <a:latin typeface="QPIEFM+Courier New"/>
                <a:cs typeface="QPIEFM+Courier New"/>
              </a:rPr>
              <a:t>float</a:t>
            </a:r>
            <a:r>
              <a:rPr sz="1900" spc="3411" dirty="0">
                <a:solidFill>
                  <a:srgbClr val="0070C0"/>
                </a:solidFill>
                <a:latin typeface="QPIEFM+Courier New"/>
                <a:cs typeface="QPIEFM+Courier New"/>
              </a:rPr>
              <a:t> </a:t>
            </a:r>
            <a:r>
              <a:rPr sz="1900" dirty="0">
                <a:solidFill>
                  <a:srgbClr val="0070C0"/>
                </a:solidFill>
                <a:latin typeface="QPIEFM+Courier New"/>
                <a:cs typeface="QPIEFM+Courier New"/>
              </a:rPr>
              <a:t>fPrice[10], fYield;</a:t>
            </a:r>
          </a:p>
          <a:p>
            <a:pPr marL="0" marR="0">
              <a:lnSpc>
                <a:spcPts val="2147"/>
              </a:lnSpc>
              <a:spcBef>
                <a:spcPts val="182"/>
              </a:spcBef>
              <a:spcAft>
                <a:spcPts val="0"/>
              </a:spcAft>
            </a:pPr>
            <a:r>
              <a:rPr sz="1150" dirty="0">
                <a:solidFill>
                  <a:srgbClr val="E0752F"/>
                </a:solidFill>
                <a:latin typeface="GSODNI+Wingdings"/>
                <a:cs typeface="GSODNI+Wingdings"/>
              </a:rPr>
              <a:t></a:t>
            </a:r>
            <a:r>
              <a:rPr sz="1150" spc="2322" dirty="0">
                <a:solidFill>
                  <a:srgbClr val="E0752F"/>
                </a:solidFill>
                <a:latin typeface="Caladea"/>
                <a:cs typeface="Caladea"/>
              </a:rPr>
              <a:t> </a:t>
            </a:r>
            <a:r>
              <a:rPr sz="1900" dirty="0">
                <a:solidFill>
                  <a:srgbClr val="0070C0"/>
                </a:solidFill>
                <a:latin typeface="QPIEFM+Courier New"/>
                <a:cs typeface="QPIEFM+Courier New"/>
              </a:rPr>
              <a:t>char</a:t>
            </a:r>
            <a:r>
              <a:rPr sz="1900" spc="4551" dirty="0">
                <a:solidFill>
                  <a:srgbClr val="0070C0"/>
                </a:solidFill>
                <a:latin typeface="QPIEFM+Courier New"/>
                <a:cs typeface="QPIEFM+Courier New"/>
              </a:rPr>
              <a:t> </a:t>
            </a:r>
            <a:r>
              <a:rPr sz="1900" dirty="0">
                <a:solidFill>
                  <a:srgbClr val="0070C0"/>
                </a:solidFill>
                <a:latin typeface="QPIEFM+Courier New"/>
                <a:cs typeface="QPIEFM+Courier New"/>
              </a:rPr>
              <a:t>chLetter[70];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48640" y="1927332"/>
            <a:ext cx="7415248" cy="347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78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E8637"/>
                </a:solidFill>
                <a:latin typeface="GSODNI+Wingdings"/>
                <a:cs typeface="GSODNI+Wingdings"/>
              </a:rPr>
              <a:t>.</a:t>
            </a:r>
            <a:r>
              <a:rPr sz="1350" spc="2688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The first example</a:t>
            </a:r>
            <a:r>
              <a:rPr sz="1900" spc="17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declares two arrays</a:t>
            </a:r>
            <a:r>
              <a:rPr sz="1900" spc="13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named</a:t>
            </a:r>
            <a:r>
              <a:rPr sz="1900" spc="25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900" dirty="0">
                <a:solidFill>
                  <a:srgbClr val="000000"/>
                </a:solidFill>
                <a:latin typeface="QPIEFM+Courier New"/>
                <a:cs typeface="QPIEFM+Courier New"/>
              </a:rPr>
              <a:t>xNum</a:t>
            </a: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and</a:t>
            </a:r>
            <a:r>
              <a:rPr sz="1900" spc="-1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900" dirty="0">
                <a:solidFill>
                  <a:srgbClr val="000000"/>
                </a:solidFill>
                <a:latin typeface="QPIEFM+Courier New"/>
                <a:cs typeface="QPIEFM+Courier New"/>
              </a:rPr>
              <a:t>yNum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06144" y="2158980"/>
            <a:ext cx="6856156" cy="347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7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of type </a:t>
            </a:r>
            <a:r>
              <a:rPr sz="1900" dirty="0">
                <a:solidFill>
                  <a:srgbClr val="000000"/>
                </a:solidFill>
                <a:latin typeface="QPIEFM+Courier New"/>
                <a:cs typeface="QPIEFM+Courier New"/>
              </a:rPr>
              <a:t>int</a:t>
            </a: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.</a:t>
            </a:r>
            <a:r>
              <a:rPr sz="1900" spc="516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Array</a:t>
            </a:r>
            <a:r>
              <a:rPr sz="1900" spc="14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900" dirty="0">
                <a:solidFill>
                  <a:srgbClr val="000000"/>
                </a:solidFill>
                <a:latin typeface="QPIEFM+Courier New"/>
                <a:cs typeface="QPIEFM+Courier New"/>
              </a:rPr>
              <a:t>xNum</a:t>
            </a: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can store up to</a:t>
            </a:r>
            <a:r>
              <a:rPr sz="1900" spc="14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20</a:t>
            </a:r>
            <a:r>
              <a:rPr sz="1900" spc="15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integer numbers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06144" y="2390628"/>
            <a:ext cx="4564808" cy="347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7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while </a:t>
            </a:r>
            <a:r>
              <a:rPr sz="1900" dirty="0">
                <a:solidFill>
                  <a:srgbClr val="000000"/>
                </a:solidFill>
                <a:latin typeface="QPIEFM+Courier New"/>
                <a:cs typeface="QPIEFM+Courier New"/>
              </a:rPr>
              <a:t>yNum</a:t>
            </a: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can store up to 50</a:t>
            </a:r>
            <a:r>
              <a:rPr sz="1900" spc="14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numbers.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48640" y="3006278"/>
            <a:ext cx="7359324" cy="3481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81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E8637"/>
                </a:solidFill>
                <a:latin typeface="GSODNI+Wingdings"/>
                <a:cs typeface="GSODNI+Wingdings"/>
              </a:rPr>
              <a:t>.</a:t>
            </a:r>
            <a:r>
              <a:rPr sz="1350" spc="2688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The second</a:t>
            </a:r>
            <a:r>
              <a:rPr sz="1900" spc="-12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line declares the array</a:t>
            </a:r>
            <a:r>
              <a:rPr sz="1900" spc="18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900" dirty="0">
                <a:solidFill>
                  <a:srgbClr val="000000"/>
                </a:solidFill>
                <a:latin typeface="QPIEFM+Courier New"/>
                <a:cs typeface="QPIEFM+Courier New"/>
              </a:rPr>
              <a:t>fPrice</a:t>
            </a: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of type</a:t>
            </a:r>
            <a:r>
              <a:rPr sz="1900" spc="1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900" dirty="0">
                <a:solidFill>
                  <a:srgbClr val="000000"/>
                </a:solidFill>
                <a:latin typeface="QPIEFM+Courier New"/>
                <a:cs typeface="QPIEFM+Courier New"/>
              </a:rPr>
              <a:t>float</a:t>
            </a: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.</a:t>
            </a:r>
            <a:r>
              <a:rPr sz="1900" spc="506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It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006144" y="3244322"/>
            <a:ext cx="4567856" cy="327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7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can store up to</a:t>
            </a:r>
            <a:r>
              <a:rPr sz="1900" spc="15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10</a:t>
            </a:r>
            <a:r>
              <a:rPr sz="1900" spc="12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floating-point values.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48640" y="3853922"/>
            <a:ext cx="6820461" cy="347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78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E8637"/>
                </a:solidFill>
                <a:latin typeface="GSODNI+Wingdings"/>
                <a:cs typeface="GSODNI+Wingdings"/>
              </a:rPr>
              <a:t>.</a:t>
            </a:r>
            <a:r>
              <a:rPr sz="1350" spc="2688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1900" dirty="0">
                <a:solidFill>
                  <a:srgbClr val="000000"/>
                </a:solidFill>
                <a:latin typeface="QPIEFM+Courier New"/>
                <a:cs typeface="QPIEFM+Courier New"/>
              </a:rPr>
              <a:t>fYield</a:t>
            </a: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is basic variable</a:t>
            </a:r>
            <a:r>
              <a:rPr sz="1900" spc="14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which shows array</a:t>
            </a:r>
            <a:r>
              <a:rPr sz="1900" spc="12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type can be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006144" y="4091666"/>
            <a:ext cx="6110531" cy="327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7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declared</a:t>
            </a:r>
            <a:r>
              <a:rPr sz="1900" spc="-12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together</a:t>
            </a:r>
            <a:r>
              <a:rPr sz="1900" spc="28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with basic type</a:t>
            </a:r>
            <a:r>
              <a:rPr sz="1900" spc="13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provided the type</a:t>
            </a:r>
            <a:r>
              <a:rPr sz="1900" spc="1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is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006144" y="4323395"/>
            <a:ext cx="1014250" cy="3278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81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similar.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48640" y="4933296"/>
            <a:ext cx="7238685" cy="347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78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E8637"/>
                </a:solidFill>
                <a:latin typeface="GSODNI+Wingdings"/>
                <a:cs typeface="GSODNI+Wingdings"/>
              </a:rPr>
              <a:t>.</a:t>
            </a:r>
            <a:r>
              <a:rPr sz="1350" spc="2688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The third line declares the array</a:t>
            </a:r>
            <a:r>
              <a:rPr sz="1900" spc="26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900" dirty="0">
                <a:solidFill>
                  <a:srgbClr val="000000"/>
                </a:solidFill>
                <a:latin typeface="QPIEFM+Courier New"/>
                <a:cs typeface="QPIEFM+Courier New"/>
              </a:rPr>
              <a:t>chLetter</a:t>
            </a: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of type</a:t>
            </a:r>
            <a:r>
              <a:rPr sz="1900" spc="17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char.</a:t>
            </a:r>
            <a:r>
              <a:rPr sz="1900" spc="525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It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006144" y="5171039"/>
            <a:ext cx="4365164" cy="327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7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can store a string</a:t>
            </a:r>
            <a:r>
              <a:rPr sz="1900" spc="12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up to 69</a:t>
            </a:r>
            <a:r>
              <a:rPr sz="1900" spc="12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characters.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548640" y="5786488"/>
            <a:ext cx="6510880" cy="327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83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E8637"/>
                </a:solidFill>
                <a:latin typeface="GSODNI+Wingdings"/>
                <a:cs typeface="GSODNI+Wingdings"/>
              </a:rPr>
              <a:t>.</a:t>
            </a:r>
            <a:r>
              <a:rPr sz="1350" spc="2688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Why 69</a:t>
            </a:r>
            <a:r>
              <a:rPr sz="1900" spc="12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instead of</a:t>
            </a:r>
            <a:r>
              <a:rPr sz="1900" spc="14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70? Remember,</a:t>
            </a:r>
            <a:r>
              <a:rPr sz="1900" spc="2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</a:t>
            </a:r>
            <a:r>
              <a:rPr sz="1900" spc="1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string has a</a:t>
            </a:r>
            <a:r>
              <a:rPr sz="1900" spc="14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900" u="sng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null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006144" y="6012041"/>
            <a:ext cx="6963690" cy="3478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83"/>
              </a:lnSpc>
              <a:spcBef>
                <a:spcPts val="0"/>
              </a:spcBef>
              <a:spcAft>
                <a:spcPts val="0"/>
              </a:spcAft>
            </a:pPr>
            <a:r>
              <a:rPr sz="1900" u="sng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terminating</a:t>
            </a:r>
            <a:r>
              <a:rPr sz="1900" u="sng" spc="133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900" u="sng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character</a:t>
            </a:r>
            <a:r>
              <a:rPr sz="1900" u="sng" spc="109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900" u="sng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(</a:t>
            </a:r>
            <a:r>
              <a:rPr sz="1900" u="sng" dirty="0">
                <a:solidFill>
                  <a:srgbClr val="000000"/>
                </a:solidFill>
                <a:latin typeface="QPIEFM+Courier New"/>
                <a:cs typeface="QPIEFM+Courier New"/>
              </a:rPr>
              <a:t>\0</a:t>
            </a:r>
            <a:r>
              <a:rPr sz="1900" u="sng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)</a:t>
            </a:r>
            <a:r>
              <a:rPr sz="1900" u="sng" spc="107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900" u="sng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at</a:t>
            </a:r>
            <a:r>
              <a:rPr sz="1900" u="sng" spc="109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900" u="sng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the</a:t>
            </a:r>
            <a:r>
              <a:rPr sz="1900" u="sng" spc="108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900" u="sng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end</a:t>
            </a: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,</a:t>
            </a:r>
            <a:r>
              <a:rPr sz="1900" spc="-1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so we mus</a:t>
            </a:r>
            <a:r>
              <a:rPr sz="1900" strike="sngStrike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t</a:t>
            </a:r>
            <a:r>
              <a:rPr sz="1900" strike="sngStrike" spc="112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900" strike="sngStrike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re</a:t>
            </a: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serve for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006144" y="6249785"/>
            <a:ext cx="388841" cy="327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83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48640" y="126372"/>
            <a:ext cx="3650369" cy="4442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98"/>
              </a:lnSpc>
              <a:spcBef>
                <a:spcPts val="0"/>
              </a:spcBef>
              <a:spcAft>
                <a:spcPts val="0"/>
              </a:spcAft>
            </a:pPr>
            <a:r>
              <a:rPr sz="2700" i="1" dirty="0">
                <a:solidFill>
                  <a:srgbClr val="575F6D"/>
                </a:solidFill>
                <a:latin typeface="GPGULP+Century Schoolbook Italic"/>
                <a:cs typeface="GPGULP+Century Schoolbook Italic"/>
              </a:rPr>
              <a:t>A</a:t>
            </a:r>
            <a:r>
              <a:rPr sz="2150" i="1" dirty="0">
                <a:solidFill>
                  <a:srgbClr val="575F6D"/>
                </a:solidFill>
                <a:latin typeface="GPGULP+Century Schoolbook Italic"/>
                <a:cs typeface="GPGULP+Century Schoolbook Italic"/>
              </a:rPr>
              <a:t>RRAY</a:t>
            </a:r>
            <a:r>
              <a:rPr sz="2150" i="1" spc="163" dirty="0">
                <a:solidFill>
                  <a:srgbClr val="575F6D"/>
                </a:solidFill>
                <a:latin typeface="GPGULP+Century Schoolbook Italic"/>
                <a:cs typeface="GPGULP+Century Schoolbook Italic"/>
              </a:rPr>
              <a:t> </a:t>
            </a:r>
            <a:r>
              <a:rPr sz="2700" i="1" dirty="0">
                <a:solidFill>
                  <a:srgbClr val="575F6D"/>
                </a:solidFill>
                <a:latin typeface="GPGULP+Century Schoolbook Italic"/>
                <a:cs typeface="GPGULP+Century Schoolbook Italic"/>
              </a:rPr>
              <a:t>I</a:t>
            </a:r>
            <a:r>
              <a:rPr sz="2150" i="1" dirty="0">
                <a:solidFill>
                  <a:srgbClr val="575F6D"/>
                </a:solidFill>
                <a:latin typeface="GPGULP+Century Schoolbook Italic"/>
                <a:cs typeface="GPGULP+Century Schoolbook Italic"/>
              </a:rPr>
              <a:t>NITIALIZATION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8640" y="858275"/>
            <a:ext cx="221428" cy="2055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8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FE8637"/>
                </a:solidFill>
                <a:latin typeface="GSODNI+Wingdings"/>
                <a:cs typeface="GSODNI+Wingdings"/>
              </a:rPr>
              <a:t>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06144" y="780558"/>
            <a:ext cx="5546333" cy="2981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47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An</a:t>
            </a:r>
            <a:r>
              <a:rPr sz="1700" spc="-17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array may be initialized</a:t>
            </a:r>
            <a:r>
              <a:rPr sz="1700" spc="-25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at the time of declaration.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48640" y="1477019"/>
            <a:ext cx="221428" cy="7667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8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FE8637"/>
                </a:solidFill>
                <a:latin typeface="GSODNI+Wingdings"/>
                <a:cs typeface="GSODNI+Wingdings"/>
              </a:rPr>
              <a:t>.</a:t>
            </a:r>
          </a:p>
          <a:p>
            <a:pPr marL="0" marR="0">
              <a:lnSpc>
                <a:spcPts val="1318"/>
              </a:lnSpc>
              <a:spcBef>
                <a:spcPts val="3100"/>
              </a:spcBef>
              <a:spcAft>
                <a:spcPts val="0"/>
              </a:spcAft>
            </a:pPr>
            <a:r>
              <a:rPr sz="1200" dirty="0">
                <a:solidFill>
                  <a:srgbClr val="FE8637"/>
                </a:solidFill>
                <a:latin typeface="GSODNI+Wingdings"/>
                <a:cs typeface="GSODNI+Wingdings"/>
              </a:rPr>
              <a:t>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06144" y="1399302"/>
            <a:ext cx="6096984" cy="8593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47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Initialization</a:t>
            </a:r>
            <a:r>
              <a:rPr sz="1700" spc="-2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of an</a:t>
            </a:r>
            <a:r>
              <a:rPr sz="1700" spc="1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array may take</a:t>
            </a:r>
            <a:r>
              <a:rPr sz="1700" spc="13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the following</a:t>
            </a:r>
            <a:r>
              <a:rPr sz="1700" spc="-16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form,</a:t>
            </a:r>
          </a:p>
          <a:p>
            <a:pPr marL="457149" marR="0">
              <a:lnSpc>
                <a:spcPts val="1699"/>
              </a:lnSpc>
              <a:spcBef>
                <a:spcPts val="353"/>
              </a:spcBef>
              <a:spcAft>
                <a:spcPts val="0"/>
              </a:spcAft>
            </a:pPr>
            <a:r>
              <a:rPr sz="900" dirty="0">
                <a:solidFill>
                  <a:srgbClr val="E0752F"/>
                </a:solidFill>
                <a:latin typeface="GSODNI+Wingdings"/>
                <a:cs typeface="GSODNI+Wingdings"/>
              </a:rPr>
              <a:t></a:t>
            </a:r>
            <a:r>
              <a:rPr sz="900" spc="2600" dirty="0">
                <a:solidFill>
                  <a:srgbClr val="E0752F"/>
                </a:solidFill>
                <a:latin typeface="Caladea"/>
                <a:cs typeface="Caladea"/>
              </a:rPr>
              <a:t> </a:t>
            </a:r>
            <a:r>
              <a:rPr sz="1500" dirty="0">
                <a:solidFill>
                  <a:srgbClr val="FF0000"/>
                </a:solidFill>
                <a:latin typeface="QPIEFM+Courier New"/>
                <a:cs typeface="QPIEFM+Courier New"/>
              </a:rPr>
              <a:t>type</a:t>
            </a:r>
            <a:r>
              <a:rPr sz="1500" spc="1803" dirty="0">
                <a:solidFill>
                  <a:srgbClr val="FF0000"/>
                </a:solidFill>
                <a:latin typeface="QPIEFM+Courier New"/>
                <a:cs typeface="QPIEFM+Courier New"/>
              </a:rPr>
              <a:t> </a:t>
            </a:r>
            <a:r>
              <a:rPr sz="1500" dirty="0">
                <a:solidFill>
                  <a:srgbClr val="FF0000"/>
                </a:solidFill>
                <a:latin typeface="QPIEFM+Courier New"/>
                <a:cs typeface="QPIEFM+Courier New"/>
              </a:rPr>
              <a:t>array_name[size] = {a_list_of_value};</a:t>
            </a:r>
          </a:p>
          <a:p>
            <a:pPr marL="0" marR="0">
              <a:lnSpc>
                <a:spcPts val="2047"/>
              </a:lnSpc>
              <a:spcBef>
                <a:spcPts val="368"/>
              </a:spcBef>
              <a:spcAft>
                <a:spcPts val="0"/>
              </a:spcAft>
            </a:pP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For example: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63294" y="2259104"/>
            <a:ext cx="6097033" cy="756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99"/>
              </a:lnSpc>
              <a:spcBef>
                <a:spcPts val="0"/>
              </a:spcBef>
              <a:spcAft>
                <a:spcPts val="0"/>
              </a:spcAft>
            </a:pPr>
            <a:r>
              <a:rPr sz="900" dirty="0">
                <a:solidFill>
                  <a:srgbClr val="E0752F"/>
                </a:solidFill>
                <a:latin typeface="GSODNI+Wingdings"/>
                <a:cs typeface="GSODNI+Wingdings"/>
              </a:rPr>
              <a:t></a:t>
            </a:r>
            <a:r>
              <a:rPr sz="900" spc="2600" dirty="0">
                <a:solidFill>
                  <a:srgbClr val="E0752F"/>
                </a:solidFill>
                <a:latin typeface="Caladea"/>
                <a:cs typeface="Caladea"/>
              </a:rPr>
              <a:t> </a:t>
            </a:r>
            <a:r>
              <a:rPr sz="1500" dirty="0">
                <a:solidFill>
                  <a:srgbClr val="0070C0"/>
                </a:solidFill>
                <a:latin typeface="QPIEFM+Courier New"/>
                <a:cs typeface="QPIEFM+Courier New"/>
              </a:rPr>
              <a:t>int</a:t>
            </a:r>
            <a:r>
              <a:rPr sz="1500" spc="2703" dirty="0">
                <a:solidFill>
                  <a:srgbClr val="0070C0"/>
                </a:solidFill>
                <a:latin typeface="QPIEFM+Courier New"/>
                <a:cs typeface="QPIEFM+Courier New"/>
              </a:rPr>
              <a:t> </a:t>
            </a:r>
            <a:r>
              <a:rPr sz="1500" dirty="0">
                <a:solidFill>
                  <a:srgbClr val="0070C0"/>
                </a:solidFill>
                <a:latin typeface="QPIEFM+Courier New"/>
                <a:cs typeface="QPIEFM+Courier New"/>
              </a:rPr>
              <a:t>idNum[7] = {1, 2, 3, 4, 5, 6, 7};</a:t>
            </a:r>
          </a:p>
          <a:p>
            <a:pPr marL="0" marR="0">
              <a:lnSpc>
                <a:spcPts val="1699"/>
              </a:lnSpc>
              <a:spcBef>
                <a:spcPts val="280"/>
              </a:spcBef>
              <a:spcAft>
                <a:spcPts val="0"/>
              </a:spcAft>
            </a:pPr>
            <a:r>
              <a:rPr sz="900" dirty="0">
                <a:solidFill>
                  <a:srgbClr val="E0752F"/>
                </a:solidFill>
                <a:latin typeface="GSODNI+Wingdings"/>
                <a:cs typeface="GSODNI+Wingdings"/>
              </a:rPr>
              <a:t></a:t>
            </a:r>
            <a:r>
              <a:rPr sz="900" spc="2600" dirty="0">
                <a:solidFill>
                  <a:srgbClr val="E0752F"/>
                </a:solidFill>
                <a:latin typeface="Caladea"/>
                <a:cs typeface="Caladea"/>
              </a:rPr>
              <a:t> </a:t>
            </a:r>
            <a:r>
              <a:rPr sz="1500" dirty="0">
                <a:solidFill>
                  <a:srgbClr val="0070C0"/>
                </a:solidFill>
                <a:latin typeface="QPIEFM+Courier New"/>
                <a:cs typeface="QPIEFM+Courier New"/>
              </a:rPr>
              <a:t>float</a:t>
            </a:r>
            <a:r>
              <a:rPr sz="1500" spc="903" dirty="0">
                <a:solidFill>
                  <a:srgbClr val="0070C0"/>
                </a:solidFill>
                <a:latin typeface="QPIEFM+Courier New"/>
                <a:cs typeface="QPIEFM+Courier New"/>
              </a:rPr>
              <a:t> </a:t>
            </a:r>
            <a:r>
              <a:rPr sz="1500" dirty="0">
                <a:solidFill>
                  <a:srgbClr val="0070C0"/>
                </a:solidFill>
                <a:latin typeface="QPIEFM+Courier New"/>
                <a:cs typeface="QPIEFM+Courier New"/>
              </a:rPr>
              <a:t>fFloatNum[5] = {5.6, 5.7, 5.8, 5.9, 6.1};</a:t>
            </a:r>
          </a:p>
          <a:p>
            <a:pPr marL="0" marR="0">
              <a:lnSpc>
                <a:spcPts val="1699"/>
              </a:lnSpc>
              <a:spcBef>
                <a:spcPts val="280"/>
              </a:spcBef>
              <a:spcAft>
                <a:spcPts val="0"/>
              </a:spcAft>
            </a:pPr>
            <a:r>
              <a:rPr sz="900" dirty="0">
                <a:solidFill>
                  <a:srgbClr val="E0752F"/>
                </a:solidFill>
                <a:latin typeface="GSODNI+Wingdings"/>
                <a:cs typeface="GSODNI+Wingdings"/>
              </a:rPr>
              <a:t></a:t>
            </a:r>
            <a:r>
              <a:rPr sz="900" spc="2600" dirty="0">
                <a:solidFill>
                  <a:srgbClr val="E0752F"/>
                </a:solidFill>
                <a:latin typeface="Caladea"/>
                <a:cs typeface="Caladea"/>
              </a:rPr>
              <a:t> </a:t>
            </a:r>
            <a:r>
              <a:rPr sz="1500" dirty="0">
                <a:solidFill>
                  <a:srgbClr val="0070C0"/>
                </a:solidFill>
                <a:latin typeface="QPIEFM+Courier New"/>
                <a:cs typeface="QPIEFM+Courier New"/>
              </a:rPr>
              <a:t>char</a:t>
            </a:r>
            <a:r>
              <a:rPr sz="1500" spc="1803" dirty="0">
                <a:solidFill>
                  <a:srgbClr val="0070C0"/>
                </a:solidFill>
                <a:latin typeface="QPIEFM+Courier New"/>
                <a:cs typeface="QPIEFM+Courier New"/>
              </a:rPr>
              <a:t> </a:t>
            </a:r>
            <a:r>
              <a:rPr sz="1500" dirty="0">
                <a:solidFill>
                  <a:srgbClr val="0070C0"/>
                </a:solidFill>
                <a:latin typeface="QPIEFM+Courier New"/>
                <a:cs typeface="QPIEFM+Courier New"/>
              </a:rPr>
              <a:t>chVowel[6] = {'a', 'e', 'i', 'o', 'u',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920494" y="2967764"/>
            <a:ext cx="838311" cy="253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99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0070C0"/>
                </a:solidFill>
                <a:latin typeface="QPIEFM+Courier New"/>
                <a:cs typeface="QPIEFM+Courier New"/>
              </a:rPr>
              <a:t>'\0'};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48640" y="3297310"/>
            <a:ext cx="221428" cy="13016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8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FE8637"/>
                </a:solidFill>
                <a:latin typeface="GSODNI+Wingdings"/>
                <a:cs typeface="GSODNI+Wingdings"/>
              </a:rPr>
              <a:t>.</a:t>
            </a:r>
          </a:p>
          <a:p>
            <a:pPr marL="0" marR="0">
              <a:lnSpc>
                <a:spcPts val="1318"/>
              </a:lnSpc>
              <a:spcBef>
                <a:spcPts val="7312"/>
              </a:spcBef>
              <a:spcAft>
                <a:spcPts val="0"/>
              </a:spcAft>
            </a:pPr>
            <a:r>
              <a:rPr sz="1200" dirty="0">
                <a:solidFill>
                  <a:srgbClr val="FE8637"/>
                </a:solidFill>
                <a:latin typeface="GSODNI+Wingdings"/>
                <a:cs typeface="GSODNI+Wingdings"/>
              </a:rPr>
              <a:t>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006144" y="3219593"/>
            <a:ext cx="6696697" cy="7827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47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The first</a:t>
            </a:r>
            <a:r>
              <a:rPr sz="1700" spc="-18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line declares</a:t>
            </a:r>
            <a:r>
              <a:rPr sz="1700" spc="-26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an integer</a:t>
            </a:r>
            <a:r>
              <a:rPr sz="1700" spc="-19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array </a:t>
            </a:r>
            <a:r>
              <a:rPr sz="1700" dirty="0">
                <a:solidFill>
                  <a:srgbClr val="000000"/>
                </a:solidFill>
                <a:latin typeface="QPIEFM+Courier New"/>
                <a:cs typeface="QPIEFM+Courier New"/>
              </a:rPr>
              <a:t>idNum</a:t>
            </a: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and it immediately</a:t>
            </a:r>
          </a:p>
          <a:p>
            <a:pPr marL="0" marR="0">
              <a:lnSpc>
                <a:spcPts val="1835"/>
              </a:lnSpc>
              <a:spcBef>
                <a:spcPts val="50"/>
              </a:spcBef>
              <a:spcAft>
                <a:spcPts val="0"/>
              </a:spcAft>
            </a:pP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assigns</a:t>
            </a:r>
            <a:r>
              <a:rPr sz="1700" spc="-1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the values 1, 2, 3,</a:t>
            </a:r>
            <a:r>
              <a:rPr sz="1700" spc="12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...,</a:t>
            </a:r>
            <a:r>
              <a:rPr sz="1700" spc="18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7</a:t>
            </a:r>
            <a:r>
              <a:rPr sz="1700" spc="1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to </a:t>
            </a:r>
            <a:r>
              <a:rPr sz="1700" dirty="0">
                <a:solidFill>
                  <a:srgbClr val="000000"/>
                </a:solidFill>
                <a:latin typeface="QPIEFM+Courier New"/>
                <a:cs typeface="QPIEFM+Courier New"/>
              </a:rPr>
              <a:t>idNum[0]</a:t>
            </a: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,</a:t>
            </a:r>
            <a:r>
              <a:rPr sz="1700" spc="39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700" dirty="0">
                <a:solidFill>
                  <a:srgbClr val="000000"/>
                </a:solidFill>
                <a:latin typeface="QPIEFM+Courier New"/>
                <a:cs typeface="QPIEFM+Courier New"/>
              </a:rPr>
              <a:t>idNum[1]</a:t>
            </a: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,</a:t>
            </a:r>
          </a:p>
          <a:p>
            <a:pPr marL="0" marR="0">
              <a:lnSpc>
                <a:spcPts val="1836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000000"/>
                </a:solidFill>
                <a:latin typeface="QPIEFM+Courier New"/>
                <a:cs typeface="QPIEFM+Courier New"/>
              </a:rPr>
              <a:t>idNum[2]</a:t>
            </a: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,</a:t>
            </a:r>
            <a:r>
              <a:rPr sz="1700" dirty="0">
                <a:solidFill>
                  <a:srgbClr val="000000"/>
                </a:solidFill>
                <a:latin typeface="QPIEFM+Courier New"/>
                <a:cs typeface="QPIEFM+Courier New"/>
              </a:rPr>
              <a:t>...</a:t>
            </a: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,</a:t>
            </a:r>
            <a:r>
              <a:rPr sz="1700" spc="54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700" dirty="0">
                <a:solidFill>
                  <a:srgbClr val="000000"/>
                </a:solidFill>
                <a:latin typeface="QPIEFM+Courier New"/>
                <a:cs typeface="QPIEFM+Courier New"/>
              </a:rPr>
              <a:t>idNum[6]</a:t>
            </a: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respectively.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006144" y="4315730"/>
            <a:ext cx="5259454" cy="5389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47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The second</a:t>
            </a:r>
            <a:r>
              <a:rPr sz="1700" spc="-25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line</a:t>
            </a:r>
            <a:r>
              <a:rPr sz="1700" spc="-15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assigns</a:t>
            </a:r>
            <a:r>
              <a:rPr sz="1700" spc="-1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the values</a:t>
            </a:r>
            <a:r>
              <a:rPr sz="1700" spc="14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5.6</a:t>
            </a:r>
            <a:r>
              <a:rPr sz="1700" spc="1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to</a:t>
            </a:r>
          </a:p>
          <a:p>
            <a:pPr marL="0" marR="0">
              <a:lnSpc>
                <a:spcPts val="1752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000000"/>
                </a:solidFill>
                <a:latin typeface="QPIEFM+Courier New"/>
                <a:cs typeface="QPIEFM+Courier New"/>
              </a:rPr>
              <a:t>fFloatNum[0]</a:t>
            </a: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,</a:t>
            </a:r>
            <a:r>
              <a:rPr sz="1700" spc="5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5.7</a:t>
            </a:r>
            <a:r>
              <a:rPr sz="1700" spc="49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to</a:t>
            </a:r>
            <a:r>
              <a:rPr sz="1700" spc="479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700" dirty="0">
                <a:solidFill>
                  <a:srgbClr val="000000"/>
                </a:solidFill>
                <a:latin typeface="QPIEFM+Courier New"/>
                <a:cs typeface="QPIEFM+Courier New"/>
              </a:rPr>
              <a:t>fFloatNum[1]</a:t>
            </a: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,</a:t>
            </a:r>
            <a:r>
              <a:rPr sz="1700" spc="62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and so on.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48640" y="5234695"/>
            <a:ext cx="221428" cy="9815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8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FE8637"/>
                </a:solidFill>
                <a:latin typeface="GSODNI+Wingdings"/>
                <a:cs typeface="GSODNI+Wingdings"/>
              </a:rPr>
              <a:t>.</a:t>
            </a:r>
          </a:p>
          <a:p>
            <a:pPr marL="0" marR="0">
              <a:lnSpc>
                <a:spcPts val="1318"/>
              </a:lnSpc>
              <a:spcBef>
                <a:spcPts val="4791"/>
              </a:spcBef>
              <a:spcAft>
                <a:spcPts val="0"/>
              </a:spcAft>
            </a:pPr>
            <a:r>
              <a:rPr sz="1200" dirty="0">
                <a:solidFill>
                  <a:srgbClr val="FE8637"/>
                </a:solidFill>
                <a:latin typeface="GSODNI+Wingdings"/>
                <a:cs typeface="GSODNI+Wingdings"/>
              </a:rPr>
              <a:t>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006144" y="5156978"/>
            <a:ext cx="6733601" cy="775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47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Similarly the third line</a:t>
            </a:r>
            <a:r>
              <a:rPr sz="1700" spc="-15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assigns</a:t>
            </a:r>
            <a:r>
              <a:rPr sz="1700" spc="-1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the characters</a:t>
            </a:r>
            <a:r>
              <a:rPr sz="1700" spc="-26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700" spc="1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'</a:t>
            </a:r>
            <a:r>
              <a:rPr sz="1700" dirty="0">
                <a:solidFill>
                  <a:srgbClr val="000000"/>
                </a:solidFill>
                <a:latin typeface="QPIEFM+Courier New"/>
                <a:cs typeface="QPIEFM+Courier New"/>
              </a:rPr>
              <a:t>a</a:t>
            </a: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'</a:t>
            </a:r>
            <a:r>
              <a:rPr sz="1700" spc="19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to </a:t>
            </a:r>
            <a:r>
              <a:rPr sz="1700" dirty="0">
                <a:solidFill>
                  <a:srgbClr val="000000"/>
                </a:solidFill>
                <a:latin typeface="QPIEFM+Courier New"/>
                <a:cs typeface="QPIEFM+Courier New"/>
              </a:rPr>
              <a:t>chVowel[0]</a:t>
            </a: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,</a:t>
            </a:r>
          </a:p>
          <a:p>
            <a:pPr marL="0" marR="0">
              <a:lnSpc>
                <a:spcPts val="1835"/>
              </a:lnSpc>
              <a:spcBef>
                <a:spcPts val="50"/>
              </a:spcBef>
              <a:spcAft>
                <a:spcPts val="0"/>
              </a:spcAft>
            </a:pP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'</a:t>
            </a:r>
            <a:r>
              <a:rPr sz="1700" dirty="0">
                <a:solidFill>
                  <a:srgbClr val="000000"/>
                </a:solidFill>
                <a:latin typeface="QPIEFM+Courier New"/>
                <a:cs typeface="QPIEFM+Courier New"/>
              </a:rPr>
              <a:t>e</a:t>
            </a: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' to </a:t>
            </a:r>
            <a:r>
              <a:rPr sz="1700" dirty="0">
                <a:solidFill>
                  <a:srgbClr val="000000"/>
                </a:solidFill>
                <a:latin typeface="QPIEFM+Courier New"/>
                <a:cs typeface="QPIEFM+Courier New"/>
              </a:rPr>
              <a:t>chVowel[1]</a:t>
            </a: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,</a:t>
            </a:r>
            <a:r>
              <a:rPr sz="1700" spc="5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and so on.</a:t>
            </a:r>
            <a:r>
              <a:rPr sz="1700" spc="47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Note again, for characters</a:t>
            </a:r>
            <a:r>
              <a:rPr sz="1700" spc="-25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we must</a:t>
            </a:r>
          </a:p>
          <a:p>
            <a:pPr marL="0" marR="0">
              <a:lnSpc>
                <a:spcPts val="1922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use</a:t>
            </a:r>
            <a:r>
              <a:rPr sz="1700" spc="-15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the single</a:t>
            </a:r>
            <a:r>
              <a:rPr sz="1700" spc="-19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apostrophe/quote</a:t>
            </a:r>
            <a:r>
              <a:rPr sz="1700" spc="-42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(') to enclose</a:t>
            </a:r>
            <a:r>
              <a:rPr sz="1700" spc="-15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them.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006144" y="5932948"/>
            <a:ext cx="6128521" cy="3164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47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Also,</a:t>
            </a:r>
            <a:r>
              <a:rPr sz="1700" spc="-23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the last character</a:t>
            </a:r>
            <a:r>
              <a:rPr sz="1700" spc="-29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in</a:t>
            </a:r>
            <a:r>
              <a:rPr sz="1700" spc="1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700" dirty="0">
                <a:solidFill>
                  <a:srgbClr val="000000"/>
                </a:solidFill>
                <a:latin typeface="QPIEFM+Courier New"/>
                <a:cs typeface="QPIEFM+Courier New"/>
              </a:rPr>
              <a:t>chVowel</a:t>
            </a: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is </a:t>
            </a:r>
            <a:r>
              <a:rPr sz="1700" dirty="0">
                <a:solidFill>
                  <a:srgbClr val="000000"/>
                </a:solidFill>
                <a:latin typeface="QPIEFM+Courier New"/>
                <a:cs typeface="QPIEFM+Courier New"/>
              </a:rPr>
              <a:t>NULL</a:t>
            </a: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character</a:t>
            </a:r>
            <a:r>
              <a:rPr sz="1700" spc="-29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('</a:t>
            </a:r>
            <a:r>
              <a:rPr sz="1700" dirty="0">
                <a:solidFill>
                  <a:srgbClr val="000000"/>
                </a:solidFill>
                <a:latin typeface="QPIEFM+Courier New"/>
                <a:cs typeface="QPIEFM+Courier New"/>
              </a:rPr>
              <a:t>\0</a:t>
            </a: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').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48640" y="288592"/>
            <a:ext cx="7192725" cy="3439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8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FE8637"/>
                </a:solidFill>
                <a:latin typeface="GSODNI+Wingdings"/>
                <a:cs typeface="GSODNI+Wingdings"/>
              </a:rPr>
              <a:t>.</a:t>
            </a:r>
            <a:r>
              <a:rPr sz="1400" spc="2654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Initialization</a:t>
            </a:r>
            <a:r>
              <a:rPr sz="2000" spc="-45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of an</a:t>
            </a:r>
            <a:r>
              <a:rPr sz="2000" spc="-14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array</a:t>
            </a:r>
            <a:r>
              <a:rPr sz="2000" spc="-13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of</a:t>
            </a:r>
            <a:r>
              <a:rPr sz="2000" spc="-2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type char</a:t>
            </a:r>
            <a:r>
              <a:rPr sz="2000" spc="-19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for</a:t>
            </a:r>
            <a:r>
              <a:rPr sz="2000" spc="-32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holding</a:t>
            </a:r>
            <a:r>
              <a:rPr sz="2000" spc="-39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strings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06144" y="532385"/>
            <a:ext cx="3520217" cy="3442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11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may take</a:t>
            </a:r>
            <a:r>
              <a:rPr sz="2000" spc="-24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the</a:t>
            </a:r>
            <a:r>
              <a:rPr sz="2000" spc="-14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following</a:t>
            </a:r>
            <a:r>
              <a:rPr sz="2000" spc="-5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form,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06144" y="1085527"/>
            <a:ext cx="4159043" cy="297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39"/>
              </a:lnSpc>
              <a:spcBef>
                <a:spcPts val="0"/>
              </a:spcBef>
              <a:spcAft>
                <a:spcPts val="0"/>
              </a:spcAft>
            </a:pPr>
            <a:r>
              <a:rPr sz="1450" dirty="0">
                <a:solidFill>
                  <a:srgbClr val="FE8637"/>
                </a:solidFill>
                <a:latin typeface="SNFKJM+Wingdings 2"/>
                <a:cs typeface="SNFKJM+Wingdings 2"/>
              </a:rPr>
              <a:t></a:t>
            </a:r>
            <a:r>
              <a:rPr sz="1450" spc="2477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1800" dirty="0">
                <a:solidFill>
                  <a:srgbClr val="0070C0"/>
                </a:solidFill>
                <a:latin typeface="QPIEFM+Courier New"/>
                <a:cs typeface="QPIEFM+Courier New"/>
              </a:rPr>
              <a:t>char</a:t>
            </a:r>
            <a:r>
              <a:rPr sz="1800" spc="3224" dirty="0">
                <a:solidFill>
                  <a:srgbClr val="0070C0"/>
                </a:solidFill>
                <a:latin typeface="QPIEFM+Courier New"/>
                <a:cs typeface="QPIEFM+Courier New"/>
              </a:rPr>
              <a:t> </a:t>
            </a:r>
            <a:r>
              <a:rPr sz="1800" dirty="0">
                <a:solidFill>
                  <a:srgbClr val="0070C0"/>
                </a:solidFill>
                <a:latin typeface="QPIEFM+Courier New"/>
                <a:cs typeface="QPIEFM+Courier New"/>
              </a:rPr>
              <a:t>array_name[size] =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463294" y="1304983"/>
            <a:ext cx="3719140" cy="297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39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70C0"/>
                </a:solidFill>
                <a:latin typeface="QPIEFM+Courier New"/>
                <a:cs typeface="QPIEFM+Courier New"/>
              </a:rPr>
              <a:t>"string_lateral_constant";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48640" y="1785494"/>
            <a:ext cx="7326332" cy="3658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11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FE8637"/>
                </a:solidFill>
                <a:latin typeface="GSODNI+Wingdings"/>
                <a:cs typeface="GSODNI+Wingdings"/>
              </a:rPr>
              <a:t>.</a:t>
            </a:r>
            <a:r>
              <a:rPr sz="1400" spc="2654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For example,</a:t>
            </a:r>
            <a:r>
              <a:rPr sz="2000" spc="-46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the</a:t>
            </a:r>
            <a:r>
              <a:rPr sz="2000" spc="-14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array</a:t>
            </a:r>
            <a:r>
              <a:rPr sz="2000" spc="-15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QPIEFM+Courier New"/>
                <a:cs typeface="QPIEFM+Courier New"/>
              </a:rPr>
              <a:t>chVowel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in</a:t>
            </a:r>
            <a:r>
              <a:rPr sz="2000" spc="-12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the</a:t>
            </a:r>
            <a:r>
              <a:rPr sz="2000" spc="-14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previous</a:t>
            </a:r>
            <a:r>
              <a:rPr sz="2000" spc="-43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example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006144" y="2035730"/>
            <a:ext cx="6156963" cy="3439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could</a:t>
            </a:r>
            <a:r>
              <a:rPr sz="2000" spc="-28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have been</a:t>
            </a:r>
            <a:r>
              <a:rPr sz="2000" spc="-24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written</a:t>
            </a:r>
            <a:r>
              <a:rPr sz="2000" spc="-4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more</a:t>
            </a:r>
            <a:r>
              <a:rPr sz="2000" spc="-23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compactly</a:t>
            </a:r>
            <a:r>
              <a:rPr sz="2000" spc="-33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as</a:t>
            </a:r>
            <a:r>
              <a:rPr sz="2000" spc="-18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follows,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006144" y="2588573"/>
            <a:ext cx="4569558" cy="297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39"/>
              </a:lnSpc>
              <a:spcBef>
                <a:spcPts val="0"/>
              </a:spcBef>
              <a:spcAft>
                <a:spcPts val="0"/>
              </a:spcAft>
            </a:pPr>
            <a:r>
              <a:rPr sz="1450" dirty="0">
                <a:solidFill>
                  <a:srgbClr val="FE8637"/>
                </a:solidFill>
                <a:latin typeface="SNFKJM+Wingdings 2"/>
                <a:cs typeface="SNFKJM+Wingdings 2"/>
              </a:rPr>
              <a:t></a:t>
            </a:r>
            <a:r>
              <a:rPr sz="1450" spc="2477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1800" dirty="0">
                <a:solidFill>
                  <a:srgbClr val="000000"/>
                </a:solidFill>
                <a:latin typeface="QPIEFM+Courier New"/>
                <a:cs typeface="QPIEFM+Courier New"/>
              </a:rPr>
              <a:t>char</a:t>
            </a:r>
            <a:r>
              <a:rPr sz="1800" spc="3224" dirty="0">
                <a:solidFill>
                  <a:srgbClr val="000000"/>
                </a:solidFill>
                <a:latin typeface="QPIEFM+Courier New"/>
                <a:cs typeface="QPIEFM+Courier New"/>
              </a:rPr>
              <a:t> </a:t>
            </a:r>
            <a:r>
              <a:rPr sz="1800" dirty="0">
                <a:solidFill>
                  <a:srgbClr val="000000"/>
                </a:solidFill>
                <a:latin typeface="QPIEFM+Courier New"/>
                <a:cs typeface="QPIEFM+Courier New"/>
              </a:rPr>
              <a:t>chVowel[6] =</a:t>
            </a:r>
            <a:r>
              <a:rPr sz="1800" spc="-13" dirty="0">
                <a:solidFill>
                  <a:srgbClr val="000000"/>
                </a:solidFill>
                <a:latin typeface="QPIEFM+Courier New"/>
                <a:cs typeface="QPIEFM+Courier New"/>
              </a:rPr>
              <a:t> </a:t>
            </a:r>
            <a:r>
              <a:rPr sz="1800" dirty="0">
                <a:solidFill>
                  <a:srgbClr val="000000"/>
                </a:solidFill>
                <a:latin typeface="QPIEFM+Courier New"/>
                <a:cs typeface="QPIEFM+Courier New"/>
              </a:rPr>
              <a:t>"aeiou";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48640" y="3075052"/>
            <a:ext cx="7203212" cy="3442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11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FE8637"/>
                </a:solidFill>
                <a:latin typeface="GSODNI+Wingdings"/>
                <a:cs typeface="GSODNI+Wingdings"/>
              </a:rPr>
              <a:t>.</a:t>
            </a:r>
            <a:r>
              <a:rPr sz="1400" spc="2654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When</a:t>
            </a:r>
            <a:r>
              <a:rPr sz="2000" spc="-16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the</a:t>
            </a:r>
            <a:r>
              <a:rPr sz="2000" spc="-14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value</a:t>
            </a:r>
            <a:r>
              <a:rPr sz="2000" spc="-37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assigned</a:t>
            </a:r>
            <a:r>
              <a:rPr sz="2000" spc="-23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to</a:t>
            </a:r>
            <a:r>
              <a:rPr sz="2000" spc="-1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</a:t>
            </a:r>
            <a:r>
              <a:rPr sz="2000" spc="-13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character</a:t>
            </a:r>
            <a:r>
              <a:rPr sz="2000" spc="-27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array</a:t>
            </a:r>
            <a:r>
              <a:rPr sz="2000" spc="-18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is</a:t>
            </a:r>
            <a:r>
              <a:rPr sz="2000" spc="-15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 string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006144" y="3319192"/>
            <a:ext cx="6681374" cy="3444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(which</a:t>
            </a:r>
            <a:r>
              <a:rPr sz="2000" spc="-44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must be</a:t>
            </a:r>
            <a:r>
              <a:rPr sz="2000" spc="-12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enclosed</a:t>
            </a:r>
            <a:r>
              <a:rPr sz="2000" spc="-4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in double</a:t>
            </a:r>
            <a:r>
              <a:rPr sz="2000" spc="-37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quotes),</a:t>
            </a:r>
            <a:r>
              <a:rPr sz="2000" spc="-47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the</a:t>
            </a:r>
            <a:r>
              <a:rPr sz="2000" spc="14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u="sng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compiler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006144" y="3556937"/>
            <a:ext cx="6508517" cy="3658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8"/>
              </a:lnSpc>
              <a:spcBef>
                <a:spcPts val="0"/>
              </a:spcBef>
              <a:spcAft>
                <a:spcPts val="0"/>
              </a:spcAft>
            </a:pPr>
            <a:r>
              <a:rPr sz="2000" u="sng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automatically</a:t>
            </a:r>
            <a:r>
              <a:rPr sz="2000" u="sng" spc="67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u="sng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supplies</a:t>
            </a:r>
            <a:r>
              <a:rPr sz="2000" u="sng" spc="9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u="sng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the</a:t>
            </a:r>
            <a:r>
              <a:rPr sz="2000" u="sng" spc="103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u="sng" dirty="0">
                <a:solidFill>
                  <a:srgbClr val="000000"/>
                </a:solidFill>
                <a:latin typeface="QPIEFM+Courier New"/>
                <a:cs typeface="QPIEFM+Courier New"/>
              </a:rPr>
              <a:t>NULL</a:t>
            </a:r>
            <a:r>
              <a:rPr sz="2000" u="sng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character</a:t>
            </a:r>
            <a:r>
              <a:rPr sz="2000" spc="-22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but</a:t>
            </a:r>
            <a:r>
              <a:rPr sz="2000" spc="-16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strike="sngStrike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we</a:t>
            </a:r>
            <a:r>
              <a:rPr sz="2000" strike="sngStrike" spc="10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strike="sngStrike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still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006144" y="3800777"/>
            <a:ext cx="5375196" cy="3658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8"/>
              </a:lnSpc>
              <a:spcBef>
                <a:spcPts val="0"/>
              </a:spcBef>
              <a:spcAft>
                <a:spcPts val="0"/>
              </a:spcAft>
            </a:pPr>
            <a:r>
              <a:rPr sz="2000" strike="sngStrike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have</a:t>
            </a:r>
            <a:r>
              <a:rPr sz="2000" strike="sngStrike" spc="108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strike="sngStrike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to</a:t>
            </a:r>
            <a:r>
              <a:rPr sz="2000" strike="sngStrike" spc="9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strike="sngStrike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reserve</a:t>
            </a:r>
            <a:r>
              <a:rPr sz="2000" strike="sngStrike" spc="92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strike="sngStrike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one</a:t>
            </a:r>
            <a:r>
              <a:rPr sz="2000" strike="sngStrike" spc="96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strike="sngStrike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extra</a:t>
            </a:r>
            <a:r>
              <a:rPr sz="2000" strike="sngStrike" spc="86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strike="sngStrike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place</a:t>
            </a:r>
            <a:r>
              <a:rPr sz="2000" strike="sngStrike" spc="92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strike="sngStrike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for</a:t>
            </a:r>
            <a:r>
              <a:rPr sz="2000" strike="sngStrike" spc="83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strike="sngStrike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the</a:t>
            </a:r>
            <a:r>
              <a:rPr sz="2000" strike="sngStrike" spc="13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QPIEFM+Courier New"/>
                <a:cs typeface="QPIEFM+Courier New"/>
              </a:rPr>
              <a:t>NULL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548640" y="4126913"/>
            <a:ext cx="6750998" cy="3439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8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FE8637"/>
                </a:solidFill>
                <a:latin typeface="GSODNI+Wingdings"/>
                <a:cs typeface="GSODNI+Wingdings"/>
              </a:rPr>
              <a:t>.</a:t>
            </a:r>
            <a:r>
              <a:rPr sz="1400" spc="2654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For unsized</a:t>
            </a:r>
            <a:r>
              <a:rPr sz="2000" spc="-24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array</a:t>
            </a:r>
            <a:r>
              <a:rPr sz="2000" spc="-13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(variable</a:t>
            </a:r>
            <a:r>
              <a:rPr sz="2000" spc="-54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sized),</a:t>
            </a:r>
            <a:r>
              <a:rPr sz="2000" spc="-34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we</a:t>
            </a:r>
            <a:r>
              <a:rPr sz="2000" spc="-26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can</a:t>
            </a:r>
            <a:r>
              <a:rPr sz="2000" spc="-16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declare</a:t>
            </a:r>
            <a:r>
              <a:rPr sz="2000" spc="-36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as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006144" y="4370833"/>
            <a:ext cx="921566" cy="3442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11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follow,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006144" y="4923976"/>
            <a:ext cx="4841490" cy="297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39"/>
              </a:lnSpc>
              <a:spcBef>
                <a:spcPts val="0"/>
              </a:spcBef>
              <a:spcAft>
                <a:spcPts val="0"/>
              </a:spcAft>
            </a:pPr>
            <a:r>
              <a:rPr sz="1450" dirty="0">
                <a:solidFill>
                  <a:srgbClr val="FE8637"/>
                </a:solidFill>
                <a:latin typeface="SNFKJM+Wingdings 2"/>
                <a:cs typeface="SNFKJM+Wingdings 2"/>
              </a:rPr>
              <a:t></a:t>
            </a:r>
            <a:r>
              <a:rPr sz="1450" spc="2477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1800" dirty="0">
                <a:solidFill>
                  <a:srgbClr val="0070C0"/>
                </a:solidFill>
                <a:latin typeface="QPIEFM+Courier New"/>
                <a:cs typeface="QPIEFM+Courier New"/>
              </a:rPr>
              <a:t>char chName[ ]</a:t>
            </a:r>
            <a:r>
              <a:rPr sz="1800" spc="-13" dirty="0">
                <a:solidFill>
                  <a:srgbClr val="0070C0"/>
                </a:solidFill>
                <a:latin typeface="QPIEFM+Courier New"/>
                <a:cs typeface="QPIEFM+Courier New"/>
              </a:rPr>
              <a:t> </a:t>
            </a:r>
            <a:r>
              <a:rPr sz="1800" dirty="0">
                <a:solidFill>
                  <a:srgbClr val="0070C0"/>
                </a:solidFill>
                <a:latin typeface="QPIEFM+Courier New"/>
                <a:cs typeface="QPIEFM+Courier New"/>
              </a:rPr>
              <a:t>=</a:t>
            </a:r>
            <a:r>
              <a:rPr sz="1800" spc="-13" dirty="0">
                <a:solidFill>
                  <a:srgbClr val="0070C0"/>
                </a:solidFill>
                <a:latin typeface="QPIEFM+Courier New"/>
                <a:cs typeface="QPIEFM+Courier New"/>
              </a:rPr>
              <a:t> </a:t>
            </a:r>
            <a:r>
              <a:rPr sz="1800" dirty="0">
                <a:solidFill>
                  <a:srgbClr val="0070C0"/>
                </a:solidFill>
                <a:latin typeface="QPIEFM+Courier New"/>
                <a:cs typeface="QPIEFM+Courier New"/>
              </a:rPr>
              <a:t>"Mr.</a:t>
            </a:r>
            <a:r>
              <a:rPr sz="1800" spc="-21" dirty="0">
                <a:solidFill>
                  <a:srgbClr val="0070C0"/>
                </a:solidFill>
                <a:latin typeface="QPIEFM+Courier New"/>
                <a:cs typeface="QPIEFM+Courier New"/>
              </a:rPr>
              <a:t> </a:t>
            </a:r>
            <a:r>
              <a:rPr sz="1800" dirty="0">
                <a:solidFill>
                  <a:srgbClr val="0070C0"/>
                </a:solidFill>
                <a:latin typeface="QPIEFM+Courier New"/>
                <a:cs typeface="QPIEFM+Courier New"/>
              </a:rPr>
              <a:t>Dracula";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548640" y="5410451"/>
            <a:ext cx="7012080" cy="3439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8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FE8637"/>
                </a:solidFill>
                <a:latin typeface="GSODNI+Wingdings"/>
                <a:cs typeface="GSODNI+Wingdings"/>
              </a:rPr>
              <a:t>.</a:t>
            </a:r>
            <a:r>
              <a:rPr sz="1400" spc="2654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C compiler</a:t>
            </a:r>
            <a:r>
              <a:rPr sz="2000" spc="-5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automatically</a:t>
            </a:r>
            <a:r>
              <a:rPr sz="2000" spc="-48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creates</a:t>
            </a:r>
            <a:r>
              <a:rPr sz="2000" spc="-32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an array</a:t>
            </a:r>
            <a:r>
              <a:rPr sz="2000" spc="-27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which</a:t>
            </a:r>
            <a:r>
              <a:rPr sz="2000" spc="-12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is</a:t>
            </a:r>
            <a:r>
              <a:rPr sz="2000" spc="-14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big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006144" y="5654596"/>
            <a:ext cx="4001281" cy="3439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enough</a:t>
            </a:r>
            <a:r>
              <a:rPr sz="2000" spc="-26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to</a:t>
            </a:r>
            <a:r>
              <a:rPr sz="2000" spc="-12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hold</a:t>
            </a:r>
            <a:r>
              <a:rPr sz="2000" spc="-29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all</a:t>
            </a:r>
            <a:r>
              <a:rPr sz="2000" spc="-25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the</a:t>
            </a:r>
            <a:r>
              <a:rPr sz="2000" spc="-1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initializer.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48640" y="914334"/>
            <a:ext cx="5458297" cy="4959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04"/>
              </a:lnSpc>
              <a:spcBef>
                <a:spcPts val="0"/>
              </a:spcBef>
              <a:spcAft>
                <a:spcPts val="0"/>
              </a:spcAft>
            </a:pPr>
            <a:r>
              <a:rPr sz="3000" dirty="0">
                <a:solidFill>
                  <a:srgbClr val="575F6D"/>
                </a:solidFill>
                <a:latin typeface="HFBCCF+Century Schoolbook"/>
                <a:cs typeface="HFBCCF+Century Schoolbook"/>
              </a:rPr>
              <a:t>R</a:t>
            </a:r>
            <a:r>
              <a:rPr sz="2400" dirty="0">
                <a:solidFill>
                  <a:srgbClr val="575F6D"/>
                </a:solidFill>
                <a:latin typeface="HFBCCF+Century Schoolbook"/>
                <a:cs typeface="HFBCCF+Century Schoolbook"/>
              </a:rPr>
              <a:t>ETRIEVING</a:t>
            </a:r>
            <a:r>
              <a:rPr sz="2400" spc="217" dirty="0">
                <a:solidFill>
                  <a:srgbClr val="575F6D"/>
                </a:solidFill>
                <a:latin typeface="HFBCCF+Century Schoolbook"/>
                <a:cs typeface="HFBCCF+Century Schoolbook"/>
              </a:rPr>
              <a:t> </a:t>
            </a:r>
            <a:r>
              <a:rPr sz="3000" dirty="0">
                <a:solidFill>
                  <a:srgbClr val="575F6D"/>
                </a:solidFill>
                <a:latin typeface="HFBCCF+Century Schoolbook"/>
                <a:cs typeface="HFBCCF+Century Schoolbook"/>
              </a:rPr>
              <a:t>A</a:t>
            </a:r>
            <a:r>
              <a:rPr sz="2400" dirty="0">
                <a:solidFill>
                  <a:srgbClr val="575F6D"/>
                </a:solidFill>
                <a:latin typeface="HFBCCF+Century Schoolbook"/>
                <a:cs typeface="HFBCCF+Century Schoolbook"/>
              </a:rPr>
              <a:t>RRAY</a:t>
            </a:r>
            <a:r>
              <a:rPr sz="2400" spc="193" dirty="0">
                <a:solidFill>
                  <a:srgbClr val="575F6D"/>
                </a:solidFill>
                <a:latin typeface="HFBCCF+Century Schoolbook"/>
                <a:cs typeface="HFBCCF+Century Schoolbook"/>
              </a:rPr>
              <a:t> </a:t>
            </a:r>
            <a:r>
              <a:rPr sz="3000" dirty="0">
                <a:solidFill>
                  <a:srgbClr val="575F6D"/>
                </a:solidFill>
                <a:latin typeface="HFBCCF+Century Schoolbook"/>
                <a:cs typeface="HFBCCF+Century Schoolbook"/>
              </a:rPr>
              <a:t>E</a:t>
            </a:r>
            <a:r>
              <a:rPr sz="2400" dirty="0">
                <a:solidFill>
                  <a:srgbClr val="575F6D"/>
                </a:solidFill>
                <a:latin typeface="HFBCCF+Century Schoolbook"/>
                <a:cs typeface="HFBCCF+Century Schoolbook"/>
              </a:rPr>
              <a:t>LEMENTS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8640" y="1645998"/>
            <a:ext cx="7358044" cy="11361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886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FE8637"/>
                </a:solidFill>
                <a:latin typeface="GSODNI+Wingdings"/>
                <a:cs typeface="GSODNI+Wingdings"/>
              </a:rPr>
              <a:t></a:t>
            </a:r>
            <a:r>
              <a:rPr sz="1700" spc="259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If you want</a:t>
            </a:r>
            <a:r>
              <a:rPr sz="2400" spc="-12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to retrieve</a:t>
            </a:r>
            <a:r>
              <a:rPr sz="2400" spc="-2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specific</a:t>
            </a:r>
            <a:r>
              <a:rPr sz="2400" spc="-42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element then then</a:t>
            </a:r>
          </a:p>
          <a:p>
            <a:pPr marL="272796" marR="0">
              <a:lnSpc>
                <a:spcPts val="2879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you</a:t>
            </a:r>
            <a:r>
              <a:rPr sz="2400" spc="-13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have to</a:t>
            </a:r>
            <a:r>
              <a:rPr sz="2400" spc="1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specify</a:t>
            </a:r>
            <a:r>
              <a:rPr sz="2400" spc="-37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not only the array or</a:t>
            </a:r>
            <a:r>
              <a:rPr sz="2400" spc="13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u="sng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variable</a:t>
            </a:r>
          </a:p>
          <a:p>
            <a:pPr marL="272796" marR="0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sz="2400" u="sng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name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but</a:t>
            </a:r>
            <a:r>
              <a:rPr sz="2400" spc="-1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also the </a:t>
            </a:r>
            <a:r>
              <a:rPr sz="2400" u="sng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index</a:t>
            </a:r>
            <a:r>
              <a:rPr sz="2400" u="sng" spc="126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u="sng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number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of interest.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48640" y="3261993"/>
            <a:ext cx="2263393" cy="4043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883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FE8637"/>
                </a:solidFill>
                <a:latin typeface="GSODNI+Wingdings"/>
                <a:cs typeface="GSODNI+Wingdings"/>
              </a:rPr>
              <a:t></a:t>
            </a:r>
            <a:r>
              <a:rPr sz="1700" spc="259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For example: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48640" y="3703953"/>
            <a:ext cx="5194019" cy="12886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883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FE8637"/>
                </a:solidFill>
                <a:latin typeface="GSODNI+Wingdings"/>
                <a:cs typeface="GSODNI+Wingdings"/>
              </a:rPr>
              <a:t></a:t>
            </a:r>
            <a:r>
              <a:rPr sz="1700" spc="1594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int</a:t>
            </a:r>
            <a:r>
              <a:rPr sz="2400" spc="-19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Arr[]={1,3,5,6,8};</a:t>
            </a:r>
          </a:p>
          <a:p>
            <a:pPr marL="0" marR="0">
              <a:lnSpc>
                <a:spcPts val="2883"/>
              </a:lnSpc>
              <a:spcBef>
                <a:spcPts val="596"/>
              </a:spcBef>
              <a:spcAft>
                <a:spcPts val="0"/>
              </a:spcAft>
            </a:pPr>
            <a:r>
              <a:rPr sz="1700" dirty="0">
                <a:solidFill>
                  <a:srgbClr val="FE8637"/>
                </a:solidFill>
                <a:latin typeface="GSODNI+Wingdings"/>
                <a:cs typeface="GSODNI+Wingdings"/>
              </a:rPr>
              <a:t></a:t>
            </a:r>
            <a:r>
              <a:rPr sz="1700" spc="259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2400" dirty="0">
                <a:solidFill>
                  <a:srgbClr val="000000"/>
                </a:solidFill>
                <a:latin typeface="OFJNAT+Century Schoolbook"/>
                <a:cs typeface="OFJNAT+Century Schoolbook"/>
              </a:rPr>
              <a:t>printf(“%d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\t%d\</a:t>
            </a:r>
            <a:r>
              <a:rPr sz="2400" dirty="0">
                <a:solidFill>
                  <a:srgbClr val="000000"/>
                </a:solidFill>
                <a:latin typeface="OFJNAT+Century Schoolbook"/>
                <a:cs typeface="OFJNAT+Century Schoolbook"/>
              </a:rPr>
              <a:t>n”,Arr[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1],Arr[2]);</a:t>
            </a:r>
          </a:p>
          <a:p>
            <a:pPr marL="0" marR="0">
              <a:lnSpc>
                <a:spcPts val="2883"/>
              </a:lnSpc>
              <a:spcBef>
                <a:spcPts val="549"/>
              </a:spcBef>
              <a:spcAft>
                <a:spcPts val="0"/>
              </a:spcAft>
            </a:pPr>
            <a:r>
              <a:rPr sz="1700" dirty="0">
                <a:solidFill>
                  <a:srgbClr val="FE8637"/>
                </a:solidFill>
                <a:latin typeface="GSODNI+Wingdings"/>
                <a:cs typeface="GSODNI+Wingdings"/>
              </a:rPr>
              <a:t></a:t>
            </a:r>
            <a:r>
              <a:rPr sz="1700" spc="259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Output:</a:t>
            </a:r>
            <a:r>
              <a:rPr sz="2400" spc="-22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3</a:t>
            </a:r>
            <a:r>
              <a:rPr sz="2400" spc="889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48640" y="914334"/>
            <a:ext cx="2977286" cy="4959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04"/>
              </a:lnSpc>
              <a:spcBef>
                <a:spcPts val="0"/>
              </a:spcBef>
              <a:spcAft>
                <a:spcPts val="0"/>
              </a:spcAft>
            </a:pPr>
            <a:r>
              <a:rPr sz="3000" dirty="0">
                <a:solidFill>
                  <a:srgbClr val="575F6D"/>
                </a:solidFill>
                <a:latin typeface="HFBCCF+Century Schoolbook"/>
                <a:cs typeface="HFBCCF+Century Schoolbook"/>
              </a:rPr>
              <a:t>A</a:t>
            </a:r>
            <a:r>
              <a:rPr sz="2400" dirty="0">
                <a:solidFill>
                  <a:srgbClr val="575F6D"/>
                </a:solidFill>
                <a:latin typeface="HFBCCF+Century Schoolbook"/>
                <a:cs typeface="HFBCCF+Century Schoolbook"/>
              </a:rPr>
              <a:t>RRAY</a:t>
            </a:r>
            <a:r>
              <a:rPr sz="2400" spc="195" dirty="0">
                <a:solidFill>
                  <a:srgbClr val="575F6D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575F6D"/>
                </a:solidFill>
                <a:latin typeface="HFBCCF+Century Schoolbook"/>
                <a:cs typeface="HFBCCF+Century Schoolbook"/>
              </a:rPr>
              <a:t>EXAMPLE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8640" y="1612103"/>
            <a:ext cx="7251256" cy="3735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41"/>
              </a:lnSpc>
              <a:spcBef>
                <a:spcPts val="0"/>
              </a:spcBef>
              <a:spcAft>
                <a:spcPts val="0"/>
              </a:spcAft>
            </a:pPr>
            <a:r>
              <a:rPr sz="1550" dirty="0">
                <a:solidFill>
                  <a:srgbClr val="FE8637"/>
                </a:solidFill>
                <a:latin typeface="GSODNI+Wingdings"/>
                <a:cs typeface="GSODNI+Wingdings"/>
              </a:rPr>
              <a:t></a:t>
            </a:r>
            <a:r>
              <a:rPr sz="1550" spc="438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Take</a:t>
            </a:r>
            <a:r>
              <a:rPr sz="2200" spc="1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10 integer input from user and store then</a:t>
            </a:r>
            <a:r>
              <a:rPr sz="2200" spc="13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in an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22960" y="1914156"/>
            <a:ext cx="7148639" cy="3732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38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array</a:t>
            </a:r>
            <a:r>
              <a:rPr sz="2200" spc="19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and find</a:t>
            </a:r>
            <a:r>
              <a:rPr sz="2200" spc="14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the sum of</a:t>
            </a:r>
            <a:r>
              <a:rPr sz="2200" spc="15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all</a:t>
            </a:r>
            <a:r>
              <a:rPr sz="2200" spc="-2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numbers stored</a:t>
            </a:r>
            <a:r>
              <a:rPr sz="2200" spc="-12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in array.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48640" y="2670060"/>
            <a:ext cx="2702101" cy="22041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38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#include&lt;stdio.h&gt;</a:t>
            </a:r>
          </a:p>
          <a:p>
            <a:pPr marL="0" marR="0">
              <a:lnSpc>
                <a:spcPts val="2641"/>
              </a:lnSpc>
              <a:spcBef>
                <a:spcPts val="386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int main(){</a:t>
            </a:r>
          </a:p>
          <a:p>
            <a:pPr marL="0" marR="0">
              <a:lnSpc>
                <a:spcPts val="2638"/>
              </a:lnSpc>
              <a:spcBef>
                <a:spcPts val="386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int i,sum=0,arr[10];</a:t>
            </a:r>
          </a:p>
          <a:p>
            <a:pPr marL="0" marR="0">
              <a:lnSpc>
                <a:spcPts val="2638"/>
              </a:lnSpc>
              <a:spcBef>
                <a:spcPts val="387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for(i=0;i&lt;10;i++)</a:t>
            </a:r>
          </a:p>
          <a:p>
            <a:pPr marL="366064" marR="0">
              <a:lnSpc>
                <a:spcPts val="2278"/>
              </a:lnSpc>
              <a:spcBef>
                <a:spcPts val="236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scanf</a:t>
            </a:r>
            <a:r>
              <a:rPr sz="1900" dirty="0">
                <a:solidFill>
                  <a:srgbClr val="000000"/>
                </a:solidFill>
                <a:latin typeface="OFJNAT+Century Schoolbook"/>
                <a:cs typeface="OFJNAT+Century Schoolbook"/>
              </a:rPr>
              <a:t>(“%d”,&amp;</a:t>
            </a: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arr[i]);</a:t>
            </a:r>
          </a:p>
          <a:p>
            <a:pPr marL="0" marR="0">
              <a:lnSpc>
                <a:spcPts val="2638"/>
              </a:lnSpc>
              <a:spcBef>
                <a:spcPts val="382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for(i=0;i&lt;10;i++)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14704" y="4866239"/>
            <a:ext cx="1568708" cy="327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7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sum+=arr[i];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48640" y="5197487"/>
            <a:ext cx="5917199" cy="1129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38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OFJNAT+Century Schoolbook"/>
                <a:cs typeface="OFJNAT+Century Schoolbook"/>
              </a:rPr>
              <a:t>printf(“Sum</a:t>
            </a:r>
            <a:r>
              <a:rPr sz="2200" spc="24" dirty="0">
                <a:solidFill>
                  <a:srgbClr val="000000"/>
                </a:solidFill>
                <a:latin typeface="OFJNAT+Century Schoolbook"/>
                <a:cs typeface="OFJNAT+Century Schoolbook"/>
              </a:rPr>
              <a:t> </a:t>
            </a:r>
            <a:r>
              <a:rPr sz="2200" dirty="0">
                <a:solidFill>
                  <a:srgbClr val="000000"/>
                </a:solidFill>
                <a:latin typeface="OFJNAT+Century Schoolbook"/>
                <a:cs typeface="OFJNAT+Century Schoolbook"/>
              </a:rPr>
              <a:t>of input integers is</a:t>
            </a:r>
            <a:r>
              <a:rPr sz="2200" spc="-17" dirty="0">
                <a:solidFill>
                  <a:srgbClr val="000000"/>
                </a:solidFill>
                <a:latin typeface="OFJNAT+Century Schoolbook"/>
                <a:cs typeface="OFJNAT+Century Schoolbook"/>
              </a:rPr>
              <a:t> </a:t>
            </a:r>
            <a:r>
              <a:rPr sz="2200" dirty="0">
                <a:solidFill>
                  <a:srgbClr val="000000"/>
                </a:solidFill>
                <a:latin typeface="OFJNAT+Century Schoolbook"/>
                <a:cs typeface="OFJNAT+Century Schoolbook"/>
              </a:rPr>
              <a:t>%d</a:t>
            </a: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\</a:t>
            </a:r>
            <a:r>
              <a:rPr sz="2200" dirty="0">
                <a:solidFill>
                  <a:srgbClr val="000000"/>
                </a:solidFill>
                <a:latin typeface="OFJNAT+Century Schoolbook"/>
                <a:cs typeface="OFJNAT+Century Schoolbook"/>
              </a:rPr>
              <a:t>n”,sum</a:t>
            </a: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);</a:t>
            </a:r>
          </a:p>
          <a:p>
            <a:pPr marL="0" marR="0">
              <a:lnSpc>
                <a:spcPts val="2641"/>
              </a:lnSpc>
              <a:spcBef>
                <a:spcPts val="386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return</a:t>
            </a:r>
            <a:r>
              <a:rPr sz="2200" spc="1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0;</a:t>
            </a:r>
          </a:p>
          <a:p>
            <a:pPr marL="0" marR="0">
              <a:lnSpc>
                <a:spcPts val="2638"/>
              </a:lnSpc>
              <a:spcBef>
                <a:spcPts val="386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48640" y="1645998"/>
            <a:ext cx="5334858" cy="4047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886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Summarize</a:t>
            </a:r>
            <a:r>
              <a:rPr sz="2400" spc="-1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the</a:t>
            </a:r>
            <a:r>
              <a:rPr sz="2400" spc="-1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response</a:t>
            </a:r>
            <a:r>
              <a:rPr sz="2400" spc="-16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of</a:t>
            </a:r>
            <a:r>
              <a:rPr sz="2400" spc="-16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 survey.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8640" y="2088259"/>
            <a:ext cx="7273468" cy="11358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883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0000"/>
                </a:solidFill>
                <a:latin typeface="HFBCCF+Century Schoolbook"/>
                <a:cs typeface="HFBCCF+Century Schoolbook"/>
              </a:rPr>
              <a:t>Input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:</a:t>
            </a:r>
            <a:r>
              <a:rPr sz="2400" spc="-14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Response of the</a:t>
            </a:r>
            <a:r>
              <a:rPr sz="2400" spc="-12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survey,</a:t>
            </a:r>
            <a:r>
              <a:rPr sz="2400" spc="-18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can be in the</a:t>
            </a:r>
            <a:r>
              <a:rPr sz="2400" spc="-14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range</a:t>
            </a:r>
          </a:p>
          <a:p>
            <a:pPr marL="272796" marR="0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between 0 and 10. Assume the population</a:t>
            </a:r>
            <a:r>
              <a:rPr sz="2400" spc="-3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size to</a:t>
            </a:r>
          </a:p>
          <a:p>
            <a:pPr marL="272796" marR="0">
              <a:lnSpc>
                <a:spcPts val="2879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be 40.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48640" y="3261993"/>
            <a:ext cx="5294579" cy="4043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883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0000"/>
                </a:solidFill>
                <a:latin typeface="HFBCCF+Century Schoolbook"/>
                <a:cs typeface="HFBCCF+Century Schoolbook"/>
              </a:rPr>
              <a:t>Output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:</a:t>
            </a:r>
            <a:r>
              <a:rPr sz="2400" spc="-26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Frequency</a:t>
            </a:r>
            <a:r>
              <a:rPr sz="2400" spc="-1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of each</a:t>
            </a:r>
            <a:r>
              <a:rPr sz="2400" spc="-1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response.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48640" y="1592850"/>
            <a:ext cx="2216220" cy="8654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4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FE8637"/>
                </a:solidFill>
                <a:latin typeface="GSODNI+Wingdings"/>
                <a:cs typeface="GSODNI+Wingdings"/>
              </a:rPr>
              <a:t></a:t>
            </a:r>
            <a:r>
              <a:rPr sz="1200" spc="827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#include&lt;stdio.h&gt;</a:t>
            </a:r>
          </a:p>
          <a:p>
            <a:pPr marL="0" marR="0">
              <a:lnSpc>
                <a:spcPts val="2050"/>
              </a:lnSpc>
              <a:spcBef>
                <a:spcPts val="185"/>
              </a:spcBef>
              <a:spcAft>
                <a:spcPts val="0"/>
              </a:spcAft>
            </a:pPr>
            <a:r>
              <a:rPr sz="1200" dirty="0">
                <a:solidFill>
                  <a:srgbClr val="FE8637"/>
                </a:solidFill>
                <a:latin typeface="GSODNI+Wingdings"/>
                <a:cs typeface="GSODNI+Wingdings"/>
              </a:rPr>
              <a:t></a:t>
            </a:r>
            <a:r>
              <a:rPr sz="1200" spc="827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#define</a:t>
            </a:r>
            <a:r>
              <a:rPr sz="1700" spc="-15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SIZE 40</a:t>
            </a:r>
          </a:p>
          <a:p>
            <a:pPr marL="0" marR="0">
              <a:lnSpc>
                <a:spcPts val="2047"/>
              </a:lnSpc>
              <a:spcBef>
                <a:spcPts val="183"/>
              </a:spcBef>
              <a:spcAft>
                <a:spcPts val="0"/>
              </a:spcAft>
            </a:pPr>
            <a:r>
              <a:rPr sz="1200" dirty="0">
                <a:solidFill>
                  <a:srgbClr val="FE8637"/>
                </a:solidFill>
                <a:latin typeface="GSODNI+Wingdings"/>
                <a:cs typeface="GSODNI+Wingdings"/>
              </a:rPr>
              <a:t></a:t>
            </a:r>
            <a:r>
              <a:rPr sz="1200" spc="827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#define</a:t>
            </a:r>
            <a:r>
              <a:rPr sz="1700" spc="-15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ANS 11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8640" y="2727087"/>
            <a:ext cx="1975761" cy="2981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4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FE8637"/>
                </a:solidFill>
                <a:latin typeface="GSODNI+Wingdings"/>
                <a:cs typeface="GSODNI+Wingdings"/>
              </a:rPr>
              <a:t></a:t>
            </a:r>
            <a:r>
              <a:rPr sz="1200" spc="827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int main(void)</a:t>
            </a:r>
            <a:r>
              <a:rPr sz="1700" spc="-2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{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48640" y="3088268"/>
            <a:ext cx="287119" cy="19069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8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FE8637"/>
                </a:solidFill>
                <a:latin typeface="GSODNI+Wingdings"/>
                <a:cs typeface="GSODNI+Wingdings"/>
              </a:rPr>
              <a:t></a:t>
            </a:r>
          </a:p>
          <a:p>
            <a:pPr marL="0" marR="0">
              <a:lnSpc>
                <a:spcPts val="1318"/>
              </a:lnSpc>
              <a:spcBef>
                <a:spcPts val="965"/>
              </a:spcBef>
              <a:spcAft>
                <a:spcPts val="0"/>
              </a:spcAft>
            </a:pPr>
            <a:r>
              <a:rPr sz="1200" dirty="0">
                <a:solidFill>
                  <a:srgbClr val="FE8637"/>
                </a:solidFill>
                <a:latin typeface="GSODNI+Wingdings"/>
                <a:cs typeface="GSODNI+Wingdings"/>
              </a:rPr>
              <a:t></a:t>
            </a:r>
          </a:p>
          <a:p>
            <a:pPr marL="0" marR="0">
              <a:lnSpc>
                <a:spcPts val="1318"/>
              </a:lnSpc>
              <a:spcBef>
                <a:spcPts val="913"/>
              </a:spcBef>
              <a:spcAft>
                <a:spcPts val="0"/>
              </a:spcAft>
            </a:pPr>
            <a:r>
              <a:rPr sz="1200" dirty="0">
                <a:solidFill>
                  <a:srgbClr val="FE8637"/>
                </a:solidFill>
                <a:latin typeface="GSODNI+Wingdings"/>
                <a:cs typeface="GSODNI+Wingdings"/>
              </a:rPr>
              <a:t></a:t>
            </a:r>
          </a:p>
          <a:p>
            <a:pPr marL="0" marR="0">
              <a:lnSpc>
                <a:spcPts val="1318"/>
              </a:lnSpc>
              <a:spcBef>
                <a:spcPts val="913"/>
              </a:spcBef>
              <a:spcAft>
                <a:spcPts val="0"/>
              </a:spcAft>
            </a:pPr>
            <a:r>
              <a:rPr sz="1200" dirty="0">
                <a:solidFill>
                  <a:srgbClr val="FE8637"/>
                </a:solidFill>
                <a:latin typeface="GSODNI+Wingdings"/>
                <a:cs typeface="GSODNI+Wingdings"/>
              </a:rPr>
              <a:t></a:t>
            </a:r>
          </a:p>
          <a:p>
            <a:pPr marL="0" marR="0">
              <a:lnSpc>
                <a:spcPts val="1318"/>
              </a:lnSpc>
              <a:spcBef>
                <a:spcPts val="913"/>
              </a:spcBef>
              <a:spcAft>
                <a:spcPts val="0"/>
              </a:spcAft>
            </a:pPr>
            <a:r>
              <a:rPr sz="1200" dirty="0">
                <a:solidFill>
                  <a:srgbClr val="FE8637"/>
                </a:solidFill>
                <a:latin typeface="GSODNI+Wingdings"/>
                <a:cs typeface="GSODNI+Wingdings"/>
              </a:rPr>
              <a:t></a:t>
            </a:r>
          </a:p>
          <a:p>
            <a:pPr marL="0" marR="0">
              <a:lnSpc>
                <a:spcPts val="1321"/>
              </a:lnSpc>
              <a:spcBef>
                <a:spcPts val="964"/>
              </a:spcBef>
              <a:spcAft>
                <a:spcPts val="0"/>
              </a:spcAft>
            </a:pPr>
            <a:r>
              <a:rPr sz="1200" dirty="0">
                <a:solidFill>
                  <a:srgbClr val="FE8637"/>
                </a:solidFill>
                <a:latin typeface="GSODNI+Wingdings"/>
                <a:cs typeface="GSODNI+Wingdings"/>
              </a:rPr>
              <a:t></a:t>
            </a:r>
          </a:p>
          <a:p>
            <a:pPr marL="0" marR="0">
              <a:lnSpc>
                <a:spcPts val="1318"/>
              </a:lnSpc>
              <a:spcBef>
                <a:spcPts val="912"/>
              </a:spcBef>
              <a:spcAft>
                <a:spcPts val="0"/>
              </a:spcAft>
            </a:pPr>
            <a:r>
              <a:rPr sz="1200" dirty="0">
                <a:solidFill>
                  <a:srgbClr val="FE8637"/>
                </a:solidFill>
                <a:latin typeface="GSODNI+Wingdings"/>
                <a:cs typeface="GSODNI+Wingdings"/>
              </a:rPr>
              <a:t>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306322" y="3010551"/>
            <a:ext cx="2829653" cy="17161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47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int</a:t>
            </a:r>
            <a:r>
              <a:rPr sz="1700" spc="-12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response[SIZE];</a:t>
            </a:r>
          </a:p>
          <a:p>
            <a:pPr marL="0" marR="0">
              <a:lnSpc>
                <a:spcPts val="2047"/>
              </a:lnSpc>
              <a:spcBef>
                <a:spcPts val="236"/>
              </a:spcBef>
              <a:spcAft>
                <a:spcPts val="0"/>
              </a:spcAft>
            </a:pP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int</a:t>
            </a:r>
            <a:r>
              <a:rPr sz="1700" spc="-12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freq[ANS]</a:t>
            </a:r>
            <a:r>
              <a:rPr sz="1700" spc="-19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= {0};</a:t>
            </a:r>
          </a:p>
          <a:p>
            <a:pPr marL="0" marR="0">
              <a:lnSpc>
                <a:spcPts val="2047"/>
              </a:lnSpc>
              <a:spcBef>
                <a:spcPts val="184"/>
              </a:spcBef>
              <a:spcAft>
                <a:spcPts val="0"/>
              </a:spcAft>
            </a:pP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int</a:t>
            </a:r>
            <a:r>
              <a:rPr sz="1700" spc="-12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i;</a:t>
            </a:r>
          </a:p>
          <a:p>
            <a:pPr marL="0" marR="0">
              <a:lnSpc>
                <a:spcPts val="2047"/>
              </a:lnSpc>
              <a:spcBef>
                <a:spcPts val="184"/>
              </a:spcBef>
              <a:spcAft>
                <a:spcPts val="0"/>
              </a:spcAft>
            </a:pP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for(i=0;</a:t>
            </a:r>
            <a:r>
              <a:rPr sz="1700" spc="-2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i&lt; SIZE; i++){</a:t>
            </a:r>
          </a:p>
          <a:p>
            <a:pPr marL="156972" marR="0">
              <a:lnSpc>
                <a:spcPts val="2047"/>
              </a:lnSpc>
              <a:spcBef>
                <a:spcPts val="234"/>
              </a:spcBef>
              <a:spcAft>
                <a:spcPts val="0"/>
              </a:spcAft>
            </a:pP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scanf</a:t>
            </a:r>
            <a:r>
              <a:rPr sz="1700" dirty="0">
                <a:solidFill>
                  <a:srgbClr val="000000"/>
                </a:solidFill>
                <a:latin typeface="OFJNAT+Century Schoolbook"/>
                <a:cs typeface="OFJNAT+Century Schoolbook"/>
              </a:rPr>
              <a:t>(“%d”,&amp;response</a:t>
            </a: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[i]);</a:t>
            </a:r>
          </a:p>
          <a:p>
            <a:pPr marL="179831" marR="0">
              <a:lnSpc>
                <a:spcPts val="2050"/>
              </a:lnSpc>
              <a:spcBef>
                <a:spcPts val="135"/>
              </a:spcBef>
              <a:spcAft>
                <a:spcPts val="0"/>
              </a:spcAft>
            </a:pP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++freq[response[i]];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245412" y="4711970"/>
            <a:ext cx="224465" cy="2981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47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}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48640" y="5356615"/>
            <a:ext cx="286847" cy="2055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8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FE8637"/>
                </a:solidFill>
                <a:latin typeface="GSODNI+Wingdings"/>
                <a:cs typeface="GSODNI+Wingdings"/>
              </a:rPr>
              <a:t>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306322" y="5278898"/>
            <a:ext cx="2011416" cy="2981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47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for(i=0;i&lt;ANS;i++)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48640" y="5640029"/>
            <a:ext cx="286847" cy="2055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8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FE8637"/>
                </a:solidFill>
                <a:latin typeface="GSODNI+Wingdings"/>
                <a:cs typeface="GSODNI+Wingdings"/>
              </a:rPr>
              <a:t>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486154" y="5562311"/>
            <a:ext cx="4407238" cy="2981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47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printf("Frequency</a:t>
            </a:r>
            <a:r>
              <a:rPr sz="1700" spc="-3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of %d is %d\n",i,freq[i]);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48640" y="5846080"/>
            <a:ext cx="498785" cy="2981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4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FE8637"/>
                </a:solidFill>
                <a:latin typeface="GSODNI+Wingdings"/>
                <a:cs typeface="GSODNI+Wingdings"/>
              </a:rPr>
              <a:t></a:t>
            </a:r>
            <a:r>
              <a:rPr sz="1200" spc="827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48640" y="914334"/>
            <a:ext cx="2381400" cy="4959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04"/>
              </a:lnSpc>
              <a:spcBef>
                <a:spcPts val="0"/>
              </a:spcBef>
              <a:spcAft>
                <a:spcPts val="0"/>
              </a:spcAft>
            </a:pPr>
            <a:r>
              <a:rPr sz="3000" dirty="0">
                <a:solidFill>
                  <a:srgbClr val="575F6D"/>
                </a:solidFill>
                <a:latin typeface="HFBCCF+Century Schoolbook"/>
                <a:cs typeface="HFBCCF+Century Schoolbook"/>
              </a:rPr>
              <a:t>A</a:t>
            </a:r>
            <a:r>
              <a:rPr sz="2400" dirty="0">
                <a:solidFill>
                  <a:srgbClr val="575F6D"/>
                </a:solidFill>
                <a:latin typeface="HFBCCF+Century Schoolbook"/>
                <a:cs typeface="HFBCCF+Century Schoolbook"/>
              </a:rPr>
              <a:t>SSIGNMENT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8640" y="1645998"/>
            <a:ext cx="7269529" cy="15019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886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FE8637"/>
                </a:solidFill>
                <a:latin typeface="GSODNI+Wingdings"/>
                <a:cs typeface="GSODNI+Wingdings"/>
              </a:rPr>
              <a:t></a:t>
            </a:r>
            <a:r>
              <a:rPr sz="1700" spc="259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Read from user</a:t>
            </a:r>
            <a:r>
              <a:rPr sz="2400" spc="-2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ages of</a:t>
            </a:r>
            <a:r>
              <a:rPr sz="2400" spc="-1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all</a:t>
            </a:r>
            <a:r>
              <a:rPr sz="2400" spc="-1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students</a:t>
            </a:r>
            <a:r>
              <a:rPr sz="2400" spc="-16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in</a:t>
            </a:r>
            <a:r>
              <a:rPr sz="2400" spc="-1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class</a:t>
            </a:r>
            <a:r>
              <a:rPr sz="2400" spc="-16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and</a:t>
            </a:r>
          </a:p>
          <a:p>
            <a:pPr marL="272796" marR="0">
              <a:lnSpc>
                <a:spcPts val="2879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save them in</a:t>
            </a:r>
            <a:r>
              <a:rPr sz="2400" spc="-1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an</a:t>
            </a:r>
            <a:r>
              <a:rPr sz="2400" spc="-1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array which</a:t>
            </a:r>
            <a:r>
              <a:rPr sz="2400" spc="-28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can store floating</a:t>
            </a:r>
          </a:p>
          <a:p>
            <a:pPr marL="272796" marR="0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point</a:t>
            </a:r>
            <a:r>
              <a:rPr sz="2400" spc="-17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and</a:t>
            </a:r>
            <a:r>
              <a:rPr sz="2400" spc="-1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find</a:t>
            </a:r>
            <a:r>
              <a:rPr sz="2400" spc="-15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average,</a:t>
            </a:r>
            <a:r>
              <a:rPr sz="2400" spc="1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minimum</a:t>
            </a:r>
            <a:r>
              <a:rPr sz="2400" spc="-17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and</a:t>
            </a:r>
            <a:r>
              <a:rPr sz="2400" spc="-1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maximum</a:t>
            </a:r>
          </a:p>
          <a:p>
            <a:pPr marL="272796" marR="0">
              <a:lnSpc>
                <a:spcPts val="2879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age.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48640" y="3185492"/>
            <a:ext cx="6490091" cy="4047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886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FE8637"/>
                </a:solidFill>
                <a:latin typeface="GSODNI+Wingdings"/>
                <a:cs typeface="GSODNI+Wingdings"/>
              </a:rPr>
              <a:t></a:t>
            </a:r>
            <a:r>
              <a:rPr sz="1700" spc="259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 six</a:t>
            </a:r>
            <a:r>
              <a:rPr sz="2400" spc="-13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faced</a:t>
            </a:r>
            <a:r>
              <a:rPr sz="2400" spc="-18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die</a:t>
            </a:r>
            <a:r>
              <a:rPr sz="2400" spc="-2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is rolled</a:t>
            </a:r>
            <a:r>
              <a:rPr sz="2400" spc="-19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600</a:t>
            </a:r>
            <a:r>
              <a:rPr sz="2400" spc="17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times.</a:t>
            </a:r>
            <a:r>
              <a:rPr sz="2400" spc="-13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Find</a:t>
            </a:r>
            <a:r>
              <a:rPr sz="2400" spc="-15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the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21436" y="3551553"/>
            <a:ext cx="5842969" cy="4043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883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frequency</a:t>
            </a:r>
            <a:r>
              <a:rPr sz="2400" spc="-2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of the occurrence</a:t>
            </a:r>
            <a:r>
              <a:rPr sz="2400" spc="-4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of each</a:t>
            </a:r>
            <a:r>
              <a:rPr sz="2400" spc="-1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face?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48640" y="1644474"/>
            <a:ext cx="6384235" cy="4047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886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FE8637"/>
                </a:solidFill>
                <a:latin typeface="GSODNI+Wingdings"/>
                <a:cs typeface="GSODNI+Wingdings"/>
              </a:rPr>
              <a:t></a:t>
            </a:r>
            <a:r>
              <a:rPr sz="1700" spc="259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2400" b="1" dirty="0">
                <a:solidFill>
                  <a:srgbClr val="000000"/>
                </a:solidFill>
                <a:latin typeface="GCKEMB+Century Schoolbook Bold"/>
                <a:cs typeface="GCKEMB+Century Schoolbook Bold"/>
              </a:rPr>
              <a:t>int rand(void):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returns</a:t>
            </a:r>
            <a:r>
              <a:rPr sz="2400" spc="-2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</a:t>
            </a:r>
            <a:r>
              <a:rPr sz="2400" spc="-1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pseudo-random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21436" y="2012059"/>
            <a:ext cx="5965798" cy="4043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883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number in the range of 0 to RAND_MAX.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48640" y="2452495"/>
            <a:ext cx="7152157" cy="26772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883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FE8637"/>
                </a:solidFill>
                <a:latin typeface="GSODNI+Wingdings"/>
                <a:cs typeface="GSODNI+Wingdings"/>
              </a:rPr>
              <a:t></a:t>
            </a:r>
            <a:r>
              <a:rPr sz="1700" spc="259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2400" b="1" dirty="0">
                <a:solidFill>
                  <a:srgbClr val="000000"/>
                </a:solidFill>
                <a:latin typeface="GCKEMB+Century Schoolbook Bold"/>
                <a:cs typeface="GCKEMB+Century Schoolbook Bold"/>
              </a:rPr>
              <a:t>RAND_MAX:</a:t>
            </a:r>
            <a:r>
              <a:rPr sz="2400" b="1" spc="-29" dirty="0">
                <a:solidFill>
                  <a:srgbClr val="000000"/>
                </a:solidFill>
                <a:latin typeface="GCKEMB+Century Schoolbook Bold"/>
                <a:cs typeface="GCKEMB+Century Schoolbook Bold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is</a:t>
            </a:r>
            <a:r>
              <a:rPr sz="2400" spc="-14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 constant</a:t>
            </a:r>
            <a:r>
              <a:rPr sz="2400" spc="-1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whose</a:t>
            </a:r>
            <a:r>
              <a:rPr sz="2400" spc="-2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default</a:t>
            </a:r>
            <a:r>
              <a:rPr sz="2400" spc="-22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value</a:t>
            </a:r>
          </a:p>
          <a:p>
            <a:pPr marL="272796" marR="0">
              <a:lnSpc>
                <a:spcPts val="2883"/>
              </a:lnSpc>
              <a:spcBef>
                <a:spcPts val="8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may vary between</a:t>
            </a:r>
            <a:r>
              <a:rPr sz="2400" spc="-1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implementations</a:t>
            </a:r>
            <a:r>
              <a:rPr sz="2400" spc="-28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but it is</a:t>
            </a:r>
          </a:p>
          <a:p>
            <a:pPr marL="272796" marR="0">
              <a:lnSpc>
                <a:spcPts val="288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granted to </a:t>
            </a:r>
            <a:r>
              <a:rPr sz="2400" spc="-1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be</a:t>
            </a:r>
            <a:r>
              <a:rPr sz="2400" spc="1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at least 32767.</a:t>
            </a:r>
          </a:p>
          <a:p>
            <a:pPr marL="0" marR="0">
              <a:lnSpc>
                <a:spcPts val="2883"/>
              </a:lnSpc>
              <a:spcBef>
                <a:spcPts val="534"/>
              </a:spcBef>
              <a:spcAft>
                <a:spcPts val="0"/>
              </a:spcAft>
            </a:pPr>
            <a:r>
              <a:rPr sz="1700" dirty="0">
                <a:solidFill>
                  <a:srgbClr val="FE8637"/>
                </a:solidFill>
                <a:latin typeface="GSODNI+Wingdings"/>
                <a:cs typeface="GSODNI+Wingdings"/>
              </a:rPr>
              <a:t></a:t>
            </a:r>
            <a:r>
              <a:rPr sz="1700" spc="259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2400" b="1" dirty="0">
                <a:solidFill>
                  <a:srgbClr val="000000"/>
                </a:solidFill>
                <a:latin typeface="GCKEMB+Century Schoolbook Bold"/>
                <a:cs typeface="GCKEMB+Century Schoolbook Bold"/>
              </a:rPr>
              <a:t>Issue: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If we generate a</a:t>
            </a:r>
            <a:r>
              <a:rPr sz="2400" spc="-1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sequence of</a:t>
            </a:r>
            <a:r>
              <a:rPr sz="2400" spc="-19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random</a:t>
            </a:r>
          </a:p>
          <a:p>
            <a:pPr marL="272796" marR="0">
              <a:lnSpc>
                <a:spcPts val="2883"/>
              </a:lnSpc>
              <a:spcBef>
                <a:spcPts val="8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number with</a:t>
            </a:r>
            <a:r>
              <a:rPr sz="2400" spc="-22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rand()</a:t>
            </a:r>
            <a:r>
              <a:rPr sz="2400" spc="-12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function,</a:t>
            </a:r>
            <a:r>
              <a:rPr sz="2400" spc="-26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it will</a:t>
            </a:r>
            <a:r>
              <a:rPr sz="2400" spc="-3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create the</a:t>
            </a:r>
          </a:p>
          <a:p>
            <a:pPr marL="272796" marR="0">
              <a:lnSpc>
                <a:spcPts val="2883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same sequence again and again every</a:t>
            </a:r>
            <a:r>
              <a:rPr sz="2400" spc="-16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time</a:t>
            </a:r>
          </a:p>
          <a:p>
            <a:pPr marL="272796" marR="0">
              <a:lnSpc>
                <a:spcPts val="2879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program runs.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48640" y="1645998"/>
            <a:ext cx="7319230" cy="45813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886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FE8637"/>
                </a:solidFill>
                <a:latin typeface="GSODNI+Wingdings"/>
                <a:cs typeface="GSODNI+Wingdings"/>
              </a:rPr>
              <a:t></a:t>
            </a:r>
            <a:r>
              <a:rPr sz="1700" spc="259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The srand()</a:t>
            </a:r>
            <a:r>
              <a:rPr sz="2400" spc="-14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function</a:t>
            </a:r>
            <a:r>
              <a:rPr sz="2400" spc="-25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sets the</a:t>
            </a:r>
            <a:r>
              <a:rPr sz="2400" spc="-1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starting</a:t>
            </a:r>
            <a:r>
              <a:rPr sz="2400" spc="-13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point</a:t>
            </a:r>
            <a:r>
              <a:rPr sz="2400" spc="-24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for</a:t>
            </a:r>
          </a:p>
          <a:p>
            <a:pPr marL="272796" marR="0">
              <a:lnSpc>
                <a:spcPts val="2879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producing</a:t>
            </a:r>
            <a:r>
              <a:rPr sz="2400" spc="-39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 series</a:t>
            </a:r>
            <a:r>
              <a:rPr sz="2400" spc="-24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of pseudo-random</a:t>
            </a:r>
            <a:r>
              <a:rPr sz="2400" spc="-3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integers.</a:t>
            </a:r>
            <a:r>
              <a:rPr sz="2400" spc="-1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If</a:t>
            </a:r>
          </a:p>
          <a:p>
            <a:pPr marL="272796" marR="0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srand()</a:t>
            </a:r>
            <a:r>
              <a:rPr sz="2400" spc="-15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is</a:t>
            </a:r>
            <a:r>
              <a:rPr sz="2400" spc="-14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not called,</a:t>
            </a:r>
            <a:r>
              <a:rPr sz="2400" spc="-26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the rand()</a:t>
            </a:r>
            <a:r>
              <a:rPr sz="2400" spc="-15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seed</a:t>
            </a:r>
            <a:r>
              <a:rPr sz="2400" spc="-12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is</a:t>
            </a:r>
            <a:r>
              <a:rPr sz="2400" spc="-14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set as if</a:t>
            </a:r>
          </a:p>
          <a:p>
            <a:pPr marL="272796" marR="0">
              <a:lnSpc>
                <a:spcPts val="2879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srand(1)</a:t>
            </a:r>
            <a:r>
              <a:rPr sz="2400" spc="-15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were</a:t>
            </a:r>
            <a:r>
              <a:rPr sz="2400" spc="-2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called</a:t>
            </a:r>
            <a:r>
              <a:rPr sz="2400" spc="-17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at program</a:t>
            </a:r>
            <a:r>
              <a:rPr sz="2400" spc="-2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start.</a:t>
            </a:r>
          </a:p>
          <a:p>
            <a:pPr marL="0" marR="0">
              <a:lnSpc>
                <a:spcPts val="2886"/>
              </a:lnSpc>
              <a:spcBef>
                <a:spcPts val="595"/>
              </a:spcBef>
              <a:spcAft>
                <a:spcPts val="0"/>
              </a:spcAft>
            </a:pPr>
            <a:r>
              <a:rPr sz="1700" dirty="0">
                <a:solidFill>
                  <a:srgbClr val="FE8637"/>
                </a:solidFill>
                <a:latin typeface="GSODNI+Wingdings"/>
                <a:cs typeface="GSODNI+Wingdings"/>
              </a:rPr>
              <a:t></a:t>
            </a:r>
            <a:r>
              <a:rPr sz="1700" spc="259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The pseudo-random</a:t>
            </a:r>
            <a:r>
              <a:rPr sz="2400" spc="-26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number</a:t>
            </a:r>
            <a:r>
              <a:rPr sz="2400" spc="-1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generator should</a:t>
            </a:r>
          </a:p>
          <a:p>
            <a:pPr marL="272796" marR="0">
              <a:lnSpc>
                <a:spcPts val="2879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only </a:t>
            </a:r>
            <a:r>
              <a:rPr sz="2400" spc="-1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be</a:t>
            </a:r>
            <a:r>
              <a:rPr sz="2400" spc="1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seeded</a:t>
            </a:r>
            <a:r>
              <a:rPr sz="2400" spc="-16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once,</a:t>
            </a:r>
            <a:r>
              <a:rPr sz="2400" spc="-26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before any</a:t>
            </a:r>
            <a:r>
              <a:rPr sz="2400" spc="-12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calls</a:t>
            </a:r>
            <a:r>
              <a:rPr sz="2400" spc="-17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to rand(),</a:t>
            </a:r>
          </a:p>
          <a:p>
            <a:pPr marL="272796" marR="0">
              <a:lnSpc>
                <a:spcPts val="2879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and</a:t>
            </a:r>
            <a:r>
              <a:rPr sz="2400" spc="-1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the start of</a:t>
            </a:r>
            <a:r>
              <a:rPr sz="2400" spc="-14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the program.</a:t>
            </a:r>
          </a:p>
          <a:p>
            <a:pPr marL="0" marR="0">
              <a:lnSpc>
                <a:spcPts val="2886"/>
              </a:lnSpc>
              <a:spcBef>
                <a:spcPts val="596"/>
              </a:spcBef>
              <a:spcAft>
                <a:spcPts val="0"/>
              </a:spcAft>
            </a:pPr>
            <a:r>
              <a:rPr sz="1700" dirty="0">
                <a:solidFill>
                  <a:srgbClr val="FE8637"/>
                </a:solidFill>
                <a:latin typeface="GSODNI+Wingdings"/>
                <a:cs typeface="GSODNI+Wingdings"/>
              </a:rPr>
              <a:t></a:t>
            </a:r>
            <a:r>
              <a:rPr sz="1700" spc="259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Standard practice</a:t>
            </a:r>
            <a:r>
              <a:rPr sz="2400" spc="-3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is to</a:t>
            </a:r>
            <a:r>
              <a:rPr sz="2400" spc="-1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use the</a:t>
            </a:r>
            <a:r>
              <a:rPr sz="2400" spc="-1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result</a:t>
            </a:r>
            <a:r>
              <a:rPr sz="2400" spc="-19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of a call</a:t>
            </a:r>
          </a:p>
          <a:p>
            <a:pPr marL="272796" marR="0">
              <a:lnSpc>
                <a:spcPts val="28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to </a:t>
            </a:r>
            <a:r>
              <a:rPr sz="2400" b="1" dirty="0">
                <a:solidFill>
                  <a:srgbClr val="000000"/>
                </a:solidFill>
                <a:latin typeface="GCKEMB+Century Schoolbook Bold"/>
                <a:cs typeface="GCKEMB+Century Schoolbook Bold"/>
              </a:rPr>
              <a:t>srand(time(0))</a:t>
            </a:r>
            <a:r>
              <a:rPr sz="2400" b="1" spc="-16" dirty="0">
                <a:solidFill>
                  <a:srgbClr val="000000"/>
                </a:solidFill>
                <a:latin typeface="GCKEMB+Century Schoolbook Bold"/>
                <a:cs typeface="GCKEMB+Century Schoolbook Bold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as the</a:t>
            </a:r>
            <a:r>
              <a:rPr sz="2400" spc="-13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seed.</a:t>
            </a:r>
            <a:r>
              <a:rPr sz="2400" spc="-2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However,</a:t>
            </a:r>
            <a:r>
              <a:rPr sz="2400" spc="-17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time()</a:t>
            </a:r>
          </a:p>
          <a:p>
            <a:pPr marL="272796" marR="0">
              <a:lnSpc>
                <a:spcPts val="2883"/>
              </a:lnSpc>
              <a:spcBef>
                <a:spcPts val="8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returns</a:t>
            </a:r>
            <a:r>
              <a:rPr sz="2400" spc="-12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 time_t value which</a:t>
            </a:r>
            <a:r>
              <a:rPr sz="2400" spc="-28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vary everytime and</a:t>
            </a:r>
          </a:p>
          <a:p>
            <a:pPr marL="272796" marR="0">
              <a:lnSpc>
                <a:spcPts val="2879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hence</a:t>
            </a:r>
            <a:r>
              <a:rPr sz="2400" spc="-2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the pseudo-random</a:t>
            </a:r>
            <a:r>
              <a:rPr sz="2400" spc="-3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number vary for</a:t>
            </a:r>
            <a:r>
              <a:rPr sz="2400" spc="-2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every</a:t>
            </a:r>
          </a:p>
          <a:p>
            <a:pPr marL="272796" marR="0">
              <a:lnSpc>
                <a:spcPts val="288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program call.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48640" y="1578194"/>
            <a:ext cx="2463436" cy="3735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41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#include&lt;stdio.h&gt;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8640" y="2267724"/>
            <a:ext cx="2582945" cy="20956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38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int main(){</a:t>
            </a:r>
          </a:p>
          <a:p>
            <a:pPr marL="0" marR="0">
              <a:lnSpc>
                <a:spcPts val="2638"/>
              </a:lnSpc>
              <a:spcBef>
                <a:spcPts val="123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int i,j,arr[7]={0};</a:t>
            </a:r>
          </a:p>
          <a:p>
            <a:pPr marL="0" marR="0">
              <a:lnSpc>
                <a:spcPts val="2641"/>
              </a:lnSpc>
              <a:spcBef>
                <a:spcPts val="72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srand(time(0));</a:t>
            </a:r>
          </a:p>
          <a:p>
            <a:pPr marL="0" marR="0">
              <a:lnSpc>
                <a:spcPts val="2638"/>
              </a:lnSpc>
              <a:spcBef>
                <a:spcPts val="72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for (i=0;i&lt;600;i++){</a:t>
            </a:r>
          </a:p>
          <a:p>
            <a:pPr marL="622096" marR="0">
              <a:lnSpc>
                <a:spcPts val="2638"/>
              </a:lnSpc>
              <a:spcBef>
                <a:spcPts val="73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j=rand()%6;</a:t>
            </a:r>
          </a:p>
          <a:p>
            <a:pPr marL="622096" marR="0">
              <a:lnSpc>
                <a:spcPts val="2638"/>
              </a:lnSpc>
              <a:spcBef>
                <a:spcPts val="73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j=j+1;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70736" y="4334602"/>
            <a:ext cx="1240013" cy="3735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41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arr[j]++;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48640" y="4679327"/>
            <a:ext cx="245273" cy="3732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38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}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48640" y="5023751"/>
            <a:ext cx="2270865" cy="3732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38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for(i=1;i&lt;=6;i++)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48640" y="5368124"/>
            <a:ext cx="6594559" cy="10623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22096" marR="0">
              <a:lnSpc>
                <a:spcPts val="2638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printf("%d</a:t>
            </a:r>
            <a:r>
              <a:rPr sz="2200" spc="27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came out for</a:t>
            </a:r>
            <a:r>
              <a:rPr sz="2200" spc="15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%d times\n",i,arr[i]);</a:t>
            </a:r>
          </a:p>
          <a:p>
            <a:pPr marL="0" marR="0">
              <a:lnSpc>
                <a:spcPts val="2641"/>
              </a:lnSpc>
              <a:spcBef>
                <a:spcPts val="123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return 0;</a:t>
            </a:r>
          </a:p>
          <a:p>
            <a:pPr marL="0" marR="0">
              <a:lnSpc>
                <a:spcPts val="2638"/>
              </a:lnSpc>
              <a:spcBef>
                <a:spcPts val="72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}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48640" y="1645998"/>
            <a:ext cx="3606690" cy="30571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886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FE8637"/>
                </a:solidFill>
                <a:latin typeface="GSODNI+Wingdings"/>
                <a:cs typeface="GSODNI+Wingdings"/>
              </a:rPr>
              <a:t></a:t>
            </a:r>
            <a:r>
              <a:rPr sz="1700" spc="271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[sourav@gaya]$ ./a.out</a:t>
            </a:r>
          </a:p>
          <a:p>
            <a:pPr marL="0" marR="0">
              <a:lnSpc>
                <a:spcPts val="2883"/>
              </a:lnSpc>
              <a:spcBef>
                <a:spcPts val="595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1 came out</a:t>
            </a:r>
            <a:r>
              <a:rPr sz="2400" spc="-12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for 113 times</a:t>
            </a:r>
          </a:p>
          <a:p>
            <a:pPr marL="0" marR="0">
              <a:lnSpc>
                <a:spcPts val="2883"/>
              </a:lnSpc>
              <a:spcBef>
                <a:spcPts val="546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2 came out</a:t>
            </a:r>
            <a:r>
              <a:rPr sz="2400" spc="-12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for 114 times</a:t>
            </a:r>
          </a:p>
          <a:p>
            <a:pPr marL="0" marR="0">
              <a:lnSpc>
                <a:spcPts val="2883"/>
              </a:lnSpc>
              <a:spcBef>
                <a:spcPts val="598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3 came out</a:t>
            </a:r>
            <a:r>
              <a:rPr sz="2400" spc="-12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for 102 times</a:t>
            </a:r>
          </a:p>
          <a:p>
            <a:pPr marL="0" marR="0">
              <a:lnSpc>
                <a:spcPts val="2883"/>
              </a:lnSpc>
              <a:spcBef>
                <a:spcPts val="596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4 came out</a:t>
            </a:r>
            <a:r>
              <a:rPr sz="2400" spc="-12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for 86 times</a:t>
            </a:r>
          </a:p>
          <a:p>
            <a:pPr marL="0" marR="0">
              <a:lnSpc>
                <a:spcPts val="2883"/>
              </a:lnSpc>
              <a:spcBef>
                <a:spcPts val="596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5 came out</a:t>
            </a:r>
            <a:r>
              <a:rPr sz="2400" spc="-12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for 99 times</a:t>
            </a:r>
          </a:p>
          <a:p>
            <a:pPr marL="0" marR="0">
              <a:lnSpc>
                <a:spcPts val="2886"/>
              </a:lnSpc>
              <a:spcBef>
                <a:spcPts val="596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6 came</a:t>
            </a:r>
            <a:r>
              <a:rPr sz="2400" spc="-1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out</a:t>
            </a:r>
            <a:r>
              <a:rPr sz="2400" spc="-12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for 86 times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48640" y="914334"/>
            <a:ext cx="2381400" cy="4959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04"/>
              </a:lnSpc>
              <a:spcBef>
                <a:spcPts val="0"/>
              </a:spcBef>
              <a:spcAft>
                <a:spcPts val="0"/>
              </a:spcAft>
            </a:pPr>
            <a:r>
              <a:rPr sz="3000" dirty="0">
                <a:solidFill>
                  <a:srgbClr val="575F6D"/>
                </a:solidFill>
                <a:latin typeface="HFBCCF+Century Schoolbook"/>
                <a:cs typeface="HFBCCF+Century Schoolbook"/>
              </a:rPr>
              <a:t>A</a:t>
            </a:r>
            <a:r>
              <a:rPr sz="2400" dirty="0">
                <a:solidFill>
                  <a:srgbClr val="575F6D"/>
                </a:solidFill>
                <a:latin typeface="HFBCCF+Century Schoolbook"/>
                <a:cs typeface="HFBCCF+Century Schoolbook"/>
              </a:rPr>
              <a:t>SSIGNMENT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8640" y="2088259"/>
            <a:ext cx="7425300" cy="1501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883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FE8637"/>
                </a:solidFill>
                <a:latin typeface="GSODNI+Wingdings"/>
                <a:cs typeface="GSODNI+Wingdings"/>
              </a:rPr>
              <a:t></a:t>
            </a:r>
            <a:r>
              <a:rPr sz="1700" spc="259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Store marks obtained by students</a:t>
            </a:r>
            <a:r>
              <a:rPr sz="2400" spc="-1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in an</a:t>
            </a:r>
            <a:r>
              <a:rPr sz="2400" spc="-1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array.</a:t>
            </a:r>
          </a:p>
          <a:p>
            <a:pPr marL="272796" marR="0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Find</a:t>
            </a:r>
            <a:r>
              <a:rPr sz="2400" spc="-24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if there is</a:t>
            </a:r>
            <a:r>
              <a:rPr sz="2400" spc="-14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more than</a:t>
            </a:r>
            <a:r>
              <a:rPr sz="2400" spc="-13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one student</a:t>
            </a:r>
            <a:r>
              <a:rPr sz="2400" spc="-18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who</a:t>
            </a:r>
            <a:r>
              <a:rPr sz="2400" spc="-17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scored</a:t>
            </a:r>
          </a:p>
          <a:p>
            <a:pPr marL="272796" marR="0">
              <a:lnSpc>
                <a:spcPts val="2879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same marks. Assume minimum</a:t>
            </a:r>
            <a:r>
              <a:rPr sz="2400" spc="-22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marks obtained</a:t>
            </a:r>
          </a:p>
          <a:p>
            <a:pPr marL="272796" marR="0">
              <a:lnSpc>
                <a:spcPts val="288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is</a:t>
            </a:r>
            <a:r>
              <a:rPr sz="2400" spc="-1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30</a:t>
            </a:r>
            <a:r>
              <a:rPr sz="2400" spc="17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and</a:t>
            </a:r>
            <a:r>
              <a:rPr sz="2400" spc="-1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maximum marks obtained is 85.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48640" y="602250"/>
            <a:ext cx="1941899" cy="2981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47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#include&lt;stdio.h&gt;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8640" y="1169178"/>
            <a:ext cx="1680391" cy="581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47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int</a:t>
            </a:r>
            <a:r>
              <a:rPr sz="1700" spc="-1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main(){</a:t>
            </a:r>
          </a:p>
          <a:p>
            <a:pPr marL="0" marR="0">
              <a:lnSpc>
                <a:spcPts val="2047"/>
              </a:lnSpc>
              <a:spcBef>
                <a:spcPts val="234"/>
              </a:spcBef>
              <a:spcAft>
                <a:spcPts val="0"/>
              </a:spcAft>
            </a:pP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int i,j,x,arr[10];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48640" y="2019951"/>
            <a:ext cx="3852908" cy="2981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47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printf("Enter</a:t>
            </a:r>
            <a:r>
              <a:rPr sz="1700" spc="-15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10</a:t>
            </a:r>
            <a:r>
              <a:rPr sz="1700" spc="-16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integer</a:t>
            </a:r>
            <a:r>
              <a:rPr sz="1700" spc="-17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number\n");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48640" y="2586879"/>
            <a:ext cx="3024970" cy="8653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47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for(i=0;i&lt;10;i++){</a:t>
            </a:r>
          </a:p>
          <a:p>
            <a:pPr marL="914654" marR="0">
              <a:lnSpc>
                <a:spcPts val="2047"/>
              </a:lnSpc>
              <a:spcBef>
                <a:spcPts val="234"/>
              </a:spcBef>
              <a:spcAft>
                <a:spcPts val="0"/>
              </a:spcAft>
            </a:pP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scanf("%d",&amp;arr[i]);</a:t>
            </a:r>
          </a:p>
          <a:p>
            <a:pPr marL="0" marR="0">
              <a:lnSpc>
                <a:spcPts val="2050"/>
              </a:lnSpc>
              <a:spcBef>
                <a:spcPts val="134"/>
              </a:spcBef>
              <a:spcAft>
                <a:spcPts val="0"/>
              </a:spcAft>
            </a:pP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}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48640" y="3720989"/>
            <a:ext cx="1734883" cy="5816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47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for(i=0;i&lt;9;i++){</a:t>
            </a:r>
          </a:p>
          <a:p>
            <a:pPr marL="483412" marR="0">
              <a:lnSpc>
                <a:spcPts val="2047"/>
              </a:lnSpc>
              <a:spcBef>
                <a:spcPts val="234"/>
              </a:spcBef>
              <a:spcAft>
                <a:spcPts val="0"/>
              </a:spcAft>
            </a:pP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x=arr[i];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032052" y="4287917"/>
            <a:ext cx="2042166" cy="5819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47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for(j=i+1;j&lt;10;j++){</a:t>
            </a:r>
          </a:p>
          <a:p>
            <a:pPr marL="481533" marR="0">
              <a:lnSpc>
                <a:spcPts val="2047"/>
              </a:lnSpc>
              <a:spcBef>
                <a:spcPts val="237"/>
              </a:spcBef>
              <a:spcAft>
                <a:spcPts val="0"/>
              </a:spcAft>
            </a:pP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if(x==arr[j])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996694" y="4855226"/>
            <a:ext cx="5262553" cy="2981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47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printf("%d</a:t>
            </a:r>
            <a:r>
              <a:rPr sz="1700" spc="-25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number</a:t>
            </a:r>
            <a:r>
              <a:rPr sz="1700" spc="-2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appeared</a:t>
            </a:r>
            <a:r>
              <a:rPr sz="1700" spc="-25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more</a:t>
            </a:r>
            <a:r>
              <a:rPr sz="1700" spc="-19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than once\n",x);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032052" y="5138690"/>
            <a:ext cx="224465" cy="2981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47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}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48640" y="5422103"/>
            <a:ext cx="224465" cy="2981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47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}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48640" y="5705572"/>
            <a:ext cx="1040395" cy="5819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50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return</a:t>
            </a:r>
            <a:r>
              <a:rPr sz="1700" spc="-1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0;</a:t>
            </a:r>
          </a:p>
          <a:p>
            <a:pPr marL="0" marR="0">
              <a:lnSpc>
                <a:spcPts val="2047"/>
              </a:lnSpc>
              <a:spcBef>
                <a:spcPts val="183"/>
              </a:spcBef>
              <a:spcAft>
                <a:spcPts val="0"/>
              </a:spcAft>
            </a:pP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}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48640" y="771142"/>
            <a:ext cx="3661541" cy="48646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883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FE8637"/>
                </a:solidFill>
                <a:latin typeface="GSODNI+Wingdings"/>
                <a:cs typeface="GSODNI+Wingdings"/>
              </a:rPr>
              <a:t></a:t>
            </a:r>
            <a:r>
              <a:rPr sz="1700" spc="271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[sourav@gaya]$ ./a.out</a:t>
            </a:r>
          </a:p>
          <a:p>
            <a:pPr marL="0" marR="0">
              <a:lnSpc>
                <a:spcPts val="2883"/>
              </a:lnSpc>
              <a:spcBef>
                <a:spcPts val="308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Enter 10 integer</a:t>
            </a:r>
            <a:r>
              <a:rPr sz="2400" spc="-18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number</a:t>
            </a:r>
          </a:p>
          <a:p>
            <a:pPr marL="0" marR="0">
              <a:lnSpc>
                <a:spcPts val="2883"/>
              </a:lnSpc>
              <a:spcBef>
                <a:spcPts val="308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1</a:t>
            </a:r>
          </a:p>
          <a:p>
            <a:pPr marL="0" marR="0">
              <a:lnSpc>
                <a:spcPts val="2883"/>
              </a:lnSpc>
              <a:spcBef>
                <a:spcPts val="311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2</a:t>
            </a:r>
          </a:p>
          <a:p>
            <a:pPr marL="0" marR="0">
              <a:lnSpc>
                <a:spcPts val="2883"/>
              </a:lnSpc>
              <a:spcBef>
                <a:spcPts val="308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3</a:t>
            </a:r>
          </a:p>
          <a:p>
            <a:pPr marL="0" marR="0">
              <a:lnSpc>
                <a:spcPts val="2883"/>
              </a:lnSpc>
              <a:spcBef>
                <a:spcPts val="258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4</a:t>
            </a:r>
          </a:p>
          <a:p>
            <a:pPr marL="0" marR="0">
              <a:lnSpc>
                <a:spcPts val="2883"/>
              </a:lnSpc>
              <a:spcBef>
                <a:spcPts val="31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5</a:t>
            </a:r>
          </a:p>
          <a:p>
            <a:pPr marL="0" marR="0">
              <a:lnSpc>
                <a:spcPts val="2883"/>
              </a:lnSpc>
              <a:spcBef>
                <a:spcPts val="308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6</a:t>
            </a:r>
          </a:p>
          <a:p>
            <a:pPr marL="0" marR="0">
              <a:lnSpc>
                <a:spcPts val="2883"/>
              </a:lnSpc>
              <a:spcBef>
                <a:spcPts val="308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2</a:t>
            </a:r>
          </a:p>
          <a:p>
            <a:pPr marL="0" marR="0">
              <a:lnSpc>
                <a:spcPts val="2886"/>
              </a:lnSpc>
              <a:spcBef>
                <a:spcPts val="308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4</a:t>
            </a:r>
          </a:p>
          <a:p>
            <a:pPr marL="0" marR="0">
              <a:lnSpc>
                <a:spcPts val="2883"/>
              </a:lnSpc>
              <a:spcBef>
                <a:spcPts val="307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8</a:t>
            </a:r>
          </a:p>
          <a:p>
            <a:pPr marL="0" marR="0">
              <a:lnSpc>
                <a:spcPts val="2883"/>
              </a:lnSpc>
              <a:spcBef>
                <a:spcPts val="308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9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8640" y="5636719"/>
            <a:ext cx="5145328" cy="810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886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2 number</a:t>
            </a:r>
            <a:r>
              <a:rPr sz="2400" spc="-1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appeared</a:t>
            </a:r>
            <a:r>
              <a:rPr sz="2400" spc="-26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more than once</a:t>
            </a:r>
          </a:p>
          <a:p>
            <a:pPr marL="0" marR="0">
              <a:lnSpc>
                <a:spcPts val="2883"/>
              </a:lnSpc>
              <a:spcBef>
                <a:spcPts val="307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4 number appeared</a:t>
            </a:r>
            <a:r>
              <a:rPr sz="2400" spc="-14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more than once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48640" y="278772"/>
            <a:ext cx="5086658" cy="4442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98"/>
              </a:lnSpc>
              <a:spcBef>
                <a:spcPts val="0"/>
              </a:spcBef>
              <a:spcAft>
                <a:spcPts val="0"/>
              </a:spcAft>
            </a:pPr>
            <a:r>
              <a:rPr sz="2700" i="1" dirty="0">
                <a:solidFill>
                  <a:srgbClr val="575F6D"/>
                </a:solidFill>
                <a:latin typeface="GPGULP+Century Schoolbook Italic"/>
                <a:cs typeface="GPGULP+Century Schoolbook Italic"/>
              </a:rPr>
              <a:t>T</a:t>
            </a:r>
            <a:r>
              <a:rPr sz="2150" i="1" spc="14" dirty="0">
                <a:solidFill>
                  <a:srgbClr val="575F6D"/>
                </a:solidFill>
                <a:latin typeface="GPGULP+Century Schoolbook Italic"/>
                <a:cs typeface="GPGULP+Century Schoolbook Italic"/>
              </a:rPr>
              <a:t>WO</a:t>
            </a:r>
            <a:r>
              <a:rPr sz="2150" i="1" spc="143" dirty="0">
                <a:solidFill>
                  <a:srgbClr val="575F6D"/>
                </a:solidFill>
                <a:latin typeface="GPGULP+Century Schoolbook Italic"/>
                <a:cs typeface="GPGULP+Century Schoolbook Italic"/>
              </a:rPr>
              <a:t> </a:t>
            </a:r>
            <a:r>
              <a:rPr sz="2700" i="1" dirty="0">
                <a:solidFill>
                  <a:srgbClr val="575F6D"/>
                </a:solidFill>
                <a:latin typeface="GPGULP+Century Schoolbook Italic"/>
                <a:cs typeface="GPGULP+Century Schoolbook Italic"/>
              </a:rPr>
              <a:t>D</a:t>
            </a:r>
            <a:r>
              <a:rPr sz="2150" i="1" dirty="0">
                <a:solidFill>
                  <a:srgbClr val="575F6D"/>
                </a:solidFill>
                <a:latin typeface="GPGULP+Century Schoolbook Italic"/>
                <a:cs typeface="GPGULP+Century Schoolbook Italic"/>
              </a:rPr>
              <a:t>IMENSIONAL</a:t>
            </a:r>
            <a:r>
              <a:rPr sz="2700" i="1" dirty="0">
                <a:solidFill>
                  <a:srgbClr val="575F6D"/>
                </a:solidFill>
                <a:latin typeface="GPGULP+Century Schoolbook Italic"/>
                <a:cs typeface="GPGULP+Century Schoolbook Italic"/>
              </a:rPr>
              <a:t>/2D</a:t>
            </a:r>
            <a:r>
              <a:rPr sz="2700" i="1" spc="-12" dirty="0">
                <a:solidFill>
                  <a:srgbClr val="575F6D"/>
                </a:solidFill>
                <a:latin typeface="GPGULP+Century Schoolbook Italic"/>
                <a:cs typeface="GPGULP+Century Schoolbook Italic"/>
              </a:rPr>
              <a:t> </a:t>
            </a:r>
            <a:r>
              <a:rPr sz="2700" i="1" dirty="0">
                <a:solidFill>
                  <a:srgbClr val="575F6D"/>
                </a:solidFill>
                <a:latin typeface="GPGULP+Century Schoolbook Italic"/>
                <a:cs typeface="GPGULP+Century Schoolbook Italic"/>
              </a:rPr>
              <a:t>A</a:t>
            </a:r>
            <a:r>
              <a:rPr sz="2150" i="1" dirty="0">
                <a:solidFill>
                  <a:srgbClr val="575F6D"/>
                </a:solidFill>
                <a:latin typeface="GPGULP+Century Schoolbook Italic"/>
                <a:cs typeface="GPGULP+Century Schoolbook Italic"/>
              </a:rPr>
              <a:t>RRAYS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8640" y="1159878"/>
            <a:ext cx="6473541" cy="3279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83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E8637"/>
                </a:solidFill>
                <a:latin typeface="GSODNI+Wingdings"/>
                <a:cs typeface="GSODNI+Wingdings"/>
              </a:rPr>
              <a:t>.</a:t>
            </a:r>
            <a:r>
              <a:rPr sz="1350" spc="2688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 two dimensional array has</a:t>
            </a:r>
            <a:r>
              <a:rPr sz="1900" spc="14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900" u="sng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two</a:t>
            </a:r>
            <a:r>
              <a:rPr sz="1900" u="sng" spc="109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900" u="sng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subscripts/indexes</a:t>
            </a: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48640" y="1496682"/>
            <a:ext cx="7139079" cy="327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83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E8637"/>
                </a:solidFill>
                <a:latin typeface="GSODNI+Wingdings"/>
                <a:cs typeface="GSODNI+Wingdings"/>
              </a:rPr>
              <a:t>.</a:t>
            </a:r>
            <a:r>
              <a:rPr sz="1350" spc="2688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The </a:t>
            </a:r>
            <a:r>
              <a:rPr sz="1900" u="sng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first</a:t>
            </a:r>
            <a:r>
              <a:rPr sz="1900" u="sng" spc="97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900" u="sng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subscript</a:t>
            </a: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refers</a:t>
            </a:r>
            <a:r>
              <a:rPr sz="1900" spc="-12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to the </a:t>
            </a:r>
            <a:r>
              <a:rPr sz="1900" u="sng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row</a:t>
            </a: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,</a:t>
            </a:r>
            <a:r>
              <a:rPr sz="1900" spc="-1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and the </a:t>
            </a:r>
            <a:r>
              <a:rPr sz="1900" u="sng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second</a:t>
            </a: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, to the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06144" y="1757667"/>
            <a:ext cx="1031791" cy="3278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83"/>
              </a:lnSpc>
              <a:spcBef>
                <a:spcPts val="0"/>
              </a:spcBef>
              <a:spcAft>
                <a:spcPts val="0"/>
              </a:spcAft>
            </a:pPr>
            <a:r>
              <a:rPr sz="1900" u="sng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column</a:t>
            </a: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48640" y="2094972"/>
            <a:ext cx="4860084" cy="327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78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E8637"/>
                </a:solidFill>
                <a:latin typeface="GSODNI+Wingdings"/>
                <a:cs typeface="GSODNI+Wingdings"/>
              </a:rPr>
              <a:t>.</a:t>
            </a:r>
            <a:r>
              <a:rPr sz="1350" spc="2688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Its</a:t>
            </a:r>
            <a:r>
              <a:rPr sz="1900" spc="14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declaration has the following form,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006144" y="2672056"/>
            <a:ext cx="6973283" cy="4642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99"/>
              </a:lnSpc>
              <a:spcBef>
                <a:spcPts val="0"/>
              </a:spcBef>
              <a:spcAft>
                <a:spcPts val="0"/>
              </a:spcAft>
            </a:pPr>
            <a:r>
              <a:rPr sz="1800" baseline="-31865" dirty="0">
                <a:solidFill>
                  <a:srgbClr val="FE8637"/>
                </a:solidFill>
                <a:latin typeface="SNFKJM+Wingdings 2"/>
                <a:cs typeface="SNFKJM+Wingdings 2"/>
              </a:rPr>
              <a:t></a:t>
            </a:r>
            <a:r>
              <a:rPr sz="1800" spc="2671" baseline="-31865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2250" baseline="-31865" dirty="0">
                <a:solidFill>
                  <a:srgbClr val="1E09B7"/>
                </a:solidFill>
                <a:latin typeface="QPIEFM+Courier New"/>
                <a:cs typeface="QPIEFM+Courier New"/>
              </a:rPr>
              <a:t>data_type</a:t>
            </a:r>
            <a:r>
              <a:rPr sz="2250" spc="2703" baseline="-31865" dirty="0">
                <a:solidFill>
                  <a:srgbClr val="1E09B7"/>
                </a:solidFill>
                <a:latin typeface="QPIEFM+Courier New"/>
                <a:cs typeface="QPIEFM+Courier New"/>
              </a:rPr>
              <a:t> </a:t>
            </a:r>
            <a:r>
              <a:rPr sz="2250" baseline="-31865" dirty="0">
                <a:solidFill>
                  <a:srgbClr val="1E09B7"/>
                </a:solidFill>
                <a:latin typeface="QPIEFM+Courier New"/>
                <a:cs typeface="QPIEFM+Courier New"/>
              </a:rPr>
              <a:t>array_name[1</a:t>
            </a:r>
            <a:r>
              <a:rPr sz="1500" baseline="45599" dirty="0">
                <a:solidFill>
                  <a:srgbClr val="1E09B7"/>
                </a:solidFill>
                <a:latin typeface="QPIEFM+Courier New"/>
                <a:cs typeface="QPIEFM+Courier New"/>
              </a:rPr>
              <a:t>st</a:t>
            </a:r>
            <a:r>
              <a:rPr sz="1500" spc="300" baseline="45599" dirty="0">
                <a:solidFill>
                  <a:srgbClr val="1E09B7"/>
                </a:solidFill>
                <a:latin typeface="QPIEFM+Courier New"/>
                <a:cs typeface="QPIEFM+Courier New"/>
              </a:rPr>
              <a:t> </a:t>
            </a:r>
            <a:r>
              <a:rPr sz="1500" dirty="0">
                <a:solidFill>
                  <a:srgbClr val="1E09B7"/>
                </a:solidFill>
                <a:latin typeface="QPIEFM+Courier New"/>
                <a:cs typeface="QPIEFM+Courier New"/>
              </a:rPr>
              <a:t>dimension size][2</a:t>
            </a:r>
            <a:r>
              <a:rPr sz="1500" baseline="30399" dirty="0">
                <a:solidFill>
                  <a:srgbClr val="1E09B7"/>
                </a:solidFill>
                <a:latin typeface="QPIEFM+Courier New"/>
                <a:cs typeface="QPIEFM+Courier New"/>
              </a:rPr>
              <a:t>nd</a:t>
            </a:r>
            <a:r>
              <a:rPr sz="1500" spc="300" baseline="30399" dirty="0">
                <a:solidFill>
                  <a:srgbClr val="1E09B7"/>
                </a:solidFill>
                <a:latin typeface="QPIEFM+Courier New"/>
                <a:cs typeface="QPIEFM+Courier New"/>
              </a:rPr>
              <a:t> </a:t>
            </a:r>
            <a:r>
              <a:rPr sz="1500" dirty="0">
                <a:solidFill>
                  <a:srgbClr val="1E09B7"/>
                </a:solidFill>
                <a:latin typeface="QPIEFM+Courier New"/>
                <a:cs typeface="QPIEFM+Courier New"/>
              </a:rPr>
              <a:t>dimension</a:t>
            </a:r>
          </a:p>
          <a:p>
            <a:pPr marL="457149" marR="0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1E09B7"/>
                </a:solidFill>
                <a:latin typeface="QPIEFM+Courier New"/>
                <a:cs typeface="QPIEFM+Courier New"/>
              </a:rPr>
              <a:t>size];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48640" y="3398246"/>
            <a:ext cx="2174531" cy="327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78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E8637"/>
                </a:solidFill>
                <a:latin typeface="GSODNI+Wingdings"/>
                <a:cs typeface="GSODNI+Wingdings"/>
              </a:rPr>
              <a:t>.</a:t>
            </a:r>
            <a:r>
              <a:rPr sz="1350" spc="2688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For examples,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006144" y="3989901"/>
            <a:ext cx="4513049" cy="629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47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FE8637"/>
                </a:solidFill>
                <a:latin typeface="SNFKJM+Wingdings 2"/>
                <a:cs typeface="SNFKJM+Wingdings 2"/>
              </a:rPr>
              <a:t></a:t>
            </a:r>
            <a:r>
              <a:rPr sz="1500" spc="2438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1900" dirty="0">
                <a:solidFill>
                  <a:srgbClr val="1E09B7"/>
                </a:solidFill>
                <a:latin typeface="QPIEFM+Courier New"/>
                <a:cs typeface="QPIEFM+Courier New"/>
              </a:rPr>
              <a:t>int</a:t>
            </a:r>
            <a:r>
              <a:rPr sz="1900" spc="5691" dirty="0">
                <a:solidFill>
                  <a:srgbClr val="1E09B7"/>
                </a:solidFill>
                <a:latin typeface="QPIEFM+Courier New"/>
                <a:cs typeface="QPIEFM+Courier New"/>
              </a:rPr>
              <a:t> </a:t>
            </a:r>
            <a:r>
              <a:rPr sz="1900" dirty="0">
                <a:solidFill>
                  <a:srgbClr val="1E09B7"/>
                </a:solidFill>
                <a:latin typeface="QPIEFM+Courier New"/>
                <a:cs typeface="QPIEFM+Courier New"/>
              </a:rPr>
              <a:t>xInteger[3][4];</a:t>
            </a:r>
          </a:p>
          <a:p>
            <a:pPr marL="0" marR="0">
              <a:lnSpc>
                <a:spcPts val="2150"/>
              </a:lnSpc>
              <a:spcBef>
                <a:spcPts val="361"/>
              </a:spcBef>
              <a:spcAft>
                <a:spcPts val="0"/>
              </a:spcAft>
            </a:pPr>
            <a:r>
              <a:rPr sz="1500" dirty="0">
                <a:solidFill>
                  <a:srgbClr val="FE8637"/>
                </a:solidFill>
                <a:latin typeface="SNFKJM+Wingdings 2"/>
                <a:cs typeface="SNFKJM+Wingdings 2"/>
              </a:rPr>
              <a:t></a:t>
            </a:r>
            <a:r>
              <a:rPr sz="1500" spc="2438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1900" dirty="0">
                <a:solidFill>
                  <a:srgbClr val="1E09B7"/>
                </a:solidFill>
                <a:latin typeface="QPIEFM+Courier New"/>
                <a:cs typeface="QPIEFM+Courier New"/>
              </a:rPr>
              <a:t>float</a:t>
            </a:r>
            <a:r>
              <a:rPr sz="1900" spc="3411" dirty="0">
                <a:solidFill>
                  <a:srgbClr val="1E09B7"/>
                </a:solidFill>
                <a:latin typeface="QPIEFM+Courier New"/>
                <a:cs typeface="QPIEFM+Courier New"/>
              </a:rPr>
              <a:t> </a:t>
            </a:r>
            <a:r>
              <a:rPr sz="1900" dirty="0">
                <a:solidFill>
                  <a:srgbClr val="1E09B7"/>
                </a:solidFill>
                <a:latin typeface="QPIEFM+Courier New"/>
                <a:cs typeface="QPIEFM+Courier New"/>
              </a:rPr>
              <a:t>matrixNum[20][25];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48640" y="4867763"/>
            <a:ext cx="7241853" cy="347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78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E8637"/>
                </a:solidFill>
                <a:latin typeface="GSODNI+Wingdings"/>
                <a:cs typeface="GSODNI+Wingdings"/>
              </a:rPr>
              <a:t>.</a:t>
            </a:r>
            <a:r>
              <a:rPr sz="1350" spc="2688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The first line declares </a:t>
            </a:r>
            <a:r>
              <a:rPr sz="1900" dirty="0">
                <a:solidFill>
                  <a:srgbClr val="000000"/>
                </a:solidFill>
                <a:latin typeface="QPIEFM+Courier New"/>
                <a:cs typeface="QPIEFM+Courier New"/>
              </a:rPr>
              <a:t>xInteger</a:t>
            </a: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as an integer array</a:t>
            </a:r>
            <a:r>
              <a:rPr sz="1900" spc="12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with</a:t>
            </a:r>
            <a:r>
              <a:rPr sz="1900" spc="16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3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006144" y="5141583"/>
            <a:ext cx="2424857" cy="327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83"/>
              </a:lnSpc>
              <a:spcBef>
                <a:spcPts val="0"/>
              </a:spcBef>
              <a:spcAft>
                <a:spcPts val="0"/>
              </a:spcAft>
            </a:pPr>
            <a:r>
              <a:rPr sz="1900" u="sng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rows</a:t>
            </a: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and</a:t>
            </a:r>
            <a:r>
              <a:rPr sz="1900" spc="-1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4</a:t>
            </a:r>
            <a:r>
              <a:rPr sz="1900" spc="1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900" u="sng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columns</a:t>
            </a: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48640" y="5465120"/>
            <a:ext cx="7209048" cy="347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78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E8637"/>
                </a:solidFill>
                <a:latin typeface="GSODNI+Wingdings"/>
                <a:cs typeface="GSODNI+Wingdings"/>
              </a:rPr>
              <a:t>.</a:t>
            </a:r>
            <a:r>
              <a:rPr sz="1350" spc="2688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Second</a:t>
            </a:r>
            <a:r>
              <a:rPr sz="1900" spc="-1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line declares a </a:t>
            </a:r>
            <a:r>
              <a:rPr sz="1900" dirty="0">
                <a:solidFill>
                  <a:srgbClr val="000000"/>
                </a:solidFill>
                <a:latin typeface="QPIEFM+Courier New"/>
                <a:cs typeface="QPIEFM+Courier New"/>
              </a:rPr>
              <a:t>matrixNum</a:t>
            </a: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as a</a:t>
            </a:r>
            <a:r>
              <a:rPr sz="1900" spc="1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floating-point array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006144" y="5739245"/>
            <a:ext cx="3467528" cy="327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83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with 20</a:t>
            </a:r>
            <a:r>
              <a:rPr sz="1900" spc="12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900" u="sng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rows</a:t>
            </a:r>
            <a:r>
              <a:rPr sz="1900" spc="-1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and 25</a:t>
            </a:r>
            <a:r>
              <a:rPr sz="1900" spc="12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900" u="sng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columns</a:t>
            </a: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82344" y="549049"/>
            <a:ext cx="7462258" cy="876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62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575F6D"/>
                </a:solidFill>
                <a:latin typeface="HFBCCF+Century Schoolbook"/>
                <a:cs typeface="HFBCCF+Century Schoolbook"/>
              </a:rPr>
              <a:t>D</a:t>
            </a:r>
            <a:r>
              <a:rPr sz="2250" dirty="0">
                <a:solidFill>
                  <a:srgbClr val="575F6D"/>
                </a:solidFill>
                <a:latin typeface="HFBCCF+Century Schoolbook"/>
                <a:cs typeface="HFBCCF+Century Schoolbook"/>
              </a:rPr>
              <a:t>OUBLE</a:t>
            </a:r>
            <a:r>
              <a:rPr sz="2250" spc="134" dirty="0">
                <a:solidFill>
                  <a:srgbClr val="575F6D"/>
                </a:solidFill>
                <a:latin typeface="HFBCCF+Century Schoolbook"/>
                <a:cs typeface="HFBCCF+Century Schoolbook"/>
              </a:rPr>
              <a:t> </a:t>
            </a:r>
            <a:r>
              <a:rPr sz="2250" dirty="0">
                <a:solidFill>
                  <a:srgbClr val="575F6D"/>
                </a:solidFill>
                <a:latin typeface="HFBCCF+Century Schoolbook"/>
                <a:cs typeface="HFBCCF+Century Schoolbook"/>
              </a:rPr>
              <a:t>SCRIPTED</a:t>
            </a:r>
            <a:r>
              <a:rPr sz="2250" spc="121" dirty="0">
                <a:solidFill>
                  <a:srgbClr val="575F6D"/>
                </a:solidFill>
                <a:latin typeface="HFBCCF+Century Schoolbook"/>
                <a:cs typeface="HFBCCF+Century Schoolbook"/>
              </a:rPr>
              <a:t> </a:t>
            </a:r>
            <a:r>
              <a:rPr sz="2250" dirty="0">
                <a:solidFill>
                  <a:srgbClr val="575F6D"/>
                </a:solidFill>
                <a:latin typeface="HFBCCF+Century Schoolbook"/>
                <a:cs typeface="HFBCCF+Century Schoolbook"/>
              </a:rPr>
              <a:t>ARRAY</a:t>
            </a:r>
            <a:r>
              <a:rPr sz="2250" spc="112" dirty="0">
                <a:solidFill>
                  <a:srgbClr val="575F6D"/>
                </a:solidFill>
                <a:latin typeface="HFBCCF+Century Schoolbook"/>
                <a:cs typeface="HFBCCF+Century Schoolbook"/>
              </a:rPr>
              <a:t> </a:t>
            </a:r>
            <a:r>
              <a:rPr sz="2250" dirty="0">
                <a:solidFill>
                  <a:srgbClr val="575F6D"/>
                </a:solidFill>
                <a:latin typeface="HFBCCF+Century Schoolbook"/>
                <a:cs typeface="HFBCCF+Century Schoolbook"/>
              </a:rPr>
              <a:t>WITH</a:t>
            </a:r>
            <a:r>
              <a:rPr sz="2250" spc="147" dirty="0">
                <a:solidFill>
                  <a:srgbClr val="575F6D"/>
                </a:solidFill>
                <a:latin typeface="HFBCCF+Century Schoolbook"/>
                <a:cs typeface="HFBCCF+Century Schoolbook"/>
              </a:rPr>
              <a:t> </a:t>
            </a:r>
            <a:r>
              <a:rPr sz="2800" dirty="0">
                <a:solidFill>
                  <a:srgbClr val="575F6D"/>
                </a:solidFill>
                <a:latin typeface="HFBCCF+Century Schoolbook"/>
                <a:cs typeface="HFBCCF+Century Schoolbook"/>
              </a:rPr>
              <a:t>3 </a:t>
            </a:r>
            <a:r>
              <a:rPr sz="2250" dirty="0">
                <a:solidFill>
                  <a:srgbClr val="575F6D"/>
                </a:solidFill>
                <a:latin typeface="HFBCCF+Century Schoolbook"/>
                <a:cs typeface="HFBCCF+Century Schoolbook"/>
              </a:rPr>
              <a:t>ROWS</a:t>
            </a:r>
            <a:r>
              <a:rPr sz="2250" spc="150" dirty="0">
                <a:solidFill>
                  <a:srgbClr val="575F6D"/>
                </a:solidFill>
                <a:latin typeface="HFBCCF+Century Schoolbook"/>
                <a:cs typeface="HFBCCF+Century Schoolbook"/>
              </a:rPr>
              <a:t> </a:t>
            </a:r>
            <a:r>
              <a:rPr sz="2250" dirty="0">
                <a:solidFill>
                  <a:srgbClr val="575F6D"/>
                </a:solidFill>
                <a:latin typeface="HFBCCF+Century Schoolbook"/>
                <a:cs typeface="HFBCCF+Century Schoolbook"/>
              </a:rPr>
              <a:t>AND</a:t>
            </a:r>
            <a:r>
              <a:rPr sz="2250" spc="140" dirty="0">
                <a:solidFill>
                  <a:srgbClr val="575F6D"/>
                </a:solidFill>
                <a:latin typeface="HFBCCF+Century Schoolbook"/>
                <a:cs typeface="HFBCCF+Century Schoolbook"/>
              </a:rPr>
              <a:t> </a:t>
            </a:r>
            <a:r>
              <a:rPr sz="2800" dirty="0">
                <a:solidFill>
                  <a:srgbClr val="575F6D"/>
                </a:solidFill>
                <a:latin typeface="HFBCCF+Century Schoolbook"/>
                <a:cs typeface="HFBCCF+Century Schoolbook"/>
              </a:rPr>
              <a:t>4</a:t>
            </a:r>
          </a:p>
          <a:p>
            <a:pPr marL="0" marR="0">
              <a:lnSpc>
                <a:spcPts val="2696"/>
              </a:lnSpc>
              <a:spcBef>
                <a:spcPts val="543"/>
              </a:spcBef>
              <a:spcAft>
                <a:spcPts val="0"/>
              </a:spcAft>
            </a:pPr>
            <a:r>
              <a:rPr sz="2250" dirty="0">
                <a:solidFill>
                  <a:srgbClr val="575F6D"/>
                </a:solidFill>
                <a:latin typeface="HFBCCF+Century Schoolbook"/>
                <a:cs typeface="HFBCCF+Century Schoolbook"/>
              </a:rPr>
              <a:t>COLUMNS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48640" y="1645998"/>
            <a:ext cx="3028642" cy="8466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886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FE8637"/>
                </a:solidFill>
                <a:latin typeface="GSODNI+Wingdings"/>
                <a:cs typeface="GSODNI+Wingdings"/>
              </a:rPr>
              <a:t></a:t>
            </a:r>
            <a:r>
              <a:rPr sz="1700" spc="259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#include</a:t>
            </a:r>
            <a:r>
              <a:rPr sz="2400" spc="-22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&lt;stdio.h&gt;</a:t>
            </a:r>
          </a:p>
          <a:p>
            <a:pPr marL="0" marR="0">
              <a:lnSpc>
                <a:spcPts val="2883"/>
              </a:lnSpc>
              <a:spcBef>
                <a:spcPts val="595"/>
              </a:spcBef>
              <a:spcAft>
                <a:spcPts val="0"/>
              </a:spcAft>
            </a:pPr>
            <a:r>
              <a:rPr sz="1700" dirty="0">
                <a:solidFill>
                  <a:srgbClr val="FE8637"/>
                </a:solidFill>
                <a:latin typeface="GSODNI+Wingdings"/>
                <a:cs typeface="GSODNI+Wingdings"/>
              </a:rPr>
              <a:t></a:t>
            </a:r>
            <a:r>
              <a:rPr sz="1700" spc="259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int main()</a:t>
            </a:r>
            <a:r>
              <a:rPr sz="2400" spc="-14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{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6228" y="2517487"/>
            <a:ext cx="5962694" cy="358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3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FE8637"/>
                </a:solidFill>
                <a:latin typeface="SNFKJM+Wingdings 2"/>
                <a:cs typeface="SNFKJM+Wingdings 2"/>
              </a:rPr>
              <a:t></a:t>
            </a:r>
            <a:r>
              <a:rPr sz="1700" spc="832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21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int abc[5][4]</a:t>
            </a:r>
            <a:r>
              <a:rPr sz="2100" spc="13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1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={</a:t>
            </a:r>
            <a:r>
              <a:rPr sz="2100" spc="1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1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{0,1,2,3}, {4,5,6,7}, {8,9,10,11},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89024" y="2837527"/>
            <a:ext cx="3705154" cy="358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3"/>
              </a:lnSpc>
              <a:spcBef>
                <a:spcPts val="0"/>
              </a:spcBef>
              <a:spcAft>
                <a:spcPts val="0"/>
              </a:spcAft>
            </a:pPr>
            <a:r>
              <a:rPr sz="21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{12,13,14,15}, {16,17,18,19} };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16228" y="3221829"/>
            <a:ext cx="3263140" cy="10718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3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FE8637"/>
                </a:solidFill>
                <a:latin typeface="SNFKJM+Wingdings 2"/>
                <a:cs typeface="SNFKJM+Wingdings 2"/>
              </a:rPr>
              <a:t></a:t>
            </a:r>
            <a:r>
              <a:rPr sz="1700" spc="832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21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for (int i=0;</a:t>
            </a:r>
            <a:r>
              <a:rPr sz="2100" spc="19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1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i&lt;=4; i++) {</a:t>
            </a:r>
          </a:p>
          <a:p>
            <a:pPr marL="364185" marR="0">
              <a:lnSpc>
                <a:spcPts val="2162"/>
              </a:lnSpc>
              <a:spcBef>
                <a:spcPts val="436"/>
              </a:spcBef>
              <a:spcAft>
                <a:spcPts val="0"/>
              </a:spcAft>
            </a:pPr>
            <a:r>
              <a:rPr sz="1100" dirty="0">
                <a:solidFill>
                  <a:srgbClr val="E0752F"/>
                </a:solidFill>
                <a:latin typeface="GSODNI+Wingdings"/>
                <a:cs typeface="GSODNI+Wingdings"/>
              </a:rPr>
              <a:t></a:t>
            </a:r>
            <a:r>
              <a:rPr sz="1100" spc="218" dirty="0">
                <a:solidFill>
                  <a:srgbClr val="E0752F"/>
                </a:solidFill>
                <a:latin typeface="Caladea"/>
                <a:cs typeface="Caladea"/>
              </a:rPr>
              <a:t> </a:t>
            </a:r>
            <a:r>
              <a:rPr sz="18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printf("%d ",abc[i]);</a:t>
            </a:r>
          </a:p>
          <a:p>
            <a:pPr marL="0" marR="0">
              <a:lnSpc>
                <a:spcPts val="2523"/>
              </a:lnSpc>
              <a:spcBef>
                <a:spcPts val="493"/>
              </a:spcBef>
              <a:spcAft>
                <a:spcPts val="0"/>
              </a:spcAft>
            </a:pPr>
            <a:r>
              <a:rPr sz="1700" dirty="0">
                <a:solidFill>
                  <a:srgbClr val="FE8637"/>
                </a:solidFill>
                <a:latin typeface="SNFKJM+Wingdings 2"/>
                <a:cs typeface="SNFKJM+Wingdings 2"/>
              </a:rPr>
              <a:t></a:t>
            </a:r>
            <a:r>
              <a:rPr sz="1700" spc="832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21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}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48640" y="4319190"/>
            <a:ext cx="1891044" cy="8014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7588" marR="0">
              <a:lnSpc>
                <a:spcPts val="2526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FE8637"/>
                </a:solidFill>
                <a:latin typeface="SNFKJM+Wingdings 2"/>
                <a:cs typeface="SNFKJM+Wingdings 2"/>
              </a:rPr>
              <a:t></a:t>
            </a:r>
            <a:r>
              <a:rPr sz="1700" spc="832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21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return 0;</a:t>
            </a:r>
          </a:p>
          <a:p>
            <a:pPr marL="0" marR="0">
              <a:lnSpc>
                <a:spcPts val="2883"/>
              </a:lnSpc>
              <a:spcBef>
                <a:spcPts val="600"/>
              </a:spcBef>
              <a:spcAft>
                <a:spcPts val="0"/>
              </a:spcAft>
            </a:pPr>
            <a:r>
              <a:rPr sz="1700" dirty="0">
                <a:solidFill>
                  <a:srgbClr val="FE8637"/>
                </a:solidFill>
                <a:latin typeface="GSODNI+Wingdings"/>
                <a:cs typeface="GSODNI+Wingdings"/>
              </a:rPr>
              <a:t></a:t>
            </a:r>
            <a:r>
              <a:rPr sz="1700" spc="259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}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48640" y="5158230"/>
            <a:ext cx="6955530" cy="4043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883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FE8637"/>
                </a:solidFill>
                <a:latin typeface="GSODNI+Wingdings"/>
                <a:cs typeface="GSODNI+Wingdings"/>
              </a:rPr>
              <a:t></a:t>
            </a:r>
            <a:r>
              <a:rPr sz="1700" spc="259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Output:</a:t>
            </a:r>
            <a:r>
              <a:rPr sz="2400" spc="65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1600101376</a:t>
            </a:r>
            <a:r>
              <a:rPr sz="2400" spc="39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1600101392</a:t>
            </a:r>
            <a:r>
              <a:rPr sz="2400" spc="5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1600101408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21436" y="5523944"/>
            <a:ext cx="3627269" cy="4047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886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1600101424</a:t>
            </a:r>
            <a:r>
              <a:rPr sz="2400" spc="5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1600101440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48640" y="456833"/>
            <a:ext cx="6840850" cy="9369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07"/>
              </a:lnSpc>
              <a:spcBef>
                <a:spcPts val="0"/>
              </a:spcBef>
              <a:spcAft>
                <a:spcPts val="0"/>
              </a:spcAft>
            </a:pPr>
            <a:r>
              <a:rPr sz="3000" dirty="0">
                <a:solidFill>
                  <a:srgbClr val="575F6D"/>
                </a:solidFill>
                <a:latin typeface="HFBCCF+Century Schoolbook"/>
                <a:cs typeface="HFBCCF+Century Schoolbook"/>
              </a:rPr>
              <a:t>L</a:t>
            </a:r>
            <a:r>
              <a:rPr sz="2400" dirty="0">
                <a:solidFill>
                  <a:srgbClr val="575F6D"/>
                </a:solidFill>
                <a:latin typeface="HFBCCF+Century Schoolbook"/>
                <a:cs typeface="HFBCCF+Century Schoolbook"/>
              </a:rPr>
              <a:t>IST</a:t>
            </a:r>
            <a:r>
              <a:rPr sz="2400" spc="173" dirty="0">
                <a:solidFill>
                  <a:srgbClr val="575F6D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575F6D"/>
                </a:solidFill>
                <a:latin typeface="HFBCCF+Century Schoolbook"/>
                <a:cs typeface="HFBCCF+Century Schoolbook"/>
              </a:rPr>
              <a:t>OF</a:t>
            </a:r>
            <a:r>
              <a:rPr sz="2400" spc="151" dirty="0">
                <a:solidFill>
                  <a:srgbClr val="575F6D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575F6D"/>
                </a:solidFill>
                <a:latin typeface="HFBCCF+Century Schoolbook"/>
                <a:cs typeface="HFBCCF+Century Schoolbook"/>
              </a:rPr>
              <a:t>STUDENTS</a:t>
            </a:r>
            <a:r>
              <a:rPr sz="2400" spc="169" dirty="0">
                <a:solidFill>
                  <a:srgbClr val="575F6D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575F6D"/>
                </a:solidFill>
                <a:latin typeface="HFBCCF+Century Schoolbook"/>
                <a:cs typeface="HFBCCF+Century Schoolbook"/>
              </a:rPr>
              <a:t>AND</a:t>
            </a:r>
            <a:r>
              <a:rPr sz="2400" spc="173" dirty="0">
                <a:solidFill>
                  <a:srgbClr val="575F6D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575F6D"/>
                </a:solidFill>
                <a:latin typeface="HFBCCF+Century Schoolbook"/>
                <a:cs typeface="HFBCCF+Century Schoolbook"/>
              </a:rPr>
              <a:t>THEIR</a:t>
            </a:r>
            <a:r>
              <a:rPr sz="2400" spc="187" dirty="0">
                <a:solidFill>
                  <a:srgbClr val="575F6D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575F6D"/>
                </a:solidFill>
                <a:latin typeface="HFBCCF+Century Schoolbook"/>
                <a:cs typeface="HFBCCF+Century Schoolbook"/>
              </a:rPr>
              <a:t>SUBJECT</a:t>
            </a:r>
          </a:p>
          <a:p>
            <a:pPr marL="0" marR="0">
              <a:lnSpc>
                <a:spcPts val="2883"/>
              </a:lnSpc>
              <a:spcBef>
                <a:spcPts val="586"/>
              </a:spcBef>
              <a:spcAft>
                <a:spcPts val="0"/>
              </a:spcAft>
            </a:pPr>
            <a:r>
              <a:rPr sz="2400" dirty="0">
                <a:solidFill>
                  <a:srgbClr val="575F6D"/>
                </a:solidFill>
                <a:latin typeface="HFBCCF+Century Schoolbook"/>
                <a:cs typeface="HFBCCF+Century Schoolbook"/>
              </a:rPr>
              <a:t>MARKS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292475" y="1587087"/>
            <a:ext cx="1462519" cy="5121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732"/>
              </a:lnSpc>
              <a:spcBef>
                <a:spcPts val="0"/>
              </a:spcBef>
              <a:spcAft>
                <a:spcPts val="0"/>
              </a:spcAft>
            </a:pPr>
            <a:r>
              <a:rPr sz="3200" spc="-303" dirty="0">
                <a:solidFill>
                  <a:srgbClr val="000000"/>
                </a:solidFill>
                <a:latin typeface="ROGCQF+DejaVu Serif"/>
                <a:cs typeface="ROGCQF+DejaVu Serif"/>
              </a:rPr>
              <a:t>Ma</a:t>
            </a:r>
            <a:r>
              <a:rPr sz="3200" spc="-1155" dirty="0">
                <a:solidFill>
                  <a:srgbClr val="000000"/>
                </a:solidFill>
                <a:latin typeface="ROGCQF+DejaVu Serif"/>
                <a:cs typeface="ROGCQF+DejaVu Serif"/>
              </a:rPr>
              <a:t> </a:t>
            </a:r>
            <a:r>
              <a:rPr sz="3200" spc="-266" dirty="0">
                <a:solidFill>
                  <a:srgbClr val="000000"/>
                </a:solidFill>
                <a:latin typeface="ROGCQF+DejaVu Serif"/>
                <a:cs typeface="ROGCQF+DejaVu Serif"/>
              </a:rPr>
              <a:t>rks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497326" y="2272498"/>
            <a:ext cx="3993702" cy="4514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54"/>
              </a:lnSpc>
              <a:spcBef>
                <a:spcPts val="0"/>
              </a:spcBef>
              <a:spcAft>
                <a:spcPts val="0"/>
              </a:spcAft>
            </a:pPr>
            <a:r>
              <a:rPr sz="2800" spc="-221" dirty="0">
                <a:solidFill>
                  <a:srgbClr val="000000"/>
                </a:solidFill>
                <a:latin typeface="ROGCQF+DejaVu Serif"/>
                <a:cs typeface="ROGCQF+DejaVu Serif"/>
              </a:rPr>
              <a:t>10</a:t>
            </a:r>
            <a:r>
              <a:rPr sz="2800" spc="4992" dirty="0">
                <a:solidFill>
                  <a:srgbClr val="000000"/>
                </a:solidFill>
                <a:latin typeface="ROGCQF+DejaVu Serif"/>
                <a:cs typeface="ROGCQF+DejaVu Serif"/>
              </a:rPr>
              <a:t> </a:t>
            </a:r>
            <a:r>
              <a:rPr sz="2800" spc="-221" dirty="0">
                <a:solidFill>
                  <a:srgbClr val="000000"/>
                </a:solidFill>
                <a:latin typeface="ROGCQF+DejaVu Serif"/>
                <a:cs typeface="ROGCQF+DejaVu Serif"/>
              </a:rPr>
              <a:t>23</a:t>
            </a:r>
            <a:r>
              <a:rPr sz="2800" spc="4992" dirty="0">
                <a:solidFill>
                  <a:srgbClr val="000000"/>
                </a:solidFill>
                <a:latin typeface="ROGCQF+DejaVu Serif"/>
                <a:cs typeface="ROGCQF+DejaVu Serif"/>
              </a:rPr>
              <a:t> </a:t>
            </a:r>
            <a:r>
              <a:rPr sz="2800" spc="-219" dirty="0">
                <a:solidFill>
                  <a:srgbClr val="000000"/>
                </a:solidFill>
                <a:latin typeface="ROGCQF+DejaVu Serif"/>
                <a:cs typeface="ROGCQF+DejaVu Serif"/>
              </a:rPr>
              <a:t>31</a:t>
            </a:r>
            <a:r>
              <a:rPr sz="2800" spc="5093" dirty="0">
                <a:solidFill>
                  <a:srgbClr val="000000"/>
                </a:solidFill>
                <a:latin typeface="ROGCQF+DejaVu Serif"/>
                <a:cs typeface="ROGCQF+DejaVu Serif"/>
              </a:rPr>
              <a:t> </a:t>
            </a:r>
            <a:r>
              <a:rPr sz="2800" spc="-426" dirty="0">
                <a:solidFill>
                  <a:srgbClr val="000000"/>
                </a:solidFill>
                <a:latin typeface="ROGCQF+DejaVu Serif"/>
                <a:cs typeface="ROGCQF+DejaVu Serif"/>
              </a:rPr>
              <a:t>11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310894" y="2349370"/>
            <a:ext cx="1992427" cy="5117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729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000000"/>
                </a:solidFill>
                <a:latin typeface="ROGCQF+DejaVu Serif"/>
                <a:cs typeface="ROGCQF+DejaVu Serif"/>
              </a:rPr>
              <a:t>S</a:t>
            </a:r>
            <a:r>
              <a:rPr sz="3200" spc="-1072" dirty="0">
                <a:solidFill>
                  <a:srgbClr val="000000"/>
                </a:solidFill>
                <a:latin typeface="ROGCQF+DejaVu Serif"/>
                <a:cs typeface="ROGCQF+DejaVu Serif"/>
              </a:rPr>
              <a:t> </a:t>
            </a:r>
            <a:r>
              <a:rPr sz="3200" spc="-239" dirty="0">
                <a:solidFill>
                  <a:srgbClr val="000000"/>
                </a:solidFill>
                <a:latin typeface="ROGCQF+DejaVu Serif"/>
                <a:cs typeface="ROGCQF+DejaVu Serif"/>
              </a:rPr>
              <a:t>tude</a:t>
            </a:r>
            <a:r>
              <a:rPr sz="3200" spc="-1130" dirty="0">
                <a:solidFill>
                  <a:srgbClr val="000000"/>
                </a:solidFill>
                <a:latin typeface="ROGCQF+DejaVu Serif"/>
                <a:cs typeface="ROGCQF+DejaVu Serif"/>
              </a:rPr>
              <a:t> </a:t>
            </a:r>
            <a:r>
              <a:rPr sz="3200" spc="-228" dirty="0">
                <a:solidFill>
                  <a:srgbClr val="000000"/>
                </a:solidFill>
                <a:latin typeface="ROGCQF+DejaVu Serif"/>
                <a:cs typeface="ROGCQF+DejaVu Serif"/>
              </a:rPr>
              <a:t>nts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497326" y="2729698"/>
            <a:ext cx="4005947" cy="18233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54"/>
              </a:lnSpc>
              <a:spcBef>
                <a:spcPts val="0"/>
              </a:spcBef>
              <a:spcAft>
                <a:spcPts val="0"/>
              </a:spcAft>
            </a:pPr>
            <a:r>
              <a:rPr sz="2800" spc="-221" dirty="0">
                <a:solidFill>
                  <a:srgbClr val="000000"/>
                </a:solidFill>
                <a:latin typeface="ROGCQF+DejaVu Serif"/>
                <a:cs typeface="ROGCQF+DejaVu Serif"/>
              </a:rPr>
              <a:t>20</a:t>
            </a:r>
            <a:r>
              <a:rPr sz="2800" spc="4992" dirty="0">
                <a:solidFill>
                  <a:srgbClr val="000000"/>
                </a:solidFill>
                <a:latin typeface="ROGCQF+DejaVu Serif"/>
                <a:cs typeface="ROGCQF+DejaVu Serif"/>
              </a:rPr>
              <a:t> </a:t>
            </a:r>
            <a:r>
              <a:rPr sz="2800" spc="-221" dirty="0">
                <a:solidFill>
                  <a:srgbClr val="000000"/>
                </a:solidFill>
                <a:latin typeface="ROGCQF+DejaVu Serif"/>
                <a:cs typeface="ROGCQF+DejaVu Serif"/>
              </a:rPr>
              <a:t>43</a:t>
            </a:r>
            <a:r>
              <a:rPr sz="2800" spc="4992" dirty="0">
                <a:solidFill>
                  <a:srgbClr val="000000"/>
                </a:solidFill>
                <a:latin typeface="ROGCQF+DejaVu Serif"/>
                <a:cs typeface="ROGCQF+DejaVu Serif"/>
              </a:rPr>
              <a:t> </a:t>
            </a:r>
            <a:r>
              <a:rPr sz="2800" spc="-219" dirty="0">
                <a:solidFill>
                  <a:srgbClr val="000000"/>
                </a:solidFill>
                <a:latin typeface="ROGCQF+DejaVu Serif"/>
                <a:cs typeface="ROGCQF+DejaVu Serif"/>
              </a:rPr>
              <a:t>21</a:t>
            </a:r>
            <a:r>
              <a:rPr sz="2800" spc="4985" dirty="0">
                <a:solidFill>
                  <a:srgbClr val="000000"/>
                </a:solidFill>
                <a:latin typeface="ROGCQF+DejaVu Serif"/>
                <a:cs typeface="ROGCQF+DejaVu Serif"/>
              </a:rPr>
              <a:t> </a:t>
            </a:r>
            <a:r>
              <a:rPr sz="2800" spc="-221" dirty="0">
                <a:solidFill>
                  <a:srgbClr val="000000"/>
                </a:solidFill>
                <a:latin typeface="ROGCQF+DejaVu Serif"/>
                <a:cs typeface="ROGCQF+DejaVu Serif"/>
              </a:rPr>
              <a:t>21</a:t>
            </a:r>
          </a:p>
          <a:p>
            <a:pPr marL="0" marR="0">
              <a:lnSpc>
                <a:spcPts val="3254"/>
              </a:lnSpc>
              <a:spcBef>
                <a:spcPts val="347"/>
              </a:spcBef>
              <a:spcAft>
                <a:spcPts val="0"/>
              </a:spcAft>
            </a:pPr>
            <a:r>
              <a:rPr sz="2800" spc="-221" dirty="0">
                <a:solidFill>
                  <a:srgbClr val="000000"/>
                </a:solidFill>
                <a:latin typeface="ROGCQF+DejaVu Serif"/>
                <a:cs typeface="ROGCQF+DejaVu Serif"/>
              </a:rPr>
              <a:t>12</a:t>
            </a:r>
            <a:r>
              <a:rPr sz="2800" spc="4992" dirty="0">
                <a:solidFill>
                  <a:srgbClr val="000000"/>
                </a:solidFill>
                <a:latin typeface="ROGCQF+DejaVu Serif"/>
                <a:cs typeface="ROGCQF+DejaVu Serif"/>
              </a:rPr>
              <a:t> </a:t>
            </a:r>
            <a:r>
              <a:rPr sz="2800" spc="-221" dirty="0">
                <a:solidFill>
                  <a:srgbClr val="000000"/>
                </a:solidFill>
                <a:latin typeface="ROGCQF+DejaVu Serif"/>
                <a:cs typeface="ROGCQF+DejaVu Serif"/>
              </a:rPr>
              <a:t>22</a:t>
            </a:r>
            <a:r>
              <a:rPr sz="2800" spc="4992" dirty="0">
                <a:solidFill>
                  <a:srgbClr val="000000"/>
                </a:solidFill>
                <a:latin typeface="ROGCQF+DejaVu Serif"/>
                <a:cs typeface="ROGCQF+DejaVu Serif"/>
              </a:rPr>
              <a:t> </a:t>
            </a:r>
            <a:r>
              <a:rPr sz="2800" spc="-219" dirty="0">
                <a:solidFill>
                  <a:srgbClr val="000000"/>
                </a:solidFill>
                <a:latin typeface="ROGCQF+DejaVu Serif"/>
                <a:cs typeface="ROGCQF+DejaVu Serif"/>
              </a:rPr>
              <a:t>30</a:t>
            </a:r>
            <a:r>
              <a:rPr sz="2800" spc="4985" dirty="0">
                <a:solidFill>
                  <a:srgbClr val="000000"/>
                </a:solidFill>
                <a:latin typeface="ROGCQF+DejaVu Serif"/>
                <a:cs typeface="ROGCQF+DejaVu Serif"/>
              </a:rPr>
              <a:t> </a:t>
            </a:r>
            <a:r>
              <a:rPr sz="2800" spc="-221" dirty="0">
                <a:solidFill>
                  <a:srgbClr val="000000"/>
                </a:solidFill>
                <a:latin typeface="ROGCQF+DejaVu Serif"/>
                <a:cs typeface="ROGCQF+DejaVu Serif"/>
              </a:rPr>
              <a:t>13</a:t>
            </a:r>
          </a:p>
          <a:p>
            <a:pPr marL="0" marR="0">
              <a:lnSpc>
                <a:spcPts val="3254"/>
              </a:lnSpc>
              <a:spcBef>
                <a:spcPts val="345"/>
              </a:spcBef>
              <a:spcAft>
                <a:spcPts val="0"/>
              </a:spcAft>
            </a:pPr>
            <a:r>
              <a:rPr sz="2800" spc="-221" dirty="0">
                <a:solidFill>
                  <a:srgbClr val="000000"/>
                </a:solidFill>
                <a:latin typeface="ROGCQF+DejaVu Serif"/>
                <a:cs typeface="ROGCQF+DejaVu Serif"/>
              </a:rPr>
              <a:t>30</a:t>
            </a:r>
            <a:r>
              <a:rPr sz="2800" spc="4992" dirty="0">
                <a:solidFill>
                  <a:srgbClr val="000000"/>
                </a:solidFill>
                <a:latin typeface="ROGCQF+DejaVu Serif"/>
                <a:cs typeface="ROGCQF+DejaVu Serif"/>
              </a:rPr>
              <a:t> </a:t>
            </a:r>
            <a:r>
              <a:rPr sz="2800" spc="-221" dirty="0">
                <a:solidFill>
                  <a:srgbClr val="000000"/>
                </a:solidFill>
                <a:latin typeface="ROGCQF+DejaVu Serif"/>
                <a:cs typeface="ROGCQF+DejaVu Serif"/>
              </a:rPr>
              <a:t>31</a:t>
            </a:r>
            <a:r>
              <a:rPr sz="2800" spc="4992" dirty="0">
                <a:solidFill>
                  <a:srgbClr val="000000"/>
                </a:solidFill>
                <a:latin typeface="ROGCQF+DejaVu Serif"/>
                <a:cs typeface="ROGCQF+DejaVu Serif"/>
              </a:rPr>
              <a:t> </a:t>
            </a:r>
            <a:r>
              <a:rPr sz="2800" spc="-219" dirty="0">
                <a:solidFill>
                  <a:srgbClr val="000000"/>
                </a:solidFill>
                <a:latin typeface="ROGCQF+DejaVu Serif"/>
                <a:cs typeface="ROGCQF+DejaVu Serif"/>
              </a:rPr>
              <a:t>26</a:t>
            </a:r>
            <a:r>
              <a:rPr sz="2800" spc="4985" dirty="0">
                <a:solidFill>
                  <a:srgbClr val="000000"/>
                </a:solidFill>
                <a:latin typeface="ROGCQF+DejaVu Serif"/>
                <a:cs typeface="ROGCQF+DejaVu Serif"/>
              </a:rPr>
              <a:t> </a:t>
            </a:r>
            <a:r>
              <a:rPr sz="2800" spc="-221" dirty="0">
                <a:solidFill>
                  <a:srgbClr val="000000"/>
                </a:solidFill>
                <a:latin typeface="ROGCQF+DejaVu Serif"/>
                <a:cs typeface="ROGCQF+DejaVu Serif"/>
              </a:rPr>
              <a:t>41</a:t>
            </a:r>
          </a:p>
          <a:p>
            <a:pPr marL="0" marR="0">
              <a:lnSpc>
                <a:spcPts val="3254"/>
              </a:lnSpc>
              <a:spcBef>
                <a:spcPts val="345"/>
              </a:spcBef>
              <a:spcAft>
                <a:spcPts val="0"/>
              </a:spcAft>
            </a:pPr>
            <a:r>
              <a:rPr sz="2800" spc="-221" dirty="0">
                <a:solidFill>
                  <a:srgbClr val="000000"/>
                </a:solidFill>
                <a:latin typeface="ROGCQF+DejaVu Serif"/>
                <a:cs typeface="ROGCQF+DejaVu Serif"/>
              </a:rPr>
              <a:t>13</a:t>
            </a:r>
            <a:r>
              <a:rPr sz="2800" spc="4992" dirty="0">
                <a:solidFill>
                  <a:srgbClr val="000000"/>
                </a:solidFill>
                <a:latin typeface="ROGCQF+DejaVu Serif"/>
                <a:cs typeface="ROGCQF+DejaVu Serif"/>
              </a:rPr>
              <a:t> </a:t>
            </a:r>
            <a:r>
              <a:rPr sz="2800" spc="-221" dirty="0">
                <a:solidFill>
                  <a:srgbClr val="000000"/>
                </a:solidFill>
                <a:latin typeface="ROGCQF+DejaVu Serif"/>
                <a:cs typeface="ROGCQF+DejaVu Serif"/>
              </a:rPr>
              <a:t>03</a:t>
            </a:r>
            <a:r>
              <a:rPr sz="2800" spc="4992" dirty="0">
                <a:solidFill>
                  <a:srgbClr val="000000"/>
                </a:solidFill>
                <a:latin typeface="ROGCQF+DejaVu Serif"/>
                <a:cs typeface="ROGCQF+DejaVu Serif"/>
              </a:rPr>
              <a:t> </a:t>
            </a:r>
            <a:r>
              <a:rPr sz="2800" spc="-219" dirty="0">
                <a:solidFill>
                  <a:srgbClr val="000000"/>
                </a:solidFill>
                <a:latin typeface="ROGCQF+DejaVu Serif"/>
                <a:cs typeface="ROGCQF+DejaVu Serif"/>
              </a:rPr>
              <a:t>41</a:t>
            </a:r>
            <a:r>
              <a:rPr sz="2800" spc="4985" dirty="0">
                <a:solidFill>
                  <a:srgbClr val="000000"/>
                </a:solidFill>
                <a:latin typeface="ROGCQF+DejaVu Serif"/>
                <a:cs typeface="ROGCQF+DejaVu Serif"/>
              </a:rPr>
              <a:t> </a:t>
            </a:r>
            <a:r>
              <a:rPr sz="2800" spc="-221" dirty="0">
                <a:solidFill>
                  <a:srgbClr val="000000"/>
                </a:solidFill>
                <a:latin typeface="ROGCQF+DejaVu Serif"/>
                <a:cs typeface="ROGCQF+DejaVu Serif"/>
              </a:rPr>
              <a:t>15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158544" y="5093204"/>
            <a:ext cx="7316207" cy="9997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729"/>
              </a:lnSpc>
              <a:spcBef>
                <a:spcPts val="0"/>
              </a:spcBef>
              <a:spcAft>
                <a:spcPts val="0"/>
              </a:spcAft>
            </a:pPr>
            <a:r>
              <a:rPr sz="3200" spc="-288" dirty="0">
                <a:solidFill>
                  <a:srgbClr val="FF0000"/>
                </a:solidFill>
                <a:latin typeface="ROGCQF+DejaVu Serif"/>
                <a:cs typeface="ROGCQF+DejaVu Serif"/>
              </a:rPr>
              <a:t>Find</a:t>
            </a:r>
            <a:r>
              <a:rPr sz="3200" spc="-105" dirty="0">
                <a:solidFill>
                  <a:srgbClr val="FF0000"/>
                </a:solidFill>
                <a:latin typeface="ROGCQF+DejaVu Serif"/>
                <a:cs typeface="ROGCQF+DejaVu Serif"/>
              </a:rPr>
              <a:t> </a:t>
            </a:r>
            <a:r>
              <a:rPr sz="3200" spc="-228" dirty="0">
                <a:solidFill>
                  <a:srgbClr val="FF0000"/>
                </a:solidFill>
                <a:latin typeface="ROGCQF+DejaVu Serif"/>
                <a:cs typeface="ROGCQF+DejaVu Serif"/>
              </a:rPr>
              <a:t>the</a:t>
            </a:r>
            <a:r>
              <a:rPr sz="3200" spc="-36" dirty="0">
                <a:solidFill>
                  <a:srgbClr val="FF0000"/>
                </a:solidFill>
                <a:latin typeface="ROGCQF+DejaVu Serif"/>
                <a:cs typeface="ROGCQF+DejaVu Serif"/>
              </a:rPr>
              <a:t> </a:t>
            </a:r>
            <a:r>
              <a:rPr sz="3200" spc="-188" dirty="0">
                <a:solidFill>
                  <a:srgbClr val="FF0000"/>
                </a:solidFill>
                <a:latin typeface="ROGCQF+DejaVu Serif"/>
                <a:cs typeface="ROGCQF+DejaVu Serif"/>
              </a:rPr>
              <a:t>average</a:t>
            </a:r>
            <a:r>
              <a:rPr sz="3200" spc="-70" dirty="0">
                <a:solidFill>
                  <a:srgbClr val="FF0000"/>
                </a:solidFill>
                <a:latin typeface="ROGCQF+DejaVu Serif"/>
                <a:cs typeface="ROGCQF+DejaVu Serif"/>
              </a:rPr>
              <a:t> </a:t>
            </a:r>
            <a:r>
              <a:rPr sz="3200" spc="-241" dirty="0">
                <a:solidFill>
                  <a:srgbClr val="FF0000"/>
                </a:solidFill>
                <a:latin typeface="ROGCQF+DejaVu Serif"/>
                <a:cs typeface="ROGCQF+DejaVu Serif"/>
              </a:rPr>
              <a:t>mark</a:t>
            </a:r>
            <a:r>
              <a:rPr sz="3200" spc="-483" dirty="0">
                <a:solidFill>
                  <a:srgbClr val="FF0000"/>
                </a:solidFill>
                <a:latin typeface="ROGCQF+DejaVu Serif"/>
                <a:cs typeface="ROGCQF+DejaVu Serif"/>
              </a:rPr>
              <a:t> </a:t>
            </a:r>
            <a:r>
              <a:rPr sz="3200" spc="-158" dirty="0">
                <a:solidFill>
                  <a:srgbClr val="FF0000"/>
                </a:solidFill>
                <a:latin typeface="ROGCQF+DejaVu Serif"/>
                <a:cs typeface="ROGCQF+DejaVu Serif"/>
              </a:rPr>
              <a:t>scored</a:t>
            </a:r>
            <a:r>
              <a:rPr sz="3200" spc="-426" dirty="0">
                <a:solidFill>
                  <a:srgbClr val="FF0000"/>
                </a:solidFill>
                <a:latin typeface="ROGCQF+DejaVu Serif"/>
                <a:cs typeface="ROGCQF+DejaVu Serif"/>
              </a:rPr>
              <a:t> </a:t>
            </a:r>
            <a:r>
              <a:rPr sz="3200" spc="-134" dirty="0">
                <a:solidFill>
                  <a:srgbClr val="FF0000"/>
                </a:solidFill>
                <a:latin typeface="ROGCQF+DejaVu Serif"/>
                <a:cs typeface="ROGCQF+DejaVu Serif"/>
              </a:rPr>
              <a:t>by</a:t>
            </a:r>
            <a:r>
              <a:rPr sz="3200" spc="-199" dirty="0">
                <a:solidFill>
                  <a:srgbClr val="FF0000"/>
                </a:solidFill>
                <a:latin typeface="ROGCQF+DejaVu Serif"/>
                <a:cs typeface="ROGCQF+DejaVu Serif"/>
              </a:rPr>
              <a:t> </a:t>
            </a:r>
            <a:r>
              <a:rPr sz="3200" spc="-147" dirty="0">
                <a:solidFill>
                  <a:srgbClr val="FF0000"/>
                </a:solidFill>
                <a:latin typeface="ROGCQF+DejaVu Serif"/>
                <a:cs typeface="ROGCQF+DejaVu Serif"/>
              </a:rPr>
              <a:t>each</a:t>
            </a:r>
          </a:p>
          <a:p>
            <a:pPr marL="0" marR="0">
              <a:lnSpc>
                <a:spcPts val="3732"/>
              </a:lnSpc>
              <a:spcBef>
                <a:spcPts val="160"/>
              </a:spcBef>
              <a:spcAft>
                <a:spcPts val="0"/>
              </a:spcAft>
            </a:pPr>
            <a:r>
              <a:rPr sz="3200" dirty="0">
                <a:solidFill>
                  <a:srgbClr val="FF0000"/>
                </a:solidFill>
                <a:latin typeface="ROGCQF+DejaVu Serif"/>
                <a:cs typeface="ROGCQF+DejaVu Serif"/>
              </a:rPr>
              <a:t>s</a:t>
            </a:r>
            <a:r>
              <a:rPr sz="3200" spc="-1056" dirty="0">
                <a:solidFill>
                  <a:srgbClr val="FF0000"/>
                </a:solidFill>
                <a:latin typeface="ROGCQF+DejaVu Serif"/>
                <a:cs typeface="ROGCQF+DejaVu Serif"/>
              </a:rPr>
              <a:t> </a:t>
            </a:r>
            <a:r>
              <a:rPr sz="3200" spc="-238" dirty="0">
                <a:solidFill>
                  <a:srgbClr val="FF0000"/>
                </a:solidFill>
                <a:latin typeface="ROGCQF+DejaVu Serif"/>
                <a:cs typeface="ROGCQF+DejaVu Serif"/>
              </a:rPr>
              <a:t>tude</a:t>
            </a:r>
            <a:r>
              <a:rPr sz="3200" spc="-1128" dirty="0">
                <a:solidFill>
                  <a:srgbClr val="FF0000"/>
                </a:solidFill>
                <a:latin typeface="ROGCQF+DejaVu Serif"/>
                <a:cs typeface="ROGCQF+DejaVu Serif"/>
              </a:rPr>
              <a:t> </a:t>
            </a:r>
            <a:r>
              <a:rPr sz="3200" spc="-229" dirty="0">
                <a:solidFill>
                  <a:srgbClr val="FF0000"/>
                </a:solidFill>
                <a:latin typeface="ROGCQF+DejaVu Serif"/>
                <a:cs typeface="ROGCQF+DejaVu Serif"/>
              </a:rPr>
              <a:t>nt?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48640" y="826623"/>
            <a:ext cx="2147175" cy="9431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7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#include&lt;stdio.h&gt;</a:t>
            </a:r>
          </a:p>
          <a:p>
            <a:pPr marL="0" marR="0">
              <a:lnSpc>
                <a:spcPts val="2278"/>
              </a:lnSpc>
              <a:spcBef>
                <a:spcPts val="145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#define ROW</a:t>
            </a:r>
            <a:r>
              <a:rPr sz="1900" spc="535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5</a:t>
            </a:r>
          </a:p>
          <a:p>
            <a:pPr marL="0" marR="0">
              <a:lnSpc>
                <a:spcPts val="2278"/>
              </a:lnSpc>
              <a:spcBef>
                <a:spcPts val="145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#define COL</a:t>
            </a:r>
            <a:r>
              <a:rPr sz="1900" spc="16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4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8640" y="2058396"/>
            <a:ext cx="1733491" cy="6352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7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int main(void)</a:t>
            </a:r>
          </a:p>
          <a:p>
            <a:pPr marL="0" marR="0">
              <a:lnSpc>
                <a:spcPts val="2278"/>
              </a:lnSpc>
              <a:spcBef>
                <a:spcPts val="145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{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82344" y="2674092"/>
            <a:ext cx="1540113" cy="6356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7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int i, j;</a:t>
            </a:r>
          </a:p>
          <a:p>
            <a:pPr marL="0" marR="0">
              <a:lnSpc>
                <a:spcPts val="2281"/>
              </a:lnSpc>
              <a:spcBef>
                <a:spcPts val="145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double total;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82344" y="3290042"/>
            <a:ext cx="6544865" cy="327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7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int marks[ROW][COL]=</a:t>
            </a:r>
            <a:r>
              <a:rPr sz="1900" spc="25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{</a:t>
            </a:r>
            <a:r>
              <a:rPr sz="1900" spc="1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10,</a:t>
            </a:r>
            <a:r>
              <a:rPr sz="1900" spc="12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23, 31,</a:t>
            </a:r>
            <a:r>
              <a:rPr sz="1900" spc="13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11, 20,</a:t>
            </a:r>
            <a:r>
              <a:rPr sz="1900" spc="1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43,</a:t>
            </a:r>
            <a:r>
              <a:rPr sz="1900" spc="13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21, 21,12,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48640" y="3521690"/>
            <a:ext cx="4603212" cy="327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7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22,</a:t>
            </a:r>
            <a:r>
              <a:rPr sz="1900" spc="15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30, 13,</a:t>
            </a:r>
            <a:r>
              <a:rPr sz="1900" spc="13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30, 31,</a:t>
            </a:r>
            <a:r>
              <a:rPr sz="1900" spc="16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26,</a:t>
            </a:r>
            <a:r>
              <a:rPr sz="1900" spc="13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41,13,</a:t>
            </a:r>
            <a:r>
              <a:rPr sz="1900" spc="13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03,</a:t>
            </a:r>
            <a:r>
              <a:rPr sz="1900" spc="13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41, 15</a:t>
            </a:r>
            <a:r>
              <a:rPr sz="1900" spc="12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};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082344" y="3829538"/>
            <a:ext cx="2767809" cy="6352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7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for(i = 0; i &lt; ROW ; i++)</a:t>
            </a:r>
          </a:p>
          <a:p>
            <a:pPr marL="0" marR="0">
              <a:lnSpc>
                <a:spcPts val="2278"/>
              </a:lnSpc>
              <a:spcBef>
                <a:spcPts val="145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{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481582" y="4445315"/>
            <a:ext cx="5950556" cy="12512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1355" marR="0">
              <a:lnSpc>
                <a:spcPts val="2281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total</a:t>
            </a:r>
            <a:r>
              <a:rPr sz="1900" spc="28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=</a:t>
            </a:r>
            <a:r>
              <a:rPr sz="1900" spc="-1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0.0;</a:t>
            </a:r>
          </a:p>
          <a:p>
            <a:pPr marL="134111" marR="0">
              <a:lnSpc>
                <a:spcPts val="2278"/>
              </a:lnSpc>
              <a:spcBef>
                <a:spcPts val="145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for (j=0; j&lt;COL; j++)</a:t>
            </a:r>
          </a:p>
          <a:p>
            <a:pPr marL="896112" marR="0">
              <a:lnSpc>
                <a:spcPts val="2278"/>
              </a:lnSpc>
              <a:spcBef>
                <a:spcPts val="145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total+=marks[i][j];</a:t>
            </a:r>
          </a:p>
          <a:p>
            <a:pPr marL="0" marR="0">
              <a:lnSpc>
                <a:spcPts val="2278"/>
              </a:lnSpc>
              <a:spcBef>
                <a:spcPts val="195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printf("Average</a:t>
            </a:r>
            <a:r>
              <a:rPr sz="1900" spc="562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of student %d is %f\n", i, total/4.0);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082344" y="5676961"/>
            <a:ext cx="232687" cy="3278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81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}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48640" y="5985109"/>
            <a:ext cx="232585" cy="327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7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}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48640" y="462943"/>
            <a:ext cx="5532788" cy="4884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46"/>
              </a:lnSpc>
              <a:spcBef>
                <a:spcPts val="0"/>
              </a:spcBef>
              <a:spcAft>
                <a:spcPts val="0"/>
              </a:spcAft>
            </a:pPr>
            <a:r>
              <a:rPr sz="3000" b="1" dirty="0">
                <a:solidFill>
                  <a:srgbClr val="575F6D"/>
                </a:solidFill>
                <a:latin typeface="GCKEMB+Century Schoolbook Bold"/>
                <a:cs typeface="GCKEMB+Century Schoolbook Bold"/>
              </a:rPr>
              <a:t>I</a:t>
            </a:r>
            <a:r>
              <a:rPr sz="2400" b="1" dirty="0">
                <a:solidFill>
                  <a:srgbClr val="575F6D"/>
                </a:solidFill>
                <a:latin typeface="GCKEMB+Century Schoolbook Bold"/>
                <a:cs typeface="GCKEMB+Century Schoolbook Bold"/>
              </a:rPr>
              <a:t>NITIALIZATION</a:t>
            </a:r>
            <a:r>
              <a:rPr sz="2400" b="1" spc="182" dirty="0">
                <a:solidFill>
                  <a:srgbClr val="575F6D"/>
                </a:solidFill>
                <a:latin typeface="GCKEMB+Century Schoolbook Bold"/>
                <a:cs typeface="GCKEMB+Century Schoolbook Bold"/>
              </a:rPr>
              <a:t> </a:t>
            </a:r>
            <a:r>
              <a:rPr sz="2400" b="1" dirty="0">
                <a:solidFill>
                  <a:srgbClr val="575F6D"/>
                </a:solidFill>
                <a:latin typeface="GCKEMB+Century Schoolbook Bold"/>
                <a:cs typeface="GCKEMB+Century Schoolbook Bold"/>
              </a:rPr>
              <a:t>OF</a:t>
            </a:r>
            <a:r>
              <a:rPr sz="2400" b="1" spc="177" dirty="0">
                <a:solidFill>
                  <a:srgbClr val="575F6D"/>
                </a:solidFill>
                <a:latin typeface="GCKEMB+Century Schoolbook Bold"/>
                <a:cs typeface="GCKEMB+Century Schoolbook Bold"/>
              </a:rPr>
              <a:t> </a:t>
            </a:r>
            <a:r>
              <a:rPr sz="3000" b="1" dirty="0">
                <a:solidFill>
                  <a:srgbClr val="575F6D"/>
                </a:solidFill>
                <a:latin typeface="GCKEMB+Century Schoolbook Bold"/>
                <a:cs typeface="GCKEMB+Century Schoolbook Bold"/>
              </a:rPr>
              <a:t>2D A</a:t>
            </a:r>
            <a:r>
              <a:rPr sz="2400" b="1" dirty="0">
                <a:solidFill>
                  <a:srgbClr val="575F6D"/>
                </a:solidFill>
                <a:latin typeface="GCKEMB+Century Schoolbook Bold"/>
                <a:cs typeface="GCKEMB+Century Schoolbook Bold"/>
              </a:rPr>
              <a:t>RRAY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8640" y="1645998"/>
            <a:ext cx="7353977" cy="4047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886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FE8637"/>
                </a:solidFill>
                <a:latin typeface="GSODNI+Wingdings"/>
                <a:cs typeface="GSODNI+Wingdings"/>
              </a:rPr>
              <a:t></a:t>
            </a:r>
            <a:r>
              <a:rPr sz="1700" spc="259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int</a:t>
            </a:r>
            <a:r>
              <a:rPr sz="2400" spc="-12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disp[2][4]</a:t>
            </a:r>
            <a:r>
              <a:rPr sz="2400" spc="-3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= { {10, 11, 12, 13}, {14, 15,</a:t>
            </a:r>
            <a:r>
              <a:rPr sz="2400" spc="13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16, 17}</a:t>
            </a:r>
            <a:r>
              <a:rPr sz="2400" spc="13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};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48640" y="2530219"/>
            <a:ext cx="883056" cy="4043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883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FE8637"/>
                </a:solidFill>
                <a:latin typeface="GSODNI+Wingdings"/>
                <a:cs typeface="GSODNI+Wingdings"/>
              </a:rPr>
              <a:t></a:t>
            </a:r>
            <a:r>
              <a:rPr sz="1700" spc="259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OR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48640" y="3414393"/>
            <a:ext cx="6861657" cy="4043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883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FE8637"/>
                </a:solidFill>
                <a:latin typeface="GSODNI+Wingdings"/>
                <a:cs typeface="GSODNI+Wingdings"/>
              </a:rPr>
              <a:t></a:t>
            </a:r>
            <a:r>
              <a:rPr sz="1700" spc="259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int disp[2][4]</a:t>
            </a:r>
            <a:r>
              <a:rPr sz="2400" spc="-29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= { 10, 11, 12,</a:t>
            </a:r>
            <a:r>
              <a:rPr sz="2400" spc="13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13, 14, 15,</a:t>
            </a:r>
            <a:r>
              <a:rPr sz="2400" spc="12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16, 17};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48640" y="4298394"/>
            <a:ext cx="3792769" cy="4047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886"/>
              </a:lnSpc>
              <a:spcBef>
                <a:spcPts val="0"/>
              </a:spcBef>
              <a:spcAft>
                <a:spcPts val="0"/>
              </a:spcAft>
            </a:pPr>
            <a:r>
              <a:rPr sz="2550" baseline="-31090" dirty="0">
                <a:solidFill>
                  <a:srgbClr val="FE8637"/>
                </a:solidFill>
                <a:latin typeface="GSODNI+Wingdings"/>
                <a:cs typeface="GSODNI+Wingdings"/>
              </a:rPr>
              <a:t></a:t>
            </a:r>
            <a:r>
              <a:rPr sz="2550" spc="259" baseline="-31090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3600" baseline="-3109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1</a:t>
            </a:r>
            <a:r>
              <a:rPr sz="16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st</a:t>
            </a:r>
            <a:r>
              <a:rPr sz="1600" spc="213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one</a:t>
            </a:r>
            <a:r>
              <a:rPr sz="2400" spc="-14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is recommended.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48640" y="143038"/>
            <a:ext cx="6943640" cy="8549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89"/>
              </a:lnSpc>
              <a:spcBef>
                <a:spcPts val="0"/>
              </a:spcBef>
              <a:spcAft>
                <a:spcPts val="0"/>
              </a:spcAft>
            </a:pPr>
            <a:r>
              <a:rPr sz="2700" b="1" dirty="0">
                <a:solidFill>
                  <a:srgbClr val="575F6D"/>
                </a:solidFill>
                <a:latin typeface="GCKEMB+Century Schoolbook Bold"/>
                <a:cs typeface="GCKEMB+Century Schoolbook Bold"/>
              </a:rPr>
              <a:t>T</a:t>
            </a:r>
            <a:r>
              <a:rPr sz="2150" b="1" dirty="0">
                <a:solidFill>
                  <a:srgbClr val="575F6D"/>
                </a:solidFill>
                <a:latin typeface="GCKEMB+Century Schoolbook Bold"/>
                <a:cs typeface="GCKEMB+Century Schoolbook Bold"/>
              </a:rPr>
              <a:t>HINGS</a:t>
            </a:r>
            <a:r>
              <a:rPr sz="2150" b="1" spc="153" dirty="0">
                <a:solidFill>
                  <a:srgbClr val="575F6D"/>
                </a:solidFill>
                <a:latin typeface="GCKEMB+Century Schoolbook Bold"/>
                <a:cs typeface="GCKEMB+Century Schoolbook Bold"/>
              </a:rPr>
              <a:t> </a:t>
            </a:r>
            <a:r>
              <a:rPr sz="2150" b="1" spc="11" dirty="0">
                <a:solidFill>
                  <a:srgbClr val="575F6D"/>
                </a:solidFill>
                <a:latin typeface="GCKEMB+Century Schoolbook Bold"/>
                <a:cs typeface="GCKEMB+Century Schoolbook Bold"/>
              </a:rPr>
              <a:t>THAT</a:t>
            </a:r>
            <a:r>
              <a:rPr sz="2150" b="1" spc="152" dirty="0">
                <a:solidFill>
                  <a:srgbClr val="575F6D"/>
                </a:solidFill>
                <a:latin typeface="GCKEMB+Century Schoolbook Bold"/>
                <a:cs typeface="GCKEMB+Century Schoolbook Bold"/>
              </a:rPr>
              <a:t> </a:t>
            </a:r>
            <a:r>
              <a:rPr sz="2150" b="1" dirty="0">
                <a:solidFill>
                  <a:srgbClr val="575F6D"/>
                </a:solidFill>
                <a:latin typeface="GCKEMB+Century Schoolbook Bold"/>
                <a:cs typeface="GCKEMB+Century Schoolbook Bold"/>
              </a:rPr>
              <a:t>YOU</a:t>
            </a:r>
            <a:r>
              <a:rPr sz="2150" b="1" spc="164" dirty="0">
                <a:solidFill>
                  <a:srgbClr val="575F6D"/>
                </a:solidFill>
                <a:latin typeface="GCKEMB+Century Schoolbook Bold"/>
                <a:cs typeface="GCKEMB+Century Schoolbook Bold"/>
              </a:rPr>
              <a:t> </a:t>
            </a:r>
            <a:r>
              <a:rPr sz="2150" b="1" dirty="0">
                <a:solidFill>
                  <a:srgbClr val="575F6D"/>
                </a:solidFill>
                <a:latin typeface="GCKEMB+Century Schoolbook Bold"/>
                <a:cs typeface="GCKEMB+Century Schoolbook Bold"/>
              </a:rPr>
              <a:t>MUST</a:t>
            </a:r>
            <a:r>
              <a:rPr sz="2150" b="1" spc="169" dirty="0">
                <a:solidFill>
                  <a:srgbClr val="575F6D"/>
                </a:solidFill>
                <a:latin typeface="GCKEMB+Century Schoolbook Bold"/>
                <a:cs typeface="GCKEMB+Century Schoolbook Bold"/>
              </a:rPr>
              <a:t> </a:t>
            </a:r>
            <a:r>
              <a:rPr sz="2150" b="1" dirty="0">
                <a:solidFill>
                  <a:srgbClr val="575F6D"/>
                </a:solidFill>
                <a:latin typeface="GCKEMB+Century Schoolbook Bold"/>
                <a:cs typeface="GCKEMB+Century Schoolbook Bold"/>
              </a:rPr>
              <a:t>CONSIDER</a:t>
            </a:r>
            <a:r>
              <a:rPr sz="2150" b="1" spc="148" dirty="0">
                <a:solidFill>
                  <a:srgbClr val="575F6D"/>
                </a:solidFill>
                <a:latin typeface="GCKEMB+Century Schoolbook Bold"/>
                <a:cs typeface="GCKEMB+Century Schoolbook Bold"/>
              </a:rPr>
              <a:t> </a:t>
            </a:r>
            <a:r>
              <a:rPr sz="2150" b="1" spc="10" dirty="0">
                <a:solidFill>
                  <a:srgbClr val="575F6D"/>
                </a:solidFill>
                <a:latin typeface="GCKEMB+Century Schoolbook Bold"/>
                <a:cs typeface="GCKEMB+Century Schoolbook Bold"/>
              </a:rPr>
              <a:t>WHILE</a:t>
            </a:r>
          </a:p>
          <a:p>
            <a:pPr marL="0" marR="0">
              <a:lnSpc>
                <a:spcPts val="3189"/>
              </a:lnSpc>
              <a:spcBef>
                <a:spcPts val="3"/>
              </a:spcBef>
              <a:spcAft>
                <a:spcPts val="0"/>
              </a:spcAft>
            </a:pPr>
            <a:r>
              <a:rPr sz="2150" b="1" dirty="0">
                <a:solidFill>
                  <a:srgbClr val="575F6D"/>
                </a:solidFill>
                <a:latin typeface="GCKEMB+Century Schoolbook Bold"/>
                <a:cs typeface="GCKEMB+Century Schoolbook Bold"/>
              </a:rPr>
              <a:t>INITIALIZING</a:t>
            </a:r>
            <a:r>
              <a:rPr sz="2150" b="1" spc="174" dirty="0">
                <a:solidFill>
                  <a:srgbClr val="575F6D"/>
                </a:solidFill>
                <a:latin typeface="GCKEMB+Century Schoolbook Bold"/>
                <a:cs typeface="GCKEMB+Century Schoolbook Bold"/>
              </a:rPr>
              <a:t> </a:t>
            </a:r>
            <a:r>
              <a:rPr sz="2150" b="1" dirty="0">
                <a:solidFill>
                  <a:srgbClr val="575F6D"/>
                </a:solidFill>
                <a:latin typeface="GCKEMB+Century Schoolbook Bold"/>
                <a:cs typeface="GCKEMB+Century Schoolbook Bold"/>
              </a:rPr>
              <a:t>A</a:t>
            </a:r>
            <a:r>
              <a:rPr sz="2150" b="1" spc="163" dirty="0">
                <a:solidFill>
                  <a:srgbClr val="575F6D"/>
                </a:solidFill>
                <a:latin typeface="GCKEMB+Century Schoolbook Bold"/>
                <a:cs typeface="GCKEMB+Century Schoolbook Bold"/>
              </a:rPr>
              <a:t> </a:t>
            </a:r>
            <a:r>
              <a:rPr sz="2700" b="1" dirty="0">
                <a:solidFill>
                  <a:srgbClr val="575F6D"/>
                </a:solidFill>
                <a:latin typeface="GCKEMB+Century Schoolbook Bold"/>
                <a:cs typeface="GCKEMB+Century Schoolbook Bold"/>
              </a:rPr>
              <a:t>2D</a:t>
            </a:r>
            <a:r>
              <a:rPr sz="2700" b="1" spc="14" dirty="0">
                <a:solidFill>
                  <a:srgbClr val="575F6D"/>
                </a:solidFill>
                <a:latin typeface="GCKEMB+Century Schoolbook Bold"/>
                <a:cs typeface="GCKEMB+Century Schoolbook Bold"/>
              </a:rPr>
              <a:t> </a:t>
            </a:r>
            <a:r>
              <a:rPr sz="2150" b="1" spc="13" dirty="0">
                <a:solidFill>
                  <a:srgbClr val="575F6D"/>
                </a:solidFill>
                <a:latin typeface="GCKEMB+Century Schoolbook Bold"/>
                <a:cs typeface="GCKEMB+Century Schoolbook Bold"/>
              </a:rPr>
              <a:t>ARRAY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8640" y="1583945"/>
            <a:ext cx="7055850" cy="3442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11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FE8637"/>
                </a:solidFill>
                <a:latin typeface="GSODNI+Wingdings"/>
                <a:cs typeface="GSODNI+Wingdings"/>
              </a:rPr>
              <a:t></a:t>
            </a:r>
            <a:r>
              <a:rPr sz="1400" spc="604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We</a:t>
            </a:r>
            <a:r>
              <a:rPr sz="2000" spc="-15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already</a:t>
            </a:r>
            <a:r>
              <a:rPr sz="2000" spc="-36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know,</a:t>
            </a:r>
            <a:r>
              <a:rPr sz="2000" spc="-36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when</a:t>
            </a:r>
            <a:r>
              <a:rPr sz="2000" spc="-28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we</a:t>
            </a:r>
            <a:r>
              <a:rPr sz="2000" spc="-14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initialize</a:t>
            </a:r>
            <a:r>
              <a:rPr sz="2000" spc="-46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 normal</a:t>
            </a:r>
            <a:r>
              <a:rPr sz="2000" spc="-22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b="1" dirty="0">
                <a:solidFill>
                  <a:srgbClr val="000000"/>
                </a:solidFill>
                <a:latin typeface="GCKEMB+Century Schoolbook Bold"/>
                <a:cs typeface="GCKEMB+Century Schoolbook Bold"/>
              </a:rPr>
              <a:t>array</a:t>
            </a:r>
            <a:r>
              <a:rPr sz="2000" b="1" spc="-34" dirty="0">
                <a:solidFill>
                  <a:srgbClr val="000000"/>
                </a:solidFill>
                <a:latin typeface="GCKEMB+Century Schoolbook Bold"/>
                <a:cs typeface="GCKEMB+Century Schoolbook Bold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(or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22960" y="1828467"/>
            <a:ext cx="7005792" cy="3439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you</a:t>
            </a:r>
            <a:r>
              <a:rPr sz="2000" spc="-2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can</a:t>
            </a:r>
            <a:r>
              <a:rPr sz="2000" spc="-16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say one</a:t>
            </a:r>
            <a:r>
              <a:rPr sz="2000" spc="-23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dimensional</a:t>
            </a:r>
            <a:r>
              <a:rPr sz="2000" spc="-46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array)</a:t>
            </a:r>
            <a:r>
              <a:rPr sz="2000" spc="-23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during</a:t>
            </a:r>
            <a:r>
              <a:rPr sz="2000" spc="-23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declaration,</a:t>
            </a:r>
            <a:r>
              <a:rPr sz="2000" spc="-54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we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22960" y="2072306"/>
            <a:ext cx="6660733" cy="5877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OFJNAT+Century Schoolbook"/>
                <a:cs typeface="OFJNAT+Century Schoolbook"/>
              </a:rPr>
              <a:t>need</a:t>
            </a:r>
            <a:r>
              <a:rPr sz="2000" spc="-30" dirty="0">
                <a:solidFill>
                  <a:srgbClr val="000000"/>
                </a:solidFill>
                <a:latin typeface="OFJNAT+Century Schoolbook"/>
                <a:cs typeface="OFJNAT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OFJNAT+Century Schoolbook"/>
                <a:cs typeface="OFJNAT+Century Schoolbook"/>
              </a:rPr>
              <a:t>not</a:t>
            </a:r>
            <a:r>
              <a:rPr sz="2000" spc="-12" dirty="0">
                <a:solidFill>
                  <a:srgbClr val="000000"/>
                </a:solidFill>
                <a:latin typeface="OFJNAT+Century Schoolbook"/>
                <a:cs typeface="OFJNAT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OFJNAT+Century Schoolbook"/>
                <a:cs typeface="OFJNAT+Century Schoolbook"/>
              </a:rPr>
              <a:t>to</a:t>
            </a:r>
            <a:r>
              <a:rPr sz="2000" spc="-12" dirty="0">
                <a:solidFill>
                  <a:srgbClr val="000000"/>
                </a:solidFill>
                <a:latin typeface="OFJNAT+Century Schoolbook"/>
                <a:cs typeface="OFJNAT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OFJNAT+Century Schoolbook"/>
                <a:cs typeface="OFJNAT+Century Schoolbook"/>
              </a:rPr>
              <a:t>specify</a:t>
            </a:r>
            <a:r>
              <a:rPr sz="2000" spc="-35" dirty="0">
                <a:solidFill>
                  <a:srgbClr val="000000"/>
                </a:solidFill>
                <a:latin typeface="OFJNAT+Century Schoolbook"/>
                <a:cs typeface="OFJNAT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OFJNAT+Century Schoolbook"/>
                <a:cs typeface="OFJNAT+Century Schoolbook"/>
              </a:rPr>
              <a:t>the</a:t>
            </a:r>
            <a:r>
              <a:rPr sz="2000" spc="-11" dirty="0">
                <a:solidFill>
                  <a:srgbClr val="000000"/>
                </a:solidFill>
                <a:latin typeface="OFJNAT+Century Schoolbook"/>
                <a:cs typeface="OFJNAT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OFJNAT+Century Schoolbook"/>
                <a:cs typeface="OFJNAT+Century Schoolbook"/>
              </a:rPr>
              <a:t>size</a:t>
            </a:r>
            <a:r>
              <a:rPr sz="2000" spc="-24" dirty="0">
                <a:solidFill>
                  <a:srgbClr val="000000"/>
                </a:solidFill>
                <a:latin typeface="OFJNAT+Century Schoolbook"/>
                <a:cs typeface="OFJNAT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OFJNAT+Century Schoolbook"/>
                <a:cs typeface="OFJNAT+Century Schoolbook"/>
              </a:rPr>
              <a:t>of it.</a:t>
            </a:r>
            <a:r>
              <a:rPr sz="2000" spc="-26" dirty="0">
                <a:solidFill>
                  <a:srgbClr val="000000"/>
                </a:solidFill>
                <a:latin typeface="OFJNAT+Century Schoolbook"/>
                <a:cs typeface="OFJNAT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OFJNAT+Century Schoolbook"/>
                <a:cs typeface="OFJNAT+Century Schoolbook"/>
              </a:rPr>
              <a:t>However</a:t>
            </a:r>
            <a:r>
              <a:rPr sz="2000" spc="-45" dirty="0">
                <a:solidFill>
                  <a:srgbClr val="000000"/>
                </a:solidFill>
                <a:latin typeface="OFJNAT+Century Schoolbook"/>
                <a:cs typeface="OFJNAT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OFJNAT+Century Schoolbook"/>
                <a:cs typeface="OFJNAT+Century Schoolbook"/>
              </a:rPr>
              <a:t>that’s</a:t>
            </a:r>
            <a:r>
              <a:rPr sz="2000" spc="-18" dirty="0">
                <a:solidFill>
                  <a:srgbClr val="000000"/>
                </a:solidFill>
                <a:latin typeface="OFJNAT+Century Schoolbook"/>
                <a:cs typeface="OFJNAT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OFJNAT+Century Schoolbook"/>
                <a:cs typeface="OFJNAT+Century Schoolbook"/>
              </a:rPr>
              <a:t>not</a:t>
            </a:r>
            <a:r>
              <a:rPr sz="2000" spc="-12" dirty="0">
                <a:solidFill>
                  <a:srgbClr val="000000"/>
                </a:solidFill>
                <a:latin typeface="OFJNAT+Century Schoolbook"/>
                <a:cs typeface="OFJNAT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OFJNAT+Century Schoolbook"/>
                <a:cs typeface="OFJNAT+Century Schoolbook"/>
              </a:rPr>
              <a:t>the</a:t>
            </a:r>
          </a:p>
          <a:p>
            <a:pPr marL="0" marR="0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case</a:t>
            </a:r>
            <a:r>
              <a:rPr sz="2000" spc="-13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with</a:t>
            </a:r>
            <a:r>
              <a:rPr sz="2000" spc="-29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2D</a:t>
            </a:r>
            <a:r>
              <a:rPr sz="2000" spc="-23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array,</a:t>
            </a:r>
            <a:r>
              <a:rPr sz="2000" spc="-17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you</a:t>
            </a:r>
            <a:r>
              <a:rPr sz="2000" spc="-2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must</a:t>
            </a:r>
            <a:r>
              <a:rPr sz="2000" spc="-13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always</a:t>
            </a:r>
            <a:r>
              <a:rPr sz="2000" spc="-44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specify</a:t>
            </a:r>
            <a:r>
              <a:rPr sz="2000" spc="-35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the</a:t>
            </a:r>
            <a:r>
              <a:rPr sz="2000" spc="-1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second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22960" y="2559986"/>
            <a:ext cx="6829415" cy="3439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dimension</a:t>
            </a:r>
            <a:r>
              <a:rPr sz="2000" spc="-4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even</a:t>
            </a:r>
            <a:r>
              <a:rPr sz="2000" spc="-24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if</a:t>
            </a:r>
            <a:r>
              <a:rPr sz="2000" spc="-2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you</a:t>
            </a:r>
            <a:r>
              <a:rPr sz="2000" spc="-2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are</a:t>
            </a:r>
            <a:r>
              <a:rPr sz="2000" spc="-1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specifying</a:t>
            </a:r>
            <a:r>
              <a:rPr sz="2000" spc="-49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elements</a:t>
            </a:r>
            <a:r>
              <a:rPr sz="2000" spc="-44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during</a:t>
            </a:r>
            <a:r>
              <a:rPr sz="2000" spc="-23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the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22960" y="2803827"/>
            <a:ext cx="1548333" cy="3439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declaration.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48640" y="3444161"/>
            <a:ext cx="3360870" cy="13044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8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FE8637"/>
                </a:solidFill>
                <a:latin typeface="GSODNI+Wingdings"/>
                <a:cs typeface="GSODNI+Wingdings"/>
              </a:rPr>
              <a:t></a:t>
            </a:r>
            <a:r>
              <a:rPr sz="1400" spc="604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/*</a:t>
            </a:r>
            <a:r>
              <a:rPr sz="2000" spc="-14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Valid</a:t>
            </a:r>
            <a:r>
              <a:rPr sz="2000" spc="-42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declaration*/</a:t>
            </a:r>
          </a:p>
          <a:p>
            <a:pPr marL="0" marR="0">
              <a:lnSpc>
                <a:spcPts val="2408"/>
              </a:lnSpc>
              <a:spcBef>
                <a:spcPts val="111"/>
              </a:spcBef>
              <a:spcAft>
                <a:spcPts val="0"/>
              </a:spcAft>
            </a:pPr>
            <a:r>
              <a:rPr sz="1400" dirty="0">
                <a:solidFill>
                  <a:srgbClr val="FE8637"/>
                </a:solidFill>
                <a:latin typeface="GSODNI+Wingdings"/>
                <a:cs typeface="GSODNI+Wingdings"/>
              </a:rPr>
              <a:t></a:t>
            </a:r>
            <a:r>
              <a:rPr sz="1400" spc="604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int abc[2][2]</a:t>
            </a:r>
            <a:r>
              <a:rPr sz="2000" spc="-5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= {1,</a:t>
            </a:r>
            <a:r>
              <a:rPr sz="2000" spc="-23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2,</a:t>
            </a:r>
            <a:r>
              <a:rPr sz="2000" spc="-19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3</a:t>
            </a:r>
            <a:r>
              <a:rPr sz="2000" spc="-13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,4 }</a:t>
            </a:r>
          </a:p>
          <a:p>
            <a:pPr marL="0" marR="0">
              <a:lnSpc>
                <a:spcPts val="2408"/>
              </a:lnSpc>
              <a:spcBef>
                <a:spcPts val="111"/>
              </a:spcBef>
              <a:spcAft>
                <a:spcPts val="0"/>
              </a:spcAft>
            </a:pPr>
            <a:r>
              <a:rPr sz="1400" dirty="0">
                <a:solidFill>
                  <a:srgbClr val="FE8637"/>
                </a:solidFill>
                <a:latin typeface="GSODNI+Wingdings"/>
                <a:cs typeface="GSODNI+Wingdings"/>
              </a:rPr>
              <a:t></a:t>
            </a:r>
            <a:r>
              <a:rPr sz="1400" spc="604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/*</a:t>
            </a:r>
            <a:r>
              <a:rPr sz="2000" spc="-12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Valid</a:t>
            </a:r>
            <a:r>
              <a:rPr sz="2000" spc="-42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declaration*/</a:t>
            </a:r>
          </a:p>
          <a:p>
            <a:pPr marL="0" marR="0">
              <a:lnSpc>
                <a:spcPts val="2411"/>
              </a:lnSpc>
              <a:spcBef>
                <a:spcPts val="162"/>
              </a:spcBef>
              <a:spcAft>
                <a:spcPts val="0"/>
              </a:spcAft>
            </a:pPr>
            <a:r>
              <a:rPr sz="1400" dirty="0">
                <a:solidFill>
                  <a:srgbClr val="FE8637"/>
                </a:solidFill>
                <a:latin typeface="GSODNI+Wingdings"/>
                <a:cs typeface="GSODNI+Wingdings"/>
              </a:rPr>
              <a:t></a:t>
            </a:r>
            <a:r>
              <a:rPr sz="1400" spc="604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int</a:t>
            </a:r>
            <a:r>
              <a:rPr sz="2000" spc="-13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abc[][2]</a:t>
            </a:r>
            <a:r>
              <a:rPr sz="2000" spc="-48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= {1,</a:t>
            </a:r>
            <a:r>
              <a:rPr sz="2000" spc="-19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2,</a:t>
            </a:r>
            <a:r>
              <a:rPr sz="2000" spc="-23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3 </a:t>
            </a:r>
            <a:r>
              <a:rPr sz="2000" spc="-1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,4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}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48640" y="4724702"/>
            <a:ext cx="6022045" cy="3439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8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FE8637"/>
                </a:solidFill>
                <a:latin typeface="GSODNI+Wingdings"/>
                <a:cs typeface="GSODNI+Wingdings"/>
              </a:rPr>
              <a:t></a:t>
            </a:r>
            <a:r>
              <a:rPr sz="1400" spc="604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/*</a:t>
            </a:r>
            <a:r>
              <a:rPr sz="2000" spc="-12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Invalid</a:t>
            </a:r>
            <a:r>
              <a:rPr sz="2000" spc="-38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declaration</a:t>
            </a:r>
            <a:r>
              <a:rPr sz="2000" spc="-38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OFJNAT+Century Schoolbook"/>
                <a:cs typeface="OFJNAT+Century Schoolbook"/>
              </a:rPr>
              <a:t>–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you</a:t>
            </a:r>
            <a:r>
              <a:rPr sz="2000" spc="-2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must</a:t>
            </a:r>
            <a:r>
              <a:rPr sz="2000" spc="-13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specify</a:t>
            </a:r>
            <a:r>
              <a:rPr sz="2000" spc="-35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second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22960" y="4968541"/>
            <a:ext cx="1566657" cy="3439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dimension*/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48640" y="5288582"/>
            <a:ext cx="7117535" cy="9842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8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FE8637"/>
                </a:solidFill>
                <a:latin typeface="GSODNI+Wingdings"/>
                <a:cs typeface="GSODNI+Wingdings"/>
              </a:rPr>
              <a:t></a:t>
            </a:r>
            <a:r>
              <a:rPr sz="1400" spc="604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int abc[][]</a:t>
            </a:r>
            <a:r>
              <a:rPr sz="2000" spc="-45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=</a:t>
            </a:r>
            <a:r>
              <a:rPr sz="2000" spc="-16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{1,</a:t>
            </a:r>
            <a:r>
              <a:rPr sz="2000" spc="-23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2,</a:t>
            </a:r>
            <a:r>
              <a:rPr sz="2000" spc="-19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3 ,4 }</a:t>
            </a:r>
          </a:p>
          <a:p>
            <a:pPr marL="0" marR="0">
              <a:lnSpc>
                <a:spcPts val="2411"/>
              </a:lnSpc>
              <a:spcBef>
                <a:spcPts val="111"/>
              </a:spcBef>
              <a:spcAft>
                <a:spcPts val="0"/>
              </a:spcAft>
            </a:pPr>
            <a:r>
              <a:rPr sz="1400" dirty="0">
                <a:solidFill>
                  <a:srgbClr val="FE8637"/>
                </a:solidFill>
                <a:latin typeface="GSODNI+Wingdings"/>
                <a:cs typeface="GSODNI+Wingdings"/>
              </a:rPr>
              <a:t></a:t>
            </a:r>
            <a:r>
              <a:rPr sz="1400" spc="604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/*</a:t>
            </a:r>
            <a:r>
              <a:rPr sz="2000" spc="-13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Invalid</a:t>
            </a:r>
            <a:r>
              <a:rPr sz="2000" spc="-4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because</a:t>
            </a:r>
            <a:r>
              <a:rPr sz="2000" spc="-26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of</a:t>
            </a:r>
            <a:r>
              <a:rPr sz="2000" spc="-23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the</a:t>
            </a:r>
            <a:r>
              <a:rPr sz="2000" spc="-14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same reason</a:t>
            </a:r>
            <a:r>
              <a:rPr sz="2000" spc="535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mentioned</a:t>
            </a:r>
            <a:r>
              <a:rPr sz="2000" spc="-4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above*/</a:t>
            </a:r>
          </a:p>
          <a:p>
            <a:pPr marL="0" marR="0">
              <a:lnSpc>
                <a:spcPts val="2408"/>
              </a:lnSpc>
              <a:spcBef>
                <a:spcPts val="161"/>
              </a:spcBef>
              <a:spcAft>
                <a:spcPts val="0"/>
              </a:spcAft>
            </a:pPr>
            <a:r>
              <a:rPr sz="1400" dirty="0">
                <a:solidFill>
                  <a:srgbClr val="FE8637"/>
                </a:solidFill>
                <a:latin typeface="GSODNI+Wingdings"/>
                <a:cs typeface="GSODNI+Wingdings"/>
              </a:rPr>
              <a:t></a:t>
            </a:r>
            <a:r>
              <a:rPr sz="1400" spc="604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int abc[2][]</a:t>
            </a:r>
            <a:r>
              <a:rPr sz="2000" spc="-52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= {1,</a:t>
            </a:r>
            <a:r>
              <a:rPr sz="2000" spc="-23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2,</a:t>
            </a:r>
            <a:r>
              <a:rPr sz="2000" spc="-19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3 ,4 }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72440" y="654605"/>
            <a:ext cx="3402394" cy="3439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8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FE8637"/>
                </a:solidFill>
                <a:latin typeface="GSODNI+Wingdings"/>
                <a:cs typeface="GSODNI+Wingdings"/>
              </a:rPr>
              <a:t>.</a:t>
            </a:r>
            <a:r>
              <a:rPr sz="1400" spc="2654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For array</a:t>
            </a:r>
            <a:r>
              <a:rPr sz="2000" spc="-2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storing</a:t>
            </a:r>
            <a:r>
              <a:rPr sz="2000" spc="-23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string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29944" y="1401228"/>
            <a:ext cx="5858375" cy="267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300" dirty="0">
                <a:solidFill>
                  <a:srgbClr val="FE8637"/>
                </a:solidFill>
                <a:latin typeface="SNFKJM+Wingdings 2"/>
                <a:cs typeface="SNFKJM+Wingdings 2"/>
              </a:rPr>
              <a:t></a:t>
            </a:r>
            <a:r>
              <a:rPr sz="1300" spc="2593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1600" dirty="0">
                <a:solidFill>
                  <a:srgbClr val="1E09B7"/>
                </a:solidFill>
                <a:latin typeface="QPIEFM+Courier New"/>
                <a:cs typeface="QPIEFM+Courier New"/>
              </a:rPr>
              <a:t>char Name[6][10] =</a:t>
            </a:r>
            <a:r>
              <a:rPr sz="1600" spc="11" dirty="0">
                <a:solidFill>
                  <a:srgbClr val="1E09B7"/>
                </a:solidFill>
                <a:latin typeface="QPIEFM+Courier New"/>
                <a:cs typeface="QPIEFM+Courier New"/>
              </a:rPr>
              <a:t> </a:t>
            </a:r>
            <a:r>
              <a:rPr sz="1600" dirty="0">
                <a:solidFill>
                  <a:srgbClr val="1E09B7"/>
                </a:solidFill>
                <a:latin typeface="QPIEFM+Courier New"/>
                <a:cs typeface="QPIEFM+Courier New"/>
              </a:rPr>
              <a:t>{"Mr. Bean", "Mr. Bush",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387094" y="1645069"/>
            <a:ext cx="4911628" cy="267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1E09B7"/>
                </a:solidFill>
                <a:latin typeface="QPIEFM+Courier New"/>
                <a:cs typeface="QPIEFM+Courier New"/>
              </a:rPr>
              <a:t>"Nicole", "Kidman", "Arnold", "Jodie"};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72440" y="2334435"/>
            <a:ext cx="7385510" cy="3439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8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FE8637"/>
                </a:solidFill>
                <a:latin typeface="GSODNI+Wingdings"/>
                <a:cs typeface="GSODNI+Wingdings"/>
              </a:rPr>
              <a:t>.</a:t>
            </a:r>
            <a:r>
              <a:rPr sz="1400" spc="2654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Here,</a:t>
            </a:r>
            <a:r>
              <a:rPr sz="2000" spc="-35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we</a:t>
            </a:r>
            <a:r>
              <a:rPr sz="2000" spc="-26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can initialize</a:t>
            </a:r>
            <a:r>
              <a:rPr sz="2000" spc="-43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the</a:t>
            </a:r>
            <a:r>
              <a:rPr sz="2000" spc="-1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array</a:t>
            </a:r>
            <a:r>
              <a:rPr sz="2000" spc="-13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with</a:t>
            </a:r>
            <a:r>
              <a:rPr sz="2000" spc="-23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6 strings,</a:t>
            </a:r>
            <a:r>
              <a:rPr sz="2000" spc="-35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each</a:t>
            </a:r>
            <a:r>
              <a:rPr sz="2000" spc="-2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with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29944" y="2639235"/>
            <a:ext cx="3495891" cy="3439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maximum</a:t>
            </a:r>
            <a:r>
              <a:rPr sz="2000" spc="-34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9 characters</a:t>
            </a:r>
            <a:r>
              <a:rPr sz="2000" spc="-29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long.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72440" y="3020188"/>
            <a:ext cx="6949415" cy="953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11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FE8637"/>
                </a:solidFill>
                <a:latin typeface="GSODNI+Wingdings"/>
                <a:cs typeface="GSODNI+Wingdings"/>
              </a:rPr>
              <a:t>.</a:t>
            </a:r>
            <a:r>
              <a:rPr sz="1400" spc="2654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If</a:t>
            </a:r>
            <a:r>
              <a:rPr sz="2000" spc="-12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depicted</a:t>
            </a:r>
            <a:r>
              <a:rPr sz="2000" spc="-5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in</a:t>
            </a:r>
            <a:r>
              <a:rPr sz="2000" spc="-12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rows</a:t>
            </a:r>
            <a:r>
              <a:rPr sz="2000" spc="-2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and</a:t>
            </a:r>
            <a:r>
              <a:rPr sz="2000" spc="-16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columns</a:t>
            </a:r>
            <a:r>
              <a:rPr sz="2000" spc="-27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it</a:t>
            </a:r>
            <a:r>
              <a:rPr sz="2000" spc="-24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will</a:t>
            </a:r>
            <a:r>
              <a:rPr sz="2000" spc="-5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look</a:t>
            </a:r>
            <a:r>
              <a:rPr sz="2000" spc="-25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something</a:t>
            </a:r>
          </a:p>
          <a:p>
            <a:pPr marL="457504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like</a:t>
            </a:r>
            <a:r>
              <a:rPr sz="2000" spc="-37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the</a:t>
            </a:r>
            <a:r>
              <a:rPr sz="2000" spc="-1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following</a:t>
            </a:r>
            <a:r>
              <a:rPr sz="2000" spc="-35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and</a:t>
            </a:r>
            <a:r>
              <a:rPr sz="2000" spc="-13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can be</a:t>
            </a:r>
            <a:r>
              <a:rPr sz="2000" spc="-12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considered</a:t>
            </a:r>
            <a:r>
              <a:rPr sz="2000" spc="-4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as</a:t>
            </a:r>
            <a:r>
              <a:rPr sz="2000" spc="-18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contiguous</a:t>
            </a:r>
          </a:p>
          <a:p>
            <a:pPr marL="457504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arrangement</a:t>
            </a:r>
            <a:r>
              <a:rPr sz="2000" spc="-4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in the</a:t>
            </a:r>
            <a:r>
              <a:rPr sz="2000" spc="-1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memory.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48640" y="914334"/>
            <a:ext cx="2572605" cy="4959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04"/>
              </a:lnSpc>
              <a:spcBef>
                <a:spcPts val="0"/>
              </a:spcBef>
              <a:spcAft>
                <a:spcPts val="0"/>
              </a:spcAft>
            </a:pPr>
            <a:r>
              <a:rPr sz="3000" dirty="0">
                <a:solidFill>
                  <a:srgbClr val="575F6D"/>
                </a:solidFill>
                <a:latin typeface="HFBCCF+Century Schoolbook"/>
                <a:cs typeface="HFBCCF+Century Schoolbook"/>
              </a:rPr>
              <a:t>A</a:t>
            </a:r>
            <a:r>
              <a:rPr sz="2400" dirty="0">
                <a:solidFill>
                  <a:srgbClr val="575F6D"/>
                </a:solidFill>
                <a:latin typeface="HFBCCF+Century Schoolbook"/>
                <a:cs typeface="HFBCCF+Century Schoolbook"/>
              </a:rPr>
              <a:t>SSIGNMENTS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8640" y="1645998"/>
            <a:ext cx="4351623" cy="4047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886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FE8637"/>
                </a:solidFill>
                <a:latin typeface="GSODNI+Wingdings"/>
                <a:cs typeface="GSODNI+Wingdings"/>
              </a:rPr>
              <a:t></a:t>
            </a:r>
            <a:r>
              <a:rPr sz="1700" spc="259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Print Transpose</a:t>
            </a:r>
            <a:r>
              <a:rPr sz="2400" spc="-17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of a Matrix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48640" y="2530219"/>
            <a:ext cx="7380368" cy="4043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883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FE8637"/>
                </a:solidFill>
                <a:latin typeface="GSODNI+Wingdings"/>
                <a:cs typeface="GSODNI+Wingdings"/>
              </a:rPr>
              <a:t></a:t>
            </a:r>
            <a:r>
              <a:rPr sz="1700" spc="259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Add Two Matrix Using</a:t>
            </a:r>
            <a:r>
              <a:rPr sz="2400" spc="-22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Multi-dimensional</a:t>
            </a:r>
            <a:r>
              <a:rPr sz="2400" spc="-43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Arrays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48640" y="3414393"/>
            <a:ext cx="6662578" cy="4043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883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FE8637"/>
                </a:solidFill>
                <a:latin typeface="GSODNI+Wingdings"/>
                <a:cs typeface="GSODNI+Wingdings"/>
              </a:rPr>
              <a:t></a:t>
            </a:r>
            <a:r>
              <a:rPr sz="1700" spc="259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Multiply</a:t>
            </a:r>
            <a:r>
              <a:rPr sz="2400" spc="-3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to Matrix</a:t>
            </a:r>
            <a:r>
              <a:rPr sz="2400" spc="-12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Using</a:t>
            </a:r>
            <a:r>
              <a:rPr sz="2400" spc="-22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Multi-dimensional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21436" y="3780153"/>
            <a:ext cx="1117401" cy="4043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883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Arrays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48640" y="197863"/>
            <a:ext cx="2756318" cy="12885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883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#include</a:t>
            </a:r>
            <a:r>
              <a:rPr sz="2400" spc="-2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&lt;stdio.h&gt;</a:t>
            </a:r>
          </a:p>
          <a:p>
            <a:pPr marL="0" marR="0">
              <a:lnSpc>
                <a:spcPts val="2883"/>
              </a:lnSpc>
              <a:spcBef>
                <a:spcPts val="4028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void</a:t>
            </a:r>
            <a:r>
              <a:rPr sz="2400" spc="-1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main()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8640" y="1523998"/>
            <a:ext cx="253900" cy="4043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883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{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14704" y="1955131"/>
            <a:ext cx="5979572" cy="18950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3"/>
              </a:lnSpc>
              <a:spcBef>
                <a:spcPts val="0"/>
              </a:spcBef>
              <a:spcAft>
                <a:spcPts val="0"/>
              </a:spcAft>
            </a:pPr>
            <a:r>
              <a:rPr sz="21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static int array[10][10];</a:t>
            </a:r>
          </a:p>
          <a:p>
            <a:pPr marL="0" marR="0">
              <a:lnSpc>
                <a:spcPts val="2523"/>
              </a:lnSpc>
              <a:spcBef>
                <a:spcPts val="500"/>
              </a:spcBef>
              <a:spcAft>
                <a:spcPts val="0"/>
              </a:spcAft>
            </a:pPr>
            <a:r>
              <a:rPr sz="21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int i, j, m, n;</a:t>
            </a:r>
          </a:p>
          <a:p>
            <a:pPr marL="0" marR="0">
              <a:lnSpc>
                <a:spcPts val="2523"/>
              </a:lnSpc>
              <a:spcBef>
                <a:spcPts val="544"/>
              </a:spcBef>
              <a:spcAft>
                <a:spcPts val="0"/>
              </a:spcAft>
            </a:pPr>
            <a:r>
              <a:rPr sz="21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printf("Enter</a:t>
            </a:r>
            <a:r>
              <a:rPr sz="2100" spc="1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1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the order of the matrix </a:t>
            </a:r>
            <a:r>
              <a:rPr sz="2100" b="1" dirty="0">
                <a:solidFill>
                  <a:srgbClr val="000000"/>
                </a:solidFill>
                <a:latin typeface="GCKEMB+Century Schoolbook Bold"/>
                <a:cs typeface="GCKEMB+Century Schoolbook Bold"/>
              </a:rPr>
              <a:t>\n</a:t>
            </a:r>
            <a:r>
              <a:rPr sz="21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");</a:t>
            </a:r>
          </a:p>
          <a:p>
            <a:pPr marL="0" marR="0">
              <a:lnSpc>
                <a:spcPts val="2526"/>
              </a:lnSpc>
              <a:spcBef>
                <a:spcPts val="500"/>
              </a:spcBef>
              <a:spcAft>
                <a:spcPts val="0"/>
              </a:spcAft>
            </a:pPr>
            <a:r>
              <a:rPr sz="21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scanf("%d %d", &amp;m, &amp;n);</a:t>
            </a:r>
          </a:p>
          <a:p>
            <a:pPr marL="0" marR="0">
              <a:lnSpc>
                <a:spcPts val="2523"/>
              </a:lnSpc>
              <a:spcBef>
                <a:spcPts val="494"/>
              </a:spcBef>
              <a:spcAft>
                <a:spcPts val="0"/>
              </a:spcAft>
            </a:pPr>
            <a:r>
              <a:rPr sz="21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printf("Enter</a:t>
            </a:r>
            <a:r>
              <a:rPr sz="2100" spc="1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1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the</a:t>
            </a:r>
            <a:r>
              <a:rPr sz="2100" spc="19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1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coefiicients of the matrix</a:t>
            </a:r>
            <a:r>
              <a:rPr sz="2100" b="1" dirty="0">
                <a:solidFill>
                  <a:srgbClr val="000000"/>
                </a:solidFill>
                <a:latin typeface="GCKEMB+Century Schoolbook Bold"/>
                <a:cs typeface="GCKEMB+Century Schoolbook Bold"/>
              </a:rPr>
              <a:t>\n</a:t>
            </a:r>
            <a:r>
              <a:rPr sz="21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");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14704" y="3875625"/>
            <a:ext cx="3395840" cy="1345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3"/>
              </a:lnSpc>
              <a:spcBef>
                <a:spcPts val="0"/>
              </a:spcBef>
              <a:spcAft>
                <a:spcPts val="0"/>
              </a:spcAft>
            </a:pPr>
            <a:r>
              <a:rPr sz="21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for</a:t>
            </a:r>
            <a:r>
              <a:rPr sz="2100" spc="1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1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(i =</a:t>
            </a:r>
            <a:r>
              <a:rPr sz="2100" spc="15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1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0; i &lt; m; ++i){</a:t>
            </a:r>
          </a:p>
          <a:p>
            <a:pPr marL="365709" marR="0">
              <a:lnSpc>
                <a:spcPts val="2162"/>
              </a:lnSpc>
              <a:spcBef>
                <a:spcPts val="424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for (j = 0;</a:t>
            </a:r>
            <a:r>
              <a:rPr sz="1800" spc="1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8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j &lt; n; ++j){</a:t>
            </a:r>
          </a:p>
          <a:p>
            <a:pPr marL="640029" marR="0">
              <a:lnSpc>
                <a:spcPts val="2162"/>
              </a:lnSpc>
              <a:spcBef>
                <a:spcPts val="432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scanf("%d",</a:t>
            </a:r>
            <a:r>
              <a:rPr sz="1800" spc="2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8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&amp;array[i][j]);</a:t>
            </a:r>
          </a:p>
          <a:p>
            <a:pPr marL="365709" marR="0">
              <a:lnSpc>
                <a:spcPts val="2162"/>
              </a:lnSpc>
              <a:spcBef>
                <a:spcPts val="429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}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14704" y="5247606"/>
            <a:ext cx="241213" cy="358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3"/>
              </a:lnSpc>
              <a:spcBef>
                <a:spcPts val="0"/>
              </a:spcBef>
              <a:spcAft>
                <a:spcPts val="0"/>
              </a:spcAft>
            </a:pPr>
            <a:r>
              <a:rPr sz="21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}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14704" y="579051"/>
            <a:ext cx="4149171" cy="359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6"/>
              </a:lnSpc>
              <a:spcBef>
                <a:spcPts val="0"/>
              </a:spcBef>
              <a:spcAft>
                <a:spcPts val="0"/>
              </a:spcAft>
            </a:pPr>
            <a:r>
              <a:rPr sz="21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printf("The given matrix</a:t>
            </a:r>
            <a:r>
              <a:rPr sz="2100" spc="-24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1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is</a:t>
            </a:r>
            <a:r>
              <a:rPr sz="2100" spc="2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100" b="1" dirty="0">
                <a:solidFill>
                  <a:srgbClr val="000000"/>
                </a:solidFill>
                <a:latin typeface="GCKEMB+Century Schoolbook Bold"/>
                <a:cs typeface="GCKEMB+Century Schoolbook Bold"/>
              </a:rPr>
              <a:t>\n</a:t>
            </a:r>
            <a:r>
              <a:rPr sz="21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");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4704" y="964150"/>
            <a:ext cx="3332137" cy="1345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3"/>
              </a:lnSpc>
              <a:spcBef>
                <a:spcPts val="0"/>
              </a:spcBef>
              <a:spcAft>
                <a:spcPts val="0"/>
              </a:spcAft>
            </a:pPr>
            <a:r>
              <a:rPr sz="21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for (i =</a:t>
            </a:r>
            <a:r>
              <a:rPr sz="2100" spc="2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1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0; i &lt; m; ++i){</a:t>
            </a:r>
          </a:p>
          <a:p>
            <a:pPr marL="365709" marR="0">
              <a:lnSpc>
                <a:spcPts val="2162"/>
              </a:lnSpc>
              <a:spcBef>
                <a:spcPts val="424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for (j = 0;</a:t>
            </a:r>
            <a:r>
              <a:rPr sz="1800" spc="1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8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j &lt; n; ++j){</a:t>
            </a:r>
          </a:p>
          <a:p>
            <a:pPr marL="640029" marR="0">
              <a:lnSpc>
                <a:spcPts val="2162"/>
              </a:lnSpc>
              <a:spcBef>
                <a:spcPts val="429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printf(" %d", array[i][j]);</a:t>
            </a:r>
          </a:p>
          <a:p>
            <a:pPr marL="365709" marR="0">
              <a:lnSpc>
                <a:spcPts val="2162"/>
              </a:lnSpc>
              <a:spcBef>
                <a:spcPts val="432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}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280414" y="2326448"/>
            <a:ext cx="1450809" cy="3127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62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printf("</a:t>
            </a:r>
            <a:r>
              <a:rPr sz="1800" b="1" dirty="0">
                <a:solidFill>
                  <a:srgbClr val="000000"/>
                </a:solidFill>
                <a:latin typeface="GCKEMB+Century Schoolbook Bold"/>
                <a:cs typeface="GCKEMB+Century Schoolbook Bold"/>
              </a:rPr>
              <a:t>\n</a:t>
            </a:r>
            <a:r>
              <a:rPr sz="18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");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14704" y="2665315"/>
            <a:ext cx="241213" cy="358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3"/>
              </a:lnSpc>
              <a:spcBef>
                <a:spcPts val="0"/>
              </a:spcBef>
              <a:spcAft>
                <a:spcPts val="0"/>
              </a:spcAft>
            </a:pPr>
            <a:r>
              <a:rPr sz="21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}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14704" y="3048566"/>
            <a:ext cx="4504264" cy="359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6"/>
              </a:lnSpc>
              <a:spcBef>
                <a:spcPts val="0"/>
              </a:spcBef>
              <a:spcAft>
                <a:spcPts val="0"/>
              </a:spcAft>
            </a:pPr>
            <a:r>
              <a:rPr sz="21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printf("Transpose of matrix</a:t>
            </a:r>
            <a:r>
              <a:rPr sz="2100" spc="-12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1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is </a:t>
            </a:r>
            <a:r>
              <a:rPr sz="2100" b="1" dirty="0">
                <a:solidFill>
                  <a:srgbClr val="000000"/>
                </a:solidFill>
                <a:latin typeface="GCKEMB+Century Schoolbook Bold"/>
                <a:cs typeface="GCKEMB+Century Schoolbook Bold"/>
              </a:rPr>
              <a:t>\n</a:t>
            </a:r>
            <a:r>
              <a:rPr sz="21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");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14704" y="3433665"/>
            <a:ext cx="3332822" cy="13459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3"/>
              </a:lnSpc>
              <a:spcBef>
                <a:spcPts val="0"/>
              </a:spcBef>
              <a:spcAft>
                <a:spcPts val="0"/>
              </a:spcAft>
            </a:pPr>
            <a:r>
              <a:rPr sz="21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for (j = 0;</a:t>
            </a:r>
            <a:r>
              <a:rPr sz="2100" spc="1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1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j &lt;</a:t>
            </a:r>
            <a:r>
              <a:rPr sz="2100" spc="13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1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n; ++j){</a:t>
            </a:r>
          </a:p>
          <a:p>
            <a:pPr marL="365709" marR="0">
              <a:lnSpc>
                <a:spcPts val="2162"/>
              </a:lnSpc>
              <a:spcBef>
                <a:spcPts val="424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for (i = 0;</a:t>
            </a:r>
            <a:r>
              <a:rPr sz="1800" spc="1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8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i</a:t>
            </a:r>
            <a:r>
              <a:rPr sz="1800" spc="-1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8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&lt; m; ++i){</a:t>
            </a:r>
          </a:p>
          <a:p>
            <a:pPr marL="640029" marR="0">
              <a:lnSpc>
                <a:spcPts val="2162"/>
              </a:lnSpc>
              <a:spcBef>
                <a:spcPts val="429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printf(" %d", array[i][j]);</a:t>
            </a:r>
          </a:p>
          <a:p>
            <a:pPr marL="365709" marR="0">
              <a:lnSpc>
                <a:spcPts val="2165"/>
              </a:lnSpc>
              <a:spcBef>
                <a:spcPts val="429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}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280414" y="4795963"/>
            <a:ext cx="1450809" cy="3127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62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printf("</a:t>
            </a:r>
            <a:r>
              <a:rPr sz="1800" b="1" dirty="0">
                <a:solidFill>
                  <a:srgbClr val="000000"/>
                </a:solidFill>
                <a:latin typeface="GCKEMB+Century Schoolbook Bold"/>
                <a:cs typeface="GCKEMB+Century Schoolbook Bold"/>
              </a:rPr>
              <a:t>\n</a:t>
            </a:r>
            <a:r>
              <a:rPr sz="18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");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914704" y="5134830"/>
            <a:ext cx="241213" cy="358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3"/>
              </a:lnSpc>
              <a:spcBef>
                <a:spcPts val="0"/>
              </a:spcBef>
              <a:spcAft>
                <a:spcPts val="0"/>
              </a:spcAft>
            </a:pPr>
            <a:r>
              <a:rPr sz="21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}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48640" y="5530340"/>
            <a:ext cx="253900" cy="4043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883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}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48640" y="1612103"/>
            <a:ext cx="2541160" cy="11294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41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#include &lt;stdio.h&gt;</a:t>
            </a:r>
          </a:p>
          <a:p>
            <a:pPr marL="0" marR="0">
              <a:lnSpc>
                <a:spcPts val="2638"/>
              </a:lnSpc>
              <a:spcBef>
                <a:spcPts val="386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int main()</a:t>
            </a:r>
          </a:p>
          <a:p>
            <a:pPr marL="0" marR="0">
              <a:lnSpc>
                <a:spcPts val="2638"/>
              </a:lnSpc>
              <a:spcBef>
                <a:spcPts val="387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{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4704" y="2733528"/>
            <a:ext cx="6499261" cy="1601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7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int r,</a:t>
            </a:r>
            <a:r>
              <a:rPr sz="1900" spc="-1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c, a[100][100],</a:t>
            </a:r>
            <a:r>
              <a:rPr sz="1900" spc="38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b[100][100],</a:t>
            </a:r>
            <a:r>
              <a:rPr sz="1900" spc="5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sum[100][100],</a:t>
            </a:r>
            <a:r>
              <a:rPr sz="1900" spc="52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i, j;</a:t>
            </a:r>
          </a:p>
          <a:p>
            <a:pPr marL="0" marR="0">
              <a:lnSpc>
                <a:spcPts val="2281"/>
              </a:lnSpc>
              <a:spcBef>
                <a:spcPts val="229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printf("Enter number of rows</a:t>
            </a:r>
            <a:r>
              <a:rPr sz="1900" spc="-17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(between</a:t>
            </a:r>
            <a:r>
              <a:rPr sz="1900" spc="29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1</a:t>
            </a:r>
            <a:r>
              <a:rPr sz="1900" spc="1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and</a:t>
            </a:r>
            <a:r>
              <a:rPr sz="1900" spc="1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100):</a:t>
            </a:r>
            <a:r>
              <a:rPr sz="1900" spc="16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");</a:t>
            </a:r>
          </a:p>
          <a:p>
            <a:pPr marL="0" marR="0">
              <a:lnSpc>
                <a:spcPts val="2278"/>
              </a:lnSpc>
              <a:spcBef>
                <a:spcPts val="229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scanf("%d", &amp;r);</a:t>
            </a:r>
          </a:p>
          <a:p>
            <a:pPr marL="0" marR="0">
              <a:lnSpc>
                <a:spcPts val="2278"/>
              </a:lnSpc>
              <a:spcBef>
                <a:spcPts val="229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printf("Enter number of columns (between</a:t>
            </a:r>
            <a:r>
              <a:rPr sz="1900" spc="28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1 and 100):</a:t>
            </a:r>
            <a:r>
              <a:rPr sz="1900" spc="18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");</a:t>
            </a:r>
          </a:p>
          <a:p>
            <a:pPr marL="0" marR="0">
              <a:lnSpc>
                <a:spcPts val="2278"/>
              </a:lnSpc>
              <a:spcBef>
                <a:spcPts val="229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scanf("%d", &amp;c);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14704" y="4326443"/>
            <a:ext cx="5075045" cy="6462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81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printf("\nEnter</a:t>
            </a:r>
            <a:r>
              <a:rPr sz="1900" spc="1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elements of 1st matrix:\n");</a:t>
            </a:r>
          </a:p>
          <a:p>
            <a:pPr marL="0" marR="0">
              <a:lnSpc>
                <a:spcPts val="2278"/>
              </a:lnSpc>
              <a:spcBef>
                <a:spcPts val="229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for(i=0; i&lt;r;</a:t>
            </a:r>
            <a:r>
              <a:rPr sz="1900" spc="-13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++i)</a:t>
            </a:r>
            <a:r>
              <a:rPr sz="1900" spc="13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{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280414" y="4958858"/>
            <a:ext cx="1870763" cy="2981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47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for(j=0;</a:t>
            </a:r>
            <a:r>
              <a:rPr sz="1700" spc="-2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j&lt;c;</a:t>
            </a:r>
            <a:r>
              <a:rPr sz="1700" spc="-1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++j)</a:t>
            </a:r>
            <a:r>
              <a:rPr sz="1700" spc="-22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{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554734" y="5243846"/>
            <a:ext cx="4197332" cy="583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47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printf("Enter</a:t>
            </a:r>
            <a:r>
              <a:rPr sz="1700" spc="-16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element</a:t>
            </a:r>
            <a:r>
              <a:rPr sz="1700" spc="-36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a%d%d:</a:t>
            </a:r>
            <a:r>
              <a:rPr sz="1700" spc="-1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",i+1,j+1);</a:t>
            </a:r>
          </a:p>
          <a:p>
            <a:pPr marL="0" marR="0">
              <a:lnSpc>
                <a:spcPts val="2047"/>
              </a:lnSpc>
              <a:spcBef>
                <a:spcPts val="245"/>
              </a:spcBef>
              <a:spcAft>
                <a:spcPts val="0"/>
              </a:spcAft>
            </a:pP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scanf("%d",&amp;a[i][j]);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280414" y="5814076"/>
            <a:ext cx="224465" cy="2981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47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}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914704" y="6103981"/>
            <a:ext cx="232585" cy="327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7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}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14704" y="600899"/>
            <a:ext cx="4617732" cy="5871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62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printf("Enter elements</a:t>
            </a:r>
            <a:r>
              <a:rPr sz="1800" spc="1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8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of 2nd matrix:\n");</a:t>
            </a:r>
          </a:p>
          <a:p>
            <a:pPr marL="0" marR="0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for(i=0; i&lt;r;</a:t>
            </a:r>
            <a:r>
              <a:rPr sz="1800" spc="-15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8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++i)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80414" y="1148999"/>
            <a:ext cx="1672401" cy="2670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2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for(j=0;</a:t>
            </a:r>
            <a:r>
              <a:rPr sz="1500" spc="-2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5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j&lt;c; ++j) {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280414" y="1377599"/>
            <a:ext cx="4050442" cy="7246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319" marR="0">
              <a:lnSpc>
                <a:spcPts val="1802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printf("Enter element a%d%d:</a:t>
            </a:r>
            <a:r>
              <a:rPr sz="1500" spc="-2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5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",i+1, j+1);</a:t>
            </a:r>
          </a:p>
          <a:p>
            <a:pPr marL="274319" marR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scanf("%d",</a:t>
            </a:r>
            <a:r>
              <a:rPr sz="1500" spc="-19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5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&amp;b[i][j]);</a:t>
            </a:r>
          </a:p>
          <a:p>
            <a:pPr marL="0" marR="0">
              <a:lnSpc>
                <a:spcPts val="1802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}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14704" y="2064320"/>
            <a:ext cx="2589327" cy="3127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62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// Adding Two</a:t>
            </a:r>
            <a:r>
              <a:rPr sz="1800" spc="-12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8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matrices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14704" y="2338640"/>
            <a:ext cx="4323600" cy="27359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62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for(i=0;i&lt;r;++i)</a:t>
            </a:r>
          </a:p>
          <a:p>
            <a:pPr marL="365709" marR="0">
              <a:lnSpc>
                <a:spcPts val="1802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for(j=0;j&lt;c;++j)</a:t>
            </a:r>
            <a:r>
              <a:rPr sz="1500" spc="-16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5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{</a:t>
            </a:r>
          </a:p>
          <a:p>
            <a:pPr marL="640029" marR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sum[i][j]=a[i][j]+b[i][j];</a:t>
            </a:r>
          </a:p>
          <a:p>
            <a:pPr marL="365709" marR="0">
              <a:lnSpc>
                <a:spcPts val="1802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}</a:t>
            </a:r>
          </a:p>
          <a:p>
            <a:pPr marL="0" marR="0">
              <a:lnSpc>
                <a:spcPts val="2100"/>
              </a:lnSpc>
              <a:spcBef>
                <a:spcPts val="1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// Displaying the result</a:t>
            </a:r>
          </a:p>
          <a:p>
            <a:pPr marL="0" marR="0">
              <a:lnSpc>
                <a:spcPts val="2159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printf("\nSum of two matrix is: \n\n");</a:t>
            </a:r>
          </a:p>
          <a:p>
            <a:pPr marL="0" marR="0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for(i=0;i&lt;r;++i)</a:t>
            </a:r>
          </a:p>
          <a:p>
            <a:pPr marL="365709" marR="0">
              <a:lnSpc>
                <a:spcPts val="1802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for(j=0;j&lt;c;++j)</a:t>
            </a:r>
            <a:r>
              <a:rPr sz="1500" spc="-1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5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{</a:t>
            </a:r>
          </a:p>
          <a:p>
            <a:pPr marL="640029" marR="0">
              <a:lnSpc>
                <a:spcPts val="1802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printf("%d</a:t>
            </a:r>
            <a:r>
              <a:rPr sz="1500" spc="-1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5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",sum[i][j]);</a:t>
            </a:r>
          </a:p>
          <a:p>
            <a:pPr marL="640029" marR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if(j==c-1) { printf("\n\n"); }</a:t>
            </a:r>
          </a:p>
          <a:p>
            <a:pPr marL="365709" marR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}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48640" y="5050838"/>
            <a:ext cx="1197200" cy="6639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return</a:t>
            </a:r>
            <a:r>
              <a:rPr sz="2000" spc="-1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0;</a:t>
            </a:r>
          </a:p>
          <a:p>
            <a:pPr marL="0" marR="0">
              <a:lnSpc>
                <a:spcPts val="2408"/>
              </a:lnSpc>
              <a:spcBef>
                <a:spcPts val="111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}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48640" y="1645998"/>
            <a:ext cx="3028642" cy="8466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886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FE8637"/>
                </a:solidFill>
                <a:latin typeface="GSODNI+Wingdings"/>
                <a:cs typeface="GSODNI+Wingdings"/>
              </a:rPr>
              <a:t></a:t>
            </a:r>
            <a:r>
              <a:rPr sz="1700" spc="259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#include</a:t>
            </a:r>
            <a:r>
              <a:rPr sz="2400" spc="-22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&lt;stdio.h&gt;</a:t>
            </a:r>
          </a:p>
          <a:p>
            <a:pPr marL="0" marR="0">
              <a:lnSpc>
                <a:spcPts val="2883"/>
              </a:lnSpc>
              <a:spcBef>
                <a:spcPts val="595"/>
              </a:spcBef>
              <a:spcAft>
                <a:spcPts val="0"/>
              </a:spcAft>
            </a:pPr>
            <a:r>
              <a:rPr sz="1700" dirty="0">
                <a:solidFill>
                  <a:srgbClr val="FE8637"/>
                </a:solidFill>
                <a:latin typeface="GSODNI+Wingdings"/>
                <a:cs typeface="GSODNI+Wingdings"/>
              </a:rPr>
              <a:t></a:t>
            </a:r>
            <a:r>
              <a:rPr sz="1700" spc="259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int main()</a:t>
            </a:r>
            <a:r>
              <a:rPr sz="2400" spc="-14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{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6228" y="2517487"/>
            <a:ext cx="6979837" cy="358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3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FE8637"/>
                </a:solidFill>
                <a:latin typeface="SNFKJM+Wingdings 2"/>
                <a:cs typeface="SNFKJM+Wingdings 2"/>
              </a:rPr>
              <a:t></a:t>
            </a:r>
            <a:r>
              <a:rPr sz="1700" spc="832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21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int a[10][10],</a:t>
            </a:r>
            <a:r>
              <a:rPr sz="2100" spc="23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1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b[10][10], result[10][10],</a:t>
            </a:r>
            <a:r>
              <a:rPr sz="2100" spc="2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1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r1, c1, r2, c2, i,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89024" y="2837527"/>
            <a:ext cx="612946" cy="358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3"/>
              </a:lnSpc>
              <a:spcBef>
                <a:spcPts val="0"/>
              </a:spcBef>
              <a:spcAft>
                <a:spcPts val="0"/>
              </a:spcAft>
            </a:pPr>
            <a:r>
              <a:rPr sz="21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j, k;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16228" y="3221829"/>
            <a:ext cx="6849955" cy="15111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3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FE8637"/>
                </a:solidFill>
                <a:latin typeface="SNFKJM+Wingdings 2"/>
                <a:cs typeface="SNFKJM+Wingdings 2"/>
              </a:rPr>
              <a:t></a:t>
            </a:r>
            <a:r>
              <a:rPr sz="1700" spc="832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21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printf("Enter</a:t>
            </a:r>
            <a:r>
              <a:rPr sz="2100" spc="1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1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rows</a:t>
            </a:r>
            <a:r>
              <a:rPr sz="2100" spc="17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1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and column for first</a:t>
            </a:r>
            <a:r>
              <a:rPr sz="2100" spc="17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1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matrix: ");</a:t>
            </a:r>
          </a:p>
          <a:p>
            <a:pPr marL="0" marR="0">
              <a:lnSpc>
                <a:spcPts val="2523"/>
              </a:lnSpc>
              <a:spcBef>
                <a:spcPts val="500"/>
              </a:spcBef>
              <a:spcAft>
                <a:spcPts val="0"/>
              </a:spcAft>
            </a:pPr>
            <a:r>
              <a:rPr sz="1700" dirty="0">
                <a:solidFill>
                  <a:srgbClr val="FE8637"/>
                </a:solidFill>
                <a:latin typeface="SNFKJM+Wingdings 2"/>
                <a:cs typeface="SNFKJM+Wingdings 2"/>
              </a:rPr>
              <a:t></a:t>
            </a:r>
            <a:r>
              <a:rPr sz="1700" spc="832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21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scanf("%d</a:t>
            </a:r>
            <a:r>
              <a:rPr sz="2100" spc="1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1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%d", &amp;r1, &amp;c1);</a:t>
            </a:r>
          </a:p>
          <a:p>
            <a:pPr marL="0" marR="0">
              <a:lnSpc>
                <a:spcPts val="2523"/>
              </a:lnSpc>
              <a:spcBef>
                <a:spcPts val="550"/>
              </a:spcBef>
              <a:spcAft>
                <a:spcPts val="0"/>
              </a:spcAft>
            </a:pPr>
            <a:r>
              <a:rPr sz="1700" dirty="0">
                <a:solidFill>
                  <a:srgbClr val="FE8637"/>
                </a:solidFill>
                <a:latin typeface="SNFKJM+Wingdings 2"/>
                <a:cs typeface="SNFKJM+Wingdings 2"/>
              </a:rPr>
              <a:t></a:t>
            </a:r>
            <a:r>
              <a:rPr sz="1700" spc="832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21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printf("Enter</a:t>
            </a:r>
            <a:r>
              <a:rPr sz="2100" spc="1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1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rows</a:t>
            </a:r>
            <a:r>
              <a:rPr sz="2100" spc="17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1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and column for second matrix: ");</a:t>
            </a:r>
          </a:p>
          <a:p>
            <a:pPr marL="0" marR="0">
              <a:lnSpc>
                <a:spcPts val="2526"/>
              </a:lnSpc>
              <a:spcBef>
                <a:spcPts val="501"/>
              </a:spcBef>
              <a:spcAft>
                <a:spcPts val="0"/>
              </a:spcAft>
            </a:pPr>
            <a:r>
              <a:rPr sz="1700" dirty="0">
                <a:solidFill>
                  <a:srgbClr val="FE8637"/>
                </a:solidFill>
                <a:latin typeface="SNFKJM+Wingdings 2"/>
                <a:cs typeface="SNFKJM+Wingdings 2"/>
              </a:rPr>
              <a:t></a:t>
            </a:r>
            <a:r>
              <a:rPr sz="1700" spc="832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21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scanf("%d %d",&amp;r2, &amp;c2);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16228" y="4758402"/>
            <a:ext cx="2437983" cy="358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3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FE8637"/>
                </a:solidFill>
                <a:latin typeface="SNFKJM+Wingdings 2"/>
                <a:cs typeface="SNFKJM+Wingdings 2"/>
              </a:rPr>
              <a:t></a:t>
            </a:r>
            <a:r>
              <a:rPr sz="1700" spc="832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21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while</a:t>
            </a:r>
            <a:r>
              <a:rPr sz="2100" spc="17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1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(c1 != r2)</a:t>
            </a:r>
            <a:r>
              <a:rPr sz="2100" spc="1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1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{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280414" y="5134291"/>
            <a:ext cx="5848032" cy="3127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6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E0752F"/>
                </a:solidFill>
                <a:latin typeface="GSODNI+Wingdings"/>
                <a:cs typeface="GSODNI+Wingdings"/>
              </a:rPr>
              <a:t></a:t>
            </a:r>
            <a:r>
              <a:rPr sz="1100" spc="218" dirty="0">
                <a:solidFill>
                  <a:srgbClr val="E0752F"/>
                </a:solidFill>
                <a:latin typeface="Caladea"/>
                <a:cs typeface="Caladea"/>
              </a:rPr>
              <a:t> </a:t>
            </a:r>
            <a:r>
              <a:rPr sz="18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printf("Error! Not compatible</a:t>
            </a:r>
            <a:r>
              <a:rPr sz="1800" spc="17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8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for multiplication\n");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916228" y="5471888"/>
            <a:ext cx="514009" cy="358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3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FE8637"/>
                </a:solidFill>
                <a:latin typeface="SNFKJM+Wingdings 2"/>
                <a:cs typeface="SNFKJM+Wingdings 2"/>
              </a:rPr>
              <a:t></a:t>
            </a:r>
            <a:r>
              <a:rPr sz="1700" spc="832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21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}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16228" y="1645459"/>
            <a:ext cx="5645392" cy="1073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6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FE8637"/>
                </a:solidFill>
                <a:latin typeface="SNFKJM+Wingdings 2"/>
                <a:cs typeface="SNFKJM+Wingdings 2"/>
              </a:rPr>
              <a:t></a:t>
            </a:r>
            <a:r>
              <a:rPr sz="1700" spc="832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21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printf("\nEnter</a:t>
            </a:r>
            <a:r>
              <a:rPr sz="2100" spc="22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1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elements</a:t>
            </a:r>
            <a:r>
              <a:rPr sz="2100" spc="-26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1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of matrix 1:\n");</a:t>
            </a:r>
          </a:p>
          <a:p>
            <a:pPr marL="0" marR="0">
              <a:lnSpc>
                <a:spcPts val="2523"/>
              </a:lnSpc>
              <a:spcBef>
                <a:spcPts val="499"/>
              </a:spcBef>
              <a:spcAft>
                <a:spcPts val="0"/>
              </a:spcAft>
            </a:pPr>
            <a:r>
              <a:rPr sz="1700" dirty="0">
                <a:solidFill>
                  <a:srgbClr val="FE8637"/>
                </a:solidFill>
                <a:latin typeface="SNFKJM+Wingdings 2"/>
                <a:cs typeface="SNFKJM+Wingdings 2"/>
              </a:rPr>
              <a:t></a:t>
            </a:r>
            <a:r>
              <a:rPr sz="1700" spc="832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21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for(i=0;</a:t>
            </a:r>
            <a:r>
              <a:rPr sz="2100" spc="2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1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i&lt;r1; ++i)</a:t>
            </a:r>
          </a:p>
          <a:p>
            <a:pPr marL="364185" marR="0">
              <a:lnSpc>
                <a:spcPts val="2162"/>
              </a:lnSpc>
              <a:spcBef>
                <a:spcPts val="436"/>
              </a:spcBef>
              <a:spcAft>
                <a:spcPts val="0"/>
              </a:spcAft>
            </a:pPr>
            <a:r>
              <a:rPr sz="1100" dirty="0">
                <a:solidFill>
                  <a:srgbClr val="E0752F"/>
                </a:solidFill>
                <a:latin typeface="GSODNI+Wingdings"/>
                <a:cs typeface="GSODNI+Wingdings"/>
              </a:rPr>
              <a:t></a:t>
            </a:r>
            <a:r>
              <a:rPr sz="1100" spc="218" dirty="0">
                <a:solidFill>
                  <a:srgbClr val="E0752F"/>
                </a:solidFill>
                <a:latin typeface="Caladea"/>
                <a:cs typeface="Caladea"/>
              </a:rPr>
              <a:t> </a:t>
            </a:r>
            <a:r>
              <a:rPr sz="18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for(j=0; j&lt;c1; ++j) {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80414" y="2734880"/>
            <a:ext cx="5058600" cy="9714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2796" marR="0">
              <a:lnSpc>
                <a:spcPts val="216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FEC3AE"/>
                </a:solidFill>
                <a:latin typeface="GSODNI+Wingdings"/>
                <a:cs typeface="GSODNI+Wingdings"/>
              </a:rPr>
              <a:t></a:t>
            </a:r>
            <a:r>
              <a:rPr sz="1100" spc="218" dirty="0">
                <a:solidFill>
                  <a:srgbClr val="FEC3AE"/>
                </a:solidFill>
                <a:latin typeface="Caladea"/>
                <a:cs typeface="Caladea"/>
              </a:rPr>
              <a:t> </a:t>
            </a:r>
            <a:r>
              <a:rPr sz="18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printf("Enter elements</a:t>
            </a:r>
            <a:r>
              <a:rPr sz="1800" spc="1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8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a%d%d: ",i+1, j+1);</a:t>
            </a:r>
          </a:p>
          <a:p>
            <a:pPr marL="272796" marR="0">
              <a:lnSpc>
                <a:spcPts val="2165"/>
              </a:lnSpc>
              <a:spcBef>
                <a:spcPts val="428"/>
              </a:spcBef>
              <a:spcAft>
                <a:spcPts val="0"/>
              </a:spcAft>
            </a:pPr>
            <a:r>
              <a:rPr sz="1100" dirty="0">
                <a:solidFill>
                  <a:srgbClr val="FEC3AE"/>
                </a:solidFill>
                <a:latin typeface="GSODNI+Wingdings"/>
                <a:cs typeface="GSODNI+Wingdings"/>
              </a:rPr>
              <a:t></a:t>
            </a:r>
            <a:r>
              <a:rPr sz="1100" spc="218" dirty="0">
                <a:solidFill>
                  <a:srgbClr val="FEC3AE"/>
                </a:solidFill>
                <a:latin typeface="Caladea"/>
                <a:cs typeface="Caladea"/>
              </a:rPr>
              <a:t> </a:t>
            </a:r>
            <a:r>
              <a:rPr sz="18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scanf("%d",</a:t>
            </a:r>
            <a:r>
              <a:rPr sz="1800" spc="19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8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&amp;a[i][j]);</a:t>
            </a:r>
          </a:p>
          <a:p>
            <a:pPr marL="0" marR="0">
              <a:lnSpc>
                <a:spcPts val="2162"/>
              </a:lnSpc>
              <a:spcBef>
                <a:spcPts val="378"/>
              </a:spcBef>
              <a:spcAft>
                <a:spcPts val="0"/>
              </a:spcAft>
            </a:pPr>
            <a:r>
              <a:rPr sz="1100" dirty="0">
                <a:solidFill>
                  <a:srgbClr val="E0752F"/>
                </a:solidFill>
                <a:latin typeface="GSODNI+Wingdings"/>
                <a:cs typeface="GSODNI+Wingdings"/>
              </a:rPr>
              <a:t></a:t>
            </a:r>
            <a:r>
              <a:rPr sz="1100" spc="218" dirty="0">
                <a:solidFill>
                  <a:srgbClr val="E0752F"/>
                </a:solidFill>
                <a:latin typeface="Caladea"/>
                <a:cs typeface="Caladea"/>
              </a:rPr>
              <a:t> </a:t>
            </a:r>
            <a:r>
              <a:rPr sz="18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}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16228" y="4114893"/>
            <a:ext cx="5645702" cy="7430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3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FE8637"/>
                </a:solidFill>
                <a:latin typeface="SNFKJM+Wingdings 2"/>
                <a:cs typeface="SNFKJM+Wingdings 2"/>
              </a:rPr>
              <a:t></a:t>
            </a:r>
            <a:r>
              <a:rPr sz="1700" spc="832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21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printf("\nEnter</a:t>
            </a:r>
            <a:r>
              <a:rPr sz="2100" spc="2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1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elements</a:t>
            </a:r>
            <a:r>
              <a:rPr sz="2100" spc="-23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1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of matrix</a:t>
            </a:r>
            <a:r>
              <a:rPr sz="2100" spc="12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1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2:\n");</a:t>
            </a:r>
          </a:p>
          <a:p>
            <a:pPr marL="0" marR="0">
              <a:lnSpc>
                <a:spcPts val="2523"/>
              </a:lnSpc>
              <a:spcBef>
                <a:spcPts val="553"/>
              </a:spcBef>
              <a:spcAft>
                <a:spcPts val="0"/>
              </a:spcAft>
            </a:pPr>
            <a:r>
              <a:rPr sz="1700" dirty="0">
                <a:solidFill>
                  <a:srgbClr val="FE8637"/>
                </a:solidFill>
                <a:latin typeface="SNFKJM+Wingdings 2"/>
                <a:cs typeface="SNFKJM+Wingdings 2"/>
              </a:rPr>
              <a:t></a:t>
            </a:r>
            <a:r>
              <a:rPr sz="1700" spc="832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21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for(i=0;</a:t>
            </a:r>
            <a:r>
              <a:rPr sz="2100" spc="2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1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i&lt;r2; ++i)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280414" y="4875211"/>
            <a:ext cx="2285773" cy="3127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6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E0752F"/>
                </a:solidFill>
                <a:latin typeface="GSODNI+Wingdings"/>
                <a:cs typeface="GSODNI+Wingdings"/>
              </a:rPr>
              <a:t></a:t>
            </a:r>
            <a:r>
              <a:rPr sz="1100" spc="218" dirty="0">
                <a:solidFill>
                  <a:srgbClr val="E0752F"/>
                </a:solidFill>
                <a:latin typeface="Caladea"/>
                <a:cs typeface="Caladea"/>
              </a:rPr>
              <a:t> </a:t>
            </a:r>
            <a:r>
              <a:rPr sz="18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for(j=0; j&lt;c2; ++j) {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553210" y="5204395"/>
            <a:ext cx="4785804" cy="3127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6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FEC3AE"/>
                </a:solidFill>
                <a:latin typeface="GSODNI+Wingdings"/>
                <a:cs typeface="GSODNI+Wingdings"/>
              </a:rPr>
              <a:t></a:t>
            </a:r>
            <a:r>
              <a:rPr sz="1100" spc="218" dirty="0">
                <a:solidFill>
                  <a:srgbClr val="FEC3AE"/>
                </a:solidFill>
                <a:latin typeface="Caladea"/>
                <a:cs typeface="Caladea"/>
              </a:rPr>
              <a:t> </a:t>
            </a:r>
            <a:r>
              <a:rPr sz="18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printf("Enter elements</a:t>
            </a:r>
            <a:r>
              <a:rPr sz="1800" spc="1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8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b%d%d: ",i+1, j+1);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736090" y="5478664"/>
            <a:ext cx="2239044" cy="3127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62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scanf("%d",&amp;b[i][j]);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280414" y="5808153"/>
            <a:ext cx="411405" cy="3127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6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E0752F"/>
                </a:solidFill>
                <a:latin typeface="GSODNI+Wingdings"/>
                <a:cs typeface="GSODNI+Wingdings"/>
              </a:rPr>
              <a:t></a:t>
            </a:r>
            <a:r>
              <a:rPr sz="1100" spc="218" dirty="0">
                <a:solidFill>
                  <a:srgbClr val="E0752F"/>
                </a:solidFill>
                <a:latin typeface="Caladea"/>
                <a:cs typeface="Caladea"/>
              </a:rPr>
              <a:t> </a:t>
            </a:r>
            <a:r>
              <a:rPr sz="18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}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16228" y="1645459"/>
            <a:ext cx="6143412" cy="3589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6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FE8637"/>
                </a:solidFill>
                <a:latin typeface="SNFKJM+Wingdings 2"/>
                <a:cs typeface="SNFKJM+Wingdings 2"/>
              </a:rPr>
              <a:t></a:t>
            </a:r>
            <a:r>
              <a:rPr sz="1700" spc="832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21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// Initializing</a:t>
            </a:r>
            <a:r>
              <a:rPr sz="2100" spc="16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1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all elements</a:t>
            </a:r>
            <a:r>
              <a:rPr sz="2100" spc="-26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1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of result matrix</a:t>
            </a:r>
            <a:r>
              <a:rPr sz="2100" spc="-1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1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to 0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6228" y="2029807"/>
            <a:ext cx="2649425" cy="13473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3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FE8637"/>
                </a:solidFill>
                <a:latin typeface="SNFKJM+Wingdings 2"/>
                <a:cs typeface="SNFKJM+Wingdings 2"/>
              </a:rPr>
              <a:t></a:t>
            </a:r>
            <a:r>
              <a:rPr sz="1700" spc="832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21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for(i=0;</a:t>
            </a:r>
            <a:r>
              <a:rPr sz="2100" spc="2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1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i&lt;r1; ++i)</a:t>
            </a:r>
          </a:p>
          <a:p>
            <a:pPr marL="364185" marR="0">
              <a:lnSpc>
                <a:spcPts val="2162"/>
              </a:lnSpc>
              <a:spcBef>
                <a:spcPts val="436"/>
              </a:spcBef>
              <a:spcAft>
                <a:spcPts val="0"/>
              </a:spcAft>
            </a:pPr>
            <a:r>
              <a:rPr sz="1100" dirty="0">
                <a:solidFill>
                  <a:srgbClr val="E0752F"/>
                </a:solidFill>
                <a:latin typeface="GSODNI+Wingdings"/>
                <a:cs typeface="GSODNI+Wingdings"/>
              </a:rPr>
              <a:t></a:t>
            </a:r>
            <a:r>
              <a:rPr sz="1100" spc="218" dirty="0">
                <a:solidFill>
                  <a:srgbClr val="E0752F"/>
                </a:solidFill>
                <a:latin typeface="Caladea"/>
                <a:cs typeface="Caladea"/>
              </a:rPr>
              <a:t> </a:t>
            </a:r>
            <a:r>
              <a:rPr sz="18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for(j=0; j&lt;c2; ++j) {</a:t>
            </a:r>
          </a:p>
          <a:p>
            <a:pPr marL="636981" marR="0">
              <a:lnSpc>
                <a:spcPts val="2162"/>
              </a:lnSpc>
              <a:spcBef>
                <a:spcPts val="429"/>
              </a:spcBef>
              <a:spcAft>
                <a:spcPts val="0"/>
              </a:spcAft>
            </a:pPr>
            <a:r>
              <a:rPr sz="1100" dirty="0">
                <a:solidFill>
                  <a:srgbClr val="FEC3AE"/>
                </a:solidFill>
                <a:latin typeface="GSODNI+Wingdings"/>
                <a:cs typeface="GSODNI+Wingdings"/>
              </a:rPr>
              <a:t></a:t>
            </a:r>
            <a:r>
              <a:rPr sz="1100" spc="218" dirty="0">
                <a:solidFill>
                  <a:srgbClr val="FEC3AE"/>
                </a:solidFill>
                <a:latin typeface="Caladea"/>
                <a:cs typeface="Caladea"/>
              </a:rPr>
              <a:t> </a:t>
            </a:r>
            <a:r>
              <a:rPr sz="18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result[i][j]</a:t>
            </a:r>
            <a:r>
              <a:rPr sz="1800" spc="12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8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= 0;</a:t>
            </a:r>
          </a:p>
          <a:p>
            <a:pPr marL="364185" marR="0">
              <a:lnSpc>
                <a:spcPts val="2165"/>
              </a:lnSpc>
              <a:spcBef>
                <a:spcPts val="428"/>
              </a:spcBef>
              <a:spcAft>
                <a:spcPts val="0"/>
              </a:spcAft>
            </a:pPr>
            <a:r>
              <a:rPr sz="1100" dirty="0">
                <a:solidFill>
                  <a:srgbClr val="E0752F"/>
                </a:solidFill>
                <a:latin typeface="GSODNI+Wingdings"/>
                <a:cs typeface="GSODNI+Wingdings"/>
              </a:rPr>
              <a:t></a:t>
            </a:r>
            <a:r>
              <a:rPr sz="1100" spc="218" dirty="0">
                <a:solidFill>
                  <a:srgbClr val="E0752F"/>
                </a:solidFill>
                <a:latin typeface="Caladea"/>
                <a:cs typeface="Caladea"/>
              </a:rPr>
              <a:t> </a:t>
            </a:r>
            <a:r>
              <a:rPr sz="18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}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16228" y="3401661"/>
            <a:ext cx="6833125" cy="6786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3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FE8637"/>
                </a:solidFill>
                <a:latin typeface="SNFKJM+Wingdings 2"/>
                <a:cs typeface="SNFKJM+Wingdings 2"/>
              </a:rPr>
              <a:t></a:t>
            </a:r>
            <a:r>
              <a:rPr sz="1700" spc="832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21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// </a:t>
            </a:r>
            <a:r>
              <a:rPr sz="16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Multiplying</a:t>
            </a:r>
            <a:r>
              <a:rPr sz="1600" spc="15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6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matrices</a:t>
            </a:r>
            <a:r>
              <a:rPr sz="1600" spc="13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6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a and</a:t>
            </a:r>
            <a:r>
              <a:rPr sz="1600" spc="15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6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b and</a:t>
            </a:r>
            <a:r>
              <a:rPr sz="1600" spc="15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6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//</a:t>
            </a:r>
            <a:r>
              <a:rPr sz="1600" spc="1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6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storing result in result matrix</a:t>
            </a:r>
          </a:p>
          <a:p>
            <a:pPr marL="272796" marR="0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21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for(i=0;</a:t>
            </a:r>
            <a:r>
              <a:rPr sz="2100" spc="2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1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i&lt;r1; ++i)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280414" y="4097590"/>
            <a:ext cx="2145565" cy="3127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6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E0752F"/>
                </a:solidFill>
                <a:latin typeface="GSODNI+Wingdings"/>
                <a:cs typeface="GSODNI+Wingdings"/>
              </a:rPr>
              <a:t></a:t>
            </a:r>
            <a:r>
              <a:rPr sz="1100" spc="218" dirty="0">
                <a:solidFill>
                  <a:srgbClr val="E0752F"/>
                </a:solidFill>
                <a:latin typeface="Caladea"/>
                <a:cs typeface="Caladea"/>
              </a:rPr>
              <a:t> </a:t>
            </a:r>
            <a:r>
              <a:rPr sz="18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for(j=0; j&lt;c2; ++j)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553210" y="4426854"/>
            <a:ext cx="3093053" cy="9348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65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FEC3AE"/>
                </a:solidFill>
                <a:latin typeface="GSODNI+Wingdings"/>
                <a:cs typeface="GSODNI+Wingdings"/>
              </a:rPr>
              <a:t></a:t>
            </a:r>
            <a:r>
              <a:rPr sz="1100" spc="218" dirty="0">
                <a:solidFill>
                  <a:srgbClr val="FEC3AE"/>
                </a:solidFill>
                <a:latin typeface="Caladea"/>
                <a:cs typeface="Caladea"/>
              </a:rPr>
              <a:t> </a:t>
            </a:r>
            <a:r>
              <a:rPr sz="18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for(k=0;</a:t>
            </a:r>
            <a:r>
              <a:rPr sz="1800" spc="-23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8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k&lt;c1; ++k)</a:t>
            </a:r>
            <a:r>
              <a:rPr sz="1800" spc="-23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8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{</a:t>
            </a:r>
          </a:p>
          <a:p>
            <a:pPr marL="275844" marR="0">
              <a:lnSpc>
                <a:spcPts val="1917"/>
              </a:lnSpc>
              <a:spcBef>
                <a:spcPts val="377"/>
              </a:spcBef>
              <a:spcAft>
                <a:spcPts val="0"/>
              </a:spcAft>
            </a:pPr>
            <a:r>
              <a:rPr sz="1100" dirty="0">
                <a:solidFill>
                  <a:srgbClr val="BDCAE9"/>
                </a:solidFill>
                <a:latin typeface="SNFKJM+Wingdings 2"/>
                <a:cs typeface="SNFKJM+Wingdings 2"/>
              </a:rPr>
              <a:t></a:t>
            </a:r>
            <a:r>
              <a:rPr sz="1100" spc="588" dirty="0">
                <a:solidFill>
                  <a:srgbClr val="BDCAE9"/>
                </a:solidFill>
                <a:latin typeface="Caladea"/>
                <a:cs typeface="Caladea"/>
              </a:rPr>
              <a:t> </a:t>
            </a:r>
            <a:r>
              <a:rPr sz="16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result[i][j]+=a[i][k]*b[k][j];</a:t>
            </a:r>
          </a:p>
          <a:p>
            <a:pPr marL="0" marR="0">
              <a:lnSpc>
                <a:spcPts val="2162"/>
              </a:lnSpc>
              <a:spcBef>
                <a:spcPts val="437"/>
              </a:spcBef>
              <a:spcAft>
                <a:spcPts val="0"/>
              </a:spcAft>
            </a:pPr>
            <a:r>
              <a:rPr sz="1100" dirty="0">
                <a:solidFill>
                  <a:srgbClr val="FEC3AE"/>
                </a:solidFill>
                <a:latin typeface="GSODNI+Wingdings"/>
                <a:cs typeface="GSODNI+Wingdings"/>
              </a:rPr>
              <a:t></a:t>
            </a:r>
            <a:r>
              <a:rPr sz="1100" spc="218" dirty="0">
                <a:solidFill>
                  <a:srgbClr val="FEC3AE"/>
                </a:solidFill>
                <a:latin typeface="Caladea"/>
                <a:cs typeface="Caladea"/>
              </a:rPr>
              <a:t> </a:t>
            </a:r>
            <a:r>
              <a:rPr sz="18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}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16228" y="1645459"/>
            <a:ext cx="4138085" cy="7429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6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FE8637"/>
                </a:solidFill>
                <a:latin typeface="SNFKJM+Wingdings 2"/>
                <a:cs typeface="SNFKJM+Wingdings 2"/>
              </a:rPr>
              <a:t></a:t>
            </a:r>
            <a:r>
              <a:rPr sz="1700" spc="832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21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// Displaying</a:t>
            </a:r>
            <a:r>
              <a:rPr sz="2100" spc="11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1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the result</a:t>
            </a:r>
          </a:p>
          <a:p>
            <a:pPr marL="0" marR="0">
              <a:lnSpc>
                <a:spcPts val="2523"/>
              </a:lnSpc>
              <a:spcBef>
                <a:spcPts val="499"/>
              </a:spcBef>
              <a:spcAft>
                <a:spcPts val="0"/>
              </a:spcAft>
            </a:pPr>
            <a:r>
              <a:rPr sz="1700" dirty="0">
                <a:solidFill>
                  <a:srgbClr val="FE8637"/>
                </a:solidFill>
                <a:latin typeface="SNFKJM+Wingdings 2"/>
                <a:cs typeface="SNFKJM+Wingdings 2"/>
              </a:rPr>
              <a:t></a:t>
            </a:r>
            <a:r>
              <a:rPr sz="1700" spc="832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21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printf("\nOutput</a:t>
            </a:r>
            <a:r>
              <a:rPr sz="2100" spc="2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1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Matrix:\n");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6228" y="2413855"/>
            <a:ext cx="3799344" cy="16764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3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FE8637"/>
                </a:solidFill>
                <a:latin typeface="SNFKJM+Wingdings 2"/>
                <a:cs typeface="SNFKJM+Wingdings 2"/>
              </a:rPr>
              <a:t></a:t>
            </a:r>
            <a:r>
              <a:rPr sz="1700" spc="832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21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for(i=0;</a:t>
            </a:r>
            <a:r>
              <a:rPr sz="2100" spc="2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1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i&lt;r1; ++i)</a:t>
            </a:r>
          </a:p>
          <a:p>
            <a:pPr marL="364185" marR="0">
              <a:lnSpc>
                <a:spcPts val="2162"/>
              </a:lnSpc>
              <a:spcBef>
                <a:spcPts val="436"/>
              </a:spcBef>
              <a:spcAft>
                <a:spcPts val="0"/>
              </a:spcAft>
            </a:pPr>
            <a:r>
              <a:rPr sz="1100" dirty="0">
                <a:solidFill>
                  <a:srgbClr val="E0752F"/>
                </a:solidFill>
                <a:latin typeface="GSODNI+Wingdings"/>
                <a:cs typeface="GSODNI+Wingdings"/>
              </a:rPr>
              <a:t></a:t>
            </a:r>
            <a:r>
              <a:rPr sz="1100" spc="218" dirty="0">
                <a:solidFill>
                  <a:srgbClr val="E0752F"/>
                </a:solidFill>
                <a:latin typeface="Caladea"/>
                <a:cs typeface="Caladea"/>
              </a:rPr>
              <a:t> </a:t>
            </a:r>
            <a:r>
              <a:rPr sz="18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for(j=0; j&lt;c2; ++j) {</a:t>
            </a:r>
          </a:p>
          <a:p>
            <a:pPr marL="636981" marR="0">
              <a:lnSpc>
                <a:spcPts val="2165"/>
              </a:lnSpc>
              <a:spcBef>
                <a:spcPts val="428"/>
              </a:spcBef>
              <a:spcAft>
                <a:spcPts val="0"/>
              </a:spcAft>
            </a:pPr>
            <a:r>
              <a:rPr sz="1100" dirty="0">
                <a:solidFill>
                  <a:srgbClr val="FEC3AE"/>
                </a:solidFill>
                <a:latin typeface="GSODNI+Wingdings"/>
                <a:cs typeface="GSODNI+Wingdings"/>
              </a:rPr>
              <a:t></a:t>
            </a:r>
            <a:r>
              <a:rPr sz="1100" spc="218" dirty="0">
                <a:solidFill>
                  <a:srgbClr val="FEC3AE"/>
                </a:solidFill>
                <a:latin typeface="Caladea"/>
                <a:cs typeface="Caladea"/>
              </a:rPr>
              <a:t> </a:t>
            </a:r>
            <a:r>
              <a:rPr sz="18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printf("%d ",</a:t>
            </a:r>
            <a:r>
              <a:rPr sz="1800" spc="1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18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result[i][j]);</a:t>
            </a:r>
          </a:p>
          <a:p>
            <a:pPr marL="636981" marR="0">
              <a:lnSpc>
                <a:spcPts val="2162"/>
              </a:lnSpc>
              <a:spcBef>
                <a:spcPts val="428"/>
              </a:spcBef>
              <a:spcAft>
                <a:spcPts val="0"/>
              </a:spcAft>
            </a:pPr>
            <a:r>
              <a:rPr sz="1100" dirty="0">
                <a:solidFill>
                  <a:srgbClr val="FEC3AE"/>
                </a:solidFill>
                <a:latin typeface="GSODNI+Wingdings"/>
                <a:cs typeface="GSODNI+Wingdings"/>
              </a:rPr>
              <a:t></a:t>
            </a:r>
            <a:r>
              <a:rPr sz="1100" spc="218" dirty="0">
                <a:solidFill>
                  <a:srgbClr val="FEC3AE"/>
                </a:solidFill>
                <a:latin typeface="Caladea"/>
                <a:cs typeface="Caladea"/>
              </a:rPr>
              <a:t> </a:t>
            </a:r>
            <a:r>
              <a:rPr sz="18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if(j == c2-1) printf("\n\n");</a:t>
            </a:r>
          </a:p>
          <a:p>
            <a:pPr marL="364185" marR="0">
              <a:lnSpc>
                <a:spcPts val="2162"/>
              </a:lnSpc>
              <a:spcBef>
                <a:spcPts val="429"/>
              </a:spcBef>
              <a:spcAft>
                <a:spcPts val="0"/>
              </a:spcAft>
            </a:pPr>
            <a:r>
              <a:rPr sz="1100" dirty="0">
                <a:solidFill>
                  <a:srgbClr val="E0752F"/>
                </a:solidFill>
                <a:latin typeface="GSODNI+Wingdings"/>
                <a:cs typeface="GSODNI+Wingdings"/>
              </a:rPr>
              <a:t></a:t>
            </a:r>
            <a:r>
              <a:rPr sz="1100" spc="218" dirty="0">
                <a:solidFill>
                  <a:srgbClr val="E0752F"/>
                </a:solidFill>
                <a:latin typeface="Caladea"/>
                <a:cs typeface="Caladea"/>
              </a:rPr>
              <a:t> </a:t>
            </a:r>
            <a:r>
              <a:rPr sz="18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}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16228" y="4114893"/>
            <a:ext cx="1523371" cy="358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3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FE8637"/>
                </a:solidFill>
                <a:latin typeface="SNFKJM+Wingdings 2"/>
                <a:cs typeface="SNFKJM+Wingdings 2"/>
              </a:rPr>
              <a:t></a:t>
            </a:r>
            <a:r>
              <a:rPr sz="1700" spc="832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21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return 0;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48640" y="4512054"/>
            <a:ext cx="526696" cy="4043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883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FE8637"/>
                </a:solidFill>
                <a:latin typeface="GSODNI+Wingdings"/>
                <a:cs typeface="GSODNI+Wingdings"/>
              </a:rPr>
              <a:t></a:t>
            </a:r>
            <a:r>
              <a:rPr sz="1700" spc="259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}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48640" y="456833"/>
            <a:ext cx="6320709" cy="9534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07"/>
              </a:lnSpc>
              <a:spcBef>
                <a:spcPts val="0"/>
              </a:spcBef>
              <a:spcAft>
                <a:spcPts val="0"/>
              </a:spcAft>
            </a:pPr>
            <a:r>
              <a:rPr sz="3000" dirty="0">
                <a:solidFill>
                  <a:srgbClr val="575F6D"/>
                </a:solidFill>
                <a:latin typeface="HFBCCF+Century Schoolbook"/>
                <a:cs typeface="HFBCCF+Century Schoolbook"/>
              </a:rPr>
              <a:t>3</a:t>
            </a:r>
            <a:r>
              <a:rPr sz="2400" dirty="0">
                <a:solidFill>
                  <a:srgbClr val="575F6D"/>
                </a:solidFill>
                <a:latin typeface="HFBCCF+Century Schoolbook"/>
                <a:cs typeface="HFBCCF+Century Schoolbook"/>
              </a:rPr>
              <a:t>D</a:t>
            </a:r>
            <a:r>
              <a:rPr sz="3000" dirty="0">
                <a:solidFill>
                  <a:srgbClr val="575F6D"/>
                </a:solidFill>
                <a:latin typeface="HFBCCF+Century Schoolbook"/>
                <a:cs typeface="HFBCCF+Century Schoolbook"/>
              </a:rPr>
              <a:t>:</a:t>
            </a:r>
            <a:r>
              <a:rPr sz="3000" spc="829" dirty="0">
                <a:solidFill>
                  <a:srgbClr val="575F6D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575F6D"/>
                </a:solidFill>
                <a:latin typeface="HFBCCF+Century Schoolbook"/>
                <a:cs typeface="HFBCCF+Century Schoolbook"/>
              </a:rPr>
              <a:t>A</a:t>
            </a:r>
            <a:r>
              <a:rPr sz="2400" spc="180" dirty="0">
                <a:solidFill>
                  <a:srgbClr val="575F6D"/>
                </a:solidFill>
                <a:latin typeface="HFBCCF+Century Schoolbook"/>
                <a:cs typeface="HFBCCF+Century Schoolbook"/>
              </a:rPr>
              <a:t> </a:t>
            </a:r>
            <a:r>
              <a:rPr sz="3000" dirty="0">
                <a:solidFill>
                  <a:srgbClr val="575F6D"/>
                </a:solidFill>
                <a:latin typeface="HFBCCF+Century Schoolbook"/>
                <a:cs typeface="HFBCCF+Century Schoolbook"/>
              </a:rPr>
              <a:t>3D </a:t>
            </a:r>
            <a:r>
              <a:rPr sz="2400" dirty="0">
                <a:solidFill>
                  <a:srgbClr val="575F6D"/>
                </a:solidFill>
                <a:latin typeface="HFBCCF+Century Schoolbook"/>
                <a:cs typeface="HFBCCF+Century Schoolbook"/>
              </a:rPr>
              <a:t>ARRAY</a:t>
            </a:r>
            <a:r>
              <a:rPr sz="2400" spc="208" dirty="0">
                <a:solidFill>
                  <a:srgbClr val="575F6D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575F6D"/>
                </a:solidFill>
                <a:latin typeface="HFBCCF+Century Schoolbook"/>
                <a:cs typeface="HFBCCF+Century Schoolbook"/>
              </a:rPr>
              <a:t>IS</a:t>
            </a:r>
            <a:r>
              <a:rPr sz="2400" spc="191" dirty="0">
                <a:solidFill>
                  <a:srgbClr val="575F6D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575F6D"/>
                </a:solidFill>
                <a:latin typeface="HFBCCF+Century Schoolbook"/>
                <a:cs typeface="HFBCCF+Century Schoolbook"/>
              </a:rPr>
              <a:t>AN</a:t>
            </a:r>
            <a:r>
              <a:rPr sz="2400" spc="181" dirty="0">
                <a:solidFill>
                  <a:srgbClr val="575F6D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575F6D"/>
                </a:solidFill>
                <a:latin typeface="HFBCCF+Century Schoolbook"/>
                <a:cs typeface="HFBCCF+Century Schoolbook"/>
              </a:rPr>
              <a:t>ARRAY</a:t>
            </a:r>
            <a:r>
              <a:rPr sz="2400" spc="205" dirty="0">
                <a:solidFill>
                  <a:srgbClr val="575F6D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575F6D"/>
                </a:solidFill>
                <a:latin typeface="HFBCCF+Century Schoolbook"/>
                <a:cs typeface="HFBCCF+Century Schoolbook"/>
              </a:rPr>
              <a:t>OF</a:t>
            </a:r>
            <a:r>
              <a:rPr sz="2400" spc="166" dirty="0">
                <a:solidFill>
                  <a:srgbClr val="575F6D"/>
                </a:solidFill>
                <a:latin typeface="HFBCCF+Century Schoolbook"/>
                <a:cs typeface="HFBCCF+Century Schoolbook"/>
              </a:rPr>
              <a:t> </a:t>
            </a:r>
            <a:r>
              <a:rPr sz="3000" dirty="0">
                <a:solidFill>
                  <a:srgbClr val="575F6D"/>
                </a:solidFill>
                <a:latin typeface="HFBCCF+Century Schoolbook"/>
                <a:cs typeface="HFBCCF+Century Schoolbook"/>
              </a:rPr>
              <a:t>2D</a:t>
            </a:r>
          </a:p>
          <a:p>
            <a:pPr marL="0" marR="0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575F6D"/>
                </a:solidFill>
                <a:latin typeface="HFBCCF+Century Schoolbook"/>
                <a:cs typeface="HFBCCF+Century Schoolbook"/>
              </a:rPr>
              <a:t>ARRAYS</a:t>
            </a:r>
            <a:r>
              <a:rPr sz="3000" dirty="0">
                <a:solidFill>
                  <a:srgbClr val="575F6D"/>
                </a:solidFill>
                <a:latin typeface="HFBCCF+Century Schoolbook"/>
                <a:cs typeface="HFBCCF+Century Schoolbook"/>
              </a:rPr>
              <a:t>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8640" y="1609422"/>
            <a:ext cx="7329524" cy="19503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886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FE8637"/>
                </a:solidFill>
                <a:latin typeface="GSODNI+Wingdings"/>
                <a:cs typeface="GSODNI+Wingdings"/>
              </a:rPr>
              <a:t></a:t>
            </a:r>
            <a:r>
              <a:rPr sz="1700" spc="271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#include&lt;stdio.h&gt;</a:t>
            </a:r>
          </a:p>
          <a:p>
            <a:pPr marL="0" marR="0">
              <a:lnSpc>
                <a:spcPts val="2883"/>
              </a:lnSpc>
              <a:spcBef>
                <a:spcPts val="307"/>
              </a:spcBef>
              <a:spcAft>
                <a:spcPts val="0"/>
              </a:spcAft>
            </a:pPr>
            <a:r>
              <a:rPr sz="1700" dirty="0">
                <a:solidFill>
                  <a:srgbClr val="FE8637"/>
                </a:solidFill>
                <a:latin typeface="GSODNI+Wingdings"/>
                <a:cs typeface="GSODNI+Wingdings"/>
              </a:rPr>
              <a:t></a:t>
            </a:r>
            <a:r>
              <a:rPr sz="1700" spc="271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int main(){</a:t>
            </a:r>
          </a:p>
          <a:p>
            <a:pPr marL="0" marR="0">
              <a:lnSpc>
                <a:spcPts val="2883"/>
              </a:lnSpc>
              <a:spcBef>
                <a:spcPts val="308"/>
              </a:spcBef>
              <a:spcAft>
                <a:spcPts val="0"/>
              </a:spcAft>
            </a:pPr>
            <a:r>
              <a:rPr sz="1700" dirty="0">
                <a:solidFill>
                  <a:srgbClr val="FE8637"/>
                </a:solidFill>
                <a:latin typeface="GSODNI+Wingdings"/>
                <a:cs typeface="GSODNI+Wingdings"/>
              </a:rPr>
              <a:t></a:t>
            </a:r>
            <a:r>
              <a:rPr sz="1700" spc="271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int</a:t>
            </a:r>
          </a:p>
          <a:p>
            <a:pPr marL="274320" marR="0">
              <a:lnSpc>
                <a:spcPts val="259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i,j,k,x[][2][3]={{{1,2,3},{4,5,6}},{{7,8,9},{10,11,12}}};</a:t>
            </a:r>
          </a:p>
          <a:p>
            <a:pPr marL="0" marR="0">
              <a:lnSpc>
                <a:spcPts val="2886"/>
              </a:lnSpc>
              <a:spcBef>
                <a:spcPts val="307"/>
              </a:spcBef>
              <a:spcAft>
                <a:spcPts val="0"/>
              </a:spcAft>
            </a:pPr>
            <a:r>
              <a:rPr sz="1700" dirty="0">
                <a:solidFill>
                  <a:srgbClr val="FE8637"/>
                </a:solidFill>
                <a:latin typeface="GSODNI+Wingdings"/>
                <a:cs typeface="GSODNI+Wingdings"/>
              </a:rPr>
              <a:t></a:t>
            </a:r>
            <a:r>
              <a:rPr sz="1700" spc="271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for(i=0;i&lt;2;i++)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48640" y="3669386"/>
            <a:ext cx="342799" cy="10861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64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FE8637"/>
                </a:solidFill>
                <a:latin typeface="GSODNI+Wingdings"/>
                <a:cs typeface="GSODNI+Wingdings"/>
              </a:rPr>
              <a:t></a:t>
            </a:r>
          </a:p>
          <a:p>
            <a:pPr marL="0" marR="0">
              <a:lnSpc>
                <a:spcPts val="1864"/>
              </a:lnSpc>
              <a:spcBef>
                <a:spcPts val="1327"/>
              </a:spcBef>
              <a:spcAft>
                <a:spcPts val="0"/>
              </a:spcAft>
            </a:pPr>
            <a:r>
              <a:rPr sz="1700" dirty="0">
                <a:solidFill>
                  <a:srgbClr val="FE8637"/>
                </a:solidFill>
                <a:latin typeface="GSODNI+Wingdings"/>
                <a:cs typeface="GSODNI+Wingdings"/>
              </a:rPr>
              <a:t></a:t>
            </a:r>
          </a:p>
          <a:p>
            <a:pPr marL="0" marR="0">
              <a:lnSpc>
                <a:spcPts val="1867"/>
              </a:lnSpc>
              <a:spcBef>
                <a:spcPts val="1328"/>
              </a:spcBef>
              <a:spcAft>
                <a:spcPts val="0"/>
              </a:spcAft>
            </a:pPr>
            <a:r>
              <a:rPr sz="1700" dirty="0">
                <a:solidFill>
                  <a:srgbClr val="FE8637"/>
                </a:solidFill>
                <a:latin typeface="GSODNI+Wingdings"/>
                <a:cs typeface="GSODNI+Wingdings"/>
              </a:rPr>
              <a:t>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496822" y="3560697"/>
            <a:ext cx="3310816" cy="809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883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for(j=0;j&lt;2;j++)</a:t>
            </a:r>
          </a:p>
          <a:p>
            <a:pPr marL="673607" marR="0">
              <a:lnSpc>
                <a:spcPts val="2883"/>
              </a:lnSpc>
              <a:spcBef>
                <a:spcPts val="308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for(k=0;k&lt;3;k++){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22960" y="4701030"/>
            <a:ext cx="6142434" cy="809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883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printf("x[%d,%d,%d]=%d\n",i,j,k,x[i][j][k]);</a:t>
            </a:r>
          </a:p>
          <a:p>
            <a:pPr marL="1347469" marR="0">
              <a:lnSpc>
                <a:spcPts val="2883"/>
              </a:lnSpc>
              <a:spcBef>
                <a:spcPts val="308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}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48640" y="5215103"/>
            <a:ext cx="342527" cy="274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64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FE8637"/>
                </a:solidFill>
                <a:latin typeface="GSODNI+Wingdings"/>
                <a:cs typeface="GSODNI+Wingdings"/>
              </a:rPr>
              <a:t>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48640" y="5512052"/>
            <a:ext cx="1677517" cy="809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883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FE8637"/>
                </a:solidFill>
                <a:latin typeface="GSODNI+Wingdings"/>
                <a:cs typeface="GSODNI+Wingdings"/>
              </a:rPr>
              <a:t></a:t>
            </a:r>
            <a:r>
              <a:rPr sz="1700" spc="271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return</a:t>
            </a:r>
            <a:r>
              <a:rPr sz="2400" spc="-14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0;</a:t>
            </a:r>
          </a:p>
          <a:p>
            <a:pPr marL="0" marR="0">
              <a:lnSpc>
                <a:spcPts val="2883"/>
              </a:lnSpc>
              <a:spcBef>
                <a:spcPts val="308"/>
              </a:spcBef>
              <a:spcAft>
                <a:spcPts val="0"/>
              </a:spcAft>
            </a:pPr>
            <a:r>
              <a:rPr sz="1700" dirty="0">
                <a:solidFill>
                  <a:srgbClr val="FE8637"/>
                </a:solidFill>
                <a:latin typeface="GSODNI+Wingdings"/>
                <a:cs typeface="GSODNI+Wingdings"/>
              </a:rPr>
              <a:t></a:t>
            </a:r>
            <a:r>
              <a:rPr sz="1700" spc="271" dirty="0">
                <a:solidFill>
                  <a:srgbClr val="FE8637"/>
                </a:solidFill>
                <a:latin typeface="Caladea"/>
                <a:cs typeface="Caladea"/>
              </a:rPr>
              <a:t> </a:t>
            </a:r>
            <a:r>
              <a:rPr sz="2400" dirty="0">
                <a:solidFill>
                  <a:srgbClr val="000000"/>
                </a:solidFill>
                <a:latin typeface="HFBCCF+Century Schoolbook"/>
                <a:cs typeface="HFBCCF+Century Schoolbook"/>
              </a:rPr>
              <a:t>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3752</Words>
  <Application>Microsoft Office PowerPoint</Application>
  <PresentationFormat>On-screen Show (4:3)</PresentationFormat>
  <Paragraphs>475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8" baseType="lpstr">
      <vt:lpstr>MFMLKN+Courier New Italic</vt:lpstr>
      <vt:lpstr>DJKGHD+Courier New</vt:lpstr>
      <vt:lpstr>SNFKJM+Wingdings 2</vt:lpstr>
      <vt:lpstr>Calibri</vt:lpstr>
      <vt:lpstr>HFBCCF+Century Schoolbook</vt:lpstr>
      <vt:lpstr>GCKEMB+Century Schoolbook Bold</vt:lpstr>
      <vt:lpstr>GSODNI+Wingdings</vt:lpstr>
      <vt:lpstr>OFJNAT+Century Schoolbook</vt:lpstr>
      <vt:lpstr>GPGULP+Century Schoolbook Italic</vt:lpstr>
      <vt:lpstr>Gill Sans MT</vt:lpstr>
      <vt:lpstr>ROGCQF+DejaVu Serif</vt:lpstr>
      <vt:lpstr>GTOIKD+Courier New Bold</vt:lpstr>
      <vt:lpstr>WVUMFT+Courier New Bold</vt:lpstr>
      <vt:lpstr>Caladea</vt:lpstr>
      <vt:lpstr>QPIEFM+Courier New</vt:lpstr>
      <vt:lpstr>Theme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dc:creator>sejda</dc:creator>
  <cp:lastModifiedBy>VISHNU PRIYA P  M</cp:lastModifiedBy>
  <cp:revision>4</cp:revision>
  <dcterms:modified xsi:type="dcterms:W3CDTF">2024-09-17T05:51:26Z</dcterms:modified>
</cp:coreProperties>
</file>