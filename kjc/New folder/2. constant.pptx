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62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49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67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62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04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41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07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159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13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37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79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A19A320-C4F6-4977-9DB4-6C518C216E4B}" type="datetimeFigureOut">
              <a:rPr lang="en-IN" smtClean="0"/>
              <a:t>26-08-2024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541018B-BD52-4BF6-916E-5F59152FCEB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63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C - Constants and Literals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34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Constants refer to fixed values that the program may not alter during its execution. These fixed values are also called </a:t>
            </a:r>
            <a:r>
              <a:rPr lang="en-US" sz="3200" b="1" dirty="0">
                <a:solidFill>
                  <a:srgbClr val="FF0000"/>
                </a:solidFill>
              </a:rPr>
              <a:t>literals</a:t>
            </a:r>
            <a:r>
              <a:rPr lang="en-US" sz="3200" dirty="0">
                <a:solidFill>
                  <a:srgbClr val="FF0000"/>
                </a:solidFill>
              </a:rPr>
              <a:t>.</a:t>
            </a:r>
          </a:p>
          <a:p>
            <a:pPr algn="just"/>
            <a:r>
              <a:rPr lang="en-US" sz="3200" dirty="0"/>
              <a:t>Constants can be of any of the basic data types like </a:t>
            </a:r>
            <a:r>
              <a:rPr lang="en-US" sz="3200" i="1" dirty="0"/>
              <a:t>an integer constant, a floating constant, a character constant, or a string literal</a:t>
            </a:r>
            <a:r>
              <a:rPr lang="en-US" sz="3200" dirty="0"/>
              <a:t>. There are enumeration constants as well.</a:t>
            </a:r>
          </a:p>
          <a:p>
            <a:pPr algn="just"/>
            <a:r>
              <a:rPr lang="en-US" sz="3200" dirty="0"/>
              <a:t>Constants are treated just like regular variables except that their values cannot be modified after their definition.</a:t>
            </a:r>
          </a:p>
          <a:p>
            <a:pPr algn="just"/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08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Integer Literals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An integer literal can be a decimal, octal, or hexadecimal constant.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 A prefix specifies the base or radix: 0x or 0X for hexadecimal, 0 for octal, and nothing for decimal.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An integer literal can also have a suffix that is a combination of U and L, for unsigned and long, respectively.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suffix can be uppercase or lowercase and can be in any order.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3890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379" y="1481959"/>
            <a:ext cx="6305536" cy="4696853"/>
          </a:xfrm>
        </p:spPr>
      </p:pic>
    </p:spTree>
    <p:extLst>
      <p:ext uri="{BB962C8B-B14F-4D97-AF65-F5344CB8AC3E}">
        <p14:creationId xmlns:p14="http://schemas.microsoft.com/office/powerpoint/2010/main" val="15437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Floating-point Literals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floating-point literal has an integer part, a decimal point, a fractional part, and an exponent part. You can represent floating point literals either in decimal form or exponential form.</a:t>
            </a:r>
          </a:p>
          <a:p>
            <a:endParaRPr lang="en-US" dirty="0"/>
          </a:p>
          <a:p>
            <a:r>
              <a:rPr lang="en-IN" dirty="0"/>
              <a:t>3.14159       /* Legal */</a:t>
            </a:r>
          </a:p>
          <a:p>
            <a:r>
              <a:rPr lang="en-IN" dirty="0"/>
              <a:t>314159E-5L    /* Legal */</a:t>
            </a:r>
          </a:p>
          <a:p>
            <a:r>
              <a:rPr lang="en-IN" dirty="0"/>
              <a:t>510E          /* Illegal: incomplete exponent */</a:t>
            </a:r>
          </a:p>
          <a:p>
            <a:r>
              <a:rPr lang="en-IN" dirty="0"/>
              <a:t>210f          /* Illegal: no decimal or exponent */</a:t>
            </a:r>
          </a:p>
          <a:p>
            <a:r>
              <a:rPr lang="en-IN" dirty="0"/>
              <a:t>.e55          /* Illegal: missing integer or fraction */</a:t>
            </a:r>
          </a:p>
        </p:txBody>
      </p:sp>
    </p:spTree>
    <p:extLst>
      <p:ext uri="{BB962C8B-B14F-4D97-AF65-F5344CB8AC3E}">
        <p14:creationId xmlns:p14="http://schemas.microsoft.com/office/powerpoint/2010/main" val="83487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 Constants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 literals are enclosed in single quotes, e.g., 'x' can be stored in a simple variable of </a:t>
            </a:r>
            <a:r>
              <a:rPr lang="en-US" b="1" dirty="0"/>
              <a:t>char</a:t>
            </a:r>
            <a:r>
              <a:rPr lang="en-US" dirty="0"/>
              <a:t> type.</a:t>
            </a:r>
          </a:p>
          <a:p>
            <a:r>
              <a:rPr lang="en-US" dirty="0"/>
              <a:t>A character literal can be a plain character (e.g., 'x'), an escape sequence (e.g., '\t').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548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73" y="72615"/>
            <a:ext cx="9307629" cy="6875259"/>
          </a:xfrm>
        </p:spPr>
      </p:pic>
    </p:spTree>
    <p:extLst>
      <p:ext uri="{BB962C8B-B14F-4D97-AF65-F5344CB8AC3E}">
        <p14:creationId xmlns:p14="http://schemas.microsoft.com/office/powerpoint/2010/main" val="359034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main() {</a:t>
            </a:r>
          </a:p>
          <a:p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("Hello\</a:t>
            </a:r>
            <a:r>
              <a:rPr lang="en-US" dirty="0" err="1"/>
              <a:t>tWorld</a:t>
            </a:r>
            <a:r>
              <a:rPr lang="en-US" dirty="0"/>
              <a:t>\n\n");</a:t>
            </a:r>
          </a:p>
          <a:p>
            <a:endParaRPr lang="en-US" dirty="0"/>
          </a:p>
          <a:p>
            <a:r>
              <a:rPr lang="en-US" dirty="0"/>
              <a:t>   return 0;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When the above code is compiled and executed, it produces the following result −</a:t>
            </a:r>
          </a:p>
          <a:p>
            <a:endParaRPr lang="en-US" dirty="0"/>
          </a:p>
          <a:p>
            <a:r>
              <a:rPr lang="en-US" dirty="0"/>
              <a:t>Hello World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17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117460"/>
          </a:xfrm>
        </p:spPr>
        <p:txBody>
          <a:bodyPr>
            <a:normAutofit fontScale="90000"/>
          </a:bodyPr>
          <a:lstStyle/>
          <a:p>
            <a:r>
              <a:rPr lang="en-IN" dirty="0"/>
              <a:t>String Literals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372" y="1460938"/>
            <a:ext cx="10365829" cy="4848422"/>
          </a:xfrm>
        </p:spPr>
        <p:txBody>
          <a:bodyPr>
            <a:noAutofit/>
          </a:bodyPr>
          <a:lstStyle/>
          <a:p>
            <a:r>
              <a:rPr lang="en-US" sz="1400" dirty="0">
                <a:latin typeface="+mj-lt"/>
                <a:cs typeface="Times New Roman" panose="02020603050405020304" pitchFamily="18" charset="0"/>
              </a:rPr>
              <a:t>String literals or constants are enclosed in double quotes "".</a:t>
            </a:r>
          </a:p>
          <a:p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+mj-lt"/>
                <a:cs typeface="Times New Roman" panose="02020603050405020304" pitchFamily="18" charset="0"/>
              </a:rPr>
              <a:t> A string contains characters that are similar to character literals: plain characters, escape sequences, and universal characters.</a:t>
            </a:r>
          </a:p>
          <a:p>
            <a:pPr marL="0" indent="0">
              <a:buNone/>
            </a:pP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+mj-lt"/>
                <a:cs typeface="Times New Roman" panose="02020603050405020304" pitchFamily="18" charset="0"/>
              </a:rPr>
              <a:t>You can break a long line into multiple lines using string literals and separating them using white spaces.</a:t>
            </a:r>
          </a:p>
          <a:p>
            <a:pPr marL="0" indent="0">
              <a:buNone/>
            </a:pP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+mj-lt"/>
                <a:cs typeface="Times New Roman" panose="02020603050405020304" pitchFamily="18" charset="0"/>
              </a:rPr>
              <a:t>Here are some examples of string literals. All the three forms are identical strings.</a:t>
            </a:r>
          </a:p>
          <a:p>
            <a:pPr marL="0" indent="0">
              <a:buNone/>
            </a:pP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+mj-lt"/>
                <a:cs typeface="Times New Roman" panose="02020603050405020304" pitchFamily="18" charset="0"/>
              </a:rPr>
              <a:t>"hello, dear"</a:t>
            </a:r>
          </a:p>
          <a:p>
            <a:pPr marL="0" indent="0">
              <a:buNone/>
            </a:pPr>
            <a:endParaRPr lang="en-US" sz="14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+mj-lt"/>
                <a:cs typeface="Times New Roman" panose="02020603050405020304" pitchFamily="18" charset="0"/>
              </a:rPr>
              <a:t>"hello, \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886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865212"/>
          </a:xfrm>
        </p:spPr>
        <p:txBody>
          <a:bodyPr>
            <a:normAutofit fontScale="90000"/>
          </a:bodyPr>
          <a:lstStyle/>
          <a:p>
            <a:r>
              <a:rPr lang="en-IN" dirty="0"/>
              <a:t>Defining Constants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simple ways in C to define constants 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Using </a:t>
            </a:r>
            <a:r>
              <a:rPr lang="en-US" b="1" dirty="0">
                <a:solidFill>
                  <a:srgbClr val="FF0000"/>
                </a:solidFill>
              </a:rPr>
              <a:t>#define</a:t>
            </a:r>
            <a:r>
              <a:rPr lang="en-US" dirty="0">
                <a:solidFill>
                  <a:srgbClr val="FF0000"/>
                </a:solidFill>
              </a:rPr>
              <a:t> preprocessor.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Using </a:t>
            </a:r>
            <a:r>
              <a:rPr lang="en-US" b="1" dirty="0" err="1">
                <a:solidFill>
                  <a:srgbClr val="FF0000"/>
                </a:solidFill>
              </a:rPr>
              <a:t>const</a:t>
            </a:r>
            <a:r>
              <a:rPr lang="en-US" dirty="0">
                <a:solidFill>
                  <a:srgbClr val="FF0000"/>
                </a:solidFill>
              </a:rPr>
              <a:t> keyword.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63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The #define </a:t>
            </a:r>
            <a:r>
              <a:rPr lang="en-IN" dirty="0" err="1"/>
              <a:t>Preprocessor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Given below is the form to use #define preprocessor to define a constant −</a:t>
            </a:r>
          </a:p>
          <a:p>
            <a:endParaRPr lang="en-US" dirty="0"/>
          </a:p>
          <a:p>
            <a:r>
              <a:rPr lang="en-US" dirty="0"/>
              <a:t>#define identifier value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007" y="1555531"/>
            <a:ext cx="5456552" cy="5087007"/>
          </a:xfrm>
        </p:spPr>
      </p:pic>
    </p:spTree>
    <p:extLst>
      <p:ext uri="{BB962C8B-B14F-4D97-AF65-F5344CB8AC3E}">
        <p14:creationId xmlns:p14="http://schemas.microsoft.com/office/powerpoint/2010/main" val="2050874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const</a:t>
            </a:r>
            <a:r>
              <a:rPr lang="en-IN" dirty="0"/>
              <a:t> Keyword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You can use </a:t>
            </a:r>
            <a:r>
              <a:rPr lang="en-US" dirty="0" err="1"/>
              <a:t>const</a:t>
            </a:r>
            <a:r>
              <a:rPr lang="en-US" dirty="0"/>
              <a:t> prefix to declare constants with a specific type as follows −</a:t>
            </a:r>
          </a:p>
          <a:p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const</a:t>
            </a:r>
            <a:r>
              <a:rPr lang="en-US" dirty="0">
                <a:solidFill>
                  <a:srgbClr val="FF0000"/>
                </a:solidFill>
              </a:rPr>
              <a:t> type variable = value;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638" y="1534510"/>
            <a:ext cx="5235410" cy="4918841"/>
          </a:xfrm>
        </p:spPr>
      </p:pic>
    </p:spTree>
    <p:extLst>
      <p:ext uri="{BB962C8B-B14F-4D97-AF65-F5344CB8AC3E}">
        <p14:creationId xmlns:p14="http://schemas.microsoft.com/office/powerpoint/2010/main" val="3447715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195</TotalTime>
  <Words>483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Times New Roman</vt:lpstr>
      <vt:lpstr>Tw Cen MT</vt:lpstr>
      <vt:lpstr>Tw Cen MT Condensed</vt:lpstr>
      <vt:lpstr>Wingdings 3</vt:lpstr>
      <vt:lpstr>Integral</vt:lpstr>
      <vt:lpstr> C - Constants and Literals </vt:lpstr>
      <vt:lpstr>PowerPoint Presentation</vt:lpstr>
      <vt:lpstr>Integer Literals </vt:lpstr>
      <vt:lpstr>PowerPoint Presentation</vt:lpstr>
      <vt:lpstr>Floating-point Literals </vt:lpstr>
      <vt:lpstr>Character Constants </vt:lpstr>
      <vt:lpstr>PowerPoint Presentation</vt:lpstr>
      <vt:lpstr>PowerPoint Presentation</vt:lpstr>
      <vt:lpstr>String Literals </vt:lpstr>
      <vt:lpstr>Defining Constants </vt:lpstr>
      <vt:lpstr>The #define Preprocessor </vt:lpstr>
      <vt:lpstr>The const Keyword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- Constants and Literals</dc:title>
  <dc:creator>Staff</dc:creator>
  <cp:lastModifiedBy>VISHNU PRIYA P  M</cp:lastModifiedBy>
  <cp:revision>6</cp:revision>
  <dcterms:created xsi:type="dcterms:W3CDTF">2022-09-01T08:55:59Z</dcterms:created>
  <dcterms:modified xsi:type="dcterms:W3CDTF">2024-08-26T04:25:38Z</dcterms:modified>
</cp:coreProperties>
</file>