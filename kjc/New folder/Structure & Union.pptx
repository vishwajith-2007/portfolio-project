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301" r:id="rId7"/>
    <p:sldId id="261" r:id="rId8"/>
    <p:sldId id="303" r:id="rId9"/>
    <p:sldId id="262" r:id="rId10"/>
    <p:sldId id="30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304" r:id="rId47"/>
    <p:sldId id="298" r:id="rId48"/>
    <p:sldId id="299" r:id="rId49"/>
    <p:sldId id="300"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FE6D-1660-4290-A9E0-E6FE9DE81BC8}"/>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N"/>
          </a:p>
        </p:txBody>
      </p:sp>
      <p:sp>
        <p:nvSpPr>
          <p:cNvPr id="3" name="Subtitle 2">
            <a:extLst>
              <a:ext uri="{FF2B5EF4-FFF2-40B4-BE49-F238E27FC236}">
                <a16:creationId xmlns:a16="http://schemas.microsoft.com/office/drawing/2014/main" id="{36740B73-906B-43C8-A360-589059AC33D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390B8B0D-2A0A-4D8B-92E3-61C1B50F8A4D}"/>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5" name="Footer Placeholder 4">
            <a:extLst>
              <a:ext uri="{FF2B5EF4-FFF2-40B4-BE49-F238E27FC236}">
                <a16:creationId xmlns:a16="http://schemas.microsoft.com/office/drawing/2014/main" id="{70E5F531-974D-4B59-9795-A8975DAE3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077C8-6868-4CA1-947C-AA5278542FD2}"/>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1092935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A578-6CF5-453A-AE83-B2E60B41D275}"/>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749CD17C-2491-4C9A-AFD0-B3C8065A61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4BC0E786-0F70-485D-B3DF-E0D562272E21}"/>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5" name="Footer Placeholder 4">
            <a:extLst>
              <a:ext uri="{FF2B5EF4-FFF2-40B4-BE49-F238E27FC236}">
                <a16:creationId xmlns:a16="http://schemas.microsoft.com/office/drawing/2014/main" id="{D7CE4AA0-D6FA-4570-AE5E-22AEEA4234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FF25E-63A9-4030-8B3B-1C08E571430E}"/>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399167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C31F2-6673-42A4-BACC-5E8EB8FD1823}"/>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0C05C9AC-E37E-4C8C-A318-F9C4FEADD6D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B7FD44-A9C9-47A1-B499-6E416A189DBD}"/>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5" name="Footer Placeholder 4">
            <a:extLst>
              <a:ext uri="{FF2B5EF4-FFF2-40B4-BE49-F238E27FC236}">
                <a16:creationId xmlns:a16="http://schemas.microsoft.com/office/drawing/2014/main" id="{D9B5C6E1-04AF-4A86-8BA2-997B4D5DB0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FFE97-14C1-4272-ABA3-C5DDD8927071}"/>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373484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1EE32-9FBA-48A5-98C6-FF36EBE09EA8}"/>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C7DA050-02D1-4EE9-8CA0-74D2C0B3D317}"/>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BEF7C405-817A-4F8C-95FD-095C0323F65D}"/>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C4E741DF-C7FA-4464-B6F3-BD05280F62B4}"/>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6" name="Footer Placeholder 5">
            <a:extLst>
              <a:ext uri="{FF2B5EF4-FFF2-40B4-BE49-F238E27FC236}">
                <a16:creationId xmlns:a16="http://schemas.microsoft.com/office/drawing/2014/main" id="{E0CEA13F-5904-4977-83E2-C4A4DBED6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79D710-C6B8-4DDE-A90C-CC43E48F3463}"/>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2598418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573F6-D553-4FFB-8A36-B5680123E842}"/>
              </a:ext>
            </a:extLst>
          </p:cNvPr>
          <p:cNvSpPr>
            <a:spLocks noGrp="1"/>
          </p:cNvSpPr>
          <p:nvPr>
            <p:ph type="title"/>
          </p:nvPr>
        </p:nvSpPr>
        <p:spPr>
          <a:xfrm>
            <a:off x="629841" y="365126"/>
            <a:ext cx="78867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BFBAC23-493D-47AD-A3EC-F2337BCC340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EE877DAB-A38F-4170-B8E4-8DB1C2AE8ED5}"/>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0AC72642-7D67-461B-BE8C-DA16399BDD9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0446D463-9F35-4006-A6E7-2D63D8DE86DB}"/>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2350053E-A2DC-4DCF-BA14-189A1A48599B}"/>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8" name="Footer Placeholder 7">
            <a:extLst>
              <a:ext uri="{FF2B5EF4-FFF2-40B4-BE49-F238E27FC236}">
                <a16:creationId xmlns:a16="http://schemas.microsoft.com/office/drawing/2014/main" id="{EE2F6FBE-3430-472A-911E-EB11443AE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EDD854-2CE3-4021-81BF-022D91FE896B}"/>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3973804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123A-1667-4ED2-9679-928BEAFDD593}"/>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7FA63B68-1526-4D58-851B-CDEE9C464A89}"/>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4" name="Footer Placeholder 3">
            <a:extLst>
              <a:ext uri="{FF2B5EF4-FFF2-40B4-BE49-F238E27FC236}">
                <a16:creationId xmlns:a16="http://schemas.microsoft.com/office/drawing/2014/main" id="{CCA3DD88-3EE9-4E69-96B5-0B574B0B14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6B649A-8DD3-4B4D-A8C7-F47B49FC94E8}"/>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3724079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8E865C-C09E-4537-8D74-026E8E9032CA}"/>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3" name="Footer Placeholder 2">
            <a:extLst>
              <a:ext uri="{FF2B5EF4-FFF2-40B4-BE49-F238E27FC236}">
                <a16:creationId xmlns:a16="http://schemas.microsoft.com/office/drawing/2014/main" id="{D4CF8340-0A89-4D2C-88BD-FB37595171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765B4B-769A-42E4-9C84-4F7ED411DCD9}"/>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369492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04AD-52D1-4BE3-B3C1-CBAD2DB483DF}"/>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BDBCA84D-CACE-48E4-AC93-D91756BD868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89F7E0F1-7719-4A11-80F8-72DEF1C1554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DDAC5E7C-D805-4F72-ACAF-DF62265A9770}"/>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6" name="Footer Placeholder 5">
            <a:extLst>
              <a:ext uri="{FF2B5EF4-FFF2-40B4-BE49-F238E27FC236}">
                <a16:creationId xmlns:a16="http://schemas.microsoft.com/office/drawing/2014/main" id="{406897AA-7FA7-458D-BECD-DF084CFA54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DEE784-F0C8-4137-83AD-1EC173963350}"/>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4105617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B3360-B911-480B-BA71-746BA2D16C7E}"/>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1E48FC28-F2B1-4AB7-8964-58DA975E15A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7A85FB3-0830-4766-B021-B2C07FC9E66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FB0C3AD5-0724-4055-B383-0DE2580AF7B1}"/>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6" name="Footer Placeholder 5">
            <a:extLst>
              <a:ext uri="{FF2B5EF4-FFF2-40B4-BE49-F238E27FC236}">
                <a16:creationId xmlns:a16="http://schemas.microsoft.com/office/drawing/2014/main" id="{0F37CB9D-B6F5-46A1-81E6-438B3B6781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14DA72-7AE7-4DCF-A702-552CA27A3EE2}"/>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4269530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6AD8-A6CF-4A2E-8E51-9A78BFD1CC28}"/>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C3DC855A-2B6E-4BCA-AA2D-BE051278808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A258985-5C8F-43F8-A652-3729EBB14B25}"/>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5" name="Footer Placeholder 4">
            <a:extLst>
              <a:ext uri="{FF2B5EF4-FFF2-40B4-BE49-F238E27FC236}">
                <a16:creationId xmlns:a16="http://schemas.microsoft.com/office/drawing/2014/main" id="{E7A975F8-709E-4BBA-B728-FF5FC7A67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8C552-1A83-4107-B8CF-0CB8A917A378}"/>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4212683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07CD7-EAF3-4C5F-849B-96C071431CFE}"/>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8000F6A4-1F60-47A3-BB8C-6F7021468381}"/>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3028144-CE62-4E5F-AE21-5FC99D228C4B}"/>
              </a:ext>
            </a:extLst>
          </p:cNvPr>
          <p:cNvSpPr>
            <a:spLocks noGrp="1"/>
          </p:cNvSpPr>
          <p:nvPr>
            <p:ph type="dt" sz="half" idx="10"/>
          </p:nvPr>
        </p:nvSpPr>
        <p:spPr/>
        <p:txBody>
          <a:bodyPr/>
          <a:lstStyle/>
          <a:p>
            <a:fld id="{58DA1C69-486B-4435-9747-C584982BDF18}" type="datetimeFigureOut">
              <a:rPr lang="en-US" smtClean="0"/>
              <a:t>10/20/2024</a:t>
            </a:fld>
            <a:endParaRPr lang="en-US"/>
          </a:p>
        </p:txBody>
      </p:sp>
      <p:sp>
        <p:nvSpPr>
          <p:cNvPr id="5" name="Footer Placeholder 4">
            <a:extLst>
              <a:ext uri="{FF2B5EF4-FFF2-40B4-BE49-F238E27FC236}">
                <a16:creationId xmlns:a16="http://schemas.microsoft.com/office/drawing/2014/main" id="{4E46C77C-EF3E-4457-8D74-AB3D6AEE80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AE81EB-B080-4612-BB34-8D25AF9E3661}"/>
              </a:ext>
            </a:extLst>
          </p:cNvPr>
          <p:cNvSpPr>
            <a:spLocks noGrp="1"/>
          </p:cNvSpPr>
          <p:nvPr>
            <p:ph type="sldNum" sz="quarter" idx="12"/>
          </p:nvPr>
        </p:nvSpPr>
        <p:spPr/>
        <p:txBody>
          <a:bodyPr/>
          <a:lstStyle/>
          <a:p>
            <a:fld id="{77A4575F-A844-4DF3-A6DD-C97DAF36EF2E}" type="slidenum">
              <a:rPr lang="en-US" smtClean="0"/>
              <a:t>‹#›</a:t>
            </a:fld>
            <a:endParaRPr lang="en-US"/>
          </a:p>
        </p:txBody>
      </p:sp>
    </p:spTree>
    <p:extLst>
      <p:ext uri="{BB962C8B-B14F-4D97-AF65-F5344CB8AC3E}">
        <p14:creationId xmlns:p14="http://schemas.microsoft.com/office/powerpoint/2010/main" val="308220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3E154-C6D4-48D7-AF76-28C87B4AD4D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AED11152-1206-4217-B970-E8E07C2FA00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7385318-FFAD-4320-BD5D-1565FA93213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8DA1C69-486B-4435-9747-C584982BDF18}" type="datetimeFigureOut">
              <a:rPr lang="en-US" smtClean="0"/>
              <a:t>10/20/2024</a:t>
            </a:fld>
            <a:endParaRPr lang="en-US"/>
          </a:p>
        </p:txBody>
      </p:sp>
      <p:sp>
        <p:nvSpPr>
          <p:cNvPr id="5" name="Footer Placeholder 4">
            <a:extLst>
              <a:ext uri="{FF2B5EF4-FFF2-40B4-BE49-F238E27FC236}">
                <a16:creationId xmlns:a16="http://schemas.microsoft.com/office/drawing/2014/main" id="{703E1D90-1BA3-4F84-B808-6F2D561B0AA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93E5C1-B598-4480-B632-C1C7F35E53B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A4575F-A844-4DF3-A6DD-C97DAF36EF2E}" type="slidenum">
              <a:rPr lang="en-US" smtClean="0"/>
              <a:t>‹#›</a:t>
            </a:fld>
            <a:endParaRPr lang="en-US"/>
          </a:p>
        </p:txBody>
      </p:sp>
    </p:spTree>
    <p:extLst>
      <p:ext uri="{BB962C8B-B14F-4D97-AF65-F5344CB8AC3E}">
        <p14:creationId xmlns:p14="http://schemas.microsoft.com/office/powerpoint/2010/main" val="1016563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odeforwin.org/2018/06/structures-in-c-programming-need-and-use.html#define-then-declare" TargetMode="External"/><Relationship Id="rId2" Type="http://schemas.openxmlformats.org/officeDocument/2006/relationships/hyperlink" Target="https://codeforwin.org/2018/06/structures-in-c-programming-need-and-use.html#declare-and-defin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odeforwin.org/2017/09/functions-c-programming.html" TargetMode="External"/><Relationship Id="rId2" Type="http://schemas.openxmlformats.org/officeDocument/2006/relationships/hyperlink" Target="https://codeforwin.org/2017/08/various-declarations-main-function-c.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kristujayantiexamlms.com/mod/lesson/view.php?id=45309" TargetMode="External"/><Relationship Id="rId2" Type="http://schemas.openxmlformats.org/officeDocument/2006/relationships/hyperlink" Target="https://codeforwin.org/2017/10/pointers-in-c-declare-initialize-and-use.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dirty="0">
                <a:solidFill>
                  <a:srgbClr val="FF0000"/>
                </a:solidFill>
                <a:latin typeface="Times New Roman" pitchFamily="18" charset="0"/>
                <a:cs typeface="Times New Roman" pitchFamily="18" charset="0"/>
              </a:rPr>
              <a:t>Structures</a:t>
            </a:r>
            <a:endParaRPr lang="en-US" sz="54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527791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0" y="457200"/>
            <a:ext cx="9144000" cy="5549900"/>
          </a:xfrm>
        </p:spPr>
        <p:txBody>
          <a:bodyPr>
            <a:normAutofit/>
          </a:bodyPr>
          <a:lstStyle/>
          <a:p>
            <a:pPr marL="109728" indent="0" algn="just">
              <a:buNone/>
            </a:pPr>
            <a:r>
              <a:rPr lang="en-US" sz="2800" b="1" dirty="0">
                <a:solidFill>
                  <a:srgbClr val="FF0000"/>
                </a:solidFill>
              </a:rPr>
              <a:t>Structure Definition</a:t>
            </a:r>
            <a:r>
              <a:rPr lang="en-US" sz="2800" b="1" dirty="0"/>
              <a:t>:</a:t>
            </a:r>
          </a:p>
          <a:p>
            <a:pPr marL="109728" indent="0" algn="just">
              <a:buNone/>
            </a:pPr>
            <a:endParaRPr lang="en-US" sz="2800" dirty="0"/>
          </a:p>
          <a:p>
            <a:pPr algn="just"/>
            <a:r>
              <a:rPr lang="en-US" sz="2800" dirty="0"/>
              <a:t>Structure is a user defined data type. It is a collection of different data type, to create a new data type.</a:t>
            </a:r>
          </a:p>
          <a:p>
            <a:pPr algn="just"/>
            <a:r>
              <a:rPr lang="en-US" sz="2800" dirty="0"/>
              <a:t>For example, You can define your custom type for storing student record containing name, age and mobile. Creating structure type will allow you to handle all properties of student with single variable, instead of handling it separately.</a:t>
            </a:r>
          </a:p>
          <a:p>
            <a:pPr algn="just"/>
            <a:r>
              <a:rPr lang="en-US" sz="2800" dirty="0"/>
              <a:t>In short it is a data structure in which we can collect different types of data into one entity.</a:t>
            </a:r>
          </a:p>
        </p:txBody>
      </p:sp>
    </p:spTree>
    <p:extLst>
      <p:ext uri="{BB962C8B-B14F-4D97-AF65-F5344CB8AC3E}">
        <p14:creationId xmlns:p14="http://schemas.microsoft.com/office/powerpoint/2010/main" val="2027816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dirty="0">
                <a:solidFill>
                  <a:srgbClr val="FF0000"/>
                </a:solidFill>
              </a:rPr>
              <a:t>Declaration of Structure</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457200" y="1143000"/>
            <a:ext cx="8229600" cy="5562600"/>
          </a:xfrm>
        </p:spPr>
        <p:txBody>
          <a:bodyPr>
            <a:normAutofit/>
          </a:bodyPr>
          <a:lstStyle/>
          <a:p>
            <a:pPr marL="109728" indent="0">
              <a:buNone/>
            </a:pPr>
            <a:r>
              <a:rPr lang="en-US" dirty="0"/>
              <a:t> </a:t>
            </a:r>
            <a:r>
              <a:rPr lang="en-US" dirty="0">
                <a:latin typeface="Times New Roman" pitchFamily="18" charset="0"/>
                <a:cs typeface="Times New Roman" pitchFamily="18" charset="0"/>
              </a:rPr>
              <a:t>To declare or define a structure, we use </a:t>
            </a: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 keyword. It is a </a:t>
            </a:r>
            <a:r>
              <a:rPr lang="en-US" b="1" dirty="0">
                <a:latin typeface="Times New Roman" pitchFamily="18" charset="0"/>
                <a:cs typeface="Times New Roman" pitchFamily="18" charset="0"/>
              </a:rPr>
              <a:t>reserved word</a:t>
            </a:r>
            <a:r>
              <a:rPr lang="en-US" dirty="0">
                <a:latin typeface="Times New Roman" pitchFamily="18" charset="0"/>
                <a:cs typeface="Times New Roman" pitchFamily="18" charset="0"/>
              </a:rPr>
              <a:t> in the C . We must use it  for structure definition or its variable </a:t>
            </a:r>
            <a:r>
              <a:rPr lang="en-US" dirty="0" err="1">
                <a:latin typeface="Times New Roman" pitchFamily="18" charset="0"/>
                <a:cs typeface="Times New Roman" pitchFamily="18" charset="0"/>
              </a:rPr>
              <a:t>declaration.The</a:t>
            </a:r>
            <a:r>
              <a:rPr lang="en-US" dirty="0">
                <a:latin typeface="Times New Roman" pitchFamily="18" charset="0"/>
                <a:cs typeface="Times New Roman" pitchFamily="18" charset="0"/>
              </a:rPr>
              <a:t> following syntax is for defining a structure with its members.</a:t>
            </a:r>
          </a:p>
          <a:p>
            <a:r>
              <a:rPr lang="en-US" b="1" dirty="0">
                <a:latin typeface="Times New Roman" pitchFamily="18" charset="0"/>
                <a:cs typeface="Times New Roman" pitchFamily="18" charset="0"/>
              </a:rPr>
              <a:t>Syntax</a:t>
            </a:r>
            <a:r>
              <a:rPr lang="en-US" dirty="0">
                <a:latin typeface="Times New Roman" pitchFamily="18" charset="0"/>
                <a:cs typeface="Times New Roman" pitchFamily="18" charset="0"/>
              </a:rPr>
              <a:t>:  </a:t>
            </a:r>
          </a:p>
          <a:p>
            <a:pPr marL="109728" indent="0">
              <a:buNone/>
            </a:pPr>
            <a:r>
              <a:rPr lang="en-US" b="1" dirty="0" err="1">
                <a:latin typeface="Times New Roman" pitchFamily="18" charset="0"/>
                <a:cs typeface="Times New Roman" pitchFamily="18" charset="0"/>
              </a:rPr>
              <a:t>struct</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tagname</a:t>
            </a:r>
            <a:r>
              <a:rPr lang="en-US" dirty="0">
                <a:latin typeface="Times New Roman" pitchFamily="18" charset="0"/>
                <a:cs typeface="Times New Roman" pitchFamily="18" charset="0"/>
              </a:rPr>
              <a:t>      // where </a:t>
            </a: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 is the keyword and </a:t>
            </a:r>
            <a:r>
              <a:rPr lang="en-US" dirty="0" err="1">
                <a:latin typeface="Times New Roman" pitchFamily="18" charset="0"/>
                <a:cs typeface="Times New Roman" pitchFamily="18" charset="0"/>
              </a:rPr>
              <a:t>tagname</a:t>
            </a:r>
            <a:r>
              <a:rPr lang="en-US" dirty="0">
                <a:latin typeface="Times New Roman" pitchFamily="18" charset="0"/>
                <a:cs typeface="Times New Roman" pitchFamily="18" charset="0"/>
              </a:rPr>
              <a:t> is the structure name</a:t>
            </a:r>
          </a:p>
          <a:p>
            <a:pPr marL="109728" indent="0">
              <a:buNone/>
            </a:pPr>
            <a:r>
              <a:rPr lang="en-US" b="1"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109728" indent="0">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type member name 1;</a:t>
            </a:r>
            <a:br>
              <a:rPr lang="en-US" b="1"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type member name 2;</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           type member name 3;   //Declaration of Structure members</a:t>
            </a:r>
            <a:endParaRPr lang="en-US" dirty="0">
              <a:latin typeface="Times New Roman" pitchFamily="18" charset="0"/>
              <a:cs typeface="Times New Roman" pitchFamily="18" charset="0"/>
            </a:endParaRPr>
          </a:p>
          <a:p>
            <a:pPr marL="109728" indent="0">
              <a:buNone/>
            </a:pPr>
            <a:r>
              <a:rPr lang="en-US" dirty="0">
                <a:latin typeface="Times New Roman" pitchFamily="18" charset="0"/>
                <a:cs typeface="Times New Roman" pitchFamily="18" charset="0"/>
              </a:rPr>
              <a:t>            "           "</a:t>
            </a:r>
          </a:p>
          <a:p>
            <a:pPr marL="109728" indent="0">
              <a:buNone/>
            </a:pPr>
            <a:r>
              <a:rPr lang="en-US" dirty="0">
                <a:latin typeface="Times New Roman" pitchFamily="18" charset="0"/>
                <a:cs typeface="Times New Roman" pitchFamily="18" charset="0"/>
              </a:rPr>
              <a:t>             "           "</a:t>
            </a:r>
          </a:p>
          <a:p>
            <a:pPr marL="109728" indent="0">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type member name n;</a:t>
            </a:r>
            <a:endParaRPr lang="en-US" dirty="0">
              <a:latin typeface="Times New Roman" pitchFamily="18" charset="0"/>
              <a:cs typeface="Times New Roman" pitchFamily="18" charset="0"/>
            </a:endParaRPr>
          </a:p>
          <a:p>
            <a:pPr marL="109728" indent="0">
              <a:buNone/>
            </a:pPr>
            <a:r>
              <a:rPr lang="en-US" b="1"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109728" indent="0">
              <a:buNone/>
            </a:pPr>
            <a:endParaRPr lang="en-US" dirty="0"/>
          </a:p>
        </p:txBody>
      </p:sp>
    </p:spTree>
    <p:extLst>
      <p:ext uri="{BB962C8B-B14F-4D97-AF65-F5344CB8AC3E}">
        <p14:creationId xmlns:p14="http://schemas.microsoft.com/office/powerpoint/2010/main" val="3212075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457200"/>
            <a:ext cx="8210550" cy="5719763"/>
          </a:xfrm>
        </p:spPr>
        <p:txBody>
          <a:bodyPr>
            <a:normAutofit/>
          </a:bodyPr>
          <a:lstStyle/>
          <a:p>
            <a:pPr marL="109728" indent="0" algn="just">
              <a:buNone/>
            </a:pPr>
            <a:r>
              <a:rPr lang="en-US" sz="2800" b="1" dirty="0">
                <a:solidFill>
                  <a:srgbClr val="FF0000"/>
                </a:solidFill>
              </a:rPr>
              <a:t>Declaration of structure variables:</a:t>
            </a:r>
            <a:endParaRPr lang="en-US" sz="2800" dirty="0">
              <a:solidFill>
                <a:srgbClr val="FF0000"/>
              </a:solidFill>
            </a:endParaRPr>
          </a:p>
          <a:p>
            <a:pPr algn="just"/>
            <a:r>
              <a:rPr lang="en-US" sz="2800" dirty="0">
                <a:latin typeface="Times New Roman" pitchFamily="18" charset="0"/>
                <a:cs typeface="Times New Roman" pitchFamily="18" charset="0"/>
              </a:rPr>
              <a:t>A data type is useless without variables. A data type defines various properties about data stored in memory. To use any type we must declare its variable. Hence, let us learn how to create our custom structure type objects also known as structure variable.</a:t>
            </a:r>
            <a:br>
              <a:rPr lang="en-US" sz="2800" dirty="0">
                <a:latin typeface="Times New Roman" pitchFamily="18" charset="0"/>
                <a:cs typeface="Times New Roman" pitchFamily="18" charset="0"/>
              </a:rPr>
            </a:b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In C programming, there are two ways to declare a structure variable:</a:t>
            </a:r>
          </a:p>
          <a:p>
            <a:pPr marL="109728" indent="0" algn="just">
              <a:buNone/>
            </a:pPr>
            <a:r>
              <a:rPr lang="en-US" sz="2800" dirty="0">
                <a:latin typeface="Times New Roman" pitchFamily="18" charset="0"/>
                <a:cs typeface="Times New Roman" pitchFamily="18" charset="0"/>
                <a:hlinkClick r:id="rId2"/>
              </a:rPr>
              <a:t>Along with structure definition</a:t>
            </a:r>
            <a:endParaRPr lang="en-US" sz="2800" dirty="0">
              <a:latin typeface="Times New Roman" pitchFamily="18" charset="0"/>
              <a:cs typeface="Times New Roman" pitchFamily="18" charset="0"/>
            </a:endParaRPr>
          </a:p>
          <a:p>
            <a:pPr marL="109728" indent="0" algn="just">
              <a:buNone/>
            </a:pPr>
            <a:r>
              <a:rPr lang="en-US" sz="2800" dirty="0">
                <a:latin typeface="Times New Roman" pitchFamily="18" charset="0"/>
                <a:cs typeface="Times New Roman" pitchFamily="18" charset="0"/>
                <a:hlinkClick r:id="rId3"/>
              </a:rPr>
              <a:t>After structure definition</a:t>
            </a:r>
            <a:endParaRPr lang="en-US" sz="2800" dirty="0">
              <a:latin typeface="Times New Roman" pitchFamily="18" charset="0"/>
              <a:cs typeface="Times New Roman" pitchFamily="18" charset="0"/>
            </a:endParaRPr>
          </a:p>
          <a:p>
            <a:pPr marL="109728" indent="0" algn="just">
              <a:buNone/>
            </a:pPr>
            <a:endParaRPr lang="en-US" sz="2800" dirty="0"/>
          </a:p>
        </p:txBody>
      </p:sp>
    </p:spTree>
    <p:extLst>
      <p:ext uri="{BB962C8B-B14F-4D97-AF65-F5344CB8AC3E}">
        <p14:creationId xmlns:p14="http://schemas.microsoft.com/office/powerpoint/2010/main" val="608277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
            <a:ext cx="8058150" cy="6024563"/>
          </a:xfrm>
        </p:spPr>
        <p:txBody>
          <a:bodyPr>
            <a:normAutofit/>
          </a:bodyPr>
          <a:lstStyle/>
          <a:p>
            <a:pPr marL="109728" indent="0">
              <a:buNone/>
            </a:pPr>
            <a:r>
              <a:rPr lang="en-US" sz="2800" b="1" dirty="0"/>
              <a:t>Declaration along with the structure definition</a:t>
            </a:r>
          </a:p>
          <a:p>
            <a:r>
              <a:rPr lang="en-US" sz="2800" dirty="0"/>
              <a:t>In this we can declare a structure variable along with structure before terminating the structure definition.</a:t>
            </a:r>
          </a:p>
          <a:p>
            <a:pPr marL="109728" indent="0">
              <a:buNone/>
            </a:pPr>
            <a:r>
              <a:rPr lang="en-US" sz="2800" b="1" dirty="0"/>
              <a:t>Syntax:</a:t>
            </a:r>
            <a:endParaRPr lang="en-US" sz="2800" dirty="0"/>
          </a:p>
          <a:p>
            <a:pPr marL="109728" indent="0">
              <a:buNone/>
            </a:pPr>
            <a:r>
              <a:rPr lang="en-US" sz="2800" dirty="0" err="1"/>
              <a:t>struct</a:t>
            </a:r>
            <a:r>
              <a:rPr lang="en-US" sz="2800" dirty="0"/>
              <a:t> </a:t>
            </a:r>
            <a:r>
              <a:rPr lang="en-US" sz="2800" dirty="0" err="1"/>
              <a:t>structure_name</a:t>
            </a:r>
            <a:br>
              <a:rPr lang="en-US" sz="2800" dirty="0"/>
            </a:br>
            <a:r>
              <a:rPr lang="en-US" sz="2800" dirty="0"/>
              <a:t> {</a:t>
            </a:r>
            <a:br>
              <a:rPr lang="en-US" sz="2800" dirty="0"/>
            </a:br>
            <a:r>
              <a:rPr lang="en-US" sz="2800" dirty="0"/>
              <a:t>        member1_declaration;</a:t>
            </a:r>
            <a:br>
              <a:rPr lang="en-US" sz="2800" dirty="0"/>
            </a:br>
            <a:r>
              <a:rPr lang="en-US" sz="2800" dirty="0"/>
              <a:t>        member2_declaration;</a:t>
            </a:r>
            <a:br>
              <a:rPr lang="en-US" sz="2800" dirty="0"/>
            </a:br>
            <a:r>
              <a:rPr lang="en-US" sz="2800" dirty="0"/>
              <a:t>         ... ...</a:t>
            </a:r>
            <a:br>
              <a:rPr lang="en-US" sz="2800" dirty="0"/>
            </a:br>
            <a:r>
              <a:rPr lang="en-US" sz="2800" dirty="0"/>
              <a:t>        </a:t>
            </a:r>
            <a:r>
              <a:rPr lang="en-US" sz="2800" dirty="0" err="1"/>
              <a:t>memberN_declaration</a:t>
            </a:r>
            <a:r>
              <a:rPr lang="en-US" sz="2800" dirty="0"/>
              <a:t>;</a:t>
            </a:r>
            <a:br>
              <a:rPr lang="en-US" sz="2800" dirty="0"/>
            </a:br>
            <a:r>
              <a:rPr lang="en-US" sz="2800" dirty="0"/>
              <a:t> }</a:t>
            </a:r>
          </a:p>
          <a:p>
            <a:pPr marL="109728" indent="0">
              <a:buNone/>
            </a:pPr>
            <a:r>
              <a:rPr lang="en-US" sz="2800" dirty="0" err="1"/>
              <a:t>structure_variable</a:t>
            </a:r>
            <a:r>
              <a:rPr lang="en-US" sz="2800" dirty="0"/>
              <a:t>;</a:t>
            </a:r>
            <a:br>
              <a:rPr lang="en-US" sz="2800" dirty="0"/>
            </a:br>
            <a:endParaRPr lang="en-US" sz="2800" dirty="0"/>
          </a:p>
          <a:p>
            <a:pPr marL="109728" indent="0">
              <a:buNone/>
            </a:pPr>
            <a:endParaRPr lang="en-US" sz="2800" dirty="0"/>
          </a:p>
        </p:txBody>
      </p:sp>
    </p:spTree>
    <p:extLst>
      <p:ext uri="{BB962C8B-B14F-4D97-AF65-F5344CB8AC3E}">
        <p14:creationId xmlns:p14="http://schemas.microsoft.com/office/powerpoint/2010/main" val="1186158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058150" cy="5567363"/>
          </a:xfrm>
        </p:spPr>
        <p:txBody>
          <a:bodyPr>
            <a:normAutofit/>
          </a:bodyPr>
          <a:lstStyle/>
          <a:p>
            <a:r>
              <a:rPr lang="en-US" sz="2800" dirty="0"/>
              <a:t>So, if it is needed to declare student type variable along with student structure definition we can use this approach.</a:t>
            </a:r>
          </a:p>
          <a:p>
            <a:r>
              <a:rPr lang="en-US" sz="2800" dirty="0"/>
              <a:t>Example:</a:t>
            </a:r>
          </a:p>
          <a:p>
            <a:pPr marL="109728" indent="0">
              <a:buNone/>
            </a:pPr>
            <a:r>
              <a:rPr lang="en-US" sz="2800" dirty="0" err="1"/>
              <a:t>struct</a:t>
            </a:r>
            <a:r>
              <a:rPr lang="en-US" sz="2800" dirty="0"/>
              <a:t> student</a:t>
            </a:r>
          </a:p>
          <a:p>
            <a:pPr marL="109728" indent="0">
              <a:buNone/>
            </a:pPr>
            <a:r>
              <a:rPr lang="en-US" sz="2800" dirty="0"/>
              <a:t>{</a:t>
            </a:r>
          </a:p>
          <a:p>
            <a:pPr marL="109728" indent="0">
              <a:buNone/>
            </a:pPr>
            <a:r>
              <a:rPr lang="en-US" sz="2800" dirty="0"/>
              <a:t>    char name[40];        // Student name</a:t>
            </a:r>
          </a:p>
          <a:p>
            <a:pPr marL="109728" indent="0">
              <a:buNone/>
            </a:pPr>
            <a:r>
              <a:rPr lang="en-US" sz="2800" dirty="0"/>
              <a:t>    </a:t>
            </a:r>
            <a:r>
              <a:rPr lang="en-US" sz="2800" dirty="0" err="1"/>
              <a:t>int</a:t>
            </a:r>
            <a:r>
              <a:rPr lang="en-US" sz="2800" dirty="0"/>
              <a:t>  age;             // Student age</a:t>
            </a:r>
          </a:p>
          <a:p>
            <a:pPr marL="109728" indent="0">
              <a:buNone/>
            </a:pPr>
            <a:r>
              <a:rPr lang="en-US" sz="2800" dirty="0"/>
              <a:t>    unsigned long mobile; // Student mobile number</a:t>
            </a:r>
          </a:p>
          <a:p>
            <a:pPr marL="109728" indent="0">
              <a:buNone/>
            </a:pPr>
            <a:r>
              <a:rPr lang="en-US" sz="2800" dirty="0"/>
              <a:t>}s1;</a:t>
            </a:r>
          </a:p>
          <a:p>
            <a:pPr marL="109728" indent="0">
              <a:buNone/>
            </a:pPr>
            <a:endParaRPr lang="en-US" sz="2800" dirty="0"/>
          </a:p>
        </p:txBody>
      </p:sp>
    </p:spTree>
    <p:extLst>
      <p:ext uri="{BB962C8B-B14F-4D97-AF65-F5344CB8AC3E}">
        <p14:creationId xmlns:p14="http://schemas.microsoft.com/office/powerpoint/2010/main" val="416150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457200"/>
            <a:ext cx="8134350" cy="5719763"/>
          </a:xfrm>
        </p:spPr>
        <p:txBody>
          <a:bodyPr>
            <a:normAutofit/>
          </a:bodyPr>
          <a:lstStyle/>
          <a:p>
            <a:pPr marL="109728" indent="0" algn="just">
              <a:buNone/>
            </a:pPr>
            <a:r>
              <a:rPr lang="en-US" sz="2800" b="1" dirty="0"/>
              <a:t>Declaration after structure definition</a:t>
            </a:r>
          </a:p>
          <a:p>
            <a:pPr algn="just"/>
            <a:r>
              <a:rPr lang="en-US" sz="2800" dirty="0"/>
              <a:t>The other way to declare structure variable anywhere in program based on the structure scope. If structure is defined in global scope, we can declare its variable in </a:t>
            </a:r>
            <a:r>
              <a:rPr lang="en-US" sz="2800" b="1" u="sng" dirty="0">
                <a:hlinkClick r:id="rId2"/>
              </a:rPr>
              <a:t>main() function</a:t>
            </a:r>
            <a:r>
              <a:rPr lang="en-US" sz="2800" dirty="0"/>
              <a:t>, any other </a:t>
            </a:r>
            <a:r>
              <a:rPr lang="en-US" sz="2800" b="1" u="sng" dirty="0">
                <a:hlinkClick r:id="rId3"/>
              </a:rPr>
              <a:t>functions</a:t>
            </a:r>
            <a:r>
              <a:rPr lang="en-US" sz="2800" dirty="0"/>
              <a:t> and in the global section too.</a:t>
            </a:r>
          </a:p>
          <a:p>
            <a:pPr algn="just"/>
            <a:r>
              <a:rPr lang="en-US" sz="2800" dirty="0"/>
              <a:t>Syntax:</a:t>
            </a:r>
          </a:p>
        </p:txBody>
      </p:sp>
    </p:spTree>
    <p:extLst>
      <p:ext uri="{BB962C8B-B14F-4D97-AF65-F5344CB8AC3E}">
        <p14:creationId xmlns:p14="http://schemas.microsoft.com/office/powerpoint/2010/main" val="66123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
            <a:ext cx="8058150" cy="6024563"/>
          </a:xfrm>
        </p:spPr>
        <p:txBody>
          <a:bodyPr>
            <a:normAutofit fontScale="92500"/>
          </a:bodyPr>
          <a:lstStyle/>
          <a:p>
            <a:pPr marL="109728" indent="0">
              <a:buNone/>
            </a:pPr>
            <a:r>
              <a:rPr lang="en-US" sz="2800" dirty="0" err="1"/>
              <a:t>struct</a:t>
            </a:r>
            <a:r>
              <a:rPr lang="en-US" sz="2800" dirty="0"/>
              <a:t> </a:t>
            </a:r>
            <a:r>
              <a:rPr lang="en-US" sz="2800" dirty="0" err="1"/>
              <a:t>tagname</a:t>
            </a:r>
            <a:r>
              <a:rPr lang="en-US" sz="2800" dirty="0"/>
              <a:t> </a:t>
            </a:r>
            <a:r>
              <a:rPr lang="en-US" sz="2800" dirty="0" err="1"/>
              <a:t>variablename</a:t>
            </a:r>
            <a:endParaRPr lang="en-US" sz="2800" dirty="0"/>
          </a:p>
          <a:p>
            <a:pPr marL="109728" indent="0">
              <a:buNone/>
            </a:pPr>
            <a:r>
              <a:rPr lang="en-US" sz="2800" dirty="0"/>
              <a:t> where  </a:t>
            </a:r>
            <a:r>
              <a:rPr lang="en-US" sz="2800" dirty="0" err="1"/>
              <a:t>struct</a:t>
            </a:r>
            <a:r>
              <a:rPr lang="en-US" sz="2800" dirty="0"/>
              <a:t> is the Keyword ,</a:t>
            </a:r>
            <a:r>
              <a:rPr lang="en-US" sz="2800" dirty="0" err="1"/>
              <a:t>tagname</a:t>
            </a:r>
            <a:r>
              <a:rPr lang="en-US" sz="2800" dirty="0"/>
              <a:t> is the structure name and </a:t>
            </a:r>
            <a:r>
              <a:rPr lang="en-US" sz="2800" dirty="0" err="1"/>
              <a:t>variablename</a:t>
            </a:r>
            <a:r>
              <a:rPr lang="en-US" sz="2800" dirty="0"/>
              <a:t> is the   structure variable</a:t>
            </a:r>
          </a:p>
          <a:p>
            <a:r>
              <a:rPr lang="en-US" sz="2800" b="1" dirty="0"/>
              <a:t>Example:</a:t>
            </a:r>
            <a:endParaRPr lang="en-US" sz="2800" dirty="0"/>
          </a:p>
          <a:p>
            <a:pPr marL="109728" indent="0">
              <a:buNone/>
            </a:pPr>
            <a:r>
              <a:rPr lang="en-US" sz="2800" dirty="0" err="1"/>
              <a:t>struct</a:t>
            </a:r>
            <a:r>
              <a:rPr lang="en-US" sz="2800" dirty="0"/>
              <a:t> student </a:t>
            </a:r>
          </a:p>
          <a:p>
            <a:pPr marL="109728" indent="0">
              <a:buNone/>
            </a:pPr>
            <a:r>
              <a:rPr lang="en-US" sz="2800" dirty="0"/>
              <a:t>{ </a:t>
            </a:r>
          </a:p>
          <a:p>
            <a:pPr marL="109728" indent="0">
              <a:buNone/>
            </a:pPr>
            <a:r>
              <a:rPr lang="en-US" sz="2800" dirty="0"/>
              <a:t>       char name[40];                      //Student name</a:t>
            </a:r>
          </a:p>
          <a:p>
            <a:pPr marL="109728" indent="0">
              <a:buNone/>
            </a:pPr>
            <a:r>
              <a:rPr lang="en-US" sz="2800" dirty="0"/>
              <a:t>       </a:t>
            </a:r>
            <a:r>
              <a:rPr lang="en-US" sz="2800" dirty="0" err="1"/>
              <a:t>int</a:t>
            </a:r>
            <a:r>
              <a:rPr lang="en-US" sz="2800" dirty="0"/>
              <a:t> age;                                    // Student name </a:t>
            </a:r>
            <a:r>
              <a:rPr lang="en-US" sz="2800" dirty="0" err="1"/>
              <a:t>int</a:t>
            </a:r>
            <a:r>
              <a:rPr lang="en-US" sz="2800" dirty="0"/>
              <a:t> age; </a:t>
            </a:r>
          </a:p>
          <a:p>
            <a:pPr marL="109728" indent="0">
              <a:buNone/>
            </a:pPr>
            <a:r>
              <a:rPr lang="en-US" sz="2800" dirty="0"/>
              <a:t>       unsigned long mobile;           // Student mobile number</a:t>
            </a:r>
          </a:p>
          <a:p>
            <a:pPr marL="109728" indent="0">
              <a:buNone/>
            </a:pPr>
            <a:r>
              <a:rPr lang="en-US" sz="2800" dirty="0"/>
              <a:t>}; </a:t>
            </a:r>
          </a:p>
          <a:p>
            <a:pPr marL="109728" indent="0">
              <a:buNone/>
            </a:pPr>
            <a:r>
              <a:rPr lang="en-US" sz="2800" dirty="0"/>
              <a:t> </a:t>
            </a:r>
            <a:r>
              <a:rPr lang="en-US" sz="2800" dirty="0" err="1"/>
              <a:t>struct</a:t>
            </a:r>
            <a:r>
              <a:rPr lang="en-US" sz="2800" dirty="0"/>
              <a:t> student s1;                 // Declare student variable s1</a:t>
            </a:r>
          </a:p>
          <a:p>
            <a:pPr marL="109728" indent="0">
              <a:buNone/>
            </a:pPr>
            <a:endParaRPr lang="en-US" sz="2800" dirty="0"/>
          </a:p>
          <a:p>
            <a:pPr marL="109728" indent="0">
              <a:buNone/>
            </a:pPr>
            <a:endParaRPr lang="en-US" sz="2800" dirty="0"/>
          </a:p>
        </p:txBody>
      </p:sp>
    </p:spTree>
    <p:extLst>
      <p:ext uri="{BB962C8B-B14F-4D97-AF65-F5344CB8AC3E}">
        <p14:creationId xmlns:p14="http://schemas.microsoft.com/office/powerpoint/2010/main" val="3278644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058150" cy="5567363"/>
          </a:xfrm>
        </p:spPr>
        <p:txBody>
          <a:bodyPr>
            <a:normAutofit/>
          </a:bodyPr>
          <a:lstStyle/>
          <a:p>
            <a:pPr marL="109728" indent="0" algn="just">
              <a:buNone/>
            </a:pPr>
            <a:r>
              <a:rPr lang="en-US" sz="2800" b="1" dirty="0">
                <a:solidFill>
                  <a:srgbClr val="FF0000"/>
                </a:solidFill>
              </a:rPr>
              <a:t>Accessing Structure fields:</a:t>
            </a:r>
            <a:endParaRPr lang="en-US" sz="2800" dirty="0">
              <a:solidFill>
                <a:srgbClr val="FF0000"/>
              </a:solidFill>
            </a:endParaRPr>
          </a:p>
          <a:p>
            <a:pPr algn="just"/>
            <a:r>
              <a:rPr lang="en-US" sz="2800" dirty="0">
                <a:latin typeface="Times New Roman" pitchFamily="18" charset="0"/>
                <a:cs typeface="Times New Roman" pitchFamily="18" charset="0"/>
              </a:rPr>
              <a:t>Since structure is a complex data type, we cannot assign any value directly to it using assignment operator. We must assign data to individual structure members separately and C supports two operators to access structure members, using a structure variable.</a:t>
            </a:r>
          </a:p>
          <a:p>
            <a:pPr marL="109728" indent="0" algn="just">
              <a:buNone/>
            </a:pPr>
            <a:endParaRPr lang="en-US" sz="2800" dirty="0"/>
          </a:p>
        </p:txBody>
      </p:sp>
    </p:spTree>
    <p:extLst>
      <p:ext uri="{BB962C8B-B14F-4D97-AF65-F5344CB8AC3E}">
        <p14:creationId xmlns:p14="http://schemas.microsoft.com/office/powerpoint/2010/main" val="403161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381000"/>
            <a:ext cx="8134350" cy="5795963"/>
          </a:xfrm>
        </p:spPr>
        <p:txBody>
          <a:bodyPr>
            <a:normAutofit/>
          </a:bodyPr>
          <a:lstStyle/>
          <a:p>
            <a:pPr marL="109728" indent="0">
              <a:buNone/>
            </a:pPr>
            <a:r>
              <a:rPr lang="en-US" sz="2400" dirty="0"/>
              <a:t>Dot/period operator .</a:t>
            </a:r>
          </a:p>
          <a:p>
            <a:pPr marL="109728" indent="0">
              <a:buNone/>
            </a:pPr>
            <a:r>
              <a:rPr lang="en-US" sz="2400" dirty="0"/>
              <a:t>Arrow operator -&gt;</a:t>
            </a:r>
          </a:p>
          <a:p>
            <a:r>
              <a:rPr lang="en-US" sz="2400" b="1" dirty="0"/>
              <a:t>Dot/period operator</a:t>
            </a:r>
            <a:r>
              <a:rPr lang="en-US" sz="2400" dirty="0"/>
              <a:t> also known as member access operator. We use dot operator to access members of simple structure variable.</a:t>
            </a:r>
            <a:br>
              <a:rPr lang="en-US" sz="2400" dirty="0"/>
            </a:br>
            <a:r>
              <a:rPr lang="en-US" sz="2400" dirty="0"/>
              <a:t>To refer to a member,  use the syntax ,</a:t>
            </a:r>
          </a:p>
          <a:p>
            <a:r>
              <a:rPr lang="en-US" sz="2400" dirty="0" err="1"/>
              <a:t>structurevariablename.member</a:t>
            </a:r>
            <a:r>
              <a:rPr lang="en-US" sz="2400" dirty="0"/>
              <a:t> name;</a:t>
            </a:r>
          </a:p>
          <a:p>
            <a:r>
              <a:rPr lang="en-US" sz="2400" dirty="0"/>
              <a:t>‘.’ is the dot operator used between the structure variable  and structure member.</a:t>
            </a:r>
          </a:p>
          <a:p>
            <a:pPr marL="109728" indent="0">
              <a:buNone/>
            </a:pPr>
            <a:endParaRPr lang="en-US" sz="2400" dirty="0"/>
          </a:p>
        </p:txBody>
      </p:sp>
    </p:spTree>
    <p:extLst>
      <p:ext uri="{BB962C8B-B14F-4D97-AF65-F5344CB8AC3E}">
        <p14:creationId xmlns:p14="http://schemas.microsoft.com/office/powerpoint/2010/main" val="851074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228600"/>
            <a:ext cx="7981950" cy="5948363"/>
          </a:xfrm>
        </p:spPr>
        <p:txBody>
          <a:bodyPr/>
          <a:lstStyle/>
          <a:p>
            <a:r>
              <a:rPr lang="en-US" b="1" dirty="0"/>
              <a:t>Example:</a:t>
            </a:r>
            <a:endParaRPr lang="en-US" dirty="0"/>
          </a:p>
          <a:p>
            <a:r>
              <a:rPr lang="en-US" dirty="0"/>
              <a:t>student1.age = 26;</a:t>
            </a:r>
            <a:br>
              <a:rPr lang="en-US" dirty="0"/>
            </a:br>
            <a:r>
              <a:rPr lang="en-US" dirty="0"/>
              <a:t>Since structure is a user defined type and we can have </a:t>
            </a:r>
            <a:r>
              <a:rPr lang="en-US" b="1" u="sng" dirty="0">
                <a:hlinkClick r:id="rId2"/>
              </a:rPr>
              <a:t>pointers</a:t>
            </a:r>
            <a:r>
              <a:rPr lang="en-US" dirty="0"/>
              <a:t> to any type. Hence, we may also create </a:t>
            </a:r>
            <a:r>
              <a:rPr lang="en-US" b="1" u="sng" dirty="0">
                <a:hlinkClick r:id="rId3" tooltip="Pointers"/>
              </a:rPr>
              <a:t>pointers</a:t>
            </a:r>
            <a:r>
              <a:rPr lang="en-US" dirty="0"/>
              <a:t> to </a:t>
            </a:r>
            <a:r>
              <a:rPr lang="en-US" dirty="0" err="1"/>
              <a:t>structure.and</a:t>
            </a:r>
            <a:r>
              <a:rPr lang="en-US" dirty="0"/>
              <a:t> in that case  We use </a:t>
            </a:r>
            <a:r>
              <a:rPr lang="en-US" b="1" dirty="0"/>
              <a:t>arrow operator -&gt;</a:t>
            </a:r>
            <a:r>
              <a:rPr lang="en-US" dirty="0"/>
              <a:t> to access structure member from pointer to structure.</a:t>
            </a:r>
          </a:p>
          <a:p>
            <a:pPr marL="109728" indent="0">
              <a:buNone/>
            </a:pPr>
            <a:endParaRPr lang="en-US" dirty="0"/>
          </a:p>
        </p:txBody>
      </p:sp>
    </p:spTree>
    <p:extLst>
      <p:ext uri="{BB962C8B-B14F-4D97-AF65-F5344CB8AC3E}">
        <p14:creationId xmlns:p14="http://schemas.microsoft.com/office/powerpoint/2010/main" val="19390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228600"/>
            <a:ext cx="7981950" cy="5948363"/>
          </a:xfrm>
        </p:spPr>
        <p:txBody>
          <a:bodyPr>
            <a:normAutofit/>
          </a:bodyPr>
          <a:lstStyle/>
          <a:p>
            <a:pPr marL="109728" indent="0">
              <a:buNone/>
            </a:pPr>
            <a:r>
              <a:rPr lang="en-US" sz="2400" b="1" dirty="0">
                <a:latin typeface="Times New Roman" pitchFamily="18" charset="0"/>
                <a:cs typeface="Times New Roman" pitchFamily="18" charset="0"/>
              </a:rPr>
              <a:t>Structure Initialization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Structure can be initialized by </a:t>
            </a:r>
            <a:r>
              <a:rPr lang="en-US" sz="2400" b="1" dirty="0">
                <a:latin typeface="Times New Roman" pitchFamily="18" charset="0"/>
                <a:cs typeface="Times New Roman" pitchFamily="18" charset="0"/>
              </a:rPr>
              <a:t>two methods</a:t>
            </a:r>
            <a:endParaRPr lang="en-US" sz="2400" dirty="0">
              <a:latin typeface="Times New Roman" pitchFamily="18" charset="0"/>
              <a:cs typeface="Times New Roman" pitchFamily="18" charset="0"/>
            </a:endParaRPr>
          </a:p>
          <a:p>
            <a:pPr marL="109728" indent="0">
              <a:buNone/>
            </a:pPr>
            <a:r>
              <a:rPr lang="en-US" sz="2400" b="1" dirty="0">
                <a:latin typeface="Times New Roman" pitchFamily="18" charset="0"/>
                <a:cs typeface="Times New Roman" pitchFamily="18" charset="0"/>
              </a:rPr>
              <a:t>Method 1</a:t>
            </a:r>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struct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studentDetails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std</a:t>
            </a:r>
            <a:r>
              <a:rPr lang="en-US" sz="2400" dirty="0">
                <a:latin typeface="Times New Roman" pitchFamily="18" charset="0"/>
                <a:cs typeface="Times New Roman" pitchFamily="18" charset="0"/>
              </a:rPr>
              <a:t>={"Mike",21,{15,10,1990}};</a:t>
            </a:r>
            <a:r>
              <a:rPr lang="en-US" sz="2400" b="1" dirty="0">
                <a:latin typeface="Times New Roman" pitchFamily="18" charset="0"/>
                <a:cs typeface="Times New Roman" pitchFamily="18" charset="0"/>
              </a:rPr>
              <a:t>OR</a:t>
            </a:r>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struct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studentDetails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std</a:t>
            </a:r>
            <a:r>
              <a:rPr lang="en-US" sz="2400" dirty="0">
                <a:latin typeface="Times New Roman" pitchFamily="18" charset="0"/>
                <a:cs typeface="Times New Roman" pitchFamily="18" charset="0"/>
              </a:rPr>
              <a:t>={"Mike",21,15,10,1990};</a:t>
            </a:r>
          </a:p>
          <a:p>
            <a:r>
              <a:rPr lang="en-US" sz="2400" dirty="0">
                <a:latin typeface="Times New Roman" pitchFamily="18" charset="0"/>
                <a:cs typeface="Times New Roman" pitchFamily="18" charset="0"/>
              </a:rPr>
              <a:t>Here, "Mike" and 21 will be stored in the members name and age of structure </a:t>
            </a:r>
            <a:r>
              <a:rPr lang="en-US" sz="2400" dirty="0" err="1">
                <a:latin typeface="Times New Roman" pitchFamily="18" charset="0"/>
                <a:cs typeface="Times New Roman" pitchFamily="18" charset="0"/>
              </a:rPr>
              <a:t>studentDetails</a:t>
            </a:r>
            <a:r>
              <a:rPr lang="en-US" sz="2400" dirty="0">
                <a:latin typeface="Times New Roman" pitchFamily="18" charset="0"/>
                <a:cs typeface="Times New Roman" pitchFamily="18" charset="0"/>
              </a:rPr>
              <a:t>, while values 15, 10 and 1990 will be stored in the </a:t>
            </a:r>
            <a:r>
              <a:rPr lang="en-US" sz="2400" dirty="0" err="1">
                <a:latin typeface="Times New Roman" pitchFamily="18" charset="0"/>
                <a:cs typeface="Times New Roman" pitchFamily="18" charset="0"/>
              </a:rPr>
              <a:t>dd</a:t>
            </a:r>
            <a:r>
              <a:rPr lang="en-US" sz="2400" dirty="0">
                <a:latin typeface="Times New Roman" pitchFamily="18" charset="0"/>
                <a:cs typeface="Times New Roman" pitchFamily="18" charset="0"/>
              </a:rPr>
              <a:t>, mm, and </a:t>
            </a:r>
            <a:r>
              <a:rPr lang="en-US" sz="2400" dirty="0" err="1">
                <a:latin typeface="Times New Roman" pitchFamily="18" charset="0"/>
                <a:cs typeface="Times New Roman" pitchFamily="18" charset="0"/>
              </a:rPr>
              <a:t>yy</a:t>
            </a:r>
            <a:r>
              <a:rPr lang="en-US" sz="2400" dirty="0">
                <a:latin typeface="Times New Roman" pitchFamily="18" charset="0"/>
                <a:cs typeface="Times New Roman" pitchFamily="18" charset="0"/>
              </a:rPr>
              <a:t> of structure </a:t>
            </a:r>
            <a:r>
              <a:rPr lang="en-US" sz="2400" dirty="0" err="1">
                <a:latin typeface="Times New Roman" pitchFamily="18" charset="0"/>
                <a:cs typeface="Times New Roman" pitchFamily="18" charset="0"/>
              </a:rPr>
              <a:t>dateOfBirth</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Here, is the example by initializing the values using this method (</a:t>
            </a:r>
            <a:r>
              <a:rPr lang="en-US" sz="2400" i="1" dirty="0">
                <a:latin typeface="Times New Roman" pitchFamily="18" charset="0"/>
                <a:cs typeface="Times New Roman" pitchFamily="18" charset="0"/>
              </a:rPr>
              <a:t>Only main() function is here, place given structure definitions before the main()</a:t>
            </a:r>
            <a:r>
              <a:rPr lang="en-US" sz="2400" dirty="0">
                <a:latin typeface="Times New Roman" pitchFamily="18" charset="0"/>
                <a:cs typeface="Times New Roman" pitchFamily="18" charset="0"/>
              </a:rPr>
              <a:t> )</a:t>
            </a:r>
          </a:p>
          <a:p>
            <a:pPr marL="109728" indent="0">
              <a:buNone/>
            </a:pPr>
            <a:endParaRPr lang="en-US" sz="2400" dirty="0"/>
          </a:p>
        </p:txBody>
      </p:sp>
    </p:spTree>
    <p:extLst>
      <p:ext uri="{BB962C8B-B14F-4D97-AF65-F5344CB8AC3E}">
        <p14:creationId xmlns:p14="http://schemas.microsoft.com/office/powerpoint/2010/main" val="858651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838200"/>
            <a:ext cx="7886700" cy="4351338"/>
          </a:xfrm>
        </p:spPr>
        <p:txBody>
          <a:bodyPr/>
          <a:lstStyle/>
          <a:p>
            <a:pPr marL="109728" indent="0">
              <a:buNone/>
            </a:pPr>
            <a:r>
              <a:rPr lang="en-US" dirty="0" err="1"/>
              <a:t>int</a:t>
            </a:r>
            <a:r>
              <a:rPr lang="en-US" dirty="0"/>
              <a:t> main()</a:t>
            </a:r>
          </a:p>
          <a:p>
            <a:pPr marL="109728" indent="0">
              <a:buNone/>
            </a:pPr>
            <a:r>
              <a:rPr lang="en-US" dirty="0"/>
              <a:t> { </a:t>
            </a:r>
          </a:p>
          <a:p>
            <a:pPr marL="109728" indent="0">
              <a:buNone/>
            </a:pPr>
            <a:r>
              <a:rPr lang="en-US" dirty="0" err="1"/>
              <a:t>struct</a:t>
            </a:r>
            <a:r>
              <a:rPr lang="en-US" dirty="0"/>
              <a:t> </a:t>
            </a:r>
            <a:r>
              <a:rPr lang="en-US" dirty="0" err="1"/>
              <a:t>studentDetails</a:t>
            </a:r>
            <a:r>
              <a:rPr lang="en-US" dirty="0"/>
              <a:t> </a:t>
            </a:r>
            <a:r>
              <a:rPr lang="en-US" dirty="0" err="1"/>
              <a:t>std</a:t>
            </a:r>
            <a:r>
              <a:rPr lang="en-US" dirty="0"/>
              <a:t>={"Mike",21,15,10,1990}; </a:t>
            </a:r>
          </a:p>
          <a:p>
            <a:pPr marL="109728" indent="0">
              <a:buNone/>
            </a:pPr>
            <a:r>
              <a:rPr lang="en-US" dirty="0" err="1"/>
              <a:t>printf</a:t>
            </a:r>
            <a:r>
              <a:rPr lang="en-US" dirty="0"/>
              <a:t>("Name: %s, Age: d\n",</a:t>
            </a:r>
            <a:r>
              <a:rPr lang="en-US" dirty="0" err="1"/>
              <a:t>std.name,std.age</a:t>
            </a:r>
            <a:r>
              <a:rPr lang="en-US" dirty="0"/>
              <a:t>); </a:t>
            </a:r>
          </a:p>
          <a:p>
            <a:pPr marL="109728" indent="0">
              <a:buNone/>
            </a:pPr>
            <a:r>
              <a:rPr lang="en-US" dirty="0" err="1"/>
              <a:t>printf</a:t>
            </a:r>
            <a:r>
              <a:rPr lang="en-US" dirty="0"/>
              <a:t>("DOB: %d /%d /%d \n",</a:t>
            </a:r>
            <a:r>
              <a:rPr lang="en-US" dirty="0" err="1"/>
              <a:t>std.dob.dd,std.dob.mm,std.dob.yy</a:t>
            </a:r>
            <a:r>
              <a:rPr lang="en-US" dirty="0"/>
              <a:t>); </a:t>
            </a:r>
          </a:p>
          <a:p>
            <a:pPr marL="109728" indent="0">
              <a:buNone/>
            </a:pPr>
            <a:r>
              <a:rPr lang="en-US" dirty="0"/>
              <a:t>return 0; }</a:t>
            </a:r>
          </a:p>
        </p:txBody>
      </p:sp>
    </p:spTree>
    <p:extLst>
      <p:ext uri="{BB962C8B-B14F-4D97-AF65-F5344CB8AC3E}">
        <p14:creationId xmlns:p14="http://schemas.microsoft.com/office/powerpoint/2010/main" val="2442511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marL="109728" indent="0">
              <a:buNone/>
            </a:pPr>
            <a:r>
              <a:rPr lang="en-US" b="1" dirty="0"/>
              <a:t>Method 2</a:t>
            </a:r>
            <a:endParaRPr lang="en-US" dirty="0"/>
          </a:p>
          <a:p>
            <a:r>
              <a:rPr lang="en-US" dirty="0" err="1"/>
              <a:t>struct</a:t>
            </a:r>
            <a:r>
              <a:rPr lang="en-US" dirty="0"/>
              <a:t> </a:t>
            </a:r>
            <a:r>
              <a:rPr lang="en-US" dirty="0" err="1"/>
              <a:t>dateOfBirth</a:t>
            </a:r>
            <a:r>
              <a:rPr lang="en-US" dirty="0"/>
              <a:t> dob={15,10,1990}; </a:t>
            </a:r>
          </a:p>
          <a:p>
            <a:r>
              <a:rPr lang="en-US" dirty="0" err="1"/>
              <a:t>struct</a:t>
            </a:r>
            <a:r>
              <a:rPr lang="en-US" dirty="0"/>
              <a:t> </a:t>
            </a:r>
            <a:r>
              <a:rPr lang="en-US" dirty="0" err="1"/>
              <a:t>studentDetails</a:t>
            </a:r>
            <a:r>
              <a:rPr lang="en-US" dirty="0"/>
              <a:t> </a:t>
            </a:r>
            <a:r>
              <a:rPr lang="en-US" dirty="0" err="1"/>
              <a:t>std</a:t>
            </a:r>
            <a:r>
              <a:rPr lang="en-US" dirty="0"/>
              <a:t>={"Mike",21,dob};</a:t>
            </a:r>
          </a:p>
          <a:p>
            <a:r>
              <a:rPr lang="en-US" dirty="0"/>
              <a:t>Initialize the first structure first, then use structure variable in the initialization statement of main (parent) structure.</a:t>
            </a:r>
          </a:p>
          <a:p>
            <a:pPr marL="109728" indent="0">
              <a:buNone/>
            </a:pPr>
            <a:endParaRPr lang="en-US" dirty="0"/>
          </a:p>
        </p:txBody>
      </p:sp>
    </p:spTree>
    <p:extLst>
      <p:ext uri="{BB962C8B-B14F-4D97-AF65-F5344CB8AC3E}">
        <p14:creationId xmlns:p14="http://schemas.microsoft.com/office/powerpoint/2010/main" val="977848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a:bodyPr>
          <a:lstStyle/>
          <a:p>
            <a:pPr marL="109728" indent="0">
              <a:buNone/>
            </a:pPr>
            <a:r>
              <a:rPr lang="en-US" dirty="0" err="1"/>
              <a:t>int</a:t>
            </a:r>
            <a:r>
              <a:rPr lang="en-US" dirty="0"/>
              <a:t> main() </a:t>
            </a:r>
          </a:p>
          <a:p>
            <a:pPr marL="109728" indent="0">
              <a:buNone/>
            </a:pPr>
            <a:r>
              <a:rPr lang="en-US" dirty="0"/>
              <a:t>{ </a:t>
            </a:r>
          </a:p>
          <a:p>
            <a:pPr marL="109728" indent="0">
              <a:buNone/>
            </a:pPr>
            <a:r>
              <a:rPr lang="en-US" dirty="0" err="1"/>
              <a:t>struct</a:t>
            </a:r>
            <a:r>
              <a:rPr lang="en-US" dirty="0"/>
              <a:t> </a:t>
            </a:r>
            <a:r>
              <a:rPr lang="en-US" dirty="0" err="1"/>
              <a:t>dateOfBirth</a:t>
            </a:r>
            <a:r>
              <a:rPr lang="en-US" dirty="0"/>
              <a:t> dob={15,10,1990}; </a:t>
            </a:r>
          </a:p>
          <a:p>
            <a:pPr marL="109728" indent="0">
              <a:buNone/>
            </a:pPr>
            <a:r>
              <a:rPr lang="en-US" dirty="0" err="1"/>
              <a:t>struct</a:t>
            </a:r>
            <a:r>
              <a:rPr lang="en-US" dirty="0"/>
              <a:t> </a:t>
            </a:r>
            <a:r>
              <a:rPr lang="en-US" dirty="0" err="1"/>
              <a:t>studentDetails</a:t>
            </a:r>
            <a:r>
              <a:rPr lang="en-US" dirty="0"/>
              <a:t> </a:t>
            </a:r>
            <a:r>
              <a:rPr lang="en-US" dirty="0" err="1"/>
              <a:t>std</a:t>
            </a:r>
            <a:r>
              <a:rPr lang="en-US" dirty="0"/>
              <a:t>={"Mike",21,dob}; </a:t>
            </a:r>
            <a:r>
              <a:rPr lang="en-US" dirty="0" err="1"/>
              <a:t>printf</a:t>
            </a:r>
            <a:r>
              <a:rPr lang="en-US" dirty="0"/>
              <a:t>("Name: %s, Age:  %d \n",</a:t>
            </a:r>
            <a:r>
              <a:rPr lang="en-US" dirty="0" err="1"/>
              <a:t>std.name,std.age</a:t>
            </a:r>
            <a:r>
              <a:rPr lang="en-US" dirty="0"/>
              <a:t>); </a:t>
            </a:r>
          </a:p>
          <a:p>
            <a:pPr marL="109728" indent="0">
              <a:buNone/>
            </a:pPr>
            <a:r>
              <a:rPr lang="en-US" dirty="0" err="1"/>
              <a:t>printf</a:t>
            </a:r>
            <a:r>
              <a:rPr lang="en-US" dirty="0"/>
              <a:t>("DOB: %d/%d/%d</a:t>
            </a:r>
          </a:p>
          <a:p>
            <a:pPr marL="109728" indent="0">
              <a:buNone/>
            </a:pPr>
            <a:r>
              <a:rPr lang="en-US" dirty="0"/>
              <a:t>\n",</a:t>
            </a:r>
            <a:r>
              <a:rPr lang="en-US" dirty="0" err="1"/>
              <a:t>std.dob.dd,std.dob.mm,std.dob.yy</a:t>
            </a:r>
            <a:r>
              <a:rPr lang="en-US" dirty="0"/>
              <a:t>); </a:t>
            </a:r>
          </a:p>
          <a:p>
            <a:pPr marL="109728" indent="0">
              <a:buNone/>
            </a:pPr>
            <a:r>
              <a:rPr lang="en-US" dirty="0"/>
              <a:t>return 0; </a:t>
            </a:r>
          </a:p>
          <a:p>
            <a:pPr marL="109728" indent="0">
              <a:buNone/>
            </a:pPr>
            <a:r>
              <a:rPr lang="en-US" dirty="0"/>
              <a:t>}</a:t>
            </a:r>
          </a:p>
        </p:txBody>
      </p:sp>
    </p:spTree>
    <p:extLst>
      <p:ext uri="{BB962C8B-B14F-4D97-AF65-F5344CB8AC3E}">
        <p14:creationId xmlns:p14="http://schemas.microsoft.com/office/powerpoint/2010/main" val="1314907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dirty="0">
                <a:solidFill>
                  <a:srgbClr val="FF0000"/>
                </a:solidFill>
              </a:rPr>
              <a:t>Array of Structure</a:t>
            </a:r>
            <a:br>
              <a:rPr lang="en-US" dirty="0"/>
            </a:br>
            <a:endParaRPr lang="en-US" dirty="0"/>
          </a:p>
        </p:txBody>
      </p:sp>
      <p:sp>
        <p:nvSpPr>
          <p:cNvPr id="2" name="Content Placeholder 1"/>
          <p:cNvSpPr>
            <a:spLocks noGrp="1"/>
          </p:cNvSpPr>
          <p:nvPr>
            <p:ph idx="1"/>
          </p:nvPr>
        </p:nvSpPr>
        <p:spPr/>
        <p:txBody>
          <a:bodyPr>
            <a:normAutofit/>
          </a:bodyPr>
          <a:lstStyle/>
          <a:p>
            <a:r>
              <a:rPr lang="en-US" dirty="0"/>
              <a:t>Array of structure can be created as with any other data types.</a:t>
            </a:r>
          </a:p>
          <a:p>
            <a:r>
              <a:rPr lang="en-US" dirty="0"/>
              <a:t>In this we define the structure and then create an array of structure type.</a:t>
            </a:r>
            <a:br>
              <a:rPr lang="en-US" dirty="0"/>
            </a:br>
            <a:r>
              <a:rPr lang="en-US" dirty="0"/>
              <a:t>With structures, you can store mixed record types, and with an array supporting this, you can have a list of mixed record types</a:t>
            </a:r>
            <a:br>
              <a:rPr lang="en-US" dirty="0"/>
            </a:br>
            <a:endParaRPr lang="en-US" dirty="0"/>
          </a:p>
          <a:p>
            <a:pPr marL="109728" indent="0">
              <a:buNone/>
            </a:pPr>
            <a:endParaRPr lang="en-US" dirty="0"/>
          </a:p>
        </p:txBody>
      </p:sp>
    </p:spTree>
    <p:extLst>
      <p:ext uri="{BB962C8B-B14F-4D97-AF65-F5344CB8AC3E}">
        <p14:creationId xmlns:p14="http://schemas.microsoft.com/office/powerpoint/2010/main" val="3363992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An object of structure represents a single record in memory, if we want more than one record of structure type, we have to create an array of structure or object. As we know, an array is a collection of similar type, therefore an array can be of structure type.</a:t>
            </a:r>
            <a:br>
              <a:rPr lang="en-US" dirty="0"/>
            </a:br>
            <a:r>
              <a:rPr lang="en-US" dirty="0"/>
              <a:t>Suppose you want to create a variable of the mentioned structure in C,</a:t>
            </a:r>
          </a:p>
          <a:p>
            <a:r>
              <a:rPr lang="en-US" dirty="0" err="1"/>
              <a:t>struct</a:t>
            </a:r>
            <a:r>
              <a:rPr lang="en-US" dirty="0"/>
              <a:t> Employee </a:t>
            </a:r>
            <a:r>
              <a:rPr lang="en-US" dirty="0" err="1"/>
              <a:t>myEmp</a:t>
            </a:r>
            <a:r>
              <a:rPr lang="en-US" dirty="0"/>
              <a:t>;</a:t>
            </a:r>
          </a:p>
          <a:p>
            <a:pPr marL="109728" indent="0">
              <a:buNone/>
            </a:pPr>
            <a:endParaRPr lang="en-US" dirty="0"/>
          </a:p>
        </p:txBody>
      </p:sp>
    </p:spTree>
    <p:extLst>
      <p:ext uri="{BB962C8B-B14F-4D97-AF65-F5344CB8AC3E}">
        <p14:creationId xmlns:p14="http://schemas.microsoft.com/office/powerpoint/2010/main" val="2756051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 </a:t>
            </a:r>
            <a:r>
              <a:rPr lang="en-US" b="1" dirty="0"/>
              <a:t>Example:</a:t>
            </a:r>
            <a:endParaRPr lang="en-US" dirty="0"/>
          </a:p>
          <a:p>
            <a:pPr marL="109728" indent="0">
              <a:buNone/>
            </a:pPr>
            <a:r>
              <a:rPr lang="en-US" dirty="0"/>
              <a:t>#include &lt;</a:t>
            </a:r>
            <a:r>
              <a:rPr lang="en-US" dirty="0" err="1"/>
              <a:t>stdio.h</a:t>
            </a:r>
            <a:r>
              <a:rPr lang="en-US" dirty="0"/>
              <a:t>&gt;</a:t>
            </a:r>
          </a:p>
          <a:p>
            <a:pPr marL="109728" indent="0">
              <a:buNone/>
            </a:pPr>
            <a:r>
              <a:rPr lang="en-US" dirty="0"/>
              <a:t>void main ()</a:t>
            </a:r>
          </a:p>
          <a:p>
            <a:pPr marL="109728" indent="0">
              <a:buNone/>
            </a:pPr>
            <a:r>
              <a:rPr lang="en-US" dirty="0"/>
              <a:t>{</a:t>
            </a:r>
          </a:p>
          <a:p>
            <a:pPr marL="109728" indent="0">
              <a:buNone/>
            </a:pPr>
            <a:r>
              <a:rPr lang="en-US" dirty="0" err="1"/>
              <a:t>struct</a:t>
            </a:r>
            <a:r>
              <a:rPr lang="en-US" dirty="0"/>
              <a:t> student</a:t>
            </a:r>
          </a:p>
          <a:p>
            <a:pPr marL="109728" indent="0">
              <a:buNone/>
            </a:pPr>
            <a:r>
              <a:rPr lang="en-US" dirty="0"/>
              <a:t>  {</a:t>
            </a:r>
          </a:p>
          <a:p>
            <a:pPr marL="109728" indent="0">
              <a:buNone/>
            </a:pPr>
            <a:r>
              <a:rPr lang="en-US" dirty="0"/>
              <a:t>   </a:t>
            </a:r>
            <a:r>
              <a:rPr lang="en-US" dirty="0" err="1"/>
              <a:t>int</a:t>
            </a:r>
            <a:r>
              <a:rPr lang="en-US" dirty="0"/>
              <a:t> id;</a:t>
            </a:r>
          </a:p>
          <a:p>
            <a:pPr marL="109728" indent="0">
              <a:buNone/>
            </a:pPr>
            <a:r>
              <a:rPr lang="en-US" dirty="0"/>
              <a:t>char name [10];</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3886626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6248400"/>
          </a:xfrm>
        </p:spPr>
        <p:txBody>
          <a:bodyPr>
            <a:normAutofit fontScale="92500" lnSpcReduction="10000"/>
          </a:bodyPr>
          <a:lstStyle/>
          <a:p>
            <a:pPr marL="109728" indent="0">
              <a:buNone/>
            </a:pPr>
            <a:r>
              <a:rPr lang="en-US" b="1" dirty="0" err="1"/>
              <a:t>struct</a:t>
            </a:r>
            <a:r>
              <a:rPr lang="en-US" b="1" dirty="0"/>
              <a:t> student </a:t>
            </a:r>
            <a:r>
              <a:rPr lang="en-US" b="1" dirty="0" err="1"/>
              <a:t>std</a:t>
            </a:r>
            <a:r>
              <a:rPr lang="en-US" b="1" dirty="0"/>
              <a:t> [20];</a:t>
            </a:r>
            <a:endParaRPr lang="en-US" dirty="0"/>
          </a:p>
          <a:p>
            <a:pPr marL="109728" indent="0">
              <a:buNone/>
            </a:pPr>
            <a:r>
              <a:rPr lang="en-US" dirty="0" err="1"/>
              <a:t>int</a:t>
            </a:r>
            <a:r>
              <a:rPr lang="en-US" dirty="0"/>
              <a:t> </a:t>
            </a:r>
            <a:r>
              <a:rPr lang="en-US" dirty="0" err="1"/>
              <a:t>i,n</a:t>
            </a:r>
            <a:r>
              <a:rPr lang="en-US" dirty="0"/>
              <a:t>;</a:t>
            </a:r>
          </a:p>
          <a:p>
            <a:pPr marL="109728" indent="0">
              <a:buNone/>
            </a:pPr>
            <a:r>
              <a:rPr lang="en-US" dirty="0" err="1"/>
              <a:t>printf</a:t>
            </a:r>
            <a:r>
              <a:rPr lang="en-US" dirty="0"/>
              <a:t> (“enter the number of students \n”);</a:t>
            </a:r>
          </a:p>
          <a:p>
            <a:pPr marL="109728" indent="0">
              <a:buNone/>
            </a:pPr>
            <a:r>
              <a:rPr lang="en-US" dirty="0" err="1"/>
              <a:t>scanf</a:t>
            </a:r>
            <a:r>
              <a:rPr lang="en-US" dirty="0"/>
              <a:t> (“%d”, &amp;n);</a:t>
            </a:r>
          </a:p>
          <a:p>
            <a:pPr marL="109728" indent="0">
              <a:buNone/>
            </a:pPr>
            <a:r>
              <a:rPr lang="en-US" dirty="0"/>
              <a:t>for (i=0;i&lt;</a:t>
            </a:r>
            <a:r>
              <a:rPr lang="en-US" dirty="0" err="1"/>
              <a:t>n;i</a:t>
            </a:r>
            <a:r>
              <a:rPr lang="en-US" dirty="0"/>
              <a:t>++)</a:t>
            </a:r>
          </a:p>
          <a:p>
            <a:pPr marL="109728" indent="0">
              <a:buNone/>
            </a:pPr>
            <a:r>
              <a:rPr lang="en-US" dirty="0"/>
              <a:t>{</a:t>
            </a:r>
          </a:p>
          <a:p>
            <a:pPr marL="109728" indent="0">
              <a:buNone/>
            </a:pPr>
            <a:r>
              <a:rPr lang="en-US" dirty="0"/>
              <a:t>    </a:t>
            </a:r>
            <a:r>
              <a:rPr lang="en-US" dirty="0" err="1"/>
              <a:t>printf</a:t>
            </a:r>
            <a:r>
              <a:rPr lang="en-US" dirty="0"/>
              <a:t> (“enter the details of student [%d]\n”, (i+1));</a:t>
            </a:r>
          </a:p>
          <a:p>
            <a:pPr marL="109728" indent="0">
              <a:buNone/>
            </a:pPr>
            <a:r>
              <a:rPr lang="en-US" dirty="0"/>
              <a:t>    </a:t>
            </a:r>
            <a:r>
              <a:rPr lang="en-US" dirty="0" err="1"/>
              <a:t>printf</a:t>
            </a:r>
            <a:r>
              <a:rPr lang="en-US" dirty="0"/>
              <a:t> (“enter id\n”);</a:t>
            </a:r>
          </a:p>
          <a:p>
            <a:pPr marL="109728" indent="0">
              <a:buNone/>
            </a:pPr>
            <a:r>
              <a:rPr lang="en-US" dirty="0"/>
              <a:t>    </a:t>
            </a:r>
            <a:r>
              <a:rPr lang="en-US" dirty="0" err="1"/>
              <a:t>scanf</a:t>
            </a:r>
            <a:r>
              <a:rPr lang="en-US" dirty="0"/>
              <a:t> (“%d”, &amp;</a:t>
            </a:r>
            <a:r>
              <a:rPr lang="en-US" dirty="0" err="1"/>
              <a:t>std</a:t>
            </a:r>
            <a:r>
              <a:rPr lang="en-US" dirty="0"/>
              <a:t> [i].id);</a:t>
            </a:r>
          </a:p>
          <a:p>
            <a:pPr marL="109728" indent="0">
              <a:buNone/>
            </a:pPr>
            <a:r>
              <a:rPr lang="en-US" dirty="0"/>
              <a:t>    </a:t>
            </a:r>
            <a:r>
              <a:rPr lang="en-US" dirty="0" err="1"/>
              <a:t>printf</a:t>
            </a:r>
            <a:r>
              <a:rPr lang="en-US" dirty="0"/>
              <a:t> (“enter name\n”);</a:t>
            </a:r>
          </a:p>
          <a:p>
            <a:pPr marL="109728" indent="0">
              <a:buNone/>
            </a:pPr>
            <a:r>
              <a:rPr lang="en-US" dirty="0"/>
              <a:t>    </a:t>
            </a:r>
            <a:r>
              <a:rPr lang="en-US" dirty="0" err="1"/>
              <a:t>scanf</a:t>
            </a:r>
            <a:r>
              <a:rPr lang="en-US" dirty="0"/>
              <a:t> (“%s”, </a:t>
            </a:r>
            <a:r>
              <a:rPr lang="en-US" dirty="0" err="1"/>
              <a:t>std</a:t>
            </a:r>
            <a:r>
              <a:rPr lang="en-US" dirty="0"/>
              <a:t> [i].name);</a:t>
            </a:r>
          </a:p>
          <a:p>
            <a:pPr marL="109728" indent="0">
              <a:buNone/>
            </a:pPr>
            <a:r>
              <a:rPr lang="en-US" dirty="0"/>
              <a:t>}</a:t>
            </a:r>
          </a:p>
          <a:p>
            <a:pPr marL="109728" indent="0">
              <a:buNone/>
            </a:pPr>
            <a:r>
              <a:rPr lang="en-US" dirty="0"/>
              <a:t>for (i=0: i&lt;n; i++)</a:t>
            </a:r>
          </a:p>
          <a:p>
            <a:pPr marL="109728" indent="0">
              <a:buNone/>
            </a:pPr>
            <a:r>
              <a:rPr lang="en-US" dirty="0"/>
              <a:t>   {</a:t>
            </a:r>
          </a:p>
          <a:p>
            <a:pPr marL="109728" indent="0">
              <a:buNone/>
            </a:pPr>
            <a:r>
              <a:rPr lang="en-US" dirty="0" err="1"/>
              <a:t>printf</a:t>
            </a:r>
            <a:r>
              <a:rPr lang="en-US" dirty="0"/>
              <a:t> (“student [%d] details\n”, (i+1));</a:t>
            </a:r>
          </a:p>
          <a:p>
            <a:pPr marL="109728" indent="0">
              <a:buNone/>
            </a:pPr>
            <a:r>
              <a:rPr lang="en-US" dirty="0" err="1"/>
              <a:t>printf</a:t>
            </a:r>
            <a:r>
              <a:rPr lang="en-US" dirty="0"/>
              <a:t> (“Id = %d\t name=%s\n”,</a:t>
            </a:r>
            <a:r>
              <a:rPr lang="en-US" dirty="0" err="1"/>
              <a:t>std</a:t>
            </a:r>
            <a:r>
              <a:rPr lang="en-US" dirty="0"/>
              <a:t>[i].</a:t>
            </a:r>
            <a:r>
              <a:rPr lang="en-US" dirty="0" err="1"/>
              <a:t>id,std</a:t>
            </a:r>
            <a:r>
              <a:rPr lang="en-US" dirty="0"/>
              <a:t>[i].name];</a:t>
            </a:r>
          </a:p>
          <a:p>
            <a:pPr marL="109728" indent="0">
              <a:buNone/>
            </a:pPr>
            <a:r>
              <a:rPr lang="en-US" dirty="0"/>
              <a:t>  }</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443604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a:bodyPr>
          <a:lstStyle/>
          <a:p>
            <a:r>
              <a:rPr lang="en-US" dirty="0">
                <a:latin typeface="Times New Roman" pitchFamily="18" charset="0"/>
                <a:cs typeface="Times New Roman" pitchFamily="18" charset="0"/>
              </a:rPr>
              <a:t>In the above program an array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 is created of type student </a:t>
            </a:r>
            <a:r>
              <a:rPr lang="en-US" dirty="0" err="1">
                <a:latin typeface="Times New Roman" pitchFamily="18" charset="0"/>
                <a:cs typeface="Times New Roman" pitchFamily="18" charset="0"/>
              </a:rPr>
              <a:t>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 student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 [20]. Then using the loops each element of the array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 is accessed.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Arrays can be initialized as,</a:t>
            </a:r>
          </a:p>
          <a:p>
            <a:pPr marL="109728" indent="0">
              <a:buNone/>
            </a:pP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 student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 [ ] = {001, “AAA”, 002, “BBB”, 003, “CCC”,004 “DDD”};</a:t>
            </a:r>
          </a:p>
          <a:p>
            <a:r>
              <a:rPr lang="en-US" dirty="0">
                <a:latin typeface="Times New Roman" pitchFamily="18" charset="0"/>
                <a:cs typeface="Times New Roman" pitchFamily="18" charset="0"/>
              </a:rPr>
              <a:t>In the above case since the size of the array is not specified, it takes the size depending on the initial values, in this case array size is initialized to 4.</a:t>
            </a:r>
          </a:p>
          <a:p>
            <a:pPr marL="109728" indent="0">
              <a:buNone/>
            </a:pPr>
            <a:endParaRPr lang="en-US" dirty="0"/>
          </a:p>
        </p:txBody>
      </p:sp>
    </p:spTree>
    <p:extLst>
      <p:ext uri="{BB962C8B-B14F-4D97-AF65-F5344CB8AC3E}">
        <p14:creationId xmlns:p14="http://schemas.microsoft.com/office/powerpoint/2010/main" val="3847086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dirty="0">
                <a:solidFill>
                  <a:srgbClr val="FF0000"/>
                </a:solidFill>
              </a:rPr>
              <a:t>Array of Structure</a:t>
            </a:r>
            <a:br>
              <a:rPr lang="en-US" dirty="0"/>
            </a:br>
            <a:endParaRPr lang="en-US" dirty="0"/>
          </a:p>
        </p:txBody>
      </p:sp>
      <p:sp>
        <p:nvSpPr>
          <p:cNvPr id="2" name="Content Placeholder 1"/>
          <p:cNvSpPr>
            <a:spLocks noGrp="1"/>
          </p:cNvSpPr>
          <p:nvPr>
            <p:ph idx="1"/>
          </p:nvPr>
        </p:nvSpPr>
        <p:spPr/>
        <p:txBody>
          <a:bodyPr>
            <a:normAutofit/>
          </a:bodyPr>
          <a:lstStyle/>
          <a:p>
            <a:r>
              <a:rPr lang="en-US" dirty="0"/>
              <a:t>Array of structure can be created as with any other data types.</a:t>
            </a:r>
          </a:p>
          <a:p>
            <a:r>
              <a:rPr lang="en-US" dirty="0"/>
              <a:t>In this we define the structure and then create an array of structure type.</a:t>
            </a:r>
            <a:br>
              <a:rPr lang="en-US" dirty="0"/>
            </a:br>
            <a:endParaRPr lang="en-US" dirty="0"/>
          </a:p>
          <a:p>
            <a:r>
              <a:rPr lang="en-US" dirty="0"/>
              <a:t>With structures, you can store mixed record types, and with an array supporting this, you can have a list of mixed record types</a:t>
            </a:r>
            <a:br>
              <a:rPr lang="en-US" dirty="0"/>
            </a:br>
            <a:endParaRPr lang="en-US" dirty="0"/>
          </a:p>
          <a:p>
            <a:pPr marL="109728" indent="0">
              <a:buNone/>
            </a:pPr>
            <a:endParaRPr lang="en-US" dirty="0"/>
          </a:p>
        </p:txBody>
      </p:sp>
    </p:spTree>
    <p:extLst>
      <p:ext uri="{BB962C8B-B14F-4D97-AF65-F5344CB8AC3E}">
        <p14:creationId xmlns:p14="http://schemas.microsoft.com/office/powerpoint/2010/main" val="2754333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An object of structure represents a single record in memory, if we want more than one record of structure type, we have to create an array of structure or object. As we know, an array is a collection of similar type, therefore an array can be of structure type.</a:t>
            </a:r>
            <a:br>
              <a:rPr lang="en-US" dirty="0"/>
            </a:br>
            <a:r>
              <a:rPr lang="en-US" dirty="0"/>
              <a:t>Suppose you want to create a variable of the mentioned structure in C,</a:t>
            </a:r>
          </a:p>
          <a:p>
            <a:r>
              <a:rPr lang="en-US" dirty="0" err="1"/>
              <a:t>struct</a:t>
            </a:r>
            <a:r>
              <a:rPr lang="en-US" dirty="0"/>
              <a:t> Employee </a:t>
            </a:r>
            <a:r>
              <a:rPr lang="en-US" dirty="0" err="1"/>
              <a:t>myEmp</a:t>
            </a:r>
            <a:r>
              <a:rPr lang="en-US" dirty="0"/>
              <a:t>;</a:t>
            </a:r>
          </a:p>
          <a:p>
            <a:endParaRPr lang="en-US" dirty="0"/>
          </a:p>
        </p:txBody>
      </p:sp>
    </p:spTree>
    <p:extLst>
      <p:ext uri="{BB962C8B-B14F-4D97-AF65-F5344CB8AC3E}">
        <p14:creationId xmlns:p14="http://schemas.microsoft.com/office/powerpoint/2010/main" val="544970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b="1" dirty="0"/>
              <a:t>Example:</a:t>
            </a:r>
            <a:endParaRPr lang="en-US" dirty="0"/>
          </a:p>
          <a:p>
            <a:pPr marL="109728" indent="0">
              <a:buNone/>
            </a:pPr>
            <a:r>
              <a:rPr lang="en-US" dirty="0"/>
              <a:t>#include &lt;</a:t>
            </a:r>
            <a:r>
              <a:rPr lang="en-US" dirty="0" err="1"/>
              <a:t>stdio.h</a:t>
            </a:r>
            <a:r>
              <a:rPr lang="en-US" dirty="0"/>
              <a:t>&gt;</a:t>
            </a:r>
          </a:p>
          <a:p>
            <a:pPr marL="109728" indent="0">
              <a:buNone/>
            </a:pPr>
            <a:r>
              <a:rPr lang="en-US" dirty="0"/>
              <a:t>void main ()</a:t>
            </a:r>
          </a:p>
          <a:p>
            <a:pPr marL="109728" indent="0">
              <a:buNone/>
            </a:pPr>
            <a:r>
              <a:rPr lang="en-US" dirty="0"/>
              <a:t>{</a:t>
            </a:r>
          </a:p>
          <a:p>
            <a:pPr marL="109728" indent="0">
              <a:buNone/>
            </a:pPr>
            <a:r>
              <a:rPr lang="en-US" dirty="0" err="1"/>
              <a:t>struct</a:t>
            </a:r>
            <a:r>
              <a:rPr lang="en-US" dirty="0"/>
              <a:t> student</a:t>
            </a:r>
          </a:p>
          <a:p>
            <a:pPr marL="109728" indent="0">
              <a:buNone/>
            </a:pPr>
            <a:r>
              <a:rPr lang="en-US" dirty="0"/>
              <a:t>  {</a:t>
            </a:r>
          </a:p>
          <a:p>
            <a:pPr marL="109728" indent="0">
              <a:buNone/>
            </a:pPr>
            <a:r>
              <a:rPr lang="en-US" dirty="0"/>
              <a:t>   </a:t>
            </a:r>
            <a:r>
              <a:rPr lang="en-US" dirty="0" err="1"/>
              <a:t>int</a:t>
            </a:r>
            <a:r>
              <a:rPr lang="en-US" dirty="0"/>
              <a:t> id;</a:t>
            </a:r>
          </a:p>
          <a:p>
            <a:pPr marL="109728" indent="0">
              <a:buNone/>
            </a:pPr>
            <a:r>
              <a:rPr lang="en-US" dirty="0"/>
              <a:t>char name [10];</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215716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lnSpcReduction="10000"/>
          </a:bodyPr>
          <a:lstStyle/>
          <a:p>
            <a:pPr marL="109728" indent="0">
              <a:buNone/>
            </a:pPr>
            <a:r>
              <a:rPr lang="en-US" b="1" dirty="0" err="1"/>
              <a:t>struct</a:t>
            </a:r>
            <a:r>
              <a:rPr lang="en-US" b="1" dirty="0"/>
              <a:t> student </a:t>
            </a:r>
            <a:r>
              <a:rPr lang="en-US" b="1" dirty="0" err="1"/>
              <a:t>std</a:t>
            </a:r>
            <a:r>
              <a:rPr lang="en-US" b="1" dirty="0"/>
              <a:t> [20];</a:t>
            </a:r>
            <a:endParaRPr lang="en-US" dirty="0"/>
          </a:p>
          <a:p>
            <a:pPr marL="109728" indent="0">
              <a:buNone/>
            </a:pPr>
            <a:r>
              <a:rPr lang="en-US" dirty="0" err="1"/>
              <a:t>int</a:t>
            </a:r>
            <a:r>
              <a:rPr lang="en-US" dirty="0"/>
              <a:t> </a:t>
            </a:r>
            <a:r>
              <a:rPr lang="en-US" dirty="0" err="1"/>
              <a:t>i,n</a:t>
            </a:r>
            <a:r>
              <a:rPr lang="en-US" dirty="0"/>
              <a:t>;</a:t>
            </a:r>
          </a:p>
          <a:p>
            <a:pPr marL="109728" indent="0">
              <a:buNone/>
            </a:pPr>
            <a:r>
              <a:rPr lang="en-US" dirty="0" err="1"/>
              <a:t>printf</a:t>
            </a:r>
            <a:r>
              <a:rPr lang="en-US" dirty="0"/>
              <a:t> (“enter the number of students \n”);</a:t>
            </a:r>
          </a:p>
          <a:p>
            <a:pPr marL="109728" indent="0">
              <a:buNone/>
            </a:pPr>
            <a:r>
              <a:rPr lang="en-US" dirty="0" err="1"/>
              <a:t>scanf</a:t>
            </a:r>
            <a:r>
              <a:rPr lang="en-US" dirty="0"/>
              <a:t> (“%d”, &amp;n);</a:t>
            </a:r>
          </a:p>
          <a:p>
            <a:pPr marL="109728" indent="0">
              <a:buNone/>
            </a:pPr>
            <a:r>
              <a:rPr lang="en-US" dirty="0"/>
              <a:t>for (i=0;i&lt;</a:t>
            </a:r>
            <a:r>
              <a:rPr lang="en-US" dirty="0" err="1"/>
              <a:t>n;i</a:t>
            </a:r>
            <a:r>
              <a:rPr lang="en-US" dirty="0"/>
              <a:t>++)</a:t>
            </a:r>
          </a:p>
          <a:p>
            <a:pPr marL="109728" indent="0">
              <a:buNone/>
            </a:pPr>
            <a:r>
              <a:rPr lang="en-US" dirty="0"/>
              <a:t>{</a:t>
            </a:r>
          </a:p>
          <a:p>
            <a:pPr marL="109728" indent="0">
              <a:buNone/>
            </a:pPr>
            <a:r>
              <a:rPr lang="en-US" dirty="0"/>
              <a:t>    </a:t>
            </a:r>
            <a:r>
              <a:rPr lang="en-US" dirty="0" err="1"/>
              <a:t>printf</a:t>
            </a:r>
            <a:r>
              <a:rPr lang="en-US" dirty="0"/>
              <a:t> (“enter the details of student [%d]\n”, (i+1));</a:t>
            </a:r>
          </a:p>
          <a:p>
            <a:pPr marL="109728" indent="0">
              <a:buNone/>
            </a:pPr>
            <a:r>
              <a:rPr lang="en-US" dirty="0"/>
              <a:t>    </a:t>
            </a:r>
            <a:r>
              <a:rPr lang="en-US" dirty="0" err="1"/>
              <a:t>printf</a:t>
            </a:r>
            <a:r>
              <a:rPr lang="en-US" dirty="0"/>
              <a:t> (“enter id\n”);</a:t>
            </a:r>
          </a:p>
          <a:p>
            <a:pPr marL="109728" indent="0">
              <a:buNone/>
            </a:pPr>
            <a:r>
              <a:rPr lang="en-US" dirty="0"/>
              <a:t>    </a:t>
            </a:r>
            <a:r>
              <a:rPr lang="en-US" dirty="0" err="1"/>
              <a:t>scanf</a:t>
            </a:r>
            <a:r>
              <a:rPr lang="en-US" dirty="0"/>
              <a:t> (“%d”, &amp;</a:t>
            </a:r>
            <a:r>
              <a:rPr lang="en-US" dirty="0" err="1"/>
              <a:t>std</a:t>
            </a:r>
            <a:r>
              <a:rPr lang="en-US" dirty="0"/>
              <a:t> [i].id);</a:t>
            </a:r>
          </a:p>
          <a:p>
            <a:pPr marL="109728" indent="0">
              <a:buNone/>
            </a:pPr>
            <a:r>
              <a:rPr lang="en-US" dirty="0"/>
              <a:t>    </a:t>
            </a:r>
            <a:r>
              <a:rPr lang="en-US" dirty="0" err="1"/>
              <a:t>printf</a:t>
            </a:r>
            <a:r>
              <a:rPr lang="en-US" dirty="0"/>
              <a:t> (“enter name\n”);</a:t>
            </a:r>
          </a:p>
          <a:p>
            <a:pPr marL="109728" indent="0">
              <a:buNone/>
            </a:pPr>
            <a:r>
              <a:rPr lang="en-US" dirty="0"/>
              <a:t>    </a:t>
            </a:r>
            <a:r>
              <a:rPr lang="en-US" dirty="0" err="1"/>
              <a:t>scanf</a:t>
            </a:r>
            <a:r>
              <a:rPr lang="en-US" dirty="0"/>
              <a:t> (“%s”, </a:t>
            </a:r>
            <a:r>
              <a:rPr lang="en-US" dirty="0" err="1"/>
              <a:t>std</a:t>
            </a:r>
            <a:r>
              <a:rPr lang="en-US" dirty="0"/>
              <a:t> [i].name);</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420689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marL="109728" indent="0">
              <a:buNone/>
            </a:pPr>
            <a:r>
              <a:rPr lang="en-US" dirty="0"/>
              <a:t>for (i=0: i&lt;n; i++)</a:t>
            </a:r>
          </a:p>
          <a:p>
            <a:pPr marL="109728" indent="0">
              <a:buNone/>
            </a:pPr>
            <a:r>
              <a:rPr lang="en-US" dirty="0"/>
              <a:t>   {</a:t>
            </a:r>
          </a:p>
          <a:p>
            <a:pPr marL="109728" indent="0">
              <a:buNone/>
            </a:pPr>
            <a:r>
              <a:rPr lang="en-US" dirty="0" err="1"/>
              <a:t>printf</a:t>
            </a:r>
            <a:r>
              <a:rPr lang="en-US" dirty="0"/>
              <a:t> (“student [%d] details\n”, (i+1));</a:t>
            </a:r>
          </a:p>
          <a:p>
            <a:pPr marL="109728" indent="0">
              <a:buNone/>
            </a:pPr>
            <a:r>
              <a:rPr lang="en-US" dirty="0" err="1"/>
              <a:t>printf</a:t>
            </a:r>
            <a:r>
              <a:rPr lang="en-US" dirty="0"/>
              <a:t> (“Id = %d\t name=%s\n”,</a:t>
            </a:r>
            <a:r>
              <a:rPr lang="en-US" dirty="0" err="1"/>
              <a:t>std</a:t>
            </a:r>
            <a:r>
              <a:rPr lang="en-US" dirty="0"/>
              <a:t>[i].</a:t>
            </a:r>
            <a:r>
              <a:rPr lang="en-US" dirty="0" err="1"/>
              <a:t>id,std</a:t>
            </a:r>
            <a:r>
              <a:rPr lang="en-US" dirty="0"/>
              <a:t>[i].name];</a:t>
            </a:r>
          </a:p>
          <a:p>
            <a:pPr marL="109728" indent="0">
              <a:buNone/>
            </a:pPr>
            <a:r>
              <a:rPr lang="en-US" dirty="0"/>
              <a:t>  }</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2700942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dirty="0">
                <a:solidFill>
                  <a:srgbClr val="FF0000"/>
                </a:solidFill>
              </a:rPr>
              <a:t>Array within Structure</a:t>
            </a:r>
            <a:br>
              <a:rPr lang="en-US" dirty="0"/>
            </a:br>
            <a:endParaRPr lang="en-US" dirty="0"/>
          </a:p>
        </p:txBody>
      </p:sp>
      <p:sp>
        <p:nvSpPr>
          <p:cNvPr id="2" name="Content Placeholder 1"/>
          <p:cNvSpPr>
            <a:spLocks noGrp="1"/>
          </p:cNvSpPr>
          <p:nvPr>
            <p:ph idx="1"/>
          </p:nvPr>
        </p:nvSpPr>
        <p:spPr/>
        <p:txBody>
          <a:bodyPr>
            <a:normAutofit/>
          </a:bodyPr>
          <a:lstStyle/>
          <a:p>
            <a:r>
              <a:rPr lang="en-US" dirty="0"/>
              <a:t>A structure can also contain array members just like normal members such </a:t>
            </a:r>
            <a:r>
              <a:rPr lang="en-US" i="1" dirty="0" err="1"/>
              <a:t>int</a:t>
            </a:r>
            <a:r>
              <a:rPr lang="en-US" dirty="0"/>
              <a:t>, </a:t>
            </a:r>
            <a:r>
              <a:rPr lang="en-US" i="1" dirty="0"/>
              <a:t>float</a:t>
            </a:r>
            <a:br>
              <a:rPr lang="en-US" dirty="0"/>
            </a:br>
            <a:r>
              <a:rPr lang="en-US" dirty="0"/>
              <a:t>We can declare an array if we need to store multiple values inside structure.</a:t>
            </a:r>
          </a:p>
          <a:p>
            <a:r>
              <a:rPr lang="en-US" dirty="0"/>
              <a:t>Structure may include as many array members as we require.</a:t>
            </a:r>
          </a:p>
          <a:p>
            <a:r>
              <a:rPr lang="en-US" dirty="0"/>
              <a:t>Syntax for declaring array within structure is not different than the conventional syntax.</a:t>
            </a:r>
          </a:p>
          <a:p>
            <a:r>
              <a:rPr lang="en-US" dirty="0"/>
              <a:t> The only difference is that it is declared inside the structure.</a:t>
            </a:r>
          </a:p>
          <a:p>
            <a:pPr marL="109728" indent="0">
              <a:buNone/>
            </a:pPr>
            <a:endParaRPr lang="en-US" dirty="0"/>
          </a:p>
        </p:txBody>
      </p:sp>
    </p:spTree>
    <p:extLst>
      <p:ext uri="{BB962C8B-B14F-4D97-AF65-F5344CB8AC3E}">
        <p14:creationId xmlns:p14="http://schemas.microsoft.com/office/powerpoint/2010/main" val="3717629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b="1" dirty="0"/>
              <a:t>Syntax for array within structure</a:t>
            </a:r>
            <a:endParaRPr lang="en-US" dirty="0"/>
          </a:p>
          <a:p>
            <a:pPr marL="109728" indent="0">
              <a:buNone/>
            </a:pPr>
            <a:r>
              <a:rPr lang="en-US" dirty="0" err="1"/>
              <a:t>struct</a:t>
            </a:r>
            <a:r>
              <a:rPr lang="en-US" dirty="0"/>
              <a:t> </a:t>
            </a:r>
            <a:r>
              <a:rPr lang="en-US" dirty="0" err="1"/>
              <a:t>struct</a:t>
            </a:r>
            <a:r>
              <a:rPr lang="en-US" dirty="0"/>
              <a:t>-name </a:t>
            </a:r>
          </a:p>
          <a:p>
            <a:pPr marL="109728" indent="0">
              <a:buNone/>
            </a:pPr>
            <a:r>
              <a:rPr lang="en-US" dirty="0"/>
              <a:t>{ </a:t>
            </a:r>
            <a:r>
              <a:rPr lang="en-US" dirty="0" err="1"/>
              <a:t>datatype</a:t>
            </a:r>
            <a:r>
              <a:rPr lang="en-US" dirty="0"/>
              <a:t> var1; // normal variable </a:t>
            </a:r>
          </a:p>
          <a:p>
            <a:pPr marL="109728" indent="0">
              <a:buNone/>
            </a:pPr>
            <a:r>
              <a:rPr lang="en-US" dirty="0" err="1"/>
              <a:t>datatype</a:t>
            </a:r>
            <a:r>
              <a:rPr lang="en-US" dirty="0"/>
              <a:t> array [size]; // array variable </a:t>
            </a:r>
          </a:p>
          <a:p>
            <a:pPr marL="109728" indent="0">
              <a:buNone/>
            </a:pPr>
            <a:r>
              <a:rPr lang="en-US" dirty="0"/>
              <a:t>- - - - - - - - - - </a:t>
            </a:r>
          </a:p>
          <a:p>
            <a:pPr marL="109728" indent="0">
              <a:buNone/>
            </a:pPr>
            <a:r>
              <a:rPr lang="en-US" dirty="0"/>
              <a:t>- - - - - - - - - - </a:t>
            </a:r>
          </a:p>
          <a:p>
            <a:pPr marL="109728" indent="0">
              <a:buNone/>
            </a:pPr>
            <a:r>
              <a:rPr lang="en-US" dirty="0" err="1"/>
              <a:t>datatype</a:t>
            </a:r>
            <a:r>
              <a:rPr lang="en-US" dirty="0"/>
              <a:t> </a:t>
            </a:r>
            <a:r>
              <a:rPr lang="en-US" dirty="0" err="1"/>
              <a:t>varN</a:t>
            </a:r>
            <a:r>
              <a:rPr lang="en-US" dirty="0"/>
              <a:t>; }; </a:t>
            </a:r>
          </a:p>
          <a:p>
            <a:pPr marL="109728" indent="0">
              <a:buNone/>
            </a:pPr>
            <a:r>
              <a:rPr lang="en-US" dirty="0" err="1"/>
              <a:t>struct</a:t>
            </a:r>
            <a:r>
              <a:rPr lang="en-US" dirty="0"/>
              <a:t> </a:t>
            </a:r>
            <a:r>
              <a:rPr lang="en-US" dirty="0" err="1"/>
              <a:t>struct</a:t>
            </a:r>
            <a:r>
              <a:rPr lang="en-US" dirty="0"/>
              <a:t>-name </a:t>
            </a:r>
            <a:r>
              <a:rPr lang="en-US" dirty="0" err="1"/>
              <a:t>obj</a:t>
            </a:r>
            <a:r>
              <a:rPr lang="en-US" dirty="0"/>
              <a:t>;</a:t>
            </a:r>
          </a:p>
        </p:txBody>
      </p:sp>
    </p:spTree>
    <p:extLst>
      <p:ext uri="{BB962C8B-B14F-4D97-AF65-F5344CB8AC3E}">
        <p14:creationId xmlns:p14="http://schemas.microsoft.com/office/powerpoint/2010/main" val="1602159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Purpose of Array within Structure</a:t>
            </a:r>
          </a:p>
          <a:p>
            <a:pPr marL="109728" indent="0">
              <a:buNone/>
            </a:pPr>
            <a:r>
              <a:rPr lang="en-US" dirty="0"/>
              <a:t>When you find yourself to store a string value, then you have to go for array within structure. because your name comes under character data type alone, thus array is capable of storing data of same data type.</a:t>
            </a:r>
          </a:p>
          <a:p>
            <a:pPr marL="109728" indent="0">
              <a:buNone/>
            </a:pPr>
            <a:endParaRPr lang="en-US" dirty="0"/>
          </a:p>
        </p:txBody>
      </p:sp>
    </p:spTree>
    <p:extLst>
      <p:ext uri="{BB962C8B-B14F-4D97-AF65-F5344CB8AC3E}">
        <p14:creationId xmlns:p14="http://schemas.microsoft.com/office/powerpoint/2010/main" val="1122180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dirty="0">
                <a:solidFill>
                  <a:srgbClr val="FF0000"/>
                </a:solidFill>
              </a:rPr>
              <a:t>Nested Structures</a:t>
            </a:r>
            <a:br>
              <a:rPr lang="en-US" dirty="0"/>
            </a:br>
            <a:endParaRPr lang="en-US" dirty="0"/>
          </a:p>
        </p:txBody>
      </p:sp>
      <p:sp>
        <p:nvSpPr>
          <p:cNvPr id="2" name="Content Placeholder 1"/>
          <p:cNvSpPr>
            <a:spLocks noGrp="1"/>
          </p:cNvSpPr>
          <p:nvPr>
            <p:ph idx="1"/>
          </p:nvPr>
        </p:nvSpPr>
        <p:spPr/>
        <p:txBody>
          <a:bodyPr>
            <a:normAutofit/>
          </a:bodyPr>
          <a:lstStyle/>
          <a:p>
            <a:r>
              <a:rPr lang="en-US" dirty="0"/>
              <a:t>Nested structure in C is nothing but structure within structure. One structure can be declared inside other structure as we declare structure members inside a structure. A structure may be defined as a member of another structure. The declaration of the embedded structure must occur before the declaration of the outer structure. This is also said to structure within structure.</a:t>
            </a:r>
          </a:p>
          <a:p>
            <a:r>
              <a:rPr lang="en-US" dirty="0"/>
              <a:t>A structure inside another structure is called nested structure.</a:t>
            </a:r>
          </a:p>
          <a:p>
            <a:pPr marL="109728" indent="0">
              <a:buNone/>
            </a:pPr>
            <a:endParaRPr lang="en-US" dirty="0"/>
          </a:p>
        </p:txBody>
      </p:sp>
    </p:spTree>
    <p:extLst>
      <p:ext uri="{BB962C8B-B14F-4D97-AF65-F5344CB8AC3E}">
        <p14:creationId xmlns:p14="http://schemas.microsoft.com/office/powerpoint/2010/main" val="4193499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The inner most member in a nested structure can be accessed by changing all the concerned structure variables (from outer most to inner most) with the member using dot operator.</a:t>
            </a:r>
            <a:br>
              <a:rPr lang="en-US" dirty="0"/>
            </a:br>
            <a:r>
              <a:rPr lang="en-US" dirty="0"/>
              <a:t>The variables inside a structure can be anything like normal or pointer or anything and can be placed anywhere within the structure.</a:t>
            </a:r>
          </a:p>
          <a:p>
            <a:endParaRPr lang="en-US" dirty="0"/>
          </a:p>
        </p:txBody>
      </p:sp>
    </p:spTree>
    <p:extLst>
      <p:ext uri="{BB962C8B-B14F-4D97-AF65-F5344CB8AC3E}">
        <p14:creationId xmlns:p14="http://schemas.microsoft.com/office/powerpoint/2010/main" val="1092164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fontScale="85000" lnSpcReduction="20000"/>
          </a:bodyPr>
          <a:lstStyle/>
          <a:p>
            <a:pPr marL="109728" indent="0">
              <a:buNone/>
            </a:pPr>
            <a:r>
              <a:rPr lang="en-US" dirty="0"/>
              <a:t>#include &lt;</a:t>
            </a:r>
            <a:r>
              <a:rPr lang="en-US" dirty="0" err="1"/>
              <a:t>stdio.h</a:t>
            </a:r>
            <a:r>
              <a:rPr lang="en-US" dirty="0"/>
              <a:t>&gt;</a:t>
            </a:r>
            <a:br>
              <a:rPr lang="en-US" dirty="0"/>
            </a:br>
            <a:endParaRPr lang="en-US" dirty="0"/>
          </a:p>
          <a:p>
            <a:pPr marL="109728" indent="0">
              <a:buNone/>
            </a:pPr>
            <a:r>
              <a:rPr lang="en-US" dirty="0"/>
              <a:t>void main ()</a:t>
            </a:r>
          </a:p>
          <a:p>
            <a:pPr marL="109728" indent="0">
              <a:buNone/>
            </a:pPr>
            <a:r>
              <a:rPr lang="en-US" dirty="0"/>
              <a:t>    {</a:t>
            </a:r>
          </a:p>
          <a:p>
            <a:pPr marL="109728" indent="0">
              <a:buNone/>
            </a:pPr>
            <a:r>
              <a:rPr lang="en-US" dirty="0"/>
              <a:t>          </a:t>
            </a:r>
            <a:r>
              <a:rPr lang="en-US" dirty="0" err="1"/>
              <a:t>struct</a:t>
            </a:r>
            <a:r>
              <a:rPr lang="en-US" dirty="0"/>
              <a:t> date</a:t>
            </a:r>
          </a:p>
          <a:p>
            <a:pPr marL="109728" indent="0">
              <a:buNone/>
            </a:pPr>
            <a:r>
              <a:rPr lang="en-US" dirty="0"/>
              <a:t>           {</a:t>
            </a:r>
          </a:p>
          <a:p>
            <a:pPr marL="109728" indent="0">
              <a:buNone/>
            </a:pPr>
            <a:r>
              <a:rPr lang="en-US" dirty="0"/>
              <a:t>                       </a:t>
            </a:r>
            <a:r>
              <a:rPr lang="en-US" dirty="0" err="1"/>
              <a:t>int</a:t>
            </a:r>
            <a:r>
              <a:rPr lang="en-US" dirty="0"/>
              <a:t> </a:t>
            </a:r>
            <a:r>
              <a:rPr lang="en-US" dirty="0" err="1"/>
              <a:t>dd</a:t>
            </a:r>
            <a:r>
              <a:rPr lang="en-US" dirty="0"/>
              <a:t>;</a:t>
            </a:r>
          </a:p>
          <a:p>
            <a:pPr marL="109728" indent="0">
              <a:buNone/>
            </a:pPr>
            <a:r>
              <a:rPr lang="en-US" dirty="0"/>
              <a:t>                       </a:t>
            </a:r>
            <a:r>
              <a:rPr lang="en-US" dirty="0" err="1"/>
              <a:t>int</a:t>
            </a:r>
            <a:r>
              <a:rPr lang="en-US" dirty="0"/>
              <a:t> mm;</a:t>
            </a:r>
          </a:p>
          <a:p>
            <a:pPr marL="109728" indent="0">
              <a:buNone/>
            </a:pPr>
            <a:r>
              <a:rPr lang="en-US" dirty="0"/>
              <a:t>                        </a:t>
            </a:r>
            <a:r>
              <a:rPr lang="en-US" dirty="0" err="1"/>
              <a:t>int</a:t>
            </a:r>
            <a:r>
              <a:rPr lang="en-US" dirty="0"/>
              <a:t> </a:t>
            </a:r>
            <a:r>
              <a:rPr lang="en-US" dirty="0" err="1"/>
              <a:t>yy</a:t>
            </a:r>
            <a:r>
              <a:rPr lang="en-US" dirty="0"/>
              <a:t>;</a:t>
            </a:r>
          </a:p>
          <a:p>
            <a:pPr marL="109728" indent="0">
              <a:buNone/>
            </a:pPr>
            <a:r>
              <a:rPr lang="en-US" dirty="0"/>
              <a:t>            };</a:t>
            </a:r>
          </a:p>
          <a:p>
            <a:pPr marL="109728" indent="0">
              <a:buNone/>
            </a:pPr>
            <a:r>
              <a:rPr lang="en-US" dirty="0" err="1"/>
              <a:t>struct</a:t>
            </a:r>
            <a:r>
              <a:rPr lang="en-US" dirty="0"/>
              <a:t> student</a:t>
            </a:r>
          </a:p>
          <a:p>
            <a:pPr marL="109728" indent="0">
              <a:buNone/>
            </a:pPr>
            <a:r>
              <a:rPr lang="en-US" dirty="0"/>
              <a:t>{</a:t>
            </a:r>
          </a:p>
          <a:p>
            <a:pPr marL="109728" indent="0">
              <a:buNone/>
            </a:pPr>
            <a:r>
              <a:rPr lang="en-US" dirty="0"/>
              <a:t>           char name [20];</a:t>
            </a:r>
          </a:p>
          <a:p>
            <a:pPr marL="109728" indent="0">
              <a:buNone/>
            </a:pPr>
            <a:r>
              <a:rPr lang="en-US" b="1" dirty="0"/>
              <a:t>          </a:t>
            </a:r>
            <a:r>
              <a:rPr lang="en-US" b="1" dirty="0" err="1"/>
              <a:t>struct</a:t>
            </a:r>
            <a:r>
              <a:rPr lang="en-US" b="1" dirty="0"/>
              <a:t> date dob;</a:t>
            </a:r>
            <a:endParaRPr lang="en-US" dirty="0"/>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1910095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marL="109728" indent="0">
              <a:buNone/>
            </a:pPr>
            <a:r>
              <a:rPr lang="en-US" dirty="0" err="1"/>
              <a:t>struct</a:t>
            </a:r>
            <a:r>
              <a:rPr lang="en-US" dirty="0"/>
              <a:t> student s1;</a:t>
            </a:r>
          </a:p>
          <a:p>
            <a:pPr marL="109728" indent="0">
              <a:buNone/>
            </a:pPr>
            <a:r>
              <a:rPr lang="en-US" dirty="0" err="1"/>
              <a:t>printf</a:t>
            </a:r>
            <a:r>
              <a:rPr lang="en-US" dirty="0"/>
              <a:t> (“enter student name\n”);</a:t>
            </a:r>
          </a:p>
          <a:p>
            <a:pPr marL="109728" indent="0">
              <a:buNone/>
            </a:pPr>
            <a:r>
              <a:rPr lang="en-US" dirty="0" err="1"/>
              <a:t>scanf</a:t>
            </a:r>
            <a:r>
              <a:rPr lang="en-US" dirty="0"/>
              <a:t> (“%s”, s1.name);</a:t>
            </a:r>
          </a:p>
          <a:p>
            <a:pPr marL="109728" indent="0">
              <a:buNone/>
            </a:pPr>
            <a:r>
              <a:rPr lang="en-US" dirty="0" err="1"/>
              <a:t>printf</a:t>
            </a:r>
            <a:r>
              <a:rPr lang="en-US" dirty="0"/>
              <a:t> (“enter date of birth\n”);</a:t>
            </a:r>
          </a:p>
          <a:p>
            <a:pPr marL="109728" indent="0">
              <a:buNone/>
            </a:pPr>
            <a:r>
              <a:rPr lang="en-US" dirty="0" err="1"/>
              <a:t>scanf</a:t>
            </a:r>
            <a:r>
              <a:rPr lang="en-US" dirty="0"/>
              <a:t> (“%d %d %d”, </a:t>
            </a:r>
            <a:r>
              <a:rPr lang="en-US" b="1" dirty="0"/>
              <a:t>&amp;s1.dob.dd, &amp;s1.dob.mm, &amp;s1.dob.yy</a:t>
            </a:r>
            <a:r>
              <a:rPr lang="en-US" dirty="0"/>
              <a:t>);</a:t>
            </a:r>
          </a:p>
          <a:p>
            <a:pPr marL="109728" indent="0">
              <a:buNone/>
            </a:pPr>
            <a:r>
              <a:rPr lang="en-US" dirty="0" err="1"/>
              <a:t>printf</a:t>
            </a:r>
            <a:r>
              <a:rPr lang="en-US" dirty="0"/>
              <a:t>(“name=%s\t DOB=%d/%d/%d\n”,s1.name,s1.dob.dd, s1.dob.mm,s1.dob.yy);</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3705423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0" dirty="0">
                <a:solidFill>
                  <a:srgbClr val="FF0000"/>
                </a:solidFill>
                <a:effectLst/>
              </a:rPr>
              <a:t>Comparison of structure variables</a:t>
            </a:r>
            <a:br>
              <a:rPr lang="en-US" b="0" dirty="0">
                <a:effectLst/>
              </a:rPr>
            </a:br>
            <a:endParaRPr lang="en-US" dirty="0"/>
          </a:p>
        </p:txBody>
      </p:sp>
      <p:sp>
        <p:nvSpPr>
          <p:cNvPr id="2" name="Content Placeholder 1"/>
          <p:cNvSpPr>
            <a:spLocks noGrp="1"/>
          </p:cNvSpPr>
          <p:nvPr>
            <p:ph idx="1"/>
          </p:nvPr>
        </p:nvSpPr>
        <p:spPr/>
        <p:txBody>
          <a:bodyPr/>
          <a:lstStyle/>
          <a:p>
            <a:r>
              <a:rPr lang="en-US" dirty="0"/>
              <a:t>Comparison</a:t>
            </a:r>
          </a:p>
          <a:p>
            <a:pPr marL="109728" indent="0">
              <a:buNone/>
            </a:pPr>
            <a:r>
              <a:rPr lang="en-US" dirty="0"/>
              <a:t>In C programming language, a structure is a collection of different </a:t>
            </a:r>
            <a:r>
              <a:rPr lang="en-US" dirty="0" err="1"/>
              <a:t>datatype</a:t>
            </a:r>
            <a:r>
              <a:rPr lang="en-US" dirty="0"/>
              <a:t> variables, which are grouped together under a single name.</a:t>
            </a:r>
          </a:p>
          <a:p>
            <a:endParaRPr lang="en-US" dirty="0"/>
          </a:p>
        </p:txBody>
      </p:sp>
    </p:spTree>
    <p:extLst>
      <p:ext uri="{BB962C8B-B14F-4D97-AF65-F5344CB8AC3E}">
        <p14:creationId xmlns:p14="http://schemas.microsoft.com/office/powerpoint/2010/main" val="20980146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a:xfrm>
            <a:off x="457200" y="1481328"/>
            <a:ext cx="8229600" cy="4995672"/>
          </a:xfrm>
        </p:spPr>
        <p:txBody>
          <a:bodyPr>
            <a:normAutofit/>
          </a:bodyPr>
          <a:lstStyle/>
          <a:p>
            <a:pPr marL="109728" indent="0">
              <a:buNone/>
            </a:pPr>
            <a:r>
              <a:rPr lang="en-US" b="1" dirty="0"/>
              <a:t>Declaration and initialization of structures</a:t>
            </a:r>
            <a:endParaRPr lang="en-US" dirty="0"/>
          </a:p>
          <a:p>
            <a:r>
              <a:rPr lang="en-US" dirty="0"/>
              <a:t>The general form of a structure declaration is as follows −</a:t>
            </a:r>
          </a:p>
          <a:p>
            <a:pPr marL="109728" indent="0">
              <a:buNone/>
            </a:pPr>
            <a:r>
              <a:rPr lang="en-US" dirty="0" err="1"/>
              <a:t>datatype</a:t>
            </a:r>
            <a:r>
              <a:rPr lang="en-US" dirty="0"/>
              <a:t> member1; </a:t>
            </a:r>
          </a:p>
          <a:p>
            <a:pPr marL="109728" indent="0">
              <a:buNone/>
            </a:pPr>
            <a:r>
              <a:rPr lang="en-US" dirty="0" err="1"/>
              <a:t>struct</a:t>
            </a:r>
            <a:r>
              <a:rPr lang="en-US" dirty="0"/>
              <a:t> </a:t>
            </a:r>
            <a:r>
              <a:rPr lang="en-US" dirty="0" err="1"/>
              <a:t>tagname</a:t>
            </a:r>
            <a:r>
              <a:rPr lang="en-US" dirty="0"/>
              <a:t>{    </a:t>
            </a:r>
          </a:p>
          <a:p>
            <a:pPr marL="109728" indent="0">
              <a:buNone/>
            </a:pPr>
            <a:r>
              <a:rPr lang="en-US" dirty="0" err="1"/>
              <a:t>datatype</a:t>
            </a:r>
            <a:r>
              <a:rPr lang="en-US" dirty="0"/>
              <a:t> member2;    </a:t>
            </a:r>
          </a:p>
          <a:p>
            <a:pPr marL="109728" indent="0">
              <a:buNone/>
            </a:pPr>
            <a:r>
              <a:rPr lang="en-US" dirty="0" err="1"/>
              <a:t>datatype</a:t>
            </a:r>
            <a:r>
              <a:rPr lang="en-US" dirty="0"/>
              <a:t> member n; </a:t>
            </a:r>
          </a:p>
          <a:p>
            <a:pPr marL="109728" indent="0">
              <a:buNone/>
            </a:pPr>
            <a:r>
              <a:rPr lang="en-US" dirty="0"/>
              <a:t>};</a:t>
            </a:r>
          </a:p>
          <a:p>
            <a:pPr marL="109728" indent="0">
              <a:buNone/>
            </a:pPr>
            <a:r>
              <a:rPr lang="en-US" dirty="0"/>
              <a:t>Here,</a:t>
            </a:r>
          </a:p>
          <a:p>
            <a:r>
              <a:rPr lang="en-US" dirty="0" err="1"/>
              <a:t>struct</a:t>
            </a:r>
            <a:r>
              <a:rPr lang="en-US" dirty="0"/>
              <a:t> is a keyword.</a:t>
            </a:r>
          </a:p>
          <a:p>
            <a:r>
              <a:rPr lang="en-US" dirty="0" err="1"/>
              <a:t>tagname</a:t>
            </a:r>
            <a:r>
              <a:rPr lang="en-US" dirty="0"/>
              <a:t> specifies the name of structure.</a:t>
            </a:r>
          </a:p>
          <a:p>
            <a:r>
              <a:rPr lang="en-US" dirty="0"/>
              <a:t>member1, member2 specifies the data items that make up structure.</a:t>
            </a:r>
          </a:p>
          <a:p>
            <a:pPr marL="109728" indent="0">
              <a:buNone/>
            </a:pPr>
            <a:endParaRPr lang="en-US" dirty="0"/>
          </a:p>
        </p:txBody>
      </p:sp>
    </p:spTree>
    <p:extLst>
      <p:ext uri="{BB962C8B-B14F-4D97-AF65-F5344CB8AC3E}">
        <p14:creationId xmlns:p14="http://schemas.microsoft.com/office/powerpoint/2010/main" val="63578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For example,</a:t>
            </a:r>
          </a:p>
          <a:p>
            <a:pPr marL="109728" indent="0">
              <a:buNone/>
            </a:pPr>
            <a:r>
              <a:rPr lang="en-US" dirty="0" err="1"/>
              <a:t>struct</a:t>
            </a:r>
            <a:r>
              <a:rPr lang="en-US" dirty="0"/>
              <a:t> book</a:t>
            </a:r>
          </a:p>
          <a:p>
            <a:pPr marL="109728" indent="0">
              <a:buNone/>
            </a:pPr>
            <a:r>
              <a:rPr lang="en-US" dirty="0"/>
              <a:t>{    </a:t>
            </a:r>
            <a:r>
              <a:rPr lang="en-US" dirty="0" err="1"/>
              <a:t>int</a:t>
            </a:r>
            <a:r>
              <a:rPr lang="en-US" dirty="0"/>
              <a:t> pages;    </a:t>
            </a:r>
          </a:p>
          <a:p>
            <a:pPr marL="109728" indent="0">
              <a:buNone/>
            </a:pPr>
            <a:r>
              <a:rPr lang="en-US" dirty="0"/>
              <a:t>char author [30];   </a:t>
            </a:r>
          </a:p>
          <a:p>
            <a:pPr marL="109728" indent="0">
              <a:buNone/>
            </a:pPr>
            <a:r>
              <a:rPr lang="en-US" dirty="0"/>
              <a:t> float price; </a:t>
            </a:r>
          </a:p>
          <a:p>
            <a:pPr marL="109728" indent="0">
              <a:buNone/>
            </a:pPr>
            <a:r>
              <a:rPr lang="en-US" dirty="0"/>
              <a:t>};</a:t>
            </a:r>
          </a:p>
        </p:txBody>
      </p:sp>
    </p:spTree>
    <p:extLst>
      <p:ext uri="{BB962C8B-B14F-4D97-AF65-F5344CB8AC3E}">
        <p14:creationId xmlns:p14="http://schemas.microsoft.com/office/powerpoint/2010/main" val="24933659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marL="109728" indent="0">
              <a:buNone/>
            </a:pPr>
            <a:r>
              <a:rPr lang="en-US" dirty="0"/>
              <a:t>Structure variables</a:t>
            </a:r>
          </a:p>
          <a:p>
            <a:r>
              <a:rPr lang="en-US" dirty="0"/>
              <a:t>There are three methods of declaring structure variables, which are as follows −</a:t>
            </a:r>
          </a:p>
          <a:p>
            <a:pPr marL="109728" indent="0">
              <a:buNone/>
            </a:pPr>
            <a:r>
              <a:rPr lang="en-US" b="1" dirty="0"/>
              <a:t>First method</a:t>
            </a:r>
            <a:endParaRPr lang="en-US" dirty="0"/>
          </a:p>
          <a:p>
            <a:pPr marL="109728" indent="0">
              <a:buNone/>
            </a:pPr>
            <a:r>
              <a:rPr lang="en-US" dirty="0" err="1"/>
              <a:t>struct</a:t>
            </a:r>
            <a:r>
              <a:rPr lang="en-US" dirty="0"/>
              <a:t> book</a:t>
            </a:r>
          </a:p>
          <a:p>
            <a:pPr marL="109728" indent="0">
              <a:buNone/>
            </a:pPr>
            <a:r>
              <a:rPr lang="en-US" dirty="0"/>
              <a:t>{    </a:t>
            </a:r>
            <a:r>
              <a:rPr lang="en-US" dirty="0" err="1"/>
              <a:t>int</a:t>
            </a:r>
            <a:r>
              <a:rPr lang="en-US" dirty="0"/>
              <a:t> pages;    </a:t>
            </a:r>
          </a:p>
          <a:p>
            <a:pPr marL="109728" indent="0">
              <a:buNone/>
            </a:pPr>
            <a:r>
              <a:rPr lang="en-US" dirty="0"/>
              <a:t>char author[30];    </a:t>
            </a:r>
          </a:p>
          <a:p>
            <a:pPr marL="109728" indent="0">
              <a:buNone/>
            </a:pPr>
            <a:r>
              <a:rPr lang="en-US" dirty="0"/>
              <a:t>float price; </a:t>
            </a:r>
          </a:p>
          <a:p>
            <a:pPr marL="109728" indent="0">
              <a:buNone/>
            </a:pPr>
            <a:r>
              <a:rPr lang="en-US" dirty="0"/>
              <a:t>}b;</a:t>
            </a:r>
          </a:p>
        </p:txBody>
      </p:sp>
    </p:spTree>
    <p:extLst>
      <p:ext uri="{BB962C8B-B14F-4D97-AF65-F5344CB8AC3E}">
        <p14:creationId xmlns:p14="http://schemas.microsoft.com/office/powerpoint/2010/main" val="15288707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b="1" dirty="0"/>
              <a:t>Second method</a:t>
            </a:r>
            <a:endParaRPr lang="en-US" dirty="0"/>
          </a:p>
          <a:p>
            <a:pPr marL="109728" indent="0">
              <a:buNone/>
            </a:pPr>
            <a:r>
              <a:rPr lang="en-US" sz="2400" dirty="0" err="1"/>
              <a:t>struct</a:t>
            </a:r>
            <a:r>
              <a:rPr lang="en-US" sz="2400" dirty="0"/>
              <a:t>{   </a:t>
            </a:r>
          </a:p>
          <a:p>
            <a:pPr marL="109728" indent="0">
              <a:buNone/>
            </a:pPr>
            <a:r>
              <a:rPr lang="en-US" sz="2400" dirty="0"/>
              <a:t> </a:t>
            </a:r>
            <a:r>
              <a:rPr lang="en-US" sz="2400" dirty="0" err="1"/>
              <a:t>int</a:t>
            </a:r>
            <a:r>
              <a:rPr lang="en-US" sz="2400" dirty="0"/>
              <a:t> pages;   </a:t>
            </a:r>
          </a:p>
          <a:p>
            <a:pPr marL="109728" indent="0">
              <a:buNone/>
            </a:pPr>
            <a:r>
              <a:rPr lang="en-US" sz="2400" dirty="0"/>
              <a:t> char author[30];  </a:t>
            </a:r>
          </a:p>
          <a:p>
            <a:pPr marL="109728" indent="0">
              <a:buNone/>
            </a:pPr>
            <a:r>
              <a:rPr lang="en-US" sz="2400" dirty="0"/>
              <a:t>  float price; </a:t>
            </a:r>
          </a:p>
          <a:p>
            <a:pPr marL="109728" indent="0">
              <a:buNone/>
            </a:pPr>
            <a:r>
              <a:rPr lang="en-US" sz="2400" dirty="0"/>
              <a:t>}b;</a:t>
            </a:r>
          </a:p>
        </p:txBody>
      </p:sp>
    </p:spTree>
    <p:extLst>
      <p:ext uri="{BB962C8B-B14F-4D97-AF65-F5344CB8AC3E}">
        <p14:creationId xmlns:p14="http://schemas.microsoft.com/office/powerpoint/2010/main" val="1356222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b="1" dirty="0"/>
              <a:t>Third method</a:t>
            </a:r>
            <a:endParaRPr lang="en-US" dirty="0"/>
          </a:p>
          <a:p>
            <a:pPr marL="109728" indent="0">
              <a:buNone/>
            </a:pPr>
            <a:r>
              <a:rPr lang="en-US" dirty="0" err="1"/>
              <a:t>struct</a:t>
            </a:r>
            <a:r>
              <a:rPr lang="en-US" dirty="0"/>
              <a:t> book{   </a:t>
            </a:r>
          </a:p>
          <a:p>
            <a:pPr marL="109728" indent="0">
              <a:buNone/>
            </a:pPr>
            <a:r>
              <a:rPr lang="en-US" dirty="0"/>
              <a:t> </a:t>
            </a:r>
            <a:r>
              <a:rPr lang="en-US" dirty="0" err="1"/>
              <a:t>int</a:t>
            </a:r>
            <a:r>
              <a:rPr lang="en-US" dirty="0"/>
              <a:t> pages;    </a:t>
            </a:r>
          </a:p>
          <a:p>
            <a:pPr marL="109728" indent="0">
              <a:buNone/>
            </a:pPr>
            <a:r>
              <a:rPr lang="en-US" dirty="0"/>
              <a:t>char author[30];    </a:t>
            </a:r>
          </a:p>
          <a:p>
            <a:pPr marL="109728" indent="0">
              <a:buNone/>
            </a:pPr>
            <a:r>
              <a:rPr lang="en-US" dirty="0"/>
              <a:t>float price; }; </a:t>
            </a:r>
          </a:p>
          <a:p>
            <a:pPr marL="109728" indent="0">
              <a:buNone/>
            </a:pPr>
            <a:r>
              <a:rPr lang="en-US" dirty="0" err="1"/>
              <a:t>struct</a:t>
            </a:r>
            <a:r>
              <a:rPr lang="en-US" dirty="0"/>
              <a:t> book b;</a:t>
            </a:r>
          </a:p>
        </p:txBody>
      </p:sp>
    </p:spTree>
    <p:extLst>
      <p:ext uri="{BB962C8B-B14F-4D97-AF65-F5344CB8AC3E}">
        <p14:creationId xmlns:p14="http://schemas.microsoft.com/office/powerpoint/2010/main" val="541413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b="1" dirty="0"/>
              <a:t>Initialization and accessing of structures</a:t>
            </a:r>
            <a:endParaRPr lang="en-US" dirty="0"/>
          </a:p>
          <a:p>
            <a:pPr marL="109728" indent="0">
              <a:buNone/>
            </a:pPr>
            <a:r>
              <a:rPr lang="en-US" dirty="0"/>
              <a:t>The link between a member and a structure variable is established by using a member operator (or) a dot operator.</a:t>
            </a:r>
          </a:p>
          <a:p>
            <a:pPr marL="109728" indent="0">
              <a:buNone/>
            </a:pPr>
            <a:endParaRPr lang="en-US" dirty="0"/>
          </a:p>
        </p:txBody>
      </p:sp>
    </p:spTree>
    <p:extLst>
      <p:ext uri="{BB962C8B-B14F-4D97-AF65-F5344CB8AC3E}">
        <p14:creationId xmlns:p14="http://schemas.microsoft.com/office/powerpoint/2010/main" val="2012291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Initialization can be done in the following methods −</a:t>
            </a:r>
          </a:p>
          <a:p>
            <a:r>
              <a:rPr lang="en-US" b="1" dirty="0"/>
              <a:t>First method</a:t>
            </a:r>
            <a:endParaRPr lang="en-US" dirty="0"/>
          </a:p>
          <a:p>
            <a:pPr marL="109728" indent="0">
              <a:buNone/>
            </a:pPr>
            <a:r>
              <a:rPr lang="en-US" dirty="0" err="1"/>
              <a:t>struct</a:t>
            </a:r>
            <a:r>
              <a:rPr lang="en-US" dirty="0"/>
              <a:t> book{   </a:t>
            </a:r>
          </a:p>
          <a:p>
            <a:pPr marL="109728" indent="0">
              <a:buNone/>
            </a:pPr>
            <a:r>
              <a:rPr lang="en-US" dirty="0"/>
              <a:t> </a:t>
            </a:r>
            <a:r>
              <a:rPr lang="en-US" dirty="0" err="1"/>
              <a:t>int</a:t>
            </a:r>
            <a:r>
              <a:rPr lang="en-US" dirty="0"/>
              <a:t> pages;    </a:t>
            </a:r>
          </a:p>
          <a:p>
            <a:pPr marL="109728" indent="0">
              <a:buNone/>
            </a:pPr>
            <a:r>
              <a:rPr lang="en-US" dirty="0"/>
              <a:t>char author[30];   </a:t>
            </a:r>
          </a:p>
          <a:p>
            <a:pPr marL="109728" indent="0">
              <a:buNone/>
            </a:pPr>
            <a:r>
              <a:rPr lang="en-US" dirty="0"/>
              <a:t> float price; } </a:t>
            </a:r>
          </a:p>
          <a:p>
            <a:pPr marL="109728" indent="0">
              <a:buNone/>
            </a:pPr>
            <a:r>
              <a:rPr lang="en-US" dirty="0"/>
              <a:t>b = {100, “</a:t>
            </a:r>
            <a:r>
              <a:rPr lang="en-US" dirty="0" err="1"/>
              <a:t>balu</a:t>
            </a:r>
            <a:r>
              <a:rPr lang="en-US" dirty="0"/>
              <a:t>”, 325.75};</a:t>
            </a:r>
          </a:p>
        </p:txBody>
      </p:sp>
    </p:spTree>
    <p:extLst>
      <p:ext uri="{BB962C8B-B14F-4D97-AF65-F5344CB8AC3E}">
        <p14:creationId xmlns:p14="http://schemas.microsoft.com/office/powerpoint/2010/main" val="818477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b="1" dirty="0"/>
              <a:t>Second method</a:t>
            </a:r>
            <a:endParaRPr lang="en-US" dirty="0"/>
          </a:p>
          <a:p>
            <a:pPr marL="109728" indent="0">
              <a:buNone/>
            </a:pPr>
            <a:r>
              <a:rPr lang="en-US" dirty="0" err="1"/>
              <a:t>struct</a:t>
            </a:r>
            <a:r>
              <a:rPr lang="en-US" dirty="0"/>
              <a:t> book{   </a:t>
            </a:r>
          </a:p>
          <a:p>
            <a:pPr marL="109728" indent="0">
              <a:buNone/>
            </a:pPr>
            <a:r>
              <a:rPr lang="en-US" dirty="0"/>
              <a:t> </a:t>
            </a:r>
            <a:r>
              <a:rPr lang="en-US" dirty="0" err="1"/>
              <a:t>int</a:t>
            </a:r>
            <a:r>
              <a:rPr lang="en-US" dirty="0"/>
              <a:t> pages;    </a:t>
            </a:r>
          </a:p>
          <a:p>
            <a:pPr marL="109728" indent="0">
              <a:buNone/>
            </a:pPr>
            <a:r>
              <a:rPr lang="en-US" dirty="0"/>
              <a:t>char author[30];   </a:t>
            </a:r>
          </a:p>
          <a:p>
            <a:pPr marL="109728" indent="0">
              <a:buNone/>
            </a:pPr>
            <a:r>
              <a:rPr lang="en-US" dirty="0"/>
              <a:t> float price; }; </a:t>
            </a:r>
          </a:p>
          <a:p>
            <a:pPr marL="109728" indent="0">
              <a:buNone/>
            </a:pPr>
            <a:r>
              <a:rPr lang="en-US" dirty="0" err="1"/>
              <a:t>struct</a:t>
            </a:r>
            <a:r>
              <a:rPr lang="en-US" dirty="0"/>
              <a:t> book </a:t>
            </a:r>
          </a:p>
          <a:p>
            <a:pPr marL="109728" indent="0">
              <a:buNone/>
            </a:pPr>
            <a:r>
              <a:rPr lang="en-US" dirty="0"/>
              <a:t>b = {100, “</a:t>
            </a:r>
            <a:r>
              <a:rPr lang="en-US" dirty="0" err="1"/>
              <a:t>balu</a:t>
            </a:r>
            <a:r>
              <a:rPr lang="en-US" dirty="0"/>
              <a:t>”, 325.75};</a:t>
            </a:r>
          </a:p>
        </p:txBody>
      </p:sp>
    </p:spTree>
    <p:extLst>
      <p:ext uri="{BB962C8B-B14F-4D97-AF65-F5344CB8AC3E}">
        <p14:creationId xmlns:p14="http://schemas.microsoft.com/office/powerpoint/2010/main" val="4342994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marL="109728" indent="0">
              <a:buNone/>
            </a:pPr>
            <a:r>
              <a:rPr lang="en-US" b="1" dirty="0"/>
              <a:t>Third method by using a member operator</a:t>
            </a:r>
            <a:endParaRPr lang="en-US" dirty="0"/>
          </a:p>
          <a:p>
            <a:pPr marL="109728" indent="0">
              <a:buNone/>
            </a:pPr>
            <a:r>
              <a:rPr lang="en-US" dirty="0" err="1"/>
              <a:t>struct</a:t>
            </a:r>
            <a:r>
              <a:rPr lang="en-US" dirty="0"/>
              <a:t> book{  </a:t>
            </a:r>
          </a:p>
          <a:p>
            <a:pPr marL="109728" indent="0">
              <a:buNone/>
            </a:pPr>
            <a:r>
              <a:rPr lang="en-US" dirty="0"/>
              <a:t> </a:t>
            </a:r>
            <a:r>
              <a:rPr lang="en-US" dirty="0" err="1"/>
              <a:t>int</a:t>
            </a:r>
            <a:r>
              <a:rPr lang="en-US" dirty="0"/>
              <a:t> pages;    </a:t>
            </a:r>
          </a:p>
          <a:p>
            <a:pPr marL="109728" indent="0">
              <a:buNone/>
            </a:pPr>
            <a:r>
              <a:rPr lang="en-US" dirty="0"/>
              <a:t>char author[30];   </a:t>
            </a:r>
          </a:p>
          <a:p>
            <a:pPr marL="109728" indent="0">
              <a:buNone/>
            </a:pPr>
            <a:r>
              <a:rPr lang="en-US" dirty="0"/>
              <a:t> float price; } ; </a:t>
            </a:r>
          </a:p>
          <a:p>
            <a:pPr marL="109728" indent="0">
              <a:buNone/>
            </a:pPr>
            <a:r>
              <a:rPr lang="en-US" dirty="0" err="1"/>
              <a:t>struct</a:t>
            </a:r>
            <a:r>
              <a:rPr lang="en-US" dirty="0"/>
              <a:t> book b; </a:t>
            </a:r>
          </a:p>
          <a:p>
            <a:pPr marL="109728" indent="0">
              <a:buNone/>
            </a:pPr>
            <a:r>
              <a:rPr lang="en-US" dirty="0"/>
              <a:t>b. pages = 100; </a:t>
            </a:r>
          </a:p>
          <a:p>
            <a:pPr marL="109728" indent="0">
              <a:buNone/>
            </a:pPr>
            <a:r>
              <a:rPr lang="en-US" dirty="0" err="1"/>
              <a:t>strcpy</a:t>
            </a:r>
            <a:r>
              <a:rPr lang="en-US" dirty="0"/>
              <a:t> (</a:t>
            </a:r>
            <a:r>
              <a:rPr lang="en-US" dirty="0" err="1"/>
              <a:t>b.author</a:t>
            </a:r>
            <a:r>
              <a:rPr lang="en-US" dirty="0"/>
              <a:t>, “</a:t>
            </a:r>
            <a:r>
              <a:rPr lang="en-US" dirty="0" err="1"/>
              <a:t>balu</a:t>
            </a:r>
            <a:r>
              <a:rPr lang="en-US" dirty="0"/>
              <a:t>”);</a:t>
            </a:r>
          </a:p>
          <a:p>
            <a:pPr marL="109728" indent="0">
              <a:buNone/>
            </a:pPr>
            <a:r>
              <a:rPr lang="en-US" dirty="0"/>
              <a:t> </a:t>
            </a:r>
            <a:r>
              <a:rPr lang="en-US" dirty="0" err="1"/>
              <a:t>b.price</a:t>
            </a:r>
            <a:r>
              <a:rPr lang="en-US" dirty="0"/>
              <a:t> = 325.75;</a:t>
            </a:r>
          </a:p>
        </p:txBody>
      </p:sp>
    </p:spTree>
    <p:extLst>
      <p:ext uri="{BB962C8B-B14F-4D97-AF65-F5344CB8AC3E}">
        <p14:creationId xmlns:p14="http://schemas.microsoft.com/office/powerpoint/2010/main" val="2668155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rgbClr val="FF0000"/>
                </a:solidFill>
              </a:rPr>
              <a:t>Unions</a:t>
            </a:r>
          </a:p>
        </p:txBody>
      </p:sp>
      <p:sp>
        <p:nvSpPr>
          <p:cNvPr id="2" name="Content Placeholder 1"/>
          <p:cNvSpPr>
            <a:spLocks noGrp="1"/>
          </p:cNvSpPr>
          <p:nvPr>
            <p:ph idx="1"/>
          </p:nvPr>
        </p:nvSpPr>
        <p:spPr/>
        <p:txBody>
          <a:bodyPr/>
          <a:lstStyle/>
          <a:p>
            <a:pPr marL="109728" indent="0">
              <a:buNone/>
            </a:pPr>
            <a:endParaRPr lang="en-US" dirty="0"/>
          </a:p>
          <a:p>
            <a:r>
              <a:rPr lang="en-US" dirty="0"/>
              <a:t>Unions are conceptually similar to structures. The syntax to declare/define a union is also similar to that of a structure. </a:t>
            </a:r>
          </a:p>
          <a:p>
            <a:r>
              <a:rPr lang="en-US" dirty="0"/>
              <a:t>The only differences is in terms of storage. </a:t>
            </a:r>
          </a:p>
          <a:p>
            <a:r>
              <a:rPr lang="en-US" dirty="0"/>
              <a:t>In structure each member has its own storage location, whereas all members of union uses a single shared memory location which is equal to the  size of its largest data member.  </a:t>
            </a:r>
          </a:p>
          <a:p>
            <a:pPr marL="109728" indent="0">
              <a:buNone/>
            </a:pPr>
            <a:endParaRPr lang="en-US" dirty="0"/>
          </a:p>
        </p:txBody>
      </p:sp>
    </p:spTree>
    <p:extLst>
      <p:ext uri="{BB962C8B-B14F-4D97-AF65-F5344CB8AC3E}">
        <p14:creationId xmlns:p14="http://schemas.microsoft.com/office/powerpoint/2010/main" val="1331217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14500" y="2096294"/>
            <a:ext cx="5715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50445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a:bodyPr>
          <a:lstStyle/>
          <a:p>
            <a:pPr marL="109728" indent="0">
              <a:buNone/>
            </a:pPr>
            <a:r>
              <a:rPr lang="en-US" dirty="0"/>
              <a:t>This implies that although a </a:t>
            </a:r>
            <a:r>
              <a:rPr lang="en-US" b="1" dirty="0"/>
              <a:t>union</a:t>
            </a:r>
            <a:r>
              <a:rPr lang="en-US" dirty="0"/>
              <a:t> may contain many members of different types, </a:t>
            </a:r>
            <a:r>
              <a:rPr lang="en-US" b="1" dirty="0"/>
              <a:t>it cannot handle all the members at the same time</a:t>
            </a:r>
            <a:r>
              <a:rPr lang="en-US" dirty="0"/>
              <a:t>. A </a:t>
            </a:r>
            <a:r>
              <a:rPr lang="en-US" b="1" dirty="0"/>
              <a:t>union</a:t>
            </a:r>
            <a:r>
              <a:rPr lang="en-US" dirty="0"/>
              <a:t> is declared using the union keyword.</a:t>
            </a:r>
            <a:br>
              <a:rPr lang="en-US" dirty="0"/>
            </a:br>
            <a:br>
              <a:rPr lang="en-US" dirty="0"/>
            </a:br>
            <a:endParaRPr lang="en-US" dirty="0"/>
          </a:p>
        </p:txBody>
      </p:sp>
    </p:spTree>
    <p:extLst>
      <p:ext uri="{BB962C8B-B14F-4D97-AF65-F5344CB8AC3E}">
        <p14:creationId xmlns:p14="http://schemas.microsoft.com/office/powerpoint/2010/main" val="3024924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dirty="0"/>
              <a:t>Union like structure contains members of different data types. Only difference is in allocation of memory.  In case of structure memory is allocated for all its members, but in case of union a piece of storage is allotted which is large enough to hold the largest variable type in the union.</a:t>
            </a:r>
            <a:br>
              <a:rPr lang="en-US" dirty="0"/>
            </a:br>
            <a:r>
              <a:rPr lang="en-US" dirty="0"/>
              <a:t>i.e.) </a:t>
            </a:r>
            <a:r>
              <a:rPr lang="en-US" dirty="0" err="1"/>
              <a:t>struct</a:t>
            </a:r>
            <a:r>
              <a:rPr lang="en-US"/>
              <a:t> student </a:t>
            </a:r>
          </a:p>
          <a:p>
            <a:endParaRPr lang="en-US"/>
          </a:p>
        </p:txBody>
      </p:sp>
    </p:spTree>
    <p:extLst>
      <p:ext uri="{BB962C8B-B14F-4D97-AF65-F5344CB8AC3E}">
        <p14:creationId xmlns:p14="http://schemas.microsoft.com/office/powerpoint/2010/main" val="352670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a:bodyPr>
          <a:lstStyle/>
          <a:p>
            <a:r>
              <a:rPr lang="en-US" b="1" dirty="0"/>
              <a:t>Example:</a:t>
            </a:r>
            <a:br>
              <a:rPr lang="en-US" dirty="0"/>
            </a:br>
            <a:endParaRPr lang="en-US" dirty="0"/>
          </a:p>
          <a:p>
            <a:pPr marL="109728" indent="0">
              <a:buNone/>
            </a:pPr>
            <a:r>
              <a:rPr lang="en-US" dirty="0"/>
              <a:t># include &lt;</a:t>
            </a:r>
            <a:r>
              <a:rPr lang="en-US" dirty="0" err="1"/>
              <a:t>stdio.h</a:t>
            </a:r>
            <a:r>
              <a:rPr lang="en-US" dirty="0"/>
              <a:t>&gt;</a:t>
            </a:r>
          </a:p>
          <a:p>
            <a:pPr marL="109728" indent="0">
              <a:buNone/>
            </a:pPr>
            <a:r>
              <a:rPr lang="en-US" dirty="0"/>
              <a:t>void main ()</a:t>
            </a:r>
          </a:p>
          <a:p>
            <a:pPr marL="109728" indent="0">
              <a:buNone/>
            </a:pPr>
            <a:r>
              <a:rPr lang="en-US" dirty="0"/>
              <a:t>{</a:t>
            </a:r>
          </a:p>
          <a:p>
            <a:pPr marL="109728" indent="0">
              <a:buNone/>
            </a:pPr>
            <a:r>
              <a:rPr lang="en-US" dirty="0"/>
              <a:t>union student</a:t>
            </a:r>
          </a:p>
          <a:p>
            <a:pPr marL="109728" indent="0">
              <a:buNone/>
            </a:pPr>
            <a:r>
              <a:rPr lang="en-US" dirty="0"/>
              <a:t>{</a:t>
            </a:r>
          </a:p>
          <a:p>
            <a:pPr marL="109728" indent="0">
              <a:buNone/>
            </a:pPr>
            <a:r>
              <a:rPr lang="en-US" dirty="0"/>
              <a:t>   </a:t>
            </a:r>
            <a:r>
              <a:rPr lang="en-US" dirty="0" err="1"/>
              <a:t>int</a:t>
            </a:r>
            <a:r>
              <a:rPr lang="en-US" dirty="0"/>
              <a:t> id;</a:t>
            </a:r>
          </a:p>
          <a:p>
            <a:pPr marL="109728" indent="0">
              <a:buNone/>
            </a:pPr>
            <a:r>
              <a:rPr lang="en-US" dirty="0"/>
              <a:t>   char name [20];</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32891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marL="109728" indent="0">
              <a:buNone/>
            </a:pPr>
            <a:r>
              <a:rPr lang="en-US" dirty="0"/>
              <a:t>union student s1;</a:t>
            </a:r>
          </a:p>
          <a:p>
            <a:pPr marL="109728" indent="0">
              <a:buNone/>
            </a:pPr>
            <a:r>
              <a:rPr lang="en-US" dirty="0" err="1"/>
              <a:t>printf</a:t>
            </a:r>
            <a:r>
              <a:rPr lang="en-US" dirty="0"/>
              <a:t> (“enter student id\n”);</a:t>
            </a:r>
          </a:p>
          <a:p>
            <a:pPr marL="109728" indent="0">
              <a:buNone/>
            </a:pPr>
            <a:r>
              <a:rPr lang="en-US" dirty="0" err="1"/>
              <a:t>scanf</a:t>
            </a:r>
            <a:r>
              <a:rPr lang="en-US" dirty="0"/>
              <a:t> (“ID=%d”, &amp;s1.id);</a:t>
            </a:r>
          </a:p>
          <a:p>
            <a:pPr marL="109728" indent="0">
              <a:buNone/>
            </a:pPr>
            <a:r>
              <a:rPr lang="en-US" dirty="0" err="1"/>
              <a:t>printf</a:t>
            </a:r>
            <a:r>
              <a:rPr lang="en-US" dirty="0"/>
              <a:t>(“Student id:%d\n”,s1.id);</a:t>
            </a:r>
          </a:p>
          <a:p>
            <a:pPr marL="109728" indent="0">
              <a:buNone/>
            </a:pPr>
            <a:r>
              <a:rPr lang="en-US" dirty="0" err="1"/>
              <a:t>printf</a:t>
            </a:r>
            <a:r>
              <a:rPr lang="en-US" dirty="0"/>
              <a:t> (“enter student name\n”);</a:t>
            </a:r>
          </a:p>
          <a:p>
            <a:pPr marL="109728" indent="0">
              <a:buNone/>
            </a:pPr>
            <a:r>
              <a:rPr lang="en-US" dirty="0" err="1"/>
              <a:t>scanf</a:t>
            </a:r>
            <a:r>
              <a:rPr lang="en-US" dirty="0"/>
              <a:t> (“Name=%s”, s1.name);</a:t>
            </a:r>
          </a:p>
          <a:p>
            <a:pPr marL="109728" indent="0">
              <a:buNone/>
            </a:pPr>
            <a:r>
              <a:rPr lang="en-US" dirty="0" err="1"/>
              <a:t>printf</a:t>
            </a:r>
            <a:r>
              <a:rPr lang="en-US" dirty="0"/>
              <a:t> (“Student name = %s\n”,s1.name);</a:t>
            </a:r>
          </a:p>
          <a:p>
            <a:pPr marL="109728" indent="0">
              <a:buNone/>
            </a:pPr>
            <a:r>
              <a:rPr lang="en-US" dirty="0"/>
              <a:t>}</a:t>
            </a:r>
          </a:p>
          <a:p>
            <a:pPr marL="109728" indent="0">
              <a:buNone/>
            </a:pPr>
            <a:endParaRPr lang="en-US" dirty="0"/>
          </a:p>
        </p:txBody>
      </p:sp>
    </p:spTree>
    <p:extLst>
      <p:ext uri="{BB962C8B-B14F-4D97-AF65-F5344CB8AC3E}">
        <p14:creationId xmlns:p14="http://schemas.microsoft.com/office/powerpoint/2010/main" val="35184786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normAutofit/>
          </a:bodyPr>
          <a:lstStyle/>
          <a:p>
            <a:r>
              <a:rPr lang="nl-NL" b="1" dirty="0"/>
              <a:t>Output:</a:t>
            </a:r>
            <a:endParaRPr lang="nl-NL" dirty="0"/>
          </a:p>
          <a:p>
            <a:pPr marL="109728" indent="0">
              <a:buNone/>
            </a:pPr>
            <a:r>
              <a:rPr lang="nl-NL" dirty="0"/>
              <a:t>enter student id 10</a:t>
            </a:r>
            <a:br>
              <a:rPr lang="nl-NL" dirty="0"/>
            </a:br>
            <a:endParaRPr lang="nl-NL" dirty="0"/>
          </a:p>
          <a:p>
            <a:pPr marL="109728" indent="0">
              <a:buNone/>
            </a:pPr>
            <a:r>
              <a:rPr lang="nl-NL" dirty="0"/>
              <a:t>ID=10</a:t>
            </a:r>
          </a:p>
          <a:p>
            <a:pPr marL="109728" indent="0">
              <a:buNone/>
            </a:pPr>
            <a:r>
              <a:rPr lang="nl-NL" dirty="0"/>
              <a:t>enter student name Liah</a:t>
            </a:r>
          </a:p>
          <a:p>
            <a:pPr marL="109728" indent="0">
              <a:buNone/>
            </a:pPr>
            <a:r>
              <a:rPr lang="nl-NL" dirty="0"/>
              <a:t>Name=Liah</a:t>
            </a:r>
          </a:p>
          <a:p>
            <a:pPr marL="109728" indent="0">
              <a:buNone/>
            </a:pPr>
            <a:br>
              <a:rPr lang="nl-NL" dirty="0"/>
            </a:br>
            <a:r>
              <a:rPr lang="nl-NL" dirty="0"/>
              <a:t>10</a:t>
            </a:r>
          </a:p>
          <a:p>
            <a:pPr marL="109728" indent="0">
              <a:buNone/>
            </a:pPr>
            <a:br>
              <a:rPr lang="nl-NL" dirty="0"/>
            </a:br>
            <a:endParaRPr lang="en-US" dirty="0"/>
          </a:p>
        </p:txBody>
      </p:sp>
    </p:spTree>
    <p:extLst>
      <p:ext uri="{BB962C8B-B14F-4D97-AF65-F5344CB8AC3E}">
        <p14:creationId xmlns:p14="http://schemas.microsoft.com/office/powerpoint/2010/main" val="3600643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TotalTime>
  <Words>3039</Words>
  <Application>Microsoft Office PowerPoint</Application>
  <PresentationFormat>On-screen Show (4:3)</PresentationFormat>
  <Paragraphs>285</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Times New Roman</vt:lpstr>
      <vt:lpstr>Office Theme</vt:lpstr>
      <vt:lpstr>Structures</vt:lpstr>
      <vt:lpstr>PowerPoint Presentation</vt:lpstr>
      <vt:lpstr>Declaration of Structure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Array of Structure </vt:lpstr>
      <vt:lpstr>PowerPoint Presentation</vt:lpstr>
      <vt:lpstr>PowerPoint Presentation</vt:lpstr>
      <vt:lpstr>PowerPoint Presentation</vt:lpstr>
      <vt:lpstr>PowerPoint Presentation</vt:lpstr>
      <vt:lpstr>Array of Structure </vt:lpstr>
      <vt:lpstr>PowerPoint Presentation</vt:lpstr>
      <vt:lpstr>PowerPoint Presentation</vt:lpstr>
      <vt:lpstr>PowerPoint Presentation</vt:lpstr>
      <vt:lpstr>PowerPoint Presentation</vt:lpstr>
      <vt:lpstr>Array within Structure </vt:lpstr>
      <vt:lpstr>PowerPoint Presentation</vt:lpstr>
      <vt:lpstr>PowerPoint Presentation</vt:lpstr>
      <vt:lpstr>Nested Structures </vt:lpstr>
      <vt:lpstr>PowerPoint Presentation</vt:lpstr>
      <vt:lpstr>PowerPoint Presentation</vt:lpstr>
      <vt:lpstr>PowerPoint Presentation</vt:lpstr>
      <vt:lpstr>Comparison of structure variables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Unions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Structures</dc:title>
  <dc:creator>Staff</dc:creator>
  <cp:lastModifiedBy>VISHNU PRIYA P  M</cp:lastModifiedBy>
  <cp:revision>12</cp:revision>
  <dcterms:created xsi:type="dcterms:W3CDTF">2021-07-31T03:20:59Z</dcterms:created>
  <dcterms:modified xsi:type="dcterms:W3CDTF">2024-10-20T16:57:41Z</dcterms:modified>
</cp:coreProperties>
</file>