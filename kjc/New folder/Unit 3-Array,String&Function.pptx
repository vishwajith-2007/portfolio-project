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317" r:id="rId12"/>
    <p:sldId id="318" r:id="rId13"/>
    <p:sldId id="319" r:id="rId14"/>
    <p:sldId id="320" r:id="rId15"/>
    <p:sldId id="321" r:id="rId16"/>
    <p:sldId id="322" r:id="rId17"/>
    <p:sldId id="323" r:id="rId18"/>
    <p:sldId id="324" r:id="rId19"/>
    <p:sldId id="325" r:id="rId20"/>
    <p:sldId id="335" r:id="rId21"/>
    <p:sldId id="336" r:id="rId22"/>
    <p:sldId id="266" r:id="rId23"/>
    <p:sldId id="307" r:id="rId24"/>
    <p:sldId id="308" r:id="rId25"/>
    <p:sldId id="309" r:id="rId26"/>
    <p:sldId id="310" r:id="rId27"/>
    <p:sldId id="311" r:id="rId28"/>
    <p:sldId id="312" r:id="rId29"/>
    <p:sldId id="313" r:id="rId30"/>
    <p:sldId id="314" r:id="rId31"/>
    <p:sldId id="315" r:id="rId32"/>
    <p:sldId id="316"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Lst>
  <p:sldSz cx="12192000" cy="6858000"/>
  <p:notesSz cx="12192000" cy="6858000"/>
  <p:embeddedFontLst>
    <p:embeddedFont>
      <p:font typeface="AAVGFJ+Calibri" panose="020B0604020202020204"/>
      <p:regular r:id="rId67"/>
    </p:embeddedFont>
    <p:embeddedFont>
      <p:font typeface="Caladea" panose="020B0604020202020204" charset="0"/>
      <p:regular r:id="rId68"/>
    </p:embeddedFont>
    <p:embeddedFont>
      <p:font typeface="Calibri" panose="020F0502020204030204" pitchFamily="34" charset="0"/>
      <p:regular r:id="rId69"/>
      <p:bold r:id="rId70"/>
      <p:italic r:id="rId71"/>
      <p:boldItalic r:id="rId72"/>
    </p:embeddedFont>
    <p:embeddedFont>
      <p:font typeface="FJSWKN+SegoeMDL2Assets" panose="020B0604020202020204"/>
      <p:regular r:id="rId73"/>
    </p:embeddedFont>
    <p:embeddedFont>
      <p:font typeface="Garamond" panose="02020404030301010803" pitchFamily="18" charset="0"/>
      <p:regular r:id="rId74"/>
      <p:bold r:id="rId75"/>
      <p:italic r:id="rId76"/>
    </p:embeddedFont>
    <p:embeddedFont>
      <p:font typeface="HWPIMB+Calibri-Light" panose="020B0604020202020204"/>
      <p:regular r:id="rId77"/>
    </p:embeddedFont>
    <p:embeddedFont>
      <p:font typeface="JUSNVH+Wingdings-Regular" panose="020B0604020202020204"/>
      <p:regular r:id="rId78"/>
    </p:embeddedFont>
    <p:embeddedFont>
      <p:font typeface="JWSKAR+TimesNewRomanPSMT" panose="020B0604020202020204"/>
      <p:regular r:id="rId79"/>
    </p:embeddedFont>
    <p:embeddedFont>
      <p:font typeface="OJWNPN+Calibri-Bold" panose="020B0604020202020204"/>
      <p:regular r:id="rId80"/>
    </p:embeddedFont>
    <p:embeddedFont>
      <p:font typeface="RVMCBG+ArialMT" panose="020B0604020202020204"/>
      <p:regular r:id="rId8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p:cViewPr varScale="1">
        <p:scale>
          <a:sx n="62" d="100"/>
          <a:sy n="62" d="100"/>
        </p:scale>
        <p:origin x="868" y="4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font" Target="fonts/font14.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9/17/2024</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7666" y="427735"/>
            <a:ext cx="6797992" cy="276999"/>
          </a:xfrm>
        </p:spPr>
        <p:txBody>
          <a:bodyPr/>
          <a:lstStyle/>
          <a:p>
            <a:r>
              <a:rPr lang="en-US"/>
              <a:t>Click to edit Master title style</a:t>
            </a:r>
          </a:p>
        </p:txBody>
      </p:sp>
      <p:sp>
        <p:nvSpPr>
          <p:cNvPr id="3" name="Content Placeholder 2"/>
          <p:cNvSpPr>
            <a:spLocks noGrp="1"/>
          </p:cNvSpPr>
          <p:nvPr>
            <p:ph idx="1"/>
          </p:nvPr>
        </p:nvSpPr>
        <p:spPr>
          <a:xfrm>
            <a:off x="377666" y="2459482"/>
            <a:ext cx="6797992"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77666" y="9944862"/>
            <a:ext cx="1737264" cy="276999"/>
          </a:xfrm>
        </p:spPr>
        <p:txBody>
          <a:bodyPr/>
          <a:lstStyle/>
          <a:p>
            <a:fld id="{DFF40DEB-1666-45EB-BEDB-BE51E28FF55A}" type="datetimeFigureOut">
              <a:rPr lang="en-US" smtClean="0"/>
              <a:t>9/17/2024</a:t>
            </a:fld>
            <a:endParaRPr lang="en-US"/>
          </a:p>
        </p:txBody>
      </p:sp>
      <p:sp>
        <p:nvSpPr>
          <p:cNvPr id="5" name="Footer Placeholder 4"/>
          <p:cNvSpPr>
            <a:spLocks noGrp="1"/>
          </p:cNvSpPr>
          <p:nvPr>
            <p:ph type="ftr" sz="quarter" idx="11"/>
          </p:nvPr>
        </p:nvSpPr>
        <p:spPr>
          <a:xfrm>
            <a:off x="2568130" y="9944862"/>
            <a:ext cx="2417063" cy="276999"/>
          </a:xfrm>
        </p:spPr>
        <p:txBody>
          <a:bodyPr/>
          <a:lstStyle/>
          <a:p>
            <a:endParaRPr lang="en-US"/>
          </a:p>
        </p:txBody>
      </p:sp>
      <p:sp>
        <p:nvSpPr>
          <p:cNvPr id="6" name="Slide Number Placeholder 5"/>
          <p:cNvSpPr>
            <a:spLocks noGrp="1"/>
          </p:cNvSpPr>
          <p:nvPr>
            <p:ph type="sldNum" sz="quarter" idx="12"/>
          </p:nvPr>
        </p:nvSpPr>
        <p:spPr>
          <a:xfrm>
            <a:off x="5438394" y="9944862"/>
            <a:ext cx="1737264" cy="276999"/>
          </a:xfrm>
        </p:spPr>
        <p:txBody>
          <a:bodyPr/>
          <a:lstStyle/>
          <a:p>
            <a:fld id="{13ADDBDF-B8C2-42FE-B043-6A8137BEA7CA}" type="slidenum">
              <a:rPr lang="en-US" smtClean="0"/>
              <a:t>‹#›</a:t>
            </a:fld>
            <a:endParaRPr lang="en-US"/>
          </a:p>
        </p:txBody>
      </p:sp>
    </p:spTree>
    <p:extLst>
      <p:ext uri="{BB962C8B-B14F-4D97-AF65-F5344CB8AC3E}">
        <p14:creationId xmlns:p14="http://schemas.microsoft.com/office/powerpoint/2010/main" val="254592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9/17/2024</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251450" y="2055812"/>
            <a:ext cx="2012443" cy="800099"/>
          </a:xfrm>
          <a:prstGeom prst="rect">
            <a:avLst/>
          </a:prstGeom>
        </p:spPr>
        <p:txBody>
          <a:bodyPr vert="horz" wrap="square" lIns="0" tIns="0" rIns="0" bIns="0" rtlCol="0">
            <a:spAutoFit/>
          </a:bodyPr>
          <a:lstStyle/>
          <a:p>
            <a:pPr marL="0" marR="0">
              <a:lnSpc>
                <a:spcPts val="5999"/>
              </a:lnSpc>
              <a:spcBef>
                <a:spcPts val="0"/>
              </a:spcBef>
              <a:spcAft>
                <a:spcPts val="0"/>
              </a:spcAft>
            </a:pPr>
            <a:r>
              <a:rPr sz="6000" dirty="0">
                <a:solidFill>
                  <a:srgbClr val="0070C0"/>
                </a:solidFill>
                <a:latin typeface="HWPIMB+Calibri-Light"/>
                <a:cs typeface="HWPIMB+Calibri-Light"/>
              </a:rPr>
              <a:t>Unit 3</a:t>
            </a:r>
          </a:p>
        </p:txBody>
      </p:sp>
      <p:sp>
        <p:nvSpPr>
          <p:cNvPr id="4" name="object 4"/>
          <p:cNvSpPr txBox="1"/>
          <p:nvPr/>
        </p:nvSpPr>
        <p:spPr>
          <a:xfrm>
            <a:off x="3289300" y="3482816"/>
            <a:ext cx="5936987" cy="521335"/>
          </a:xfrm>
          <a:prstGeom prst="rect">
            <a:avLst/>
          </a:prstGeom>
        </p:spPr>
        <p:txBody>
          <a:bodyPr vert="horz" wrap="square" lIns="0" tIns="0" rIns="0" bIns="0" rtlCol="0">
            <a:spAutoFit/>
          </a:bodyPr>
          <a:lstStyle/>
          <a:p>
            <a:pPr marL="0" marR="0">
              <a:lnSpc>
                <a:spcPts val="3805"/>
              </a:lnSpc>
              <a:spcBef>
                <a:spcPts val="0"/>
              </a:spcBef>
              <a:spcAft>
                <a:spcPts val="0"/>
              </a:spcAft>
            </a:pPr>
            <a:r>
              <a:rPr sz="3800" spc="-36" dirty="0">
                <a:solidFill>
                  <a:srgbClr val="FF0000"/>
                </a:solidFill>
                <a:latin typeface="OJWNPN+Calibri-Bold"/>
                <a:cs typeface="OJWNPN+Calibri-Bold"/>
              </a:rPr>
              <a:t>Arrays</a:t>
            </a:r>
            <a:r>
              <a:rPr sz="3800" spc="59" dirty="0">
                <a:solidFill>
                  <a:srgbClr val="FF0000"/>
                </a:solidFill>
                <a:latin typeface="OJWNPN+Calibri-Bold"/>
                <a:cs typeface="OJWNPN+Calibri-Bold"/>
              </a:rPr>
              <a:t> </a:t>
            </a:r>
            <a:r>
              <a:rPr sz="3800" dirty="0">
                <a:solidFill>
                  <a:srgbClr val="FF0000"/>
                </a:solidFill>
                <a:latin typeface="OJWNPN+Calibri-Bold"/>
                <a:cs typeface="OJWNPN+Calibri-Bold"/>
              </a:rPr>
              <a:t>,Strings</a:t>
            </a:r>
            <a:r>
              <a:rPr sz="3800" spc="23" dirty="0">
                <a:solidFill>
                  <a:srgbClr val="FF0000"/>
                </a:solidFill>
                <a:latin typeface="OJWNPN+Calibri-Bold"/>
                <a:cs typeface="OJWNPN+Calibri-Bold"/>
              </a:rPr>
              <a:t> </a:t>
            </a:r>
            <a:r>
              <a:rPr sz="3800" dirty="0">
                <a:solidFill>
                  <a:srgbClr val="FF0000"/>
                </a:solidFill>
                <a:latin typeface="OJWNPN+Calibri-Bold"/>
                <a:cs typeface="OJWNPN+Calibri-Bold"/>
              </a:rPr>
              <a:t>and</a:t>
            </a:r>
            <a:r>
              <a:rPr sz="3800" spc="25" dirty="0">
                <a:solidFill>
                  <a:srgbClr val="FF0000"/>
                </a:solidFill>
                <a:latin typeface="OJWNPN+Calibri-Bold"/>
                <a:cs typeface="OJWNPN+Calibri-Bold"/>
              </a:rPr>
              <a:t> </a:t>
            </a:r>
            <a:r>
              <a:rPr sz="3800" dirty="0">
                <a:solidFill>
                  <a:srgbClr val="FF0000"/>
                </a:solidFill>
                <a:latin typeface="OJWNPN+Calibri-Bold"/>
                <a:cs typeface="OJWNPN+Calibri-Bold"/>
              </a:rPr>
              <a:t>Functions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475773"/>
            <a:ext cx="1363325"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spc="-46" dirty="0">
                <a:solidFill>
                  <a:srgbClr val="0033CC"/>
                </a:solidFill>
                <a:latin typeface="HWPIMB+Calibri-Light"/>
                <a:cs typeface="HWPIMB+Calibri-Light"/>
              </a:rPr>
              <a:t>Array</a:t>
            </a:r>
          </a:p>
        </p:txBody>
      </p:sp>
      <p:sp>
        <p:nvSpPr>
          <p:cNvPr id="4" name="object 4"/>
          <p:cNvSpPr txBox="1"/>
          <p:nvPr/>
        </p:nvSpPr>
        <p:spPr>
          <a:xfrm>
            <a:off x="368300" y="1726145"/>
            <a:ext cx="11751619" cy="144018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It is a </a:t>
            </a:r>
            <a:r>
              <a:rPr sz="2400" dirty="0">
                <a:solidFill>
                  <a:srgbClr val="FF0000"/>
                </a:solidFill>
                <a:latin typeface="OJWNPN+Calibri-Bold"/>
                <a:cs typeface="OJWNPN+Calibri-Bold"/>
              </a:rPr>
              <a:t>collection</a:t>
            </a:r>
            <a:r>
              <a:rPr sz="2400" spc="20" dirty="0">
                <a:solidFill>
                  <a:srgbClr val="FF0000"/>
                </a:solidFill>
                <a:latin typeface="OJWNPN+Calibri-Bold"/>
                <a:cs typeface="OJWNPN+Calibri-Bold"/>
              </a:rPr>
              <a:t> </a:t>
            </a:r>
            <a:r>
              <a:rPr sz="2400" dirty="0">
                <a:solidFill>
                  <a:srgbClr val="FF0000"/>
                </a:solidFill>
                <a:latin typeface="OJWNPN+Calibri-Bold"/>
                <a:cs typeface="OJWNPN+Calibri-Bold"/>
              </a:rPr>
              <a:t>of</a:t>
            </a:r>
            <a:r>
              <a:rPr sz="2400" spc="17" dirty="0">
                <a:solidFill>
                  <a:srgbClr val="FF0000"/>
                </a:solidFill>
                <a:latin typeface="OJWNPN+Calibri-Bold"/>
                <a:cs typeface="OJWNPN+Calibri-Bold"/>
              </a:rPr>
              <a:t> </a:t>
            </a:r>
            <a:r>
              <a:rPr sz="2400" dirty="0">
                <a:solidFill>
                  <a:srgbClr val="FF0000"/>
                </a:solidFill>
                <a:latin typeface="OJWNPN+Calibri-Bold"/>
                <a:cs typeface="OJWNPN+Calibri-Bold"/>
              </a:rPr>
              <a:t>multiple</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elements</a:t>
            </a:r>
            <a:r>
              <a:rPr sz="2400" spc="17" dirty="0">
                <a:solidFill>
                  <a:srgbClr val="FF0000"/>
                </a:solidFill>
                <a:latin typeface="OJWNPN+Calibri-Bold"/>
                <a:cs typeface="OJWNPN+Calibri-Bold"/>
              </a:rPr>
              <a:t> </a:t>
            </a:r>
            <a:r>
              <a:rPr sz="2400" dirty="0">
                <a:solidFill>
                  <a:srgbClr val="FF0000"/>
                </a:solidFill>
                <a:latin typeface="OJWNPN+Calibri-Bold"/>
                <a:cs typeface="OJWNPN+Calibri-Bold"/>
              </a:rPr>
              <a:t>belonging</a:t>
            </a:r>
            <a:r>
              <a:rPr sz="2400" spc="17" dirty="0">
                <a:solidFill>
                  <a:srgbClr val="FF0000"/>
                </a:solidFill>
                <a:latin typeface="OJWNPN+Calibri-Bold"/>
                <a:cs typeface="OJWNPN+Calibri-Bold"/>
              </a:rPr>
              <a:t> </a:t>
            </a:r>
            <a:r>
              <a:rPr sz="2400" spc="-27" dirty="0">
                <a:solidFill>
                  <a:srgbClr val="FF0000"/>
                </a:solidFill>
                <a:latin typeface="OJWNPN+Calibri-Bold"/>
                <a:cs typeface="OJWNPN+Calibri-Bold"/>
              </a:rPr>
              <a:t>to</a:t>
            </a:r>
            <a:r>
              <a:rPr sz="2400" spc="43" dirty="0">
                <a:solidFill>
                  <a:srgbClr val="FF0000"/>
                </a:solidFill>
                <a:latin typeface="OJWNPN+Calibri-Bold"/>
                <a:cs typeface="OJWNPN+Calibri-Bold"/>
              </a:rPr>
              <a:t> </a:t>
            </a:r>
            <a:r>
              <a:rPr sz="2400" dirty="0">
                <a:solidFill>
                  <a:srgbClr val="FF0000"/>
                </a:solidFill>
                <a:latin typeface="OJWNPN+Calibri-Bold"/>
                <a:cs typeface="OJWNPN+Calibri-Bold"/>
              </a:rPr>
              <a:t>the</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same</a:t>
            </a:r>
            <a:r>
              <a:rPr sz="2400" spc="20" dirty="0">
                <a:solidFill>
                  <a:srgbClr val="FF0000"/>
                </a:solidFill>
                <a:latin typeface="OJWNPN+Calibri-Bold"/>
                <a:cs typeface="OJWNPN+Calibri-Bold"/>
              </a:rPr>
              <a:t> </a:t>
            </a:r>
            <a:r>
              <a:rPr sz="2400" spc="-17" dirty="0">
                <a:solidFill>
                  <a:srgbClr val="FF0000"/>
                </a:solidFill>
                <a:latin typeface="OJWNPN+Calibri-Bold"/>
                <a:cs typeface="OJWNPN+Calibri-Bold"/>
              </a:rPr>
              <a:t>data</a:t>
            </a:r>
            <a:r>
              <a:rPr sz="2400" spc="33" dirty="0">
                <a:solidFill>
                  <a:srgbClr val="FF0000"/>
                </a:solidFill>
                <a:latin typeface="OJWNPN+Calibri-Bold"/>
                <a:cs typeface="OJWNPN+Calibri-Bold"/>
              </a:rPr>
              <a:t> </a:t>
            </a:r>
            <a:r>
              <a:rPr sz="2400" dirty="0">
                <a:solidFill>
                  <a:srgbClr val="FF0000"/>
                </a:solidFill>
                <a:latin typeface="OJWNPN+Calibri-Bold"/>
                <a:cs typeface="OJWNPN+Calibri-Bold"/>
              </a:rPr>
              <a:t>type</a:t>
            </a:r>
            <a:r>
              <a:rPr sz="2400" spc="19" dirty="0">
                <a:solidFill>
                  <a:srgbClr val="FF0000"/>
                </a:solidFill>
                <a:latin typeface="OJWNPN+Calibri-Bold"/>
                <a:cs typeface="OJWNPN+Calibri-Bold"/>
              </a:rPr>
              <a:t> </a:t>
            </a:r>
            <a:r>
              <a:rPr sz="2400" dirty="0">
                <a:solidFill>
                  <a:srgbClr val="000000"/>
                </a:solidFill>
                <a:latin typeface="AAVGFJ+Calibri"/>
                <a:cs typeface="AAVGFJ+Calibri"/>
              </a:rPr>
              <a:t>occupying </a:t>
            </a:r>
            <a:r>
              <a:rPr sz="2400" dirty="0">
                <a:solidFill>
                  <a:srgbClr val="FF0000"/>
                </a:solidFill>
                <a:latin typeface="OJWNPN+Calibri-Bold"/>
                <a:cs typeface="OJWNPN+Calibri-Bold"/>
              </a:rPr>
              <a:t>continuous</a:t>
            </a:r>
          </a:p>
          <a:p>
            <a:pPr marL="0" marR="0">
              <a:lnSpc>
                <a:spcPts val="2400"/>
              </a:lnSpc>
              <a:spcBef>
                <a:spcPts val="479"/>
              </a:spcBef>
              <a:spcAft>
                <a:spcPts val="0"/>
              </a:spcAft>
            </a:pPr>
            <a:r>
              <a:rPr sz="2400" dirty="0">
                <a:solidFill>
                  <a:srgbClr val="FF0000"/>
                </a:solidFill>
                <a:latin typeface="OJWNPN+Calibri-Bold"/>
                <a:cs typeface="OJWNPN+Calibri-Bold"/>
              </a:rPr>
              <a:t>memory</a:t>
            </a:r>
            <a:r>
              <a:rPr sz="2400" spc="13" dirty="0">
                <a:solidFill>
                  <a:srgbClr val="FF0000"/>
                </a:solidFill>
                <a:latin typeface="OJWNPN+Calibri-Bold"/>
                <a:cs typeface="OJWNPN+Calibri-Bold"/>
              </a:rPr>
              <a:t> </a:t>
            </a:r>
            <a:r>
              <a:rPr sz="2400" dirty="0">
                <a:solidFill>
                  <a:srgbClr val="000000"/>
                </a:solidFill>
                <a:latin typeface="AAVGFJ+Calibri"/>
                <a:cs typeface="AAVGFJ+Calibri"/>
              </a:rPr>
              <a:t>locations</a:t>
            </a:r>
            <a:r>
              <a:rPr sz="2400" spc="10" dirty="0">
                <a:solidFill>
                  <a:srgbClr val="000000"/>
                </a:solidFill>
                <a:latin typeface="AAVGFJ+Calibri"/>
                <a:cs typeface="AAVGFJ+Calibri"/>
              </a:rPr>
              <a:t> </a:t>
            </a:r>
            <a:r>
              <a:rPr sz="2400" dirty="0">
                <a:solidFill>
                  <a:srgbClr val="000000"/>
                </a:solidFill>
                <a:latin typeface="AAVGFJ+Calibri"/>
                <a:cs typeface="AAVGFJ+Calibri"/>
              </a:rPr>
              <a:t>and </a:t>
            </a:r>
            <a:r>
              <a:rPr sz="2400" spc="-23" dirty="0">
                <a:solidFill>
                  <a:srgbClr val="000000"/>
                </a:solidFill>
                <a:latin typeface="AAVGFJ+Calibri"/>
                <a:cs typeface="AAVGFJ+Calibri"/>
              </a:rPr>
              <a:t>referred</a:t>
            </a:r>
            <a:r>
              <a:rPr sz="2400" spc="24"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the same name.</a:t>
            </a:r>
          </a:p>
          <a:p>
            <a:pPr marL="0" marR="0">
              <a:lnSpc>
                <a:spcPts val="2400"/>
              </a:lnSpc>
              <a:spcBef>
                <a:spcPts val="480"/>
              </a:spcBef>
              <a:spcAft>
                <a:spcPts val="0"/>
              </a:spcAft>
            </a:pPr>
            <a:r>
              <a:rPr sz="2400" spc="-24" dirty="0">
                <a:solidFill>
                  <a:srgbClr val="FF0000"/>
                </a:solidFill>
                <a:latin typeface="OJWNPN+Calibri-Bold"/>
                <a:cs typeface="OJWNPN+Calibri-Bold"/>
              </a:rPr>
              <a:t>Array</a:t>
            </a:r>
            <a:r>
              <a:rPr sz="2400" spc="39" dirty="0">
                <a:solidFill>
                  <a:srgbClr val="FF0000"/>
                </a:solidFill>
                <a:latin typeface="OJWNPN+Calibri-Bold"/>
                <a:cs typeface="OJWNPN+Calibri-Bold"/>
              </a:rPr>
              <a:t> </a:t>
            </a:r>
            <a:r>
              <a:rPr sz="2400" dirty="0">
                <a:solidFill>
                  <a:srgbClr val="FF0000"/>
                </a:solidFill>
                <a:latin typeface="OJWNPN+Calibri-Bold"/>
                <a:cs typeface="OJWNPN+Calibri-Bold"/>
              </a:rPr>
              <a:t>Declaration</a:t>
            </a:r>
          </a:p>
          <a:p>
            <a:pPr marL="0" marR="0">
              <a:lnSpc>
                <a:spcPts val="2400"/>
              </a:lnSpc>
              <a:spcBef>
                <a:spcPts val="430"/>
              </a:spcBef>
              <a:spcAft>
                <a:spcPts val="0"/>
              </a:spcAft>
            </a:pPr>
            <a:r>
              <a:rPr sz="2400" spc="-18" dirty="0">
                <a:solidFill>
                  <a:srgbClr val="000000"/>
                </a:solidFill>
                <a:latin typeface="AAVGFJ+Calibri"/>
                <a:cs typeface="AAVGFJ+Calibri"/>
              </a:rPr>
              <a:t>Syntax:</a:t>
            </a:r>
          </a:p>
        </p:txBody>
      </p:sp>
      <p:sp>
        <p:nvSpPr>
          <p:cNvPr id="5" name="object 5"/>
          <p:cNvSpPr txBox="1"/>
          <p:nvPr/>
        </p:nvSpPr>
        <p:spPr>
          <a:xfrm>
            <a:off x="368300" y="3554945"/>
            <a:ext cx="1286023"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Example:</a:t>
            </a:r>
          </a:p>
        </p:txBody>
      </p:sp>
      <p:sp>
        <p:nvSpPr>
          <p:cNvPr id="6" name="object 6"/>
          <p:cNvSpPr txBox="1"/>
          <p:nvPr/>
        </p:nvSpPr>
        <p:spPr>
          <a:xfrm>
            <a:off x="1198879" y="3920706"/>
            <a:ext cx="207925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000000"/>
                </a:solidFill>
                <a:latin typeface="OJWNPN+Calibri-Bold"/>
                <a:cs typeface="OJWNPN+Calibri-Bold"/>
              </a:rPr>
              <a:t>int</a:t>
            </a:r>
            <a:r>
              <a:rPr sz="2400" spc="26" dirty="0">
                <a:solidFill>
                  <a:srgbClr val="000000"/>
                </a:solidFill>
                <a:latin typeface="OJWNPN+Calibri-Bold"/>
                <a:cs typeface="OJWNPN+Calibri-Bold"/>
              </a:rPr>
              <a:t> </a:t>
            </a:r>
            <a:r>
              <a:rPr sz="2400" dirty="0">
                <a:solidFill>
                  <a:srgbClr val="000000"/>
                </a:solidFill>
                <a:latin typeface="OJWNPN+Calibri-Bold"/>
                <a:cs typeface="OJWNPN+Calibri-Bold"/>
              </a:rPr>
              <a:t>marks[120];</a:t>
            </a:r>
          </a:p>
        </p:txBody>
      </p:sp>
      <p:sp>
        <p:nvSpPr>
          <p:cNvPr id="7" name="object 7"/>
          <p:cNvSpPr txBox="1"/>
          <p:nvPr/>
        </p:nvSpPr>
        <p:spPr>
          <a:xfrm>
            <a:off x="368300" y="4286466"/>
            <a:ext cx="9383514" cy="1074420"/>
          </a:xfrm>
          <a:prstGeom prst="rect">
            <a:avLst/>
          </a:prstGeom>
        </p:spPr>
        <p:txBody>
          <a:bodyPr vert="horz" wrap="square" lIns="0" tIns="0" rIns="0" bIns="0" rtlCol="0">
            <a:spAutoFit/>
          </a:bodyPr>
          <a:lstStyle/>
          <a:p>
            <a:pPr marL="0" marR="0">
              <a:lnSpc>
                <a:spcPts val="2400"/>
              </a:lnSpc>
              <a:spcBef>
                <a:spcPts val="0"/>
              </a:spcBef>
              <a:spcAft>
                <a:spcPts val="0"/>
              </a:spcAft>
            </a:pPr>
            <a:r>
              <a:rPr sz="2400" spc="-24" dirty="0">
                <a:solidFill>
                  <a:srgbClr val="000000"/>
                </a:solidFill>
                <a:latin typeface="AAVGFJ+Calibri"/>
                <a:cs typeface="AAVGFJ+Calibri"/>
              </a:rPr>
              <a:t>Array</a:t>
            </a:r>
            <a:r>
              <a:rPr sz="2400" spc="25" dirty="0">
                <a:solidFill>
                  <a:srgbClr val="000000"/>
                </a:solidFill>
                <a:latin typeface="AAVGFJ+Calibri"/>
                <a:cs typeface="AAVGFJ+Calibri"/>
              </a:rPr>
              <a:t> </a:t>
            </a:r>
            <a:r>
              <a:rPr sz="2400" spc="-10" dirty="0">
                <a:solidFill>
                  <a:srgbClr val="000000"/>
                </a:solidFill>
                <a:latin typeface="AAVGFJ+Calibri"/>
                <a:cs typeface="AAVGFJ+Calibri"/>
              </a:rPr>
              <a:t>index</a:t>
            </a:r>
            <a:r>
              <a:rPr sz="2400" spc="13" dirty="0">
                <a:solidFill>
                  <a:srgbClr val="000000"/>
                </a:solidFill>
                <a:latin typeface="AAVGFJ+Calibri"/>
                <a:cs typeface="AAVGFJ+Calibri"/>
              </a:rPr>
              <a:t> </a:t>
            </a:r>
            <a:r>
              <a:rPr sz="2400" spc="-12" dirty="0">
                <a:solidFill>
                  <a:srgbClr val="000000"/>
                </a:solidFill>
                <a:latin typeface="AAVGFJ+Calibri"/>
                <a:cs typeface="AAVGFJ+Calibri"/>
              </a:rPr>
              <a:t>starts</a:t>
            </a:r>
            <a:r>
              <a:rPr sz="2400" spc="15" dirty="0">
                <a:solidFill>
                  <a:srgbClr val="000000"/>
                </a:solidFill>
                <a:latin typeface="AAVGFJ+Calibri"/>
                <a:cs typeface="AAVGFJ+Calibri"/>
              </a:rPr>
              <a:t> </a:t>
            </a:r>
            <a:r>
              <a:rPr sz="2400" spc="-15" dirty="0">
                <a:solidFill>
                  <a:srgbClr val="000000"/>
                </a:solidFill>
                <a:latin typeface="AAVGFJ+Calibri"/>
                <a:cs typeface="AAVGFJ+Calibri"/>
              </a:rPr>
              <a:t>from</a:t>
            </a:r>
            <a:r>
              <a:rPr sz="2400" spc="15" dirty="0">
                <a:solidFill>
                  <a:srgbClr val="000000"/>
                </a:solidFill>
                <a:latin typeface="AAVGFJ+Calibri"/>
                <a:cs typeface="AAVGFJ+Calibri"/>
              </a:rPr>
              <a:t> </a:t>
            </a:r>
            <a:r>
              <a:rPr sz="2400" dirty="0">
                <a:solidFill>
                  <a:srgbClr val="000000"/>
                </a:solidFill>
                <a:latin typeface="AAVGFJ+Calibri"/>
                <a:cs typeface="AAVGFJ+Calibri"/>
              </a:rPr>
              <a:t>0 .if an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22" dirty="0">
                <a:solidFill>
                  <a:srgbClr val="000000"/>
                </a:solidFill>
                <a:latin typeface="AAVGFJ+Calibri"/>
                <a:cs typeface="AAVGFJ+Calibri"/>
              </a:rPr>
              <a:t>store</a:t>
            </a:r>
            <a:r>
              <a:rPr sz="2400" spc="26" dirty="0">
                <a:solidFill>
                  <a:srgbClr val="000000"/>
                </a:solidFill>
                <a:latin typeface="AAVGFJ+Calibri"/>
                <a:cs typeface="AAVGFJ+Calibri"/>
              </a:rPr>
              <a:t> </a:t>
            </a:r>
            <a:r>
              <a:rPr sz="2400" dirty="0">
                <a:solidFill>
                  <a:srgbClr val="000000"/>
                </a:solidFill>
                <a:latin typeface="AAVGFJ+Calibri"/>
                <a:cs typeface="AAVGFJ+Calibri"/>
              </a:rPr>
              <a:t>100 elements is </a:t>
            </a:r>
            <a:r>
              <a:rPr sz="2400" spc="-11" dirty="0">
                <a:solidFill>
                  <a:srgbClr val="000000"/>
                </a:solidFill>
                <a:latin typeface="AAVGFJ+Calibri"/>
                <a:cs typeface="AAVGFJ+Calibri"/>
              </a:rPr>
              <a:t>required</a:t>
            </a:r>
            <a:r>
              <a:rPr sz="2400" spc="12" dirty="0">
                <a:solidFill>
                  <a:srgbClr val="000000"/>
                </a:solidFill>
                <a:latin typeface="AAVGFJ+Calibri"/>
                <a:cs typeface="AAVGFJ+Calibri"/>
              </a:rPr>
              <a:t> </a:t>
            </a:r>
            <a:r>
              <a:rPr sz="2400" dirty="0">
                <a:solidFill>
                  <a:srgbClr val="000000"/>
                </a:solidFill>
                <a:latin typeface="AAVGFJ+Calibri"/>
                <a:cs typeface="AAVGFJ+Calibri"/>
              </a:rPr>
              <a:t>then</a:t>
            </a:r>
          </a:p>
          <a:p>
            <a:pPr marL="69215" marR="0">
              <a:lnSpc>
                <a:spcPts val="2400"/>
              </a:lnSpc>
              <a:spcBef>
                <a:spcPts val="479"/>
              </a:spcBef>
              <a:spcAft>
                <a:spcPts val="0"/>
              </a:spcAft>
            </a:pPr>
            <a:r>
              <a:rPr sz="2400" dirty="0">
                <a:solidFill>
                  <a:srgbClr val="000000"/>
                </a:solidFill>
                <a:latin typeface="AAVGFJ+Calibri"/>
                <a:cs typeface="AAVGFJ+Calibri"/>
              </a:rPr>
              <a:t>a[0]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a[99]</a:t>
            </a:r>
          </a:p>
          <a:p>
            <a:pPr marL="0" marR="0">
              <a:lnSpc>
                <a:spcPts val="2400"/>
              </a:lnSpc>
              <a:spcBef>
                <a:spcPts val="480"/>
              </a:spcBef>
              <a:spcAft>
                <a:spcPts val="0"/>
              </a:spcAft>
            </a:pPr>
            <a:r>
              <a:rPr sz="2400" dirty="0">
                <a:solidFill>
                  <a:srgbClr val="FF0000"/>
                </a:solidFill>
                <a:latin typeface="OJWNPN+Calibri-Bold"/>
                <a:cs typeface="OJWNPN+Calibri-Bold"/>
              </a:rPr>
              <a:t>Accessing</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an</a:t>
            </a:r>
            <a:r>
              <a:rPr sz="2400" spc="18" dirty="0">
                <a:solidFill>
                  <a:srgbClr val="FF0000"/>
                </a:solidFill>
                <a:latin typeface="OJWNPN+Calibri-Bold"/>
                <a:cs typeface="OJWNPN+Calibri-Bold"/>
              </a:rPr>
              <a:t> </a:t>
            </a:r>
            <a:r>
              <a:rPr sz="2400" spc="-24" dirty="0">
                <a:solidFill>
                  <a:srgbClr val="FF0000"/>
                </a:solidFill>
                <a:latin typeface="OJWNPN+Calibri-Bold"/>
                <a:cs typeface="OJWNPN+Calibri-Bold"/>
              </a:rPr>
              <a:t>array</a:t>
            </a:r>
            <a:r>
              <a:rPr sz="2400" spc="39" dirty="0">
                <a:solidFill>
                  <a:srgbClr val="FF0000"/>
                </a:solidFill>
                <a:latin typeface="OJWNPN+Calibri-Bold"/>
                <a:cs typeface="OJWNPN+Calibri-Bold"/>
              </a:rPr>
              <a:t> </a:t>
            </a:r>
            <a:r>
              <a:rPr sz="2400" dirty="0">
                <a:solidFill>
                  <a:srgbClr val="FF0000"/>
                </a:solidFill>
                <a:latin typeface="OJWNPN+Calibri-Bold"/>
                <a:cs typeface="OJWNPN+Calibri-Bold"/>
              </a:rPr>
              <a:t>element</a:t>
            </a:r>
          </a:p>
        </p:txBody>
      </p:sp>
      <p:sp>
        <p:nvSpPr>
          <p:cNvPr id="8" name="object 8"/>
          <p:cNvSpPr txBox="1"/>
          <p:nvPr/>
        </p:nvSpPr>
        <p:spPr>
          <a:xfrm>
            <a:off x="368300" y="5383746"/>
            <a:ext cx="5915591"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Using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name and the corresponding </a:t>
            </a:r>
            <a:r>
              <a:rPr sz="2400" spc="-10" dirty="0">
                <a:solidFill>
                  <a:srgbClr val="000000"/>
                </a:solidFill>
                <a:latin typeface="AAVGFJ+Calibri"/>
                <a:cs typeface="AAVGFJ+Calibri"/>
              </a:rPr>
              <a:t>index</a:t>
            </a:r>
          </a:p>
        </p:txBody>
      </p:sp>
      <p:sp>
        <p:nvSpPr>
          <p:cNvPr id="9" name="object 9"/>
          <p:cNvSpPr txBox="1"/>
          <p:nvPr/>
        </p:nvSpPr>
        <p:spPr>
          <a:xfrm>
            <a:off x="368300" y="6115266"/>
            <a:ext cx="4306193" cy="70866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Example:</a:t>
            </a:r>
          </a:p>
          <a:p>
            <a:pPr marL="0" marR="0">
              <a:lnSpc>
                <a:spcPts val="2400"/>
              </a:lnSpc>
              <a:spcBef>
                <a:spcPts val="480"/>
              </a:spcBef>
              <a:spcAft>
                <a:spcPts val="0"/>
              </a:spcAft>
            </a:pPr>
            <a:r>
              <a:rPr sz="2400" dirty="0">
                <a:solidFill>
                  <a:srgbClr val="000000"/>
                </a:solidFill>
                <a:latin typeface="OJWNPN+Calibri-Bold"/>
                <a:cs typeface="OJWNPN+Calibri-Bold"/>
              </a:rPr>
              <a:t>a[9]</a:t>
            </a:r>
            <a:r>
              <a:rPr sz="2400" spc="17" dirty="0">
                <a:solidFill>
                  <a:srgbClr val="000000"/>
                </a:solidFill>
                <a:latin typeface="OJWNPN+Calibri-Bold"/>
                <a:cs typeface="OJWNPN+Calibri-Bold"/>
              </a:rPr>
              <a:t> </a:t>
            </a:r>
            <a:r>
              <a:rPr sz="2400" dirty="0">
                <a:solidFill>
                  <a:srgbClr val="000000"/>
                </a:solidFill>
                <a:latin typeface="OJWNPN+Calibri-Bold"/>
                <a:cs typeface="OJWNPN+Calibri-Bold"/>
              </a:rPr>
              <a:t>will</a:t>
            </a:r>
            <a:r>
              <a:rPr sz="2400" spc="16" dirty="0">
                <a:solidFill>
                  <a:srgbClr val="000000"/>
                </a:solidFill>
                <a:latin typeface="OJWNPN+Calibri-Bold"/>
                <a:cs typeface="OJWNPN+Calibri-Bold"/>
              </a:rPr>
              <a:t> </a:t>
            </a:r>
            <a:r>
              <a:rPr sz="2400" dirty="0">
                <a:solidFill>
                  <a:srgbClr val="000000"/>
                </a:solidFill>
                <a:latin typeface="OJWNPN+Calibri-Bold"/>
                <a:cs typeface="OJWNPN+Calibri-Bold"/>
              </a:rPr>
              <a:t>access</a:t>
            </a:r>
            <a:r>
              <a:rPr sz="2400" spc="14" dirty="0">
                <a:solidFill>
                  <a:srgbClr val="000000"/>
                </a:solidFill>
                <a:latin typeface="OJWNPN+Calibri-Bold"/>
                <a:cs typeface="OJWNPN+Calibri-Bold"/>
              </a:rPr>
              <a:t> </a:t>
            </a:r>
            <a:r>
              <a:rPr sz="2400" dirty="0">
                <a:solidFill>
                  <a:srgbClr val="000000"/>
                </a:solidFill>
                <a:latin typeface="OJWNPN+Calibri-Bold"/>
                <a:cs typeface="OJWNPN+Calibri-Bold"/>
              </a:rPr>
              <a:t>the</a:t>
            </a:r>
            <a:r>
              <a:rPr sz="2400" spc="18" dirty="0">
                <a:solidFill>
                  <a:srgbClr val="000000"/>
                </a:solidFill>
                <a:latin typeface="OJWNPN+Calibri-Bold"/>
                <a:cs typeface="OJWNPN+Calibri-Bold"/>
              </a:rPr>
              <a:t> </a:t>
            </a:r>
            <a:r>
              <a:rPr sz="2400" dirty="0">
                <a:solidFill>
                  <a:srgbClr val="000000"/>
                </a:solidFill>
                <a:latin typeface="OJWNPN+Calibri-Bold"/>
                <a:cs typeface="OJWNPN+Calibri-Bold"/>
              </a:rPr>
              <a:t>10th</a:t>
            </a:r>
            <a:r>
              <a:rPr sz="2400" spc="20" dirty="0">
                <a:solidFill>
                  <a:srgbClr val="000000"/>
                </a:solidFill>
                <a:latin typeface="OJWNPN+Calibri-Bold"/>
                <a:cs typeface="OJWNPN+Calibri-Bold"/>
              </a:rPr>
              <a:t> </a:t>
            </a:r>
            <a:r>
              <a:rPr sz="2400" dirty="0">
                <a:solidFill>
                  <a:srgbClr val="000000"/>
                </a:solidFill>
                <a:latin typeface="OJWNPN+Calibri-Bold"/>
                <a:cs typeface="OJWNPN+Calibri-Bold"/>
              </a:rPr>
              <a:t>element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043939" y="473868"/>
            <a:ext cx="1363325"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spc="-46" dirty="0">
                <a:solidFill>
                  <a:srgbClr val="0033CC"/>
                </a:solidFill>
                <a:latin typeface="HWPIMB+Calibri-Light"/>
                <a:cs typeface="HWPIMB+Calibri-Light"/>
              </a:rPr>
              <a:t>Array</a:t>
            </a:r>
          </a:p>
        </p:txBody>
      </p:sp>
      <p:sp>
        <p:nvSpPr>
          <p:cNvPr id="4" name="object 4"/>
          <p:cNvSpPr txBox="1"/>
          <p:nvPr/>
        </p:nvSpPr>
        <p:spPr>
          <a:xfrm>
            <a:off x="4874895" y="1522945"/>
            <a:ext cx="259482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OJWNPN+Calibri-Bold"/>
                <a:cs typeface="OJWNPN+Calibri-Bold"/>
              </a:rPr>
              <a:t>Initialising</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an</a:t>
            </a:r>
            <a:r>
              <a:rPr sz="2400" spc="18" dirty="0">
                <a:solidFill>
                  <a:srgbClr val="FF0000"/>
                </a:solidFill>
                <a:latin typeface="OJWNPN+Calibri-Bold"/>
                <a:cs typeface="OJWNPN+Calibri-Bold"/>
              </a:rPr>
              <a:t> </a:t>
            </a:r>
            <a:r>
              <a:rPr sz="2400" spc="-24" dirty="0">
                <a:solidFill>
                  <a:srgbClr val="FF0000"/>
                </a:solidFill>
                <a:latin typeface="OJWNPN+Calibri-Bold"/>
                <a:cs typeface="OJWNPN+Calibri-Bold"/>
              </a:rPr>
              <a:t>Array</a:t>
            </a:r>
          </a:p>
        </p:txBody>
      </p:sp>
      <p:sp>
        <p:nvSpPr>
          <p:cNvPr id="5" name="object 5"/>
          <p:cNvSpPr txBox="1"/>
          <p:nvPr/>
        </p:nvSpPr>
        <p:spPr>
          <a:xfrm>
            <a:off x="415290" y="1888705"/>
            <a:ext cx="10999935" cy="436626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OJWNPN+Calibri-Bold"/>
                <a:cs typeface="OJWNPN+Calibri-Bold"/>
              </a:rPr>
              <a:t>Method</a:t>
            </a:r>
            <a:r>
              <a:rPr sz="2400" spc="22" dirty="0">
                <a:solidFill>
                  <a:srgbClr val="000000"/>
                </a:solidFill>
                <a:latin typeface="OJWNPN+Calibri-Bold"/>
                <a:cs typeface="OJWNPN+Calibri-Bold"/>
              </a:rPr>
              <a:t> </a:t>
            </a:r>
            <a:r>
              <a:rPr sz="2400" dirty="0">
                <a:solidFill>
                  <a:srgbClr val="000000"/>
                </a:solidFill>
                <a:latin typeface="OJWNPN+Calibri-Bold"/>
                <a:cs typeface="OJWNPN+Calibri-Bold"/>
              </a:rPr>
              <a:t>1:</a:t>
            </a:r>
          </a:p>
          <a:p>
            <a:pPr marL="0" marR="0">
              <a:lnSpc>
                <a:spcPts val="2400"/>
              </a:lnSpc>
              <a:spcBef>
                <a:spcPts val="480"/>
              </a:spcBef>
              <a:spcAft>
                <a:spcPts val="0"/>
              </a:spcAft>
            </a:pPr>
            <a:r>
              <a:rPr sz="2400" spc="-11" dirty="0">
                <a:solidFill>
                  <a:srgbClr val="FF0000"/>
                </a:solidFill>
                <a:latin typeface="OJWNPN+Calibri-Bold"/>
                <a:cs typeface="OJWNPN+Calibri-Bold"/>
              </a:rPr>
              <a:t>int</a:t>
            </a:r>
            <a:r>
              <a:rPr sz="2400" spc="26" dirty="0">
                <a:solidFill>
                  <a:srgbClr val="FF0000"/>
                </a:solidFill>
                <a:latin typeface="OJWNPN+Calibri-Bold"/>
                <a:cs typeface="OJWNPN+Calibri-Bold"/>
              </a:rPr>
              <a:t> </a:t>
            </a:r>
            <a:r>
              <a:rPr sz="2400" dirty="0">
                <a:solidFill>
                  <a:srgbClr val="FF0000"/>
                </a:solidFill>
                <a:latin typeface="OJWNPN+Calibri-Bold"/>
                <a:cs typeface="OJWNPN+Calibri-Bold"/>
              </a:rPr>
              <a:t>marks[5]</a:t>
            </a:r>
            <a:r>
              <a:rPr sz="2400" spc="21" dirty="0">
                <a:solidFill>
                  <a:srgbClr val="FF0000"/>
                </a:solidFill>
                <a:latin typeface="OJWNPN+Calibri-Bold"/>
                <a:cs typeface="OJWNPN+Calibri-Bold"/>
              </a:rPr>
              <a:t> </a:t>
            </a:r>
            <a:r>
              <a:rPr sz="2400" dirty="0">
                <a:solidFill>
                  <a:srgbClr val="FF0000"/>
                </a:solidFill>
                <a:latin typeface="OJWNPN+Calibri-Bold"/>
                <a:cs typeface="OJWNPN+Calibri-Bold"/>
              </a:rPr>
              <a:t>=</a:t>
            </a:r>
            <a:r>
              <a:rPr sz="2400" spc="16" dirty="0">
                <a:solidFill>
                  <a:srgbClr val="FF0000"/>
                </a:solidFill>
                <a:latin typeface="OJWNPN+Calibri-Bold"/>
                <a:cs typeface="OJWNPN+Calibri-Bold"/>
              </a:rPr>
              <a:t> </a:t>
            </a:r>
            <a:r>
              <a:rPr sz="2400" dirty="0">
                <a:solidFill>
                  <a:srgbClr val="FF0000"/>
                </a:solidFill>
                <a:latin typeface="OJWNPN+Calibri-Bold"/>
                <a:cs typeface="OJWNPN+Calibri-Bold"/>
              </a:rPr>
              <a:t>{100,</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20,</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34,</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17,</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50};</a:t>
            </a:r>
          </a:p>
          <a:p>
            <a:pPr marL="0" marR="0">
              <a:lnSpc>
                <a:spcPts val="2400"/>
              </a:lnSpc>
              <a:spcBef>
                <a:spcPts val="480"/>
              </a:spcBef>
              <a:spcAft>
                <a:spcPts val="0"/>
              </a:spcAft>
            </a:pPr>
            <a:r>
              <a:rPr sz="2400" dirty="0">
                <a:solidFill>
                  <a:srgbClr val="000000"/>
                </a:solidFill>
                <a:latin typeface="AAVGFJ+Calibri"/>
                <a:cs typeface="AAVGFJ+Calibri"/>
              </a:rPr>
              <a:t>marks[0]=100,marks[1]=20,marks[2]=34,marks[3]=17 marks[4]=50</a:t>
            </a:r>
          </a:p>
          <a:p>
            <a:pPr marL="0" marR="0">
              <a:lnSpc>
                <a:spcPts val="2400"/>
              </a:lnSpc>
              <a:spcBef>
                <a:spcPts val="429"/>
              </a:spcBef>
              <a:spcAft>
                <a:spcPts val="0"/>
              </a:spcAft>
            </a:pPr>
            <a:r>
              <a:rPr sz="2400" dirty="0">
                <a:solidFill>
                  <a:srgbClr val="000000"/>
                </a:solidFill>
                <a:latin typeface="AAVGFJ+Calibri"/>
                <a:cs typeface="AAVGFJ+Calibri"/>
              </a:rPr>
              <a:t>The number of values</a:t>
            </a:r>
            <a:r>
              <a:rPr sz="2400" spc="12" dirty="0">
                <a:solidFill>
                  <a:srgbClr val="000000"/>
                </a:solidFill>
                <a:latin typeface="AAVGFJ+Calibri"/>
                <a:cs typeface="AAVGFJ+Calibri"/>
              </a:rPr>
              <a:t> </a:t>
            </a:r>
            <a:r>
              <a:rPr sz="2400" dirty="0">
                <a:solidFill>
                  <a:srgbClr val="000000"/>
                </a:solidFill>
                <a:latin typeface="AAVGFJ+Calibri"/>
                <a:cs typeface="AAVGFJ+Calibri"/>
              </a:rPr>
              <a:t>between </a:t>
            </a:r>
            <a:r>
              <a:rPr sz="2400" spc="-10" dirty="0">
                <a:solidFill>
                  <a:srgbClr val="000000"/>
                </a:solidFill>
                <a:latin typeface="AAVGFJ+Calibri"/>
                <a:cs typeface="AAVGFJ+Calibri"/>
              </a:rPr>
              <a:t>braces</a:t>
            </a:r>
            <a:r>
              <a:rPr sz="2400" spc="14" dirty="0">
                <a:solidFill>
                  <a:srgbClr val="000000"/>
                </a:solidFill>
                <a:latin typeface="AAVGFJ+Calibri"/>
                <a:cs typeface="AAVGFJ+Calibri"/>
              </a:rPr>
              <a:t> </a:t>
            </a:r>
            <a:r>
              <a:rPr sz="2400" dirty="0">
                <a:solidFill>
                  <a:srgbClr val="000000"/>
                </a:solidFill>
                <a:latin typeface="AAVGFJ+Calibri"/>
                <a:cs typeface="AAVGFJ+Calibri"/>
              </a:rPr>
              <a:t>{ } cannot be </a:t>
            </a:r>
            <a:r>
              <a:rPr sz="2400" spc="-11" dirty="0">
                <a:solidFill>
                  <a:srgbClr val="000000"/>
                </a:solidFill>
                <a:latin typeface="AAVGFJ+Calibri"/>
                <a:cs typeface="AAVGFJ+Calibri"/>
              </a:rPr>
              <a:t>larger</a:t>
            </a:r>
            <a:r>
              <a:rPr sz="2400" spc="12" dirty="0">
                <a:solidFill>
                  <a:srgbClr val="000000"/>
                </a:solidFill>
                <a:latin typeface="AAVGFJ+Calibri"/>
                <a:cs typeface="AAVGFJ+Calibri"/>
              </a:rPr>
              <a:t> </a:t>
            </a:r>
            <a:r>
              <a:rPr sz="2400" dirty="0">
                <a:solidFill>
                  <a:srgbClr val="000000"/>
                </a:solidFill>
                <a:latin typeface="AAVGFJ+Calibri"/>
                <a:cs typeface="AAVGFJ+Calibri"/>
              </a:rPr>
              <a:t>than the number of elements</a:t>
            </a:r>
          </a:p>
          <a:p>
            <a:pPr marL="0" marR="0">
              <a:lnSpc>
                <a:spcPts val="2400"/>
              </a:lnSpc>
              <a:spcBef>
                <a:spcPts val="479"/>
              </a:spcBef>
              <a:spcAft>
                <a:spcPts val="0"/>
              </a:spcAft>
            </a:pPr>
            <a:r>
              <a:rPr sz="2400" dirty="0">
                <a:solidFill>
                  <a:srgbClr val="000000"/>
                </a:solidFill>
                <a:latin typeface="AAVGFJ+Calibri"/>
                <a:cs typeface="AAVGFJ+Calibri"/>
              </a:rPr>
              <a:t>that</a:t>
            </a:r>
            <a:r>
              <a:rPr sz="2400" spc="12" dirty="0">
                <a:solidFill>
                  <a:srgbClr val="000000"/>
                </a:solidFill>
                <a:latin typeface="AAVGFJ+Calibri"/>
                <a:cs typeface="AAVGFJ+Calibri"/>
              </a:rPr>
              <a:t> </a:t>
            </a:r>
            <a:r>
              <a:rPr sz="2400" spc="-26" dirty="0">
                <a:solidFill>
                  <a:srgbClr val="000000"/>
                </a:solidFill>
                <a:latin typeface="AAVGFJ+Calibri"/>
                <a:cs typeface="AAVGFJ+Calibri"/>
              </a:rPr>
              <a:t>we</a:t>
            </a:r>
            <a:r>
              <a:rPr sz="2400" spc="29" dirty="0">
                <a:solidFill>
                  <a:srgbClr val="000000"/>
                </a:solidFill>
                <a:latin typeface="AAVGFJ+Calibri"/>
                <a:cs typeface="AAVGFJ+Calibri"/>
              </a:rPr>
              <a:t> </a:t>
            </a:r>
            <a:r>
              <a:rPr sz="2400" dirty="0">
                <a:solidFill>
                  <a:srgbClr val="000000"/>
                </a:solidFill>
                <a:latin typeface="AAVGFJ+Calibri"/>
                <a:cs typeface="AAVGFJ+Calibri"/>
              </a:rPr>
              <a:t>declare </a:t>
            </a:r>
            <a:r>
              <a:rPr sz="2400" spc="-29" dirty="0">
                <a:solidFill>
                  <a:srgbClr val="000000"/>
                </a:solidFill>
                <a:latin typeface="AAVGFJ+Calibri"/>
                <a:cs typeface="AAVGFJ+Calibri"/>
              </a:rPr>
              <a:t>for</a:t>
            </a:r>
            <a:r>
              <a:rPr sz="2400" spc="30" dirty="0">
                <a:solidFill>
                  <a:srgbClr val="000000"/>
                </a:solidFill>
                <a:latin typeface="AAVGFJ+Calibri"/>
                <a:cs typeface="AAVGFJ+Calibri"/>
              </a:rPr>
              <a:t> </a:t>
            </a:r>
            <a:r>
              <a:rPr sz="2400" dirty="0">
                <a:solidFill>
                  <a:srgbClr val="000000"/>
                </a:solidFill>
                <a:latin typeface="AAVGFJ+Calibri"/>
                <a:cs typeface="AAVGFJ+Calibri"/>
              </a:rPr>
              <a:t>the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between square</a:t>
            </a:r>
            <a:r>
              <a:rPr sz="2400" spc="11" dirty="0">
                <a:solidFill>
                  <a:srgbClr val="000000"/>
                </a:solidFill>
                <a:latin typeface="AAVGFJ+Calibri"/>
                <a:cs typeface="AAVGFJ+Calibri"/>
              </a:rPr>
              <a:t> </a:t>
            </a:r>
            <a:r>
              <a:rPr sz="2400" spc="-21" dirty="0">
                <a:solidFill>
                  <a:srgbClr val="000000"/>
                </a:solidFill>
                <a:latin typeface="AAVGFJ+Calibri"/>
                <a:cs typeface="AAVGFJ+Calibri"/>
              </a:rPr>
              <a:t>brackets</a:t>
            </a:r>
            <a:r>
              <a:rPr sz="2400" spc="25" dirty="0">
                <a:solidFill>
                  <a:srgbClr val="000000"/>
                </a:solidFill>
                <a:latin typeface="AAVGFJ+Calibri"/>
                <a:cs typeface="AAVGFJ+Calibri"/>
              </a:rPr>
              <a:t> </a:t>
            </a:r>
            <a:r>
              <a:rPr sz="2400" dirty="0">
                <a:solidFill>
                  <a:srgbClr val="000000"/>
                </a:solidFill>
                <a:latin typeface="AAVGFJ+Calibri"/>
                <a:cs typeface="AAVGFJ+Calibri"/>
              </a:rPr>
              <a:t>[ ].</a:t>
            </a:r>
          </a:p>
          <a:p>
            <a:pPr marL="0" marR="0">
              <a:lnSpc>
                <a:spcPts val="2400"/>
              </a:lnSpc>
              <a:spcBef>
                <a:spcPts val="480"/>
              </a:spcBef>
              <a:spcAft>
                <a:spcPts val="0"/>
              </a:spcAft>
            </a:pPr>
            <a:r>
              <a:rPr sz="2400" dirty="0">
                <a:solidFill>
                  <a:srgbClr val="000000"/>
                </a:solidFill>
                <a:latin typeface="OJWNPN+Calibri-Bold"/>
                <a:cs typeface="OJWNPN+Calibri-Bold"/>
              </a:rPr>
              <a:t>Method</a:t>
            </a:r>
            <a:r>
              <a:rPr sz="2400" spc="22" dirty="0">
                <a:solidFill>
                  <a:srgbClr val="000000"/>
                </a:solidFill>
                <a:latin typeface="OJWNPN+Calibri-Bold"/>
                <a:cs typeface="OJWNPN+Calibri-Bold"/>
              </a:rPr>
              <a:t> </a:t>
            </a:r>
            <a:r>
              <a:rPr sz="2400" dirty="0">
                <a:solidFill>
                  <a:srgbClr val="000000"/>
                </a:solidFill>
                <a:latin typeface="OJWNPN+Calibri-Bold"/>
                <a:cs typeface="OJWNPN+Calibri-Bold"/>
              </a:rPr>
              <a:t>2:</a:t>
            </a:r>
          </a:p>
          <a:p>
            <a:pPr marL="0" marR="0">
              <a:lnSpc>
                <a:spcPts val="2400"/>
              </a:lnSpc>
              <a:spcBef>
                <a:spcPts val="479"/>
              </a:spcBef>
              <a:spcAft>
                <a:spcPts val="0"/>
              </a:spcAft>
            </a:pPr>
            <a:r>
              <a:rPr sz="2400" spc="-11" dirty="0">
                <a:solidFill>
                  <a:srgbClr val="FF0000"/>
                </a:solidFill>
                <a:latin typeface="OJWNPN+Calibri-Bold"/>
                <a:cs typeface="OJWNPN+Calibri-Bold"/>
              </a:rPr>
              <a:t>int</a:t>
            </a:r>
            <a:r>
              <a:rPr sz="2400" spc="26" dirty="0">
                <a:solidFill>
                  <a:srgbClr val="FF0000"/>
                </a:solidFill>
                <a:latin typeface="OJWNPN+Calibri-Bold"/>
                <a:cs typeface="OJWNPN+Calibri-Bold"/>
              </a:rPr>
              <a:t> </a:t>
            </a:r>
            <a:r>
              <a:rPr sz="2400" dirty="0">
                <a:solidFill>
                  <a:srgbClr val="FF0000"/>
                </a:solidFill>
                <a:latin typeface="OJWNPN+Calibri-Bold"/>
                <a:cs typeface="OJWNPN+Calibri-Bold"/>
              </a:rPr>
              <a:t>marks[</a:t>
            </a:r>
            <a:r>
              <a:rPr sz="2400" spc="22" dirty="0">
                <a:solidFill>
                  <a:srgbClr val="FF0000"/>
                </a:solidFill>
                <a:latin typeface="OJWNPN+Calibri-Bold"/>
                <a:cs typeface="OJWNPN+Calibri-Bold"/>
              </a:rPr>
              <a:t> </a:t>
            </a:r>
            <a:r>
              <a:rPr sz="2400" dirty="0">
                <a:solidFill>
                  <a:srgbClr val="FF0000"/>
                </a:solidFill>
                <a:latin typeface="OJWNPN+Calibri-Bold"/>
                <a:cs typeface="OJWNPN+Calibri-Bold"/>
              </a:rPr>
              <a:t>]</a:t>
            </a:r>
            <a:r>
              <a:rPr sz="2400" spc="17" dirty="0">
                <a:solidFill>
                  <a:srgbClr val="FF0000"/>
                </a:solidFill>
                <a:latin typeface="OJWNPN+Calibri-Bold"/>
                <a:cs typeface="OJWNPN+Calibri-Bold"/>
              </a:rPr>
              <a:t> </a:t>
            </a:r>
            <a:r>
              <a:rPr sz="2400" dirty="0">
                <a:solidFill>
                  <a:srgbClr val="FF0000"/>
                </a:solidFill>
                <a:latin typeface="OJWNPN+Calibri-Bold"/>
                <a:cs typeface="OJWNPN+Calibri-Bold"/>
              </a:rPr>
              <a:t>=</a:t>
            </a:r>
            <a:r>
              <a:rPr sz="2400" spc="16" dirty="0">
                <a:solidFill>
                  <a:srgbClr val="FF0000"/>
                </a:solidFill>
                <a:latin typeface="OJWNPN+Calibri-Bold"/>
                <a:cs typeface="OJWNPN+Calibri-Bold"/>
              </a:rPr>
              <a:t> </a:t>
            </a:r>
            <a:r>
              <a:rPr sz="2400" dirty="0">
                <a:solidFill>
                  <a:srgbClr val="FF0000"/>
                </a:solidFill>
                <a:latin typeface="OJWNPN+Calibri-Bold"/>
                <a:cs typeface="OJWNPN+Calibri-Bold"/>
              </a:rPr>
              <a:t>{10,</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20,</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34,</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17,</a:t>
            </a:r>
            <a:r>
              <a:rPr sz="2400" spc="19" dirty="0">
                <a:solidFill>
                  <a:srgbClr val="FF0000"/>
                </a:solidFill>
                <a:latin typeface="OJWNPN+Calibri-Bold"/>
                <a:cs typeface="OJWNPN+Calibri-Bold"/>
              </a:rPr>
              <a:t> </a:t>
            </a:r>
            <a:r>
              <a:rPr sz="2400" dirty="0">
                <a:solidFill>
                  <a:srgbClr val="FF0000"/>
                </a:solidFill>
                <a:latin typeface="OJWNPN+Calibri-Bold"/>
                <a:cs typeface="OJWNPN+Calibri-Bold"/>
              </a:rPr>
              <a:t>50};</a:t>
            </a:r>
          </a:p>
          <a:p>
            <a:pPr marL="0" marR="0">
              <a:lnSpc>
                <a:spcPts val="2400"/>
              </a:lnSpc>
              <a:spcBef>
                <a:spcPts val="479"/>
              </a:spcBef>
              <a:spcAft>
                <a:spcPts val="0"/>
              </a:spcAft>
            </a:pPr>
            <a:r>
              <a:rPr sz="2400" dirty="0">
                <a:solidFill>
                  <a:srgbClr val="000000"/>
                </a:solidFill>
                <a:latin typeface="AAVGFJ+Calibri"/>
                <a:cs typeface="AAVGFJ+Calibri"/>
              </a:rPr>
              <a:t>will </a:t>
            </a:r>
            <a:r>
              <a:rPr sz="2400" spc="-18" dirty="0">
                <a:solidFill>
                  <a:srgbClr val="000000"/>
                </a:solidFill>
                <a:latin typeface="AAVGFJ+Calibri"/>
                <a:cs typeface="AAVGFJ+Calibri"/>
              </a:rPr>
              <a:t>create</a:t>
            </a:r>
            <a:r>
              <a:rPr sz="2400" spc="21" dirty="0">
                <a:solidFill>
                  <a:srgbClr val="000000"/>
                </a:solidFill>
                <a:latin typeface="AAVGFJ+Calibri"/>
                <a:cs typeface="AAVGFJ+Calibri"/>
              </a:rPr>
              <a:t> </a:t>
            </a:r>
            <a:r>
              <a:rPr sz="2400" spc="-14" dirty="0">
                <a:solidFill>
                  <a:srgbClr val="000000"/>
                </a:solidFill>
                <a:latin typeface="AAVGFJ+Calibri"/>
                <a:cs typeface="AAVGFJ+Calibri"/>
              </a:rPr>
              <a:t>exactly</a:t>
            </a:r>
            <a:r>
              <a:rPr sz="2400" spc="15" dirty="0">
                <a:solidFill>
                  <a:srgbClr val="000000"/>
                </a:solidFill>
                <a:latin typeface="AAVGFJ+Calibri"/>
                <a:cs typeface="AAVGFJ+Calibri"/>
              </a:rPr>
              <a:t> </a:t>
            </a:r>
            <a:r>
              <a:rPr sz="2400" dirty="0">
                <a:solidFill>
                  <a:srgbClr val="000000"/>
                </a:solidFill>
                <a:latin typeface="AAVGFJ+Calibri"/>
                <a:cs typeface="AAVGFJ+Calibri"/>
              </a:rPr>
              <a:t>an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of </a:t>
            </a:r>
            <a:r>
              <a:rPr sz="2400" spc="-17" dirty="0">
                <a:solidFill>
                  <a:srgbClr val="000000"/>
                </a:solidFill>
                <a:latin typeface="AAVGFJ+Calibri"/>
                <a:cs typeface="AAVGFJ+Calibri"/>
              </a:rPr>
              <a:t>size</a:t>
            </a:r>
            <a:r>
              <a:rPr sz="2400" spc="21" dirty="0">
                <a:solidFill>
                  <a:srgbClr val="000000"/>
                </a:solidFill>
                <a:latin typeface="AAVGFJ+Calibri"/>
                <a:cs typeface="AAVGFJ+Calibri"/>
              </a:rPr>
              <a:t> </a:t>
            </a:r>
            <a:r>
              <a:rPr sz="2400" dirty="0">
                <a:solidFill>
                  <a:srgbClr val="000000"/>
                </a:solidFill>
                <a:latin typeface="AAVGFJ+Calibri"/>
                <a:cs typeface="AAVGFJ+Calibri"/>
              </a:rPr>
              <a:t>5.</a:t>
            </a:r>
          </a:p>
          <a:p>
            <a:pPr marL="0" marR="0">
              <a:lnSpc>
                <a:spcPts val="2400"/>
              </a:lnSpc>
              <a:spcBef>
                <a:spcPts val="430"/>
              </a:spcBef>
              <a:spcAft>
                <a:spcPts val="0"/>
              </a:spcAft>
            </a:pPr>
            <a:r>
              <a:rPr sz="2400" dirty="0">
                <a:solidFill>
                  <a:srgbClr val="000000"/>
                </a:solidFill>
                <a:latin typeface="OJWNPN+Calibri-Bold"/>
                <a:cs typeface="OJWNPN+Calibri-Bold"/>
              </a:rPr>
              <a:t>Method</a:t>
            </a:r>
            <a:r>
              <a:rPr sz="2400" spc="22" dirty="0">
                <a:solidFill>
                  <a:srgbClr val="000000"/>
                </a:solidFill>
                <a:latin typeface="OJWNPN+Calibri-Bold"/>
                <a:cs typeface="OJWNPN+Calibri-Bold"/>
              </a:rPr>
              <a:t> </a:t>
            </a:r>
            <a:r>
              <a:rPr sz="2400" dirty="0">
                <a:solidFill>
                  <a:srgbClr val="000000"/>
                </a:solidFill>
                <a:latin typeface="OJWNPN+Calibri-Bold"/>
                <a:cs typeface="OJWNPN+Calibri-Bold"/>
              </a:rPr>
              <a:t>3:</a:t>
            </a:r>
          </a:p>
          <a:p>
            <a:pPr marL="0" marR="0">
              <a:lnSpc>
                <a:spcPts val="2400"/>
              </a:lnSpc>
              <a:spcBef>
                <a:spcPts val="479"/>
              </a:spcBef>
              <a:spcAft>
                <a:spcPts val="0"/>
              </a:spcAft>
            </a:pPr>
            <a:r>
              <a:rPr sz="2400" spc="-11" dirty="0">
                <a:solidFill>
                  <a:srgbClr val="000000"/>
                </a:solidFill>
                <a:latin typeface="OJWNPN+Calibri-Bold"/>
                <a:cs typeface="OJWNPN+Calibri-Bold"/>
              </a:rPr>
              <a:t>int</a:t>
            </a:r>
            <a:r>
              <a:rPr sz="2400" spc="26" dirty="0">
                <a:solidFill>
                  <a:srgbClr val="000000"/>
                </a:solidFill>
                <a:latin typeface="OJWNPN+Calibri-Bold"/>
                <a:cs typeface="OJWNPN+Calibri-Bold"/>
              </a:rPr>
              <a:t> </a:t>
            </a:r>
            <a:r>
              <a:rPr sz="2400" dirty="0">
                <a:solidFill>
                  <a:srgbClr val="000000"/>
                </a:solidFill>
                <a:latin typeface="OJWNPN+Calibri-Bold"/>
                <a:cs typeface="OJWNPN+Calibri-Bold"/>
              </a:rPr>
              <a:t>marks[0]=100,int</a:t>
            </a:r>
            <a:r>
              <a:rPr sz="2400" spc="18" dirty="0">
                <a:solidFill>
                  <a:srgbClr val="000000"/>
                </a:solidFill>
                <a:latin typeface="OJWNPN+Calibri-Bold"/>
                <a:cs typeface="OJWNPN+Calibri-Bold"/>
              </a:rPr>
              <a:t> </a:t>
            </a:r>
            <a:r>
              <a:rPr sz="2400" dirty="0">
                <a:solidFill>
                  <a:srgbClr val="000000"/>
                </a:solidFill>
                <a:latin typeface="OJWNPN+Calibri-Bold"/>
                <a:cs typeface="OJWNPN+Calibri-Bold"/>
              </a:rPr>
              <a:t>marks[1]=20,</a:t>
            </a: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marks[4] = 50;</a:t>
            </a:r>
          </a:p>
          <a:p>
            <a:pPr marL="0" marR="0">
              <a:lnSpc>
                <a:spcPts val="2400"/>
              </a:lnSpc>
              <a:spcBef>
                <a:spcPts val="480"/>
              </a:spcBef>
              <a:spcAft>
                <a:spcPts val="0"/>
              </a:spcAft>
            </a:pPr>
            <a:r>
              <a:rPr sz="2400" dirty="0">
                <a:solidFill>
                  <a:srgbClr val="000000"/>
                </a:solidFill>
                <a:latin typeface="AAVGFJ+Calibri"/>
                <a:cs typeface="AAVGFJ+Calibri"/>
              </a:rPr>
              <a:t>This 5th element of the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is assigned with a </a:t>
            </a:r>
            <a:r>
              <a:rPr sz="2400" spc="-10" dirty="0">
                <a:solidFill>
                  <a:srgbClr val="000000"/>
                </a:solidFill>
                <a:latin typeface="AAVGFJ+Calibri"/>
                <a:cs typeface="AAVGFJ+Calibri"/>
              </a:rPr>
              <a:t>value</a:t>
            </a:r>
            <a:r>
              <a:rPr sz="2400" spc="13" dirty="0">
                <a:solidFill>
                  <a:srgbClr val="000000"/>
                </a:solidFill>
                <a:latin typeface="AAVGFJ+Calibri"/>
                <a:cs typeface="AAVGFJ+Calibri"/>
              </a:rPr>
              <a:t> </a:t>
            </a:r>
            <a:r>
              <a:rPr sz="2400" dirty="0">
                <a:solidFill>
                  <a:srgbClr val="000000"/>
                </a:solidFill>
                <a:latin typeface="AAVGFJ+Calibri"/>
                <a:cs typeface="AAVGFJ+Calibri"/>
              </a:rPr>
              <a:t>5.</a:t>
            </a:r>
          </a:p>
          <a:p>
            <a:pPr marL="0" marR="0">
              <a:lnSpc>
                <a:spcPts val="2400"/>
              </a:lnSpc>
              <a:spcBef>
                <a:spcPts val="479"/>
              </a:spcBef>
              <a:spcAft>
                <a:spcPts val="0"/>
              </a:spcAft>
            </a:pPr>
            <a:r>
              <a:rPr sz="2400" dirty="0">
                <a:solidFill>
                  <a:srgbClr val="000000"/>
                </a:solidFill>
                <a:latin typeface="OJWNPN+Calibri-Bold"/>
                <a:cs typeface="OJWNPN+Calibri-Bold"/>
              </a:rPr>
              <a:t>Method</a:t>
            </a:r>
            <a:r>
              <a:rPr sz="2400" spc="22" dirty="0">
                <a:solidFill>
                  <a:srgbClr val="000000"/>
                </a:solidFill>
                <a:latin typeface="OJWNPN+Calibri-Bold"/>
                <a:cs typeface="OJWNPN+Calibri-Bold"/>
              </a:rPr>
              <a:t> </a:t>
            </a:r>
            <a:r>
              <a:rPr sz="2400" dirty="0">
                <a:solidFill>
                  <a:srgbClr val="000000"/>
                </a:solidFill>
                <a:latin typeface="OJWNPN+Calibri-Bold"/>
                <a:cs typeface="OJWNPN+Calibri-Bold"/>
              </a:rPr>
              <a:t>4:</a:t>
            </a:r>
          </a:p>
        </p:txBody>
      </p:sp>
      <p:sp>
        <p:nvSpPr>
          <p:cNvPr id="6" name="object 6"/>
          <p:cNvSpPr txBox="1"/>
          <p:nvPr/>
        </p:nvSpPr>
        <p:spPr>
          <a:xfrm>
            <a:off x="415290" y="6277826"/>
            <a:ext cx="11435429"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Can be initialised </a:t>
            </a:r>
            <a:r>
              <a:rPr sz="2400" spc="-25" dirty="0">
                <a:solidFill>
                  <a:srgbClr val="000000"/>
                </a:solidFill>
                <a:latin typeface="AAVGFJ+Calibri"/>
                <a:cs typeface="AAVGFJ+Calibri"/>
              </a:rPr>
              <a:t>at</a:t>
            </a:r>
            <a:r>
              <a:rPr sz="2400" spc="28" dirty="0">
                <a:solidFill>
                  <a:srgbClr val="000000"/>
                </a:solidFill>
                <a:latin typeface="AAVGFJ+Calibri"/>
                <a:cs typeface="AAVGFJ+Calibri"/>
              </a:rPr>
              <a:t> </a:t>
            </a:r>
            <a:r>
              <a:rPr sz="2400" dirty="0">
                <a:solidFill>
                  <a:srgbClr val="000000"/>
                </a:solidFill>
                <a:latin typeface="AAVGFJ+Calibri"/>
                <a:cs typeface="AAVGFJ+Calibri"/>
              </a:rPr>
              <a:t>runtime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accepting input </a:t>
            </a:r>
            <a:r>
              <a:rPr sz="2400" spc="-15" dirty="0">
                <a:solidFill>
                  <a:srgbClr val="000000"/>
                </a:solidFill>
                <a:latin typeface="AAVGFJ+Calibri"/>
                <a:cs typeface="AAVGFJ+Calibri"/>
              </a:rPr>
              <a:t>from</a:t>
            </a:r>
            <a:r>
              <a:rPr sz="2400" spc="15" dirty="0">
                <a:solidFill>
                  <a:srgbClr val="000000"/>
                </a:solidFill>
                <a:latin typeface="AAVGFJ+Calibri"/>
                <a:cs typeface="AAVGFJ+Calibri"/>
              </a:rPr>
              <a:t> </a:t>
            </a:r>
            <a:r>
              <a:rPr sz="2400" dirty="0">
                <a:solidFill>
                  <a:srgbClr val="000000"/>
                </a:solidFill>
                <a:latin typeface="AAVGFJ+Calibri"/>
                <a:cs typeface="AAVGFJ+Calibri"/>
              </a:rPr>
              <a:t>the user-scanf()(with the use of loops)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029335" y="575468"/>
            <a:ext cx="3318159"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spc="-48" dirty="0">
                <a:solidFill>
                  <a:srgbClr val="0070C0"/>
                </a:solidFill>
                <a:latin typeface="HWPIMB+Calibri-Light"/>
                <a:cs typeface="HWPIMB+Calibri-Light"/>
              </a:rPr>
              <a:t>Types</a:t>
            </a:r>
            <a:r>
              <a:rPr sz="4400" spc="47" dirty="0">
                <a:solidFill>
                  <a:srgbClr val="0070C0"/>
                </a:solidFill>
                <a:latin typeface="HWPIMB+Calibri-Light"/>
                <a:cs typeface="HWPIMB+Calibri-Light"/>
              </a:rPr>
              <a:t> </a:t>
            </a:r>
            <a:r>
              <a:rPr sz="4400" dirty="0">
                <a:solidFill>
                  <a:srgbClr val="0070C0"/>
                </a:solidFill>
                <a:latin typeface="HWPIMB+Calibri-Light"/>
                <a:cs typeface="HWPIMB+Calibri-Light"/>
              </a:rPr>
              <a:t>of </a:t>
            </a:r>
            <a:r>
              <a:rPr sz="4400" spc="-46" dirty="0">
                <a:solidFill>
                  <a:srgbClr val="0070C0"/>
                </a:solidFill>
                <a:latin typeface="HWPIMB+Calibri-Light"/>
                <a:cs typeface="HWPIMB+Calibri-Light"/>
              </a:rPr>
              <a:t>Array</a:t>
            </a:r>
          </a:p>
        </p:txBody>
      </p:sp>
      <p:sp>
        <p:nvSpPr>
          <p:cNvPr id="4" name="object 4"/>
          <p:cNvSpPr txBox="1"/>
          <p:nvPr/>
        </p:nvSpPr>
        <p:spPr>
          <a:xfrm>
            <a:off x="279819" y="1810804"/>
            <a:ext cx="3666410" cy="70865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OJWNPN+Calibri-Bold"/>
                <a:cs typeface="OJWNPN+Calibri-Bold"/>
              </a:rPr>
              <a:t>ONE</a:t>
            </a:r>
            <a:r>
              <a:rPr sz="2400" spc="15" dirty="0">
                <a:solidFill>
                  <a:srgbClr val="FF0000"/>
                </a:solidFill>
                <a:latin typeface="OJWNPN+Calibri-Bold"/>
                <a:cs typeface="OJWNPN+Calibri-Bold"/>
              </a:rPr>
              <a:t> </a:t>
            </a:r>
            <a:r>
              <a:rPr sz="2400" dirty="0">
                <a:solidFill>
                  <a:srgbClr val="FF0000"/>
                </a:solidFill>
                <a:latin typeface="OJWNPN+Calibri-Bold"/>
                <a:cs typeface="OJWNPN+Calibri-Bold"/>
              </a:rPr>
              <a:t>DIMENSIONAL</a:t>
            </a:r>
            <a:r>
              <a:rPr sz="2400" spc="16" dirty="0">
                <a:solidFill>
                  <a:srgbClr val="FF0000"/>
                </a:solidFill>
                <a:latin typeface="OJWNPN+Calibri-Bold"/>
                <a:cs typeface="OJWNPN+Calibri-Bold"/>
              </a:rPr>
              <a:t> </a:t>
            </a:r>
            <a:r>
              <a:rPr sz="2400" spc="-40" dirty="0">
                <a:solidFill>
                  <a:srgbClr val="FF0000"/>
                </a:solidFill>
                <a:latin typeface="OJWNPN+Calibri-Bold"/>
                <a:cs typeface="OJWNPN+Calibri-Bold"/>
              </a:rPr>
              <a:t>ARRAYS</a:t>
            </a:r>
          </a:p>
          <a:p>
            <a:pPr marL="0" marR="0">
              <a:lnSpc>
                <a:spcPts val="2400"/>
              </a:lnSpc>
              <a:spcBef>
                <a:spcPts val="479"/>
              </a:spcBef>
              <a:spcAft>
                <a:spcPts val="0"/>
              </a:spcAft>
            </a:pPr>
            <a:r>
              <a:rPr sz="2400" dirty="0">
                <a:solidFill>
                  <a:srgbClr val="000000"/>
                </a:solidFill>
                <a:latin typeface="AAVGFJ+Calibri"/>
                <a:cs typeface="AAVGFJ+Calibri"/>
              </a:rPr>
              <a:t>Declaration </a:t>
            </a:r>
            <a:r>
              <a:rPr sz="2400" spc="-18" dirty="0">
                <a:solidFill>
                  <a:srgbClr val="000000"/>
                </a:solidFill>
                <a:latin typeface="AAVGFJ+Calibri"/>
                <a:cs typeface="AAVGFJ+Calibri"/>
              </a:rPr>
              <a:t>Syntax:</a:t>
            </a:r>
          </a:p>
        </p:txBody>
      </p:sp>
      <p:sp>
        <p:nvSpPr>
          <p:cNvPr id="5" name="object 5"/>
          <p:cNvSpPr txBox="1"/>
          <p:nvPr/>
        </p:nvSpPr>
        <p:spPr>
          <a:xfrm>
            <a:off x="1318044" y="2542324"/>
            <a:ext cx="4367797"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000000"/>
                </a:solidFill>
                <a:latin typeface="OJWNPN+Calibri-Bold"/>
                <a:cs typeface="OJWNPN+Calibri-Bold"/>
              </a:rPr>
              <a:t>datatype</a:t>
            </a:r>
            <a:r>
              <a:rPr sz="2400" spc="29" dirty="0">
                <a:solidFill>
                  <a:srgbClr val="000000"/>
                </a:solidFill>
                <a:latin typeface="OJWNPN+Calibri-Bold"/>
                <a:cs typeface="OJWNPN+Calibri-Bold"/>
              </a:rPr>
              <a:t> </a:t>
            </a:r>
            <a:r>
              <a:rPr sz="2400" spc="-11" dirty="0">
                <a:solidFill>
                  <a:srgbClr val="000000"/>
                </a:solidFill>
                <a:latin typeface="OJWNPN+Calibri-Bold"/>
                <a:cs typeface="OJWNPN+Calibri-Bold"/>
              </a:rPr>
              <a:t>array-name</a:t>
            </a:r>
            <a:r>
              <a:rPr sz="2400" spc="29" dirty="0">
                <a:solidFill>
                  <a:srgbClr val="000000"/>
                </a:solidFill>
                <a:latin typeface="OJWNPN+Calibri-Bold"/>
                <a:cs typeface="OJWNPN+Calibri-Bold"/>
              </a:rPr>
              <a:t> </a:t>
            </a:r>
            <a:r>
              <a:rPr sz="2400" spc="-12" dirty="0">
                <a:solidFill>
                  <a:srgbClr val="000000"/>
                </a:solidFill>
                <a:latin typeface="OJWNPN+Calibri-Bold"/>
                <a:cs typeface="OJWNPN+Calibri-Bold"/>
              </a:rPr>
              <a:t>[array-size];</a:t>
            </a:r>
          </a:p>
        </p:txBody>
      </p:sp>
      <p:sp>
        <p:nvSpPr>
          <p:cNvPr id="6" name="object 6"/>
          <p:cNvSpPr txBox="1"/>
          <p:nvPr/>
        </p:nvSpPr>
        <p:spPr>
          <a:xfrm>
            <a:off x="279819" y="2908084"/>
            <a:ext cx="11440279" cy="253745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This is called a single-dimensional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or one dimensional </a:t>
            </a:r>
            <a:r>
              <a:rPr sz="2400" spc="-43" dirty="0">
                <a:solidFill>
                  <a:srgbClr val="000000"/>
                </a:solidFill>
                <a:latin typeface="AAVGFJ+Calibri"/>
                <a:cs typeface="AAVGFJ+Calibri"/>
              </a:rPr>
              <a:t>array.</a:t>
            </a:r>
            <a:r>
              <a:rPr sz="2400" spc="45" dirty="0">
                <a:solidFill>
                  <a:srgbClr val="000000"/>
                </a:solidFill>
                <a:latin typeface="AAVGFJ+Calibri"/>
                <a:cs typeface="AAVGFJ+Calibri"/>
              </a:rPr>
              <a:t> </a:t>
            </a:r>
            <a:r>
              <a:rPr sz="2400" dirty="0">
                <a:solidFill>
                  <a:srgbClr val="000000"/>
                </a:solidFill>
                <a:latin typeface="AAVGFJ+Calibri"/>
                <a:cs typeface="AAVGFJ+Calibri"/>
              </a:rPr>
              <a:t>The </a:t>
            </a:r>
            <a:r>
              <a:rPr sz="2400" spc="-17" dirty="0">
                <a:solidFill>
                  <a:srgbClr val="000000"/>
                </a:solidFill>
                <a:latin typeface="AAVGFJ+Calibri"/>
                <a:cs typeface="AAVGFJ+Calibri"/>
              </a:rPr>
              <a:t>array-size</a:t>
            </a:r>
            <a:r>
              <a:rPr sz="2400" spc="20" dirty="0">
                <a:solidFill>
                  <a:srgbClr val="000000"/>
                </a:solidFill>
                <a:latin typeface="AAVGFJ+Calibri"/>
                <a:cs typeface="AAVGFJ+Calibri"/>
              </a:rPr>
              <a:t> </a:t>
            </a:r>
            <a:r>
              <a:rPr sz="2400" spc="-11" dirty="0">
                <a:solidFill>
                  <a:srgbClr val="000000"/>
                </a:solidFill>
                <a:latin typeface="AAVGFJ+Calibri"/>
                <a:cs typeface="AAVGFJ+Calibri"/>
              </a:rPr>
              <a:t>must</a:t>
            </a:r>
            <a:r>
              <a:rPr sz="2400" spc="14" dirty="0">
                <a:solidFill>
                  <a:srgbClr val="000000"/>
                </a:solidFill>
                <a:latin typeface="AAVGFJ+Calibri"/>
                <a:cs typeface="AAVGFJ+Calibri"/>
              </a:rPr>
              <a:t> </a:t>
            </a:r>
            <a:r>
              <a:rPr sz="2400" dirty="0">
                <a:solidFill>
                  <a:srgbClr val="000000"/>
                </a:solidFill>
                <a:latin typeface="AAVGFJ+Calibri"/>
                <a:cs typeface="AAVGFJ+Calibri"/>
              </a:rPr>
              <a:t>be an</a:t>
            </a:r>
          </a:p>
          <a:p>
            <a:pPr marL="0" marR="0">
              <a:lnSpc>
                <a:spcPts val="2400"/>
              </a:lnSpc>
              <a:spcBef>
                <a:spcPts val="479"/>
              </a:spcBef>
              <a:spcAft>
                <a:spcPts val="0"/>
              </a:spcAft>
            </a:pP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spc="-15" dirty="0">
                <a:solidFill>
                  <a:srgbClr val="000000"/>
                </a:solidFill>
                <a:latin typeface="AAVGFJ+Calibri"/>
                <a:cs typeface="AAVGFJ+Calibri"/>
              </a:rPr>
              <a:t>constant</a:t>
            </a:r>
            <a:r>
              <a:rPr sz="2400" spc="18" dirty="0">
                <a:solidFill>
                  <a:srgbClr val="000000"/>
                </a:solidFill>
                <a:latin typeface="AAVGFJ+Calibri"/>
                <a:cs typeface="AAVGFJ+Calibri"/>
              </a:rPr>
              <a:t> </a:t>
            </a:r>
            <a:r>
              <a:rPr sz="2400" spc="-15" dirty="0">
                <a:solidFill>
                  <a:srgbClr val="000000"/>
                </a:solidFill>
                <a:latin typeface="AAVGFJ+Calibri"/>
                <a:cs typeface="AAVGFJ+Calibri"/>
              </a:rPr>
              <a:t>greater</a:t>
            </a:r>
            <a:r>
              <a:rPr sz="2400" spc="15" dirty="0">
                <a:solidFill>
                  <a:srgbClr val="000000"/>
                </a:solidFill>
                <a:latin typeface="AAVGFJ+Calibri"/>
                <a:cs typeface="AAVGFJ+Calibri"/>
              </a:rPr>
              <a:t> </a:t>
            </a:r>
            <a:r>
              <a:rPr sz="2400" dirty="0">
                <a:solidFill>
                  <a:srgbClr val="000000"/>
                </a:solidFill>
                <a:latin typeface="AAVGFJ+Calibri"/>
                <a:cs typeface="AAVGFJ+Calibri"/>
              </a:rPr>
              <a:t>than </a:t>
            </a:r>
            <a:r>
              <a:rPr sz="2400" spc="-31" dirty="0">
                <a:solidFill>
                  <a:srgbClr val="000000"/>
                </a:solidFill>
                <a:latin typeface="AAVGFJ+Calibri"/>
                <a:cs typeface="AAVGFJ+Calibri"/>
              </a:rPr>
              <a:t>zero</a:t>
            </a:r>
            <a:r>
              <a:rPr sz="2400" spc="33" dirty="0">
                <a:solidFill>
                  <a:srgbClr val="000000"/>
                </a:solidFill>
                <a:latin typeface="AAVGFJ+Calibri"/>
                <a:cs typeface="AAVGFJ+Calibri"/>
              </a:rPr>
              <a:t> </a:t>
            </a:r>
            <a:r>
              <a:rPr sz="2400" dirty="0">
                <a:solidFill>
                  <a:srgbClr val="000000"/>
                </a:solidFill>
                <a:latin typeface="AAVGFJ+Calibri"/>
                <a:cs typeface="AAVGFJ+Calibri"/>
              </a:rPr>
              <a:t>and </a:t>
            </a:r>
            <a:r>
              <a:rPr sz="2400" spc="-11" dirty="0">
                <a:solidFill>
                  <a:srgbClr val="000000"/>
                </a:solidFill>
                <a:latin typeface="AAVGFJ+Calibri"/>
                <a:cs typeface="AAVGFJ+Calibri"/>
              </a:rPr>
              <a:t>datatype</a:t>
            </a:r>
            <a:r>
              <a:rPr sz="2400" spc="15" dirty="0">
                <a:solidFill>
                  <a:srgbClr val="000000"/>
                </a:solidFill>
                <a:latin typeface="AAVGFJ+Calibri"/>
                <a:cs typeface="AAVGFJ+Calibri"/>
              </a:rPr>
              <a:t>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a:t>
            </a:r>
            <a:r>
              <a:rPr sz="2400" spc="-23" dirty="0">
                <a:solidFill>
                  <a:srgbClr val="000000"/>
                </a:solidFill>
                <a:latin typeface="AAVGFJ+Calibri"/>
                <a:cs typeface="AAVGFJ+Calibri"/>
              </a:rPr>
              <a:t>any</a:t>
            </a:r>
            <a:r>
              <a:rPr sz="2400" spc="24" dirty="0">
                <a:solidFill>
                  <a:srgbClr val="000000"/>
                </a:solidFill>
                <a:latin typeface="AAVGFJ+Calibri"/>
                <a:cs typeface="AAVGFJ+Calibri"/>
              </a:rPr>
              <a:t> </a:t>
            </a:r>
            <a:r>
              <a:rPr sz="2400" spc="-10" dirty="0">
                <a:solidFill>
                  <a:srgbClr val="000000"/>
                </a:solidFill>
                <a:latin typeface="AAVGFJ+Calibri"/>
                <a:cs typeface="AAVGFJ+Calibri"/>
              </a:rPr>
              <a:t>valid</a:t>
            </a:r>
            <a:r>
              <a:rPr sz="2400" spc="12" dirty="0">
                <a:solidFill>
                  <a:srgbClr val="000000"/>
                </a:solidFill>
                <a:latin typeface="AAVGFJ+Calibri"/>
                <a:cs typeface="AAVGFJ+Calibri"/>
              </a:rPr>
              <a:t> </a:t>
            </a:r>
            <a:r>
              <a:rPr sz="2400" dirty="0">
                <a:solidFill>
                  <a:srgbClr val="000000"/>
                </a:solidFill>
                <a:latin typeface="AAVGFJ+Calibri"/>
                <a:cs typeface="AAVGFJ+Calibri"/>
              </a:rPr>
              <a:t>C </a:t>
            </a:r>
            <a:r>
              <a:rPr sz="2400" spc="-18" dirty="0">
                <a:solidFill>
                  <a:srgbClr val="000000"/>
                </a:solidFill>
                <a:latin typeface="AAVGFJ+Calibri"/>
                <a:cs typeface="AAVGFJ+Calibri"/>
              </a:rPr>
              <a:t>data</a:t>
            </a:r>
            <a:r>
              <a:rPr sz="2400" spc="21" dirty="0">
                <a:solidFill>
                  <a:srgbClr val="000000"/>
                </a:solidFill>
                <a:latin typeface="AAVGFJ+Calibri"/>
                <a:cs typeface="AAVGFJ+Calibri"/>
              </a:rPr>
              <a:t> </a:t>
            </a:r>
            <a:r>
              <a:rPr sz="2400" dirty="0">
                <a:solidFill>
                  <a:srgbClr val="000000"/>
                </a:solidFill>
                <a:latin typeface="AAVGFJ+Calibri"/>
                <a:cs typeface="AAVGFJ+Calibri"/>
              </a:rPr>
              <a:t>type.</a:t>
            </a:r>
          </a:p>
          <a:p>
            <a:pPr marL="0" marR="0">
              <a:lnSpc>
                <a:spcPts val="2400"/>
              </a:lnSpc>
              <a:spcBef>
                <a:spcPts val="480"/>
              </a:spcBef>
              <a:spcAft>
                <a:spcPts val="0"/>
              </a:spcAft>
            </a:pPr>
            <a:r>
              <a:rPr sz="2400" spc="-17" dirty="0">
                <a:solidFill>
                  <a:srgbClr val="000000"/>
                </a:solidFill>
                <a:latin typeface="AAVGFJ+Calibri"/>
                <a:cs typeface="AAVGFJ+Calibri"/>
              </a:rPr>
              <a:t>For</a:t>
            </a:r>
            <a:r>
              <a:rPr sz="2400" spc="17" dirty="0">
                <a:solidFill>
                  <a:srgbClr val="000000"/>
                </a:solidFill>
                <a:latin typeface="AAVGFJ+Calibri"/>
                <a:cs typeface="AAVGFJ+Calibri"/>
              </a:rPr>
              <a:t> </a:t>
            </a:r>
            <a:r>
              <a:rPr sz="2400" spc="-12" dirty="0">
                <a:solidFill>
                  <a:srgbClr val="000000"/>
                </a:solidFill>
                <a:latin typeface="AAVGFJ+Calibri"/>
                <a:cs typeface="AAVGFJ+Calibri"/>
              </a:rPr>
              <a:t>example,</a:t>
            </a:r>
            <a:r>
              <a:rPr sz="2400" spc="16"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declare a 10-element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called marks</a:t>
            </a:r>
            <a:r>
              <a:rPr sz="2400" spc="11" dirty="0">
                <a:solidFill>
                  <a:srgbClr val="000000"/>
                </a:solidFill>
                <a:latin typeface="AAVGFJ+Calibri"/>
                <a:cs typeface="AAVGFJ+Calibri"/>
              </a:rPr>
              <a:t> </a:t>
            </a:r>
            <a:r>
              <a:rPr sz="2400" dirty="0">
                <a:solidFill>
                  <a:srgbClr val="000000"/>
                </a:solidFill>
                <a:latin typeface="AAVGFJ+Calibri"/>
                <a:cs typeface="AAVGFJ+Calibri"/>
              </a:rPr>
              <a:t>of type int,</a:t>
            </a:r>
            <a:r>
              <a:rPr sz="2400" spc="12" dirty="0">
                <a:solidFill>
                  <a:srgbClr val="000000"/>
                </a:solidFill>
                <a:latin typeface="AAVGFJ+Calibri"/>
                <a:cs typeface="AAVGFJ+Calibri"/>
              </a:rPr>
              <a:t> </a:t>
            </a:r>
            <a:r>
              <a:rPr sz="2400" dirty="0">
                <a:solidFill>
                  <a:srgbClr val="000000"/>
                </a:solidFill>
                <a:latin typeface="AAVGFJ+Calibri"/>
                <a:cs typeface="AAVGFJ+Calibri"/>
              </a:rPr>
              <a:t>use this </a:t>
            </a:r>
            <a:r>
              <a:rPr sz="2400" spc="-15" dirty="0">
                <a:solidFill>
                  <a:srgbClr val="000000"/>
                </a:solidFill>
                <a:latin typeface="AAVGFJ+Calibri"/>
                <a:cs typeface="AAVGFJ+Calibri"/>
              </a:rPr>
              <a:t>statement:</a:t>
            </a:r>
          </a:p>
          <a:p>
            <a:pPr marL="0" marR="0">
              <a:lnSpc>
                <a:spcPts val="2400"/>
              </a:lnSpc>
              <a:spcBef>
                <a:spcPts val="429"/>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marks[10];</a:t>
            </a:r>
          </a:p>
          <a:p>
            <a:pPr marL="0" marR="0">
              <a:lnSpc>
                <a:spcPts val="2400"/>
              </a:lnSpc>
              <a:spcBef>
                <a:spcPts val="480"/>
              </a:spcBef>
              <a:spcAft>
                <a:spcPts val="0"/>
              </a:spcAft>
            </a:pPr>
            <a:r>
              <a:rPr sz="2400" dirty="0">
                <a:solidFill>
                  <a:srgbClr val="000000"/>
                </a:solidFill>
                <a:latin typeface="AAVGFJ+Calibri"/>
                <a:cs typeface="AAVGFJ+Calibri"/>
              </a:rPr>
              <a:t>Now marks</a:t>
            </a:r>
            <a:r>
              <a:rPr sz="2400" spc="11" dirty="0">
                <a:solidFill>
                  <a:srgbClr val="000000"/>
                </a:solidFill>
                <a:latin typeface="AAVGFJ+Calibri"/>
                <a:cs typeface="AAVGFJ+Calibri"/>
              </a:rPr>
              <a:t> </a:t>
            </a:r>
            <a:r>
              <a:rPr sz="2400" dirty="0">
                <a:solidFill>
                  <a:srgbClr val="000000"/>
                </a:solidFill>
                <a:latin typeface="AAVGFJ+Calibri"/>
                <a:cs typeface="AAVGFJ+Calibri"/>
              </a:rPr>
              <a:t>is an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which is sufficient</a:t>
            </a:r>
            <a:r>
              <a:rPr sz="2400" spc="10"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hold up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10 </a:t>
            </a: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dirty="0">
                <a:solidFill>
                  <a:srgbClr val="000000"/>
                </a:solidFill>
                <a:latin typeface="AAVGFJ+Calibri"/>
                <a:cs typeface="AAVGFJ+Calibri"/>
              </a:rPr>
              <a:t>numbers.</a:t>
            </a:r>
          </a:p>
          <a:p>
            <a:pPr marL="0" marR="0">
              <a:lnSpc>
                <a:spcPts val="2400"/>
              </a:lnSpc>
              <a:spcBef>
                <a:spcPts val="479"/>
              </a:spcBef>
              <a:spcAft>
                <a:spcPts val="0"/>
              </a:spcAft>
            </a:pPr>
            <a:r>
              <a:rPr sz="2400" dirty="0">
                <a:solidFill>
                  <a:srgbClr val="000000"/>
                </a:solidFill>
                <a:latin typeface="AAVGFJ+Calibri"/>
                <a:cs typeface="AAVGFJ+Calibri"/>
              </a:rPr>
              <a:t>A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of </a:t>
            </a:r>
            <a:r>
              <a:rPr sz="2400" spc="-18" dirty="0">
                <a:solidFill>
                  <a:srgbClr val="000000"/>
                </a:solidFill>
                <a:latin typeface="AAVGFJ+Calibri"/>
                <a:cs typeface="AAVGFJ+Calibri"/>
              </a:rPr>
              <a:t>size</a:t>
            </a:r>
            <a:r>
              <a:rPr sz="2400" spc="21" dirty="0">
                <a:solidFill>
                  <a:srgbClr val="000000"/>
                </a:solidFill>
                <a:latin typeface="AAVGFJ+Calibri"/>
                <a:cs typeface="AAVGFJ+Calibri"/>
              </a:rPr>
              <a:t> </a:t>
            </a:r>
            <a:r>
              <a:rPr sz="2400" dirty="0">
                <a:solidFill>
                  <a:srgbClr val="000000"/>
                </a:solidFill>
                <a:latin typeface="AAVGFJ+Calibri"/>
                <a:cs typeface="AAVGFJ+Calibri"/>
              </a:rPr>
              <a:t>10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char arr[10];</a:t>
            </a:r>
          </a:p>
          <a:p>
            <a:pPr marL="0" marR="0">
              <a:lnSpc>
                <a:spcPts val="2400"/>
              </a:lnSpc>
              <a:spcBef>
                <a:spcPts val="479"/>
              </a:spcBef>
              <a:spcAft>
                <a:spcPts val="0"/>
              </a:spcAft>
            </a:pPr>
            <a:r>
              <a:rPr sz="2400" dirty="0">
                <a:solidFill>
                  <a:srgbClr val="000000"/>
                </a:solidFill>
                <a:latin typeface="AAVGFJ+Calibri"/>
                <a:cs typeface="AAVGFJ+Calibri"/>
              </a:rPr>
              <a:t>and a float</a:t>
            </a:r>
            <a:r>
              <a:rPr sz="2400" spc="11" dirty="0">
                <a:solidFill>
                  <a:srgbClr val="000000"/>
                </a:solidFill>
                <a:latin typeface="AAVGFJ+Calibri"/>
                <a:cs typeface="AAVGFJ+Calibri"/>
              </a:rPr>
              <a:t>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of </a:t>
            </a:r>
            <a:r>
              <a:rPr sz="2400" spc="-18" dirty="0">
                <a:solidFill>
                  <a:srgbClr val="000000"/>
                </a:solidFill>
                <a:latin typeface="AAVGFJ+Calibri"/>
                <a:cs typeface="AAVGFJ+Calibri"/>
              </a:rPr>
              <a:t>size</a:t>
            </a:r>
            <a:r>
              <a:rPr sz="2400" spc="21" dirty="0">
                <a:solidFill>
                  <a:srgbClr val="000000"/>
                </a:solidFill>
                <a:latin typeface="AAVGFJ+Calibri"/>
                <a:cs typeface="AAVGFJ+Calibri"/>
              </a:rPr>
              <a:t> </a:t>
            </a:r>
            <a:r>
              <a:rPr sz="2400" dirty="0">
                <a:solidFill>
                  <a:srgbClr val="000000"/>
                </a:solidFill>
                <a:latin typeface="AAVGFJ+Calibri"/>
                <a:cs typeface="AAVGFJ+Calibri"/>
              </a:rPr>
              <a:t>10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a:t>
            </a:r>
            <a:r>
              <a:rPr sz="2400" spc="549" dirty="0">
                <a:solidFill>
                  <a:srgbClr val="000000"/>
                </a:solidFill>
                <a:latin typeface="AAVGFJ+Calibri"/>
                <a:cs typeface="AAVGFJ+Calibri"/>
              </a:rPr>
              <a:t> </a:t>
            </a:r>
            <a:r>
              <a:rPr sz="2400" dirty="0">
                <a:solidFill>
                  <a:srgbClr val="000000"/>
                </a:solidFill>
                <a:latin typeface="AAVGFJ+Calibri"/>
                <a:cs typeface="AAVGFJ+Calibri"/>
              </a:rPr>
              <a:t>float</a:t>
            </a:r>
            <a:r>
              <a:rPr sz="2400" spc="11" dirty="0">
                <a:solidFill>
                  <a:srgbClr val="000000"/>
                </a:solidFill>
                <a:latin typeface="AAVGFJ+Calibri"/>
                <a:cs typeface="AAVGFJ+Calibri"/>
              </a:rPr>
              <a:t> </a:t>
            </a:r>
            <a:r>
              <a:rPr sz="2400" dirty="0">
                <a:solidFill>
                  <a:srgbClr val="000000"/>
                </a:solidFill>
                <a:latin typeface="AAVGFJ+Calibri"/>
                <a:cs typeface="AAVGFJ+Calibri"/>
              </a:rPr>
              <a:t>farr[10];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498316"/>
            <a:ext cx="4920464"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spc="-42" dirty="0">
                <a:solidFill>
                  <a:srgbClr val="0070C0"/>
                </a:solidFill>
                <a:latin typeface="HWPIMB+Calibri-Light"/>
                <a:cs typeface="HWPIMB+Calibri-Light"/>
              </a:rPr>
              <a:t>Types</a:t>
            </a:r>
            <a:r>
              <a:rPr sz="4000" spc="41" dirty="0">
                <a:solidFill>
                  <a:srgbClr val="0070C0"/>
                </a:solidFill>
                <a:latin typeface="HWPIMB+Calibri-Light"/>
                <a:cs typeface="HWPIMB+Calibri-Light"/>
              </a:rPr>
              <a:t> </a:t>
            </a:r>
            <a:r>
              <a:rPr sz="4000" dirty="0">
                <a:solidFill>
                  <a:srgbClr val="0070C0"/>
                </a:solidFill>
                <a:latin typeface="HWPIMB+Calibri-Light"/>
                <a:cs typeface="HWPIMB+Calibri-Light"/>
              </a:rPr>
              <a:t>of </a:t>
            </a:r>
            <a:r>
              <a:rPr sz="4000" spc="-39" dirty="0">
                <a:solidFill>
                  <a:srgbClr val="0070C0"/>
                </a:solidFill>
                <a:latin typeface="HWPIMB+Calibri-Light"/>
                <a:cs typeface="HWPIMB+Calibri-Light"/>
              </a:rPr>
              <a:t>Array</a:t>
            </a:r>
            <a:r>
              <a:rPr sz="4000" spc="41" dirty="0">
                <a:solidFill>
                  <a:srgbClr val="0070C0"/>
                </a:solidFill>
                <a:latin typeface="HWPIMB+Calibri-Light"/>
                <a:cs typeface="HWPIMB+Calibri-Light"/>
              </a:rPr>
              <a:t> </a:t>
            </a:r>
            <a:r>
              <a:rPr sz="4000" spc="-11" dirty="0">
                <a:solidFill>
                  <a:srgbClr val="0070C0"/>
                </a:solidFill>
                <a:latin typeface="HWPIMB+Calibri-Light"/>
                <a:cs typeface="HWPIMB+Calibri-Light"/>
              </a:rPr>
              <a:t>(Contd..)</a:t>
            </a:r>
          </a:p>
        </p:txBody>
      </p:sp>
      <p:sp>
        <p:nvSpPr>
          <p:cNvPr id="4" name="object 4"/>
          <p:cNvSpPr txBox="1"/>
          <p:nvPr/>
        </p:nvSpPr>
        <p:spPr>
          <a:xfrm>
            <a:off x="364490" y="1357845"/>
            <a:ext cx="374070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4" dirty="0">
                <a:solidFill>
                  <a:srgbClr val="FF0000"/>
                </a:solidFill>
                <a:latin typeface="OJWNPN+Calibri-Bold"/>
                <a:cs typeface="OJWNPN+Calibri-Bold"/>
              </a:rPr>
              <a:t>TWO</a:t>
            </a:r>
            <a:r>
              <a:rPr sz="2400" spc="33" dirty="0">
                <a:solidFill>
                  <a:srgbClr val="FF0000"/>
                </a:solidFill>
                <a:latin typeface="OJWNPN+Calibri-Bold"/>
                <a:cs typeface="OJWNPN+Calibri-Bold"/>
              </a:rPr>
              <a:t> </a:t>
            </a:r>
            <a:r>
              <a:rPr sz="2400" dirty="0">
                <a:solidFill>
                  <a:srgbClr val="FF0000"/>
                </a:solidFill>
                <a:latin typeface="OJWNPN+Calibri-Bold"/>
                <a:cs typeface="OJWNPN+Calibri-Bold"/>
              </a:rPr>
              <a:t>DIMENSIONAL</a:t>
            </a:r>
            <a:r>
              <a:rPr sz="2400" spc="16" dirty="0">
                <a:solidFill>
                  <a:srgbClr val="FF0000"/>
                </a:solidFill>
                <a:latin typeface="OJWNPN+Calibri-Bold"/>
                <a:cs typeface="OJWNPN+Calibri-Bold"/>
              </a:rPr>
              <a:t> </a:t>
            </a:r>
            <a:r>
              <a:rPr sz="2400" spc="-40" dirty="0">
                <a:solidFill>
                  <a:srgbClr val="FF0000"/>
                </a:solidFill>
                <a:latin typeface="OJWNPN+Calibri-Bold"/>
                <a:cs typeface="OJWNPN+Calibri-Bold"/>
              </a:rPr>
              <a:t>ARRAYS</a:t>
            </a:r>
          </a:p>
        </p:txBody>
      </p:sp>
      <p:sp>
        <p:nvSpPr>
          <p:cNvPr id="5" name="object 5"/>
          <p:cNvSpPr txBox="1"/>
          <p:nvPr/>
        </p:nvSpPr>
        <p:spPr>
          <a:xfrm>
            <a:off x="364490" y="2089365"/>
            <a:ext cx="11886050" cy="290322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A two-dimensional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is a collection of elements, all of the same type, structured in </a:t>
            </a:r>
            <a:r>
              <a:rPr sz="2400" spc="-12" dirty="0">
                <a:solidFill>
                  <a:srgbClr val="000000"/>
                </a:solidFill>
                <a:latin typeface="AAVGFJ+Calibri"/>
                <a:cs typeface="AAVGFJ+Calibri"/>
              </a:rPr>
              <a:t>two</a:t>
            </a:r>
          </a:p>
          <a:p>
            <a:pPr marL="0" marR="0">
              <a:lnSpc>
                <a:spcPts val="2400"/>
              </a:lnSpc>
              <a:spcBef>
                <a:spcPts val="480"/>
              </a:spcBef>
              <a:spcAft>
                <a:spcPts val="0"/>
              </a:spcAft>
            </a:pPr>
            <a:r>
              <a:rPr sz="2400" dirty="0">
                <a:solidFill>
                  <a:srgbClr val="000000"/>
                </a:solidFill>
                <a:latin typeface="AAVGFJ+Calibri"/>
                <a:cs typeface="AAVGFJ+Calibri"/>
              </a:rPr>
              <a:t>dimensions. </a:t>
            </a:r>
            <a:r>
              <a:rPr sz="2400" spc="-14" dirty="0">
                <a:solidFill>
                  <a:srgbClr val="000000"/>
                </a:solidFill>
                <a:latin typeface="AAVGFJ+Calibri"/>
                <a:cs typeface="AAVGFJ+Calibri"/>
              </a:rPr>
              <a:t>Each</a:t>
            </a:r>
            <a:r>
              <a:rPr sz="2400" spc="15" dirty="0">
                <a:solidFill>
                  <a:srgbClr val="000000"/>
                </a:solidFill>
                <a:latin typeface="AAVGFJ+Calibri"/>
                <a:cs typeface="AAVGFJ+Calibri"/>
              </a:rPr>
              <a:t> </a:t>
            </a:r>
            <a:r>
              <a:rPr sz="2400" dirty="0">
                <a:solidFill>
                  <a:srgbClr val="000000"/>
                </a:solidFill>
                <a:latin typeface="AAVGFJ+Calibri"/>
                <a:cs typeface="AAVGFJ+Calibri"/>
              </a:rPr>
              <a:t>element is accessed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a pair of indices that</a:t>
            </a:r>
            <a:r>
              <a:rPr sz="2400" spc="12" dirty="0">
                <a:solidFill>
                  <a:srgbClr val="000000"/>
                </a:solidFill>
                <a:latin typeface="AAVGFJ+Calibri"/>
                <a:cs typeface="AAVGFJ+Calibri"/>
              </a:rPr>
              <a:t> </a:t>
            </a:r>
            <a:r>
              <a:rPr sz="2400" spc="-12" dirty="0">
                <a:solidFill>
                  <a:srgbClr val="000000"/>
                </a:solidFill>
                <a:latin typeface="AAVGFJ+Calibri"/>
                <a:cs typeface="AAVGFJ+Calibri"/>
              </a:rPr>
              <a:t>represent</a:t>
            </a:r>
            <a:r>
              <a:rPr sz="2400" spc="16" dirty="0">
                <a:solidFill>
                  <a:srgbClr val="000000"/>
                </a:solidFill>
                <a:latin typeface="AAVGFJ+Calibri"/>
                <a:cs typeface="AAVGFJ+Calibri"/>
              </a:rPr>
              <a:t> </a:t>
            </a:r>
            <a:r>
              <a:rPr sz="2400" dirty="0">
                <a:solidFill>
                  <a:srgbClr val="000000"/>
                </a:solidFill>
                <a:latin typeface="AAVGFJ+Calibri"/>
                <a:cs typeface="AAVGFJ+Calibri"/>
              </a:rPr>
              <a:t>the element's position</a:t>
            </a:r>
          </a:p>
          <a:p>
            <a:pPr marL="0" marR="0">
              <a:lnSpc>
                <a:spcPts val="2400"/>
              </a:lnSpc>
              <a:spcBef>
                <a:spcPts val="479"/>
              </a:spcBef>
              <a:spcAft>
                <a:spcPts val="0"/>
              </a:spcAft>
            </a:pPr>
            <a:r>
              <a:rPr sz="2400" dirty="0">
                <a:solidFill>
                  <a:srgbClr val="000000"/>
                </a:solidFill>
                <a:latin typeface="AAVGFJ+Calibri"/>
                <a:cs typeface="AAVGFJ+Calibri"/>
              </a:rPr>
              <a:t>in each dimension.</a:t>
            </a:r>
          </a:p>
          <a:p>
            <a:pPr marL="0" marR="0">
              <a:lnSpc>
                <a:spcPts val="2400"/>
              </a:lnSpc>
              <a:spcBef>
                <a:spcPts val="429"/>
              </a:spcBef>
              <a:spcAft>
                <a:spcPts val="0"/>
              </a:spcAft>
            </a:pPr>
            <a:r>
              <a:rPr sz="2400" dirty="0">
                <a:solidFill>
                  <a:srgbClr val="FF0000"/>
                </a:solidFill>
                <a:latin typeface="OJWNPN+Calibri-Bold"/>
                <a:cs typeface="OJWNPN+Calibri-Bold"/>
              </a:rPr>
              <a:t>Declaration</a:t>
            </a:r>
            <a:r>
              <a:rPr sz="2400" spc="26" dirty="0">
                <a:solidFill>
                  <a:srgbClr val="FF0000"/>
                </a:solidFill>
                <a:latin typeface="OJWNPN+Calibri-Bold"/>
                <a:cs typeface="OJWNPN+Calibri-Bold"/>
              </a:rPr>
              <a:t> </a:t>
            </a:r>
            <a:r>
              <a:rPr sz="2400" spc="-18" dirty="0">
                <a:solidFill>
                  <a:srgbClr val="FF0000"/>
                </a:solidFill>
                <a:latin typeface="OJWNPN+Calibri-Bold"/>
                <a:cs typeface="OJWNPN+Calibri-Bold"/>
              </a:rPr>
              <a:t>Syntax:</a:t>
            </a:r>
          </a:p>
          <a:p>
            <a:pPr marL="0" marR="0">
              <a:lnSpc>
                <a:spcPts val="2400"/>
              </a:lnSpc>
              <a:spcBef>
                <a:spcPts val="480"/>
              </a:spcBef>
              <a:spcAft>
                <a:spcPts val="0"/>
              </a:spcAft>
            </a:pPr>
            <a:r>
              <a:rPr sz="2400" spc="-11" dirty="0">
                <a:solidFill>
                  <a:srgbClr val="000000"/>
                </a:solidFill>
                <a:latin typeface="OJWNPN+Calibri-Bold"/>
                <a:cs typeface="OJWNPN+Calibri-Bold"/>
              </a:rPr>
              <a:t>datatype</a:t>
            </a:r>
            <a:r>
              <a:rPr sz="2400" spc="29" dirty="0">
                <a:solidFill>
                  <a:srgbClr val="000000"/>
                </a:solidFill>
                <a:latin typeface="OJWNPN+Calibri-Bold"/>
                <a:cs typeface="OJWNPN+Calibri-Bold"/>
              </a:rPr>
              <a:t> </a:t>
            </a:r>
            <a:r>
              <a:rPr sz="2400" dirty="0">
                <a:solidFill>
                  <a:srgbClr val="000000"/>
                </a:solidFill>
                <a:latin typeface="OJWNPN+Calibri-Bold"/>
                <a:cs typeface="OJWNPN+Calibri-Bold"/>
              </a:rPr>
              <a:t>array-name[row-size][column-size]</a:t>
            </a:r>
          </a:p>
          <a:p>
            <a:pPr marL="0" marR="0">
              <a:lnSpc>
                <a:spcPts val="2400"/>
              </a:lnSpc>
              <a:spcBef>
                <a:spcPts val="479"/>
              </a:spcBef>
              <a:spcAft>
                <a:spcPts val="0"/>
              </a:spcAft>
            </a:pPr>
            <a:r>
              <a:rPr sz="2400" dirty="0">
                <a:solidFill>
                  <a:srgbClr val="000000"/>
                </a:solidFill>
                <a:latin typeface="AAVGFJ+Calibri"/>
                <a:cs typeface="AAVGFJ+Calibri"/>
              </a:rPr>
              <a:t>Where</a:t>
            </a:r>
            <a:r>
              <a:rPr sz="2400" spc="13" dirty="0">
                <a:solidFill>
                  <a:srgbClr val="000000"/>
                </a:solidFill>
                <a:latin typeface="AAVGFJ+Calibri"/>
                <a:cs typeface="AAVGFJ+Calibri"/>
              </a:rPr>
              <a:t> </a:t>
            </a:r>
            <a:r>
              <a:rPr sz="2400" spc="-11" dirty="0">
                <a:solidFill>
                  <a:srgbClr val="000000"/>
                </a:solidFill>
                <a:latin typeface="AAVGFJ+Calibri"/>
                <a:cs typeface="AAVGFJ+Calibri"/>
              </a:rPr>
              <a:t>datatype</a:t>
            </a:r>
            <a:r>
              <a:rPr sz="2400" spc="15" dirty="0">
                <a:solidFill>
                  <a:srgbClr val="000000"/>
                </a:solidFill>
                <a:latin typeface="AAVGFJ+Calibri"/>
                <a:cs typeface="AAVGFJ+Calibri"/>
              </a:rPr>
              <a:t>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a:t>
            </a:r>
            <a:r>
              <a:rPr sz="2400" spc="-23" dirty="0">
                <a:solidFill>
                  <a:srgbClr val="000000"/>
                </a:solidFill>
                <a:latin typeface="AAVGFJ+Calibri"/>
                <a:cs typeface="AAVGFJ+Calibri"/>
              </a:rPr>
              <a:t>any</a:t>
            </a:r>
            <a:r>
              <a:rPr sz="2400" spc="24" dirty="0">
                <a:solidFill>
                  <a:srgbClr val="000000"/>
                </a:solidFill>
                <a:latin typeface="AAVGFJ+Calibri"/>
                <a:cs typeface="AAVGFJ+Calibri"/>
              </a:rPr>
              <a:t> </a:t>
            </a:r>
            <a:r>
              <a:rPr sz="2400" spc="-10" dirty="0">
                <a:solidFill>
                  <a:srgbClr val="000000"/>
                </a:solidFill>
                <a:latin typeface="AAVGFJ+Calibri"/>
                <a:cs typeface="AAVGFJ+Calibri"/>
              </a:rPr>
              <a:t>valid</a:t>
            </a:r>
            <a:r>
              <a:rPr sz="2400" spc="12" dirty="0">
                <a:solidFill>
                  <a:srgbClr val="000000"/>
                </a:solidFill>
                <a:latin typeface="AAVGFJ+Calibri"/>
                <a:cs typeface="AAVGFJ+Calibri"/>
              </a:rPr>
              <a:t> </a:t>
            </a:r>
            <a:r>
              <a:rPr sz="2400" dirty="0">
                <a:solidFill>
                  <a:srgbClr val="000000"/>
                </a:solidFill>
                <a:latin typeface="AAVGFJ+Calibri"/>
                <a:cs typeface="AAVGFJ+Calibri"/>
              </a:rPr>
              <a:t>C </a:t>
            </a:r>
            <a:r>
              <a:rPr sz="2400" spc="-18" dirty="0">
                <a:solidFill>
                  <a:srgbClr val="000000"/>
                </a:solidFill>
                <a:latin typeface="AAVGFJ+Calibri"/>
                <a:cs typeface="AAVGFJ+Calibri"/>
              </a:rPr>
              <a:t>data</a:t>
            </a:r>
            <a:r>
              <a:rPr sz="2400" spc="21" dirty="0">
                <a:solidFill>
                  <a:srgbClr val="000000"/>
                </a:solidFill>
                <a:latin typeface="AAVGFJ+Calibri"/>
                <a:cs typeface="AAVGFJ+Calibri"/>
              </a:rPr>
              <a:t> </a:t>
            </a:r>
            <a:r>
              <a:rPr sz="2400" dirty="0">
                <a:solidFill>
                  <a:srgbClr val="000000"/>
                </a:solidFill>
                <a:latin typeface="AAVGFJ+Calibri"/>
                <a:cs typeface="AAVGFJ+Calibri"/>
              </a:rPr>
              <a:t>type and </a:t>
            </a:r>
            <a:r>
              <a:rPr sz="2400" spc="-11" dirty="0">
                <a:solidFill>
                  <a:srgbClr val="000000"/>
                </a:solidFill>
                <a:latin typeface="AAVGFJ+Calibri"/>
                <a:cs typeface="AAVGFJ+Calibri"/>
              </a:rPr>
              <a:t>array-name</a:t>
            </a:r>
            <a:r>
              <a:rPr sz="2400" spc="15" dirty="0">
                <a:solidFill>
                  <a:srgbClr val="000000"/>
                </a:solidFill>
                <a:latin typeface="AAVGFJ+Calibri"/>
                <a:cs typeface="AAVGFJ+Calibri"/>
              </a:rPr>
              <a:t> </a:t>
            </a:r>
            <a:r>
              <a:rPr sz="2400" dirty="0">
                <a:solidFill>
                  <a:srgbClr val="000000"/>
                </a:solidFill>
                <a:latin typeface="AAVGFJ+Calibri"/>
                <a:cs typeface="AAVGFJ+Calibri"/>
              </a:rPr>
              <a:t>will be a </a:t>
            </a:r>
            <a:r>
              <a:rPr sz="2400" spc="-10" dirty="0">
                <a:solidFill>
                  <a:srgbClr val="000000"/>
                </a:solidFill>
                <a:latin typeface="AAVGFJ+Calibri"/>
                <a:cs typeface="AAVGFJ+Calibri"/>
              </a:rPr>
              <a:t>valid</a:t>
            </a:r>
            <a:r>
              <a:rPr sz="2400" spc="12" dirty="0">
                <a:solidFill>
                  <a:srgbClr val="000000"/>
                </a:solidFill>
                <a:latin typeface="AAVGFJ+Calibri"/>
                <a:cs typeface="AAVGFJ+Calibri"/>
              </a:rPr>
              <a:t> </a:t>
            </a:r>
            <a:r>
              <a:rPr sz="2400" dirty="0">
                <a:solidFill>
                  <a:srgbClr val="000000"/>
                </a:solidFill>
                <a:latin typeface="AAVGFJ+Calibri"/>
                <a:cs typeface="AAVGFJ+Calibri"/>
              </a:rPr>
              <a:t>C </a:t>
            </a:r>
            <a:r>
              <a:rPr sz="2400" spc="-25" dirty="0">
                <a:solidFill>
                  <a:srgbClr val="000000"/>
                </a:solidFill>
                <a:latin typeface="AAVGFJ+Calibri"/>
                <a:cs typeface="AAVGFJ+Calibri"/>
              </a:rPr>
              <a:t>identifier.</a:t>
            </a:r>
            <a:r>
              <a:rPr sz="2400" spc="27" dirty="0">
                <a:solidFill>
                  <a:srgbClr val="000000"/>
                </a:solidFill>
                <a:latin typeface="AAVGFJ+Calibri"/>
                <a:cs typeface="AAVGFJ+Calibri"/>
              </a:rPr>
              <a:t> </a:t>
            </a:r>
            <a:r>
              <a:rPr sz="2400" dirty="0">
                <a:solidFill>
                  <a:srgbClr val="000000"/>
                </a:solidFill>
                <a:latin typeface="AAVGFJ+Calibri"/>
                <a:cs typeface="AAVGFJ+Calibri"/>
              </a:rPr>
              <a:t>A </a:t>
            </a:r>
            <a:r>
              <a:rPr sz="2400" spc="-12" dirty="0">
                <a:solidFill>
                  <a:srgbClr val="000000"/>
                </a:solidFill>
                <a:latin typeface="AAVGFJ+Calibri"/>
                <a:cs typeface="AAVGFJ+Calibri"/>
              </a:rPr>
              <a:t>two</a:t>
            </a:r>
          </a:p>
          <a:p>
            <a:pPr marL="0" marR="0">
              <a:lnSpc>
                <a:spcPts val="2400"/>
              </a:lnSpc>
              <a:spcBef>
                <a:spcPts val="479"/>
              </a:spcBef>
              <a:spcAft>
                <a:spcPts val="0"/>
              </a:spcAft>
            </a:pPr>
            <a:r>
              <a:rPr sz="2400" dirty="0">
                <a:solidFill>
                  <a:srgbClr val="000000"/>
                </a:solidFill>
                <a:latin typeface="AAVGFJ+Calibri"/>
                <a:cs typeface="AAVGFJ+Calibri"/>
              </a:rPr>
              <a:t>dimensional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thought as a table</a:t>
            </a:r>
            <a:r>
              <a:rPr sz="2400" spc="11" dirty="0">
                <a:solidFill>
                  <a:srgbClr val="000000"/>
                </a:solidFill>
                <a:latin typeface="AAVGFJ+Calibri"/>
                <a:cs typeface="AAVGFJ+Calibri"/>
              </a:rPr>
              <a:t> </a:t>
            </a:r>
            <a:r>
              <a:rPr sz="2400" dirty="0">
                <a:solidFill>
                  <a:srgbClr val="000000"/>
                </a:solidFill>
                <a:latin typeface="AAVGFJ+Calibri"/>
                <a:cs typeface="AAVGFJ+Calibri"/>
              </a:rPr>
              <a:t>which will </a:t>
            </a:r>
            <a:r>
              <a:rPr sz="2400" spc="-22" dirty="0">
                <a:solidFill>
                  <a:srgbClr val="000000"/>
                </a:solidFill>
                <a:latin typeface="AAVGFJ+Calibri"/>
                <a:cs typeface="AAVGFJ+Calibri"/>
              </a:rPr>
              <a:t>have</a:t>
            </a:r>
            <a:r>
              <a:rPr sz="2400" spc="25" dirty="0">
                <a:solidFill>
                  <a:srgbClr val="000000"/>
                </a:solidFill>
                <a:latin typeface="AAVGFJ+Calibri"/>
                <a:cs typeface="AAVGFJ+Calibri"/>
              </a:rPr>
              <a:t> </a:t>
            </a:r>
            <a:r>
              <a:rPr sz="2400" dirty="0">
                <a:solidFill>
                  <a:srgbClr val="000000"/>
                </a:solidFill>
                <a:latin typeface="AAVGFJ+Calibri"/>
                <a:cs typeface="AAVGFJ+Calibri"/>
              </a:rPr>
              <a:t>x number of </a:t>
            </a:r>
            <a:r>
              <a:rPr sz="2400" spc="-26" dirty="0">
                <a:solidFill>
                  <a:srgbClr val="000000"/>
                </a:solidFill>
                <a:latin typeface="AAVGFJ+Calibri"/>
                <a:cs typeface="AAVGFJ+Calibri"/>
              </a:rPr>
              <a:t>rows</a:t>
            </a:r>
            <a:r>
              <a:rPr sz="2400" spc="30" dirty="0">
                <a:solidFill>
                  <a:srgbClr val="000000"/>
                </a:solidFill>
                <a:latin typeface="AAVGFJ+Calibri"/>
                <a:cs typeface="AAVGFJ+Calibri"/>
              </a:rPr>
              <a:t> </a:t>
            </a:r>
            <a:r>
              <a:rPr sz="2400" dirty="0">
                <a:solidFill>
                  <a:srgbClr val="000000"/>
                </a:solidFill>
                <a:latin typeface="AAVGFJ+Calibri"/>
                <a:cs typeface="AAVGFJ+Calibri"/>
              </a:rPr>
              <a:t>and y number of</a:t>
            </a:r>
          </a:p>
          <a:p>
            <a:pPr marL="0" marR="0">
              <a:lnSpc>
                <a:spcPts val="2400"/>
              </a:lnSpc>
              <a:spcBef>
                <a:spcPts val="480"/>
              </a:spcBef>
              <a:spcAft>
                <a:spcPts val="0"/>
              </a:spcAft>
            </a:pPr>
            <a:r>
              <a:rPr sz="2400" dirty="0">
                <a:solidFill>
                  <a:srgbClr val="000000"/>
                </a:solidFill>
                <a:latin typeface="AAVGFJ+Calibri"/>
                <a:cs typeface="AAVGFJ+Calibri"/>
              </a:rPr>
              <a:t>columns.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89463"/>
            <a:ext cx="7191897" cy="513715"/>
          </a:xfrm>
          <a:prstGeom prst="rect">
            <a:avLst/>
          </a:prstGeom>
        </p:spPr>
        <p:txBody>
          <a:bodyPr vert="horz" wrap="square" lIns="0" tIns="0" rIns="0" bIns="0" rtlCol="0">
            <a:spAutoFit/>
          </a:bodyPr>
          <a:lstStyle/>
          <a:p>
            <a:pPr marL="0" marR="0">
              <a:lnSpc>
                <a:spcPts val="3745"/>
              </a:lnSpc>
              <a:spcBef>
                <a:spcPts val="0"/>
              </a:spcBef>
              <a:spcAft>
                <a:spcPts val="0"/>
              </a:spcAft>
            </a:pPr>
            <a:r>
              <a:rPr sz="3750" spc="-20" dirty="0">
                <a:solidFill>
                  <a:srgbClr val="FF0000"/>
                </a:solidFill>
                <a:latin typeface="HWPIMB+Calibri-Light"/>
                <a:cs typeface="HWPIMB+Calibri-Light"/>
              </a:rPr>
              <a:t>TWO</a:t>
            </a:r>
            <a:r>
              <a:rPr sz="3750" spc="19" dirty="0">
                <a:solidFill>
                  <a:srgbClr val="FF0000"/>
                </a:solidFill>
                <a:latin typeface="HWPIMB+Calibri-Light"/>
                <a:cs typeface="HWPIMB+Calibri-Light"/>
              </a:rPr>
              <a:t> </a:t>
            </a:r>
            <a:r>
              <a:rPr sz="3750" dirty="0">
                <a:solidFill>
                  <a:srgbClr val="FF0000"/>
                </a:solidFill>
                <a:latin typeface="HWPIMB+Calibri-Light"/>
                <a:cs typeface="HWPIMB+Calibri-Light"/>
              </a:rPr>
              <a:t>DIMENSIONAL </a:t>
            </a:r>
            <a:r>
              <a:rPr sz="3750" spc="-24" dirty="0">
                <a:solidFill>
                  <a:srgbClr val="FF0000"/>
                </a:solidFill>
                <a:latin typeface="HWPIMB+Calibri-Light"/>
                <a:cs typeface="HWPIMB+Calibri-Light"/>
              </a:rPr>
              <a:t>ARRAYS(Contd..)</a:t>
            </a:r>
          </a:p>
        </p:txBody>
      </p:sp>
      <p:sp>
        <p:nvSpPr>
          <p:cNvPr id="4" name="object 4"/>
          <p:cNvSpPr txBox="1"/>
          <p:nvPr/>
        </p:nvSpPr>
        <p:spPr>
          <a:xfrm>
            <a:off x="893660" y="3887254"/>
            <a:ext cx="10151231" cy="107442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Element in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a is identified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an element name of the </a:t>
            </a:r>
            <a:r>
              <a:rPr sz="2400" spc="-20" dirty="0">
                <a:solidFill>
                  <a:srgbClr val="000000"/>
                </a:solidFill>
                <a:latin typeface="AAVGFJ+Calibri"/>
                <a:cs typeface="AAVGFJ+Calibri"/>
              </a:rPr>
              <a:t>form</a:t>
            </a:r>
            <a:r>
              <a:rPr sz="2400" spc="20" dirty="0">
                <a:solidFill>
                  <a:srgbClr val="000000"/>
                </a:solidFill>
                <a:latin typeface="AAVGFJ+Calibri"/>
                <a:cs typeface="AAVGFJ+Calibri"/>
              </a:rPr>
              <a:t> </a:t>
            </a:r>
            <a:r>
              <a:rPr sz="2400" dirty="0">
                <a:solidFill>
                  <a:srgbClr val="000000"/>
                </a:solidFill>
                <a:latin typeface="AAVGFJ+Calibri"/>
                <a:cs typeface="AAVGFJ+Calibri"/>
              </a:rPr>
              <a:t>a[ i ][ j ], where</a:t>
            </a:r>
            <a:r>
              <a:rPr sz="2400" spc="13" dirty="0">
                <a:solidFill>
                  <a:srgbClr val="000000"/>
                </a:solidFill>
                <a:latin typeface="AAVGFJ+Calibri"/>
                <a:cs typeface="AAVGFJ+Calibri"/>
              </a:rPr>
              <a:t> </a:t>
            </a:r>
            <a:r>
              <a:rPr sz="2400" dirty="0">
                <a:solidFill>
                  <a:srgbClr val="000000"/>
                </a:solidFill>
                <a:latin typeface="AAVGFJ+Calibri"/>
                <a:cs typeface="AAVGFJ+Calibri"/>
              </a:rPr>
              <a:t>a</a:t>
            </a:r>
          </a:p>
          <a:p>
            <a:pPr marL="0" marR="0">
              <a:lnSpc>
                <a:spcPts val="2400"/>
              </a:lnSpc>
              <a:spcBef>
                <a:spcPts val="479"/>
              </a:spcBef>
              <a:spcAft>
                <a:spcPts val="0"/>
              </a:spcAft>
            </a:pPr>
            <a:r>
              <a:rPr sz="2400" dirty="0">
                <a:solidFill>
                  <a:srgbClr val="000000"/>
                </a:solidFill>
                <a:latin typeface="AAVGFJ+Calibri"/>
                <a:cs typeface="AAVGFJ+Calibri"/>
              </a:rPr>
              <a:t>is the name of the </a:t>
            </a:r>
            <a:r>
              <a:rPr sz="2400" spc="-46" dirty="0">
                <a:solidFill>
                  <a:srgbClr val="000000"/>
                </a:solidFill>
                <a:latin typeface="AAVGFJ+Calibri"/>
                <a:cs typeface="AAVGFJ+Calibri"/>
              </a:rPr>
              <a:t>array,</a:t>
            </a:r>
            <a:r>
              <a:rPr sz="2400" spc="49" dirty="0">
                <a:solidFill>
                  <a:srgbClr val="000000"/>
                </a:solidFill>
                <a:latin typeface="AAVGFJ+Calibri"/>
                <a:cs typeface="AAVGFJ+Calibri"/>
              </a:rPr>
              <a:t> </a:t>
            </a:r>
            <a:r>
              <a:rPr sz="2400" dirty="0">
                <a:solidFill>
                  <a:srgbClr val="000000"/>
                </a:solidFill>
                <a:latin typeface="AAVGFJ+Calibri"/>
                <a:cs typeface="AAVGFJ+Calibri"/>
              </a:rPr>
              <a:t>and i and j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dirty="0">
                <a:solidFill>
                  <a:srgbClr val="000000"/>
                </a:solidFill>
                <a:latin typeface="AAVGFJ+Calibri"/>
                <a:cs typeface="AAVGFJ+Calibri"/>
              </a:rPr>
              <a:t>the subscripts that</a:t>
            </a:r>
            <a:r>
              <a:rPr sz="2400" spc="12" dirty="0">
                <a:solidFill>
                  <a:srgbClr val="000000"/>
                </a:solidFill>
                <a:latin typeface="AAVGFJ+Calibri"/>
                <a:cs typeface="AAVGFJ+Calibri"/>
              </a:rPr>
              <a:t> </a:t>
            </a:r>
            <a:r>
              <a:rPr sz="2400" dirty="0">
                <a:solidFill>
                  <a:srgbClr val="000000"/>
                </a:solidFill>
                <a:latin typeface="AAVGFJ+Calibri"/>
                <a:cs typeface="AAVGFJ+Calibri"/>
              </a:rPr>
              <a:t>uniquely identify each</a:t>
            </a:r>
          </a:p>
          <a:p>
            <a:pPr marL="0" marR="0">
              <a:lnSpc>
                <a:spcPts val="2400"/>
              </a:lnSpc>
              <a:spcBef>
                <a:spcPts val="480"/>
              </a:spcBef>
              <a:spcAft>
                <a:spcPts val="0"/>
              </a:spcAft>
            </a:pPr>
            <a:r>
              <a:rPr sz="2400" dirty="0">
                <a:solidFill>
                  <a:srgbClr val="000000"/>
                </a:solidFill>
                <a:latin typeface="AAVGFJ+Calibri"/>
                <a:cs typeface="AAVGFJ+Calibri"/>
              </a:rPr>
              <a:t>element in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532923"/>
            <a:ext cx="7191897" cy="513715"/>
          </a:xfrm>
          <a:prstGeom prst="rect">
            <a:avLst/>
          </a:prstGeom>
        </p:spPr>
        <p:txBody>
          <a:bodyPr vert="horz" wrap="square" lIns="0" tIns="0" rIns="0" bIns="0" rtlCol="0">
            <a:spAutoFit/>
          </a:bodyPr>
          <a:lstStyle/>
          <a:p>
            <a:pPr marL="0" marR="0">
              <a:lnSpc>
                <a:spcPts val="3745"/>
              </a:lnSpc>
              <a:spcBef>
                <a:spcPts val="0"/>
              </a:spcBef>
              <a:spcAft>
                <a:spcPts val="0"/>
              </a:spcAft>
            </a:pPr>
            <a:r>
              <a:rPr sz="3750" spc="-20" dirty="0">
                <a:solidFill>
                  <a:srgbClr val="FF0000"/>
                </a:solidFill>
                <a:latin typeface="HWPIMB+Calibri-Light"/>
                <a:cs typeface="HWPIMB+Calibri-Light"/>
              </a:rPr>
              <a:t>TWO</a:t>
            </a:r>
            <a:r>
              <a:rPr sz="3750" spc="19" dirty="0">
                <a:solidFill>
                  <a:srgbClr val="FF0000"/>
                </a:solidFill>
                <a:latin typeface="HWPIMB+Calibri-Light"/>
                <a:cs typeface="HWPIMB+Calibri-Light"/>
              </a:rPr>
              <a:t> </a:t>
            </a:r>
            <a:r>
              <a:rPr sz="3750" dirty="0">
                <a:solidFill>
                  <a:srgbClr val="FF0000"/>
                </a:solidFill>
                <a:latin typeface="HWPIMB+Calibri-Light"/>
                <a:cs typeface="HWPIMB+Calibri-Light"/>
              </a:rPr>
              <a:t>DIMENSIONAL </a:t>
            </a:r>
            <a:r>
              <a:rPr sz="3750" spc="-24" dirty="0">
                <a:solidFill>
                  <a:srgbClr val="FF0000"/>
                </a:solidFill>
                <a:latin typeface="HWPIMB+Calibri-Light"/>
                <a:cs typeface="HWPIMB+Calibri-Light"/>
              </a:rPr>
              <a:t>ARRAYS(Contd..)</a:t>
            </a:r>
          </a:p>
        </p:txBody>
      </p:sp>
      <p:sp>
        <p:nvSpPr>
          <p:cNvPr id="4" name="object 4"/>
          <p:cNvSpPr txBox="1"/>
          <p:nvPr/>
        </p:nvSpPr>
        <p:spPr>
          <a:xfrm>
            <a:off x="404710" y="1643595"/>
            <a:ext cx="4688471" cy="70865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OJWNPN+Calibri-Bold"/>
                <a:cs typeface="OJWNPN+Calibri-Bold"/>
              </a:rPr>
              <a:t>Initializing</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Two-Dimensional</a:t>
            </a:r>
            <a:r>
              <a:rPr sz="2400" spc="23" dirty="0">
                <a:solidFill>
                  <a:srgbClr val="FF0000"/>
                </a:solidFill>
                <a:latin typeface="OJWNPN+Calibri-Bold"/>
                <a:cs typeface="OJWNPN+Calibri-Bold"/>
              </a:rPr>
              <a:t> </a:t>
            </a:r>
            <a:r>
              <a:rPr sz="2400" spc="-20" dirty="0">
                <a:solidFill>
                  <a:srgbClr val="FF0000"/>
                </a:solidFill>
                <a:latin typeface="OJWNPN+Calibri-Bold"/>
                <a:cs typeface="OJWNPN+Calibri-Bold"/>
              </a:rPr>
              <a:t>Arrays:</a:t>
            </a:r>
          </a:p>
          <a:p>
            <a:pPr marL="0" marR="0">
              <a:lnSpc>
                <a:spcPts val="2400"/>
              </a:lnSpc>
              <a:spcBef>
                <a:spcPts val="479"/>
              </a:spcBef>
              <a:spcAft>
                <a:spcPts val="0"/>
              </a:spcAft>
            </a:pPr>
            <a:r>
              <a:rPr sz="2400" dirty="0">
                <a:solidFill>
                  <a:srgbClr val="FF0000"/>
                </a:solidFill>
                <a:latin typeface="OJWNPN+Calibri-Bold"/>
                <a:cs typeface="OJWNPN+Calibri-Bold"/>
              </a:rPr>
              <a:t>Method</a:t>
            </a:r>
            <a:r>
              <a:rPr sz="2400" spc="22" dirty="0">
                <a:solidFill>
                  <a:srgbClr val="FF0000"/>
                </a:solidFill>
                <a:latin typeface="OJWNPN+Calibri-Bold"/>
                <a:cs typeface="OJWNPN+Calibri-Bold"/>
              </a:rPr>
              <a:t> </a:t>
            </a:r>
            <a:r>
              <a:rPr sz="2400" dirty="0">
                <a:solidFill>
                  <a:srgbClr val="FF0000"/>
                </a:solidFill>
                <a:latin typeface="OJWNPN+Calibri-Bold"/>
                <a:cs typeface="OJWNPN+Calibri-Bold"/>
              </a:rPr>
              <a:t>1:</a:t>
            </a:r>
          </a:p>
        </p:txBody>
      </p:sp>
      <p:sp>
        <p:nvSpPr>
          <p:cNvPr id="5" name="object 5"/>
          <p:cNvSpPr txBox="1"/>
          <p:nvPr/>
        </p:nvSpPr>
        <p:spPr>
          <a:xfrm>
            <a:off x="404710" y="2375116"/>
            <a:ext cx="10774791" cy="3634740"/>
          </a:xfrm>
          <a:prstGeom prst="rect">
            <a:avLst/>
          </a:prstGeom>
        </p:spPr>
        <p:txBody>
          <a:bodyPr vert="horz" wrap="square" lIns="0" tIns="0" rIns="0" bIns="0" rtlCol="0">
            <a:spAutoFit/>
          </a:bodyPr>
          <a:lstStyle/>
          <a:p>
            <a:pPr marL="0" marR="0">
              <a:lnSpc>
                <a:spcPts val="2400"/>
              </a:lnSpc>
              <a:spcBef>
                <a:spcPts val="0"/>
              </a:spcBef>
              <a:spcAft>
                <a:spcPts val="0"/>
              </a:spcAft>
            </a:pPr>
            <a:r>
              <a:rPr sz="2400" spc="-65" dirty="0">
                <a:solidFill>
                  <a:srgbClr val="000000"/>
                </a:solidFill>
                <a:latin typeface="AAVGFJ+Calibri"/>
                <a:cs typeface="AAVGFJ+Calibri"/>
              </a:rPr>
              <a:t>Two</a:t>
            </a:r>
            <a:r>
              <a:rPr sz="2400" spc="67" dirty="0">
                <a:solidFill>
                  <a:srgbClr val="000000"/>
                </a:solidFill>
                <a:latin typeface="AAVGFJ+Calibri"/>
                <a:cs typeface="AAVGFJ+Calibri"/>
              </a:rPr>
              <a:t> </a:t>
            </a:r>
            <a:r>
              <a:rPr sz="2400" dirty="0">
                <a:solidFill>
                  <a:srgbClr val="000000"/>
                </a:solidFill>
                <a:latin typeface="AAVGFJ+Calibri"/>
                <a:cs typeface="AAVGFJ+Calibri"/>
              </a:rPr>
              <a:t>dimensional </a:t>
            </a:r>
            <a:r>
              <a:rPr sz="2400" spc="-25" dirty="0">
                <a:solidFill>
                  <a:srgbClr val="000000"/>
                </a:solidFill>
                <a:latin typeface="AAVGFJ+Calibri"/>
                <a:cs typeface="AAVGFJ+Calibri"/>
              </a:rPr>
              <a:t>arrays</a:t>
            </a:r>
            <a:r>
              <a:rPr sz="2400" spc="29" dirty="0">
                <a:solidFill>
                  <a:srgbClr val="000000"/>
                </a:solidFill>
                <a:latin typeface="AAVGFJ+Calibri"/>
                <a:cs typeface="AAVGFJ+Calibri"/>
              </a:rPr>
              <a:t> </a:t>
            </a:r>
            <a:r>
              <a:rPr sz="2400" spc="-23" dirty="0">
                <a:solidFill>
                  <a:srgbClr val="000000"/>
                </a:solidFill>
                <a:latin typeface="AAVGFJ+Calibri"/>
                <a:cs typeface="AAVGFJ+Calibri"/>
              </a:rPr>
              <a:t>may</a:t>
            </a:r>
            <a:r>
              <a:rPr sz="2400" spc="24" dirty="0">
                <a:solidFill>
                  <a:srgbClr val="000000"/>
                </a:solidFill>
                <a:latin typeface="AAVGFJ+Calibri"/>
                <a:cs typeface="AAVGFJ+Calibri"/>
              </a:rPr>
              <a:t> </a:t>
            </a:r>
            <a:r>
              <a:rPr sz="2400" dirty="0">
                <a:solidFill>
                  <a:srgbClr val="000000"/>
                </a:solidFill>
                <a:latin typeface="AAVGFJ+Calibri"/>
                <a:cs typeface="AAVGFJ+Calibri"/>
              </a:rPr>
              <a:t>be initialized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specifying </a:t>
            </a:r>
            <a:r>
              <a:rPr sz="2400" spc="-22" dirty="0">
                <a:solidFill>
                  <a:srgbClr val="000000"/>
                </a:solidFill>
                <a:latin typeface="AAVGFJ+Calibri"/>
                <a:cs typeface="AAVGFJ+Calibri"/>
              </a:rPr>
              <a:t>bracketed</a:t>
            </a:r>
            <a:r>
              <a:rPr sz="2400" spc="23" dirty="0">
                <a:solidFill>
                  <a:srgbClr val="000000"/>
                </a:solidFill>
                <a:latin typeface="AAVGFJ+Calibri"/>
                <a:cs typeface="AAVGFJ+Calibri"/>
              </a:rPr>
              <a:t> </a:t>
            </a:r>
            <a:r>
              <a:rPr sz="2400" dirty="0">
                <a:solidFill>
                  <a:srgbClr val="000000"/>
                </a:solidFill>
                <a:latin typeface="AAVGFJ+Calibri"/>
                <a:cs typeface="AAVGFJ+Calibri"/>
              </a:rPr>
              <a:t>values</a:t>
            </a:r>
            <a:r>
              <a:rPr sz="2400" spc="12" dirty="0">
                <a:solidFill>
                  <a:srgbClr val="000000"/>
                </a:solidFill>
                <a:latin typeface="AAVGFJ+Calibri"/>
                <a:cs typeface="AAVGFJ+Calibri"/>
              </a:rPr>
              <a:t> </a:t>
            </a:r>
            <a:r>
              <a:rPr sz="2400" spc="-29" dirty="0">
                <a:solidFill>
                  <a:srgbClr val="000000"/>
                </a:solidFill>
                <a:latin typeface="AAVGFJ+Calibri"/>
                <a:cs typeface="AAVGFJ+Calibri"/>
              </a:rPr>
              <a:t>for</a:t>
            </a:r>
            <a:r>
              <a:rPr sz="2400" spc="30" dirty="0">
                <a:solidFill>
                  <a:srgbClr val="000000"/>
                </a:solidFill>
                <a:latin typeface="AAVGFJ+Calibri"/>
                <a:cs typeface="AAVGFJ+Calibri"/>
              </a:rPr>
              <a:t> </a:t>
            </a:r>
            <a:r>
              <a:rPr sz="2400" dirty="0">
                <a:solidFill>
                  <a:srgbClr val="000000"/>
                </a:solidFill>
                <a:latin typeface="AAVGFJ+Calibri"/>
                <a:cs typeface="AAVGFJ+Calibri"/>
              </a:rPr>
              <a:t>each </a:t>
            </a:r>
            <a:r>
              <a:rPr sz="2400" spc="-52" dirty="0">
                <a:solidFill>
                  <a:srgbClr val="000000"/>
                </a:solidFill>
                <a:latin typeface="AAVGFJ+Calibri"/>
                <a:cs typeface="AAVGFJ+Calibri"/>
              </a:rPr>
              <a:t>row.</a:t>
            </a:r>
          </a:p>
          <a:p>
            <a:pPr marL="0" marR="0">
              <a:lnSpc>
                <a:spcPts val="2400"/>
              </a:lnSpc>
              <a:spcBef>
                <a:spcPts val="480"/>
              </a:spcBef>
              <a:spcAft>
                <a:spcPts val="0"/>
              </a:spcAft>
            </a:pPr>
            <a:r>
              <a:rPr sz="2400" dirty="0">
                <a:solidFill>
                  <a:srgbClr val="000000"/>
                </a:solidFill>
                <a:latin typeface="AAVGFJ+Calibri"/>
                <a:cs typeface="AAVGFJ+Calibri"/>
              </a:rPr>
              <a:t>Following is an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with 3 </a:t>
            </a:r>
            <a:r>
              <a:rPr sz="2400" spc="-26" dirty="0">
                <a:solidFill>
                  <a:srgbClr val="000000"/>
                </a:solidFill>
                <a:latin typeface="AAVGFJ+Calibri"/>
                <a:cs typeface="AAVGFJ+Calibri"/>
              </a:rPr>
              <a:t>rows</a:t>
            </a:r>
            <a:r>
              <a:rPr sz="2400" spc="30" dirty="0">
                <a:solidFill>
                  <a:srgbClr val="000000"/>
                </a:solidFill>
                <a:latin typeface="AAVGFJ+Calibri"/>
                <a:cs typeface="AAVGFJ+Calibri"/>
              </a:rPr>
              <a:t> </a:t>
            </a:r>
            <a:r>
              <a:rPr sz="2400" dirty="0">
                <a:solidFill>
                  <a:srgbClr val="000000"/>
                </a:solidFill>
                <a:latin typeface="AAVGFJ+Calibri"/>
                <a:cs typeface="AAVGFJ+Calibri"/>
              </a:rPr>
              <a:t>and each </a:t>
            </a:r>
            <a:r>
              <a:rPr sz="2400" spc="-26" dirty="0">
                <a:solidFill>
                  <a:srgbClr val="000000"/>
                </a:solidFill>
                <a:latin typeface="AAVGFJ+Calibri"/>
                <a:cs typeface="AAVGFJ+Calibri"/>
              </a:rPr>
              <a:t>row</a:t>
            </a:r>
            <a:r>
              <a:rPr sz="2400" spc="28" dirty="0">
                <a:solidFill>
                  <a:srgbClr val="000000"/>
                </a:solidFill>
                <a:latin typeface="AAVGFJ+Calibri"/>
                <a:cs typeface="AAVGFJ+Calibri"/>
              </a:rPr>
              <a:t> </a:t>
            </a:r>
            <a:r>
              <a:rPr sz="2400" spc="-22" dirty="0">
                <a:solidFill>
                  <a:srgbClr val="000000"/>
                </a:solidFill>
                <a:latin typeface="AAVGFJ+Calibri"/>
                <a:cs typeface="AAVGFJ+Calibri"/>
              </a:rPr>
              <a:t>have</a:t>
            </a:r>
            <a:r>
              <a:rPr sz="2400" spc="25" dirty="0">
                <a:solidFill>
                  <a:srgbClr val="000000"/>
                </a:solidFill>
                <a:latin typeface="AAVGFJ+Calibri"/>
                <a:cs typeface="AAVGFJ+Calibri"/>
              </a:rPr>
              <a:t> </a:t>
            </a:r>
            <a:r>
              <a:rPr sz="2400" dirty="0">
                <a:solidFill>
                  <a:srgbClr val="000000"/>
                </a:solidFill>
                <a:latin typeface="AAVGFJ+Calibri"/>
                <a:cs typeface="AAVGFJ+Calibri"/>
              </a:rPr>
              <a:t>4 columns.</a:t>
            </a:r>
          </a:p>
          <a:p>
            <a:pPr marL="0" marR="0">
              <a:lnSpc>
                <a:spcPts val="2400"/>
              </a:lnSpc>
              <a:spcBef>
                <a:spcPts val="479"/>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a[3][4] = { {0, 1, 2, 3},{4, 5, 6, 7},{8, 9, 10, 11} };</a:t>
            </a:r>
          </a:p>
          <a:p>
            <a:pPr marL="0" marR="0">
              <a:lnSpc>
                <a:spcPts val="2400"/>
              </a:lnSpc>
              <a:spcBef>
                <a:spcPts val="429"/>
              </a:spcBef>
              <a:spcAft>
                <a:spcPts val="0"/>
              </a:spcAft>
            </a:pPr>
            <a:r>
              <a:rPr sz="2400" dirty="0">
                <a:solidFill>
                  <a:srgbClr val="000000"/>
                </a:solidFill>
                <a:latin typeface="AAVGFJ+Calibri"/>
                <a:cs typeface="AAVGFJ+Calibri"/>
              </a:rPr>
              <a:t>The </a:t>
            </a:r>
            <a:r>
              <a:rPr sz="2400" spc="-11" dirty="0">
                <a:solidFill>
                  <a:srgbClr val="000000"/>
                </a:solidFill>
                <a:latin typeface="AAVGFJ+Calibri"/>
                <a:cs typeface="AAVGFJ+Calibri"/>
              </a:rPr>
              <a:t>nested</a:t>
            </a:r>
            <a:r>
              <a:rPr sz="2400" spc="13" dirty="0">
                <a:solidFill>
                  <a:srgbClr val="000000"/>
                </a:solidFill>
                <a:latin typeface="AAVGFJ+Calibri"/>
                <a:cs typeface="AAVGFJ+Calibri"/>
              </a:rPr>
              <a:t> </a:t>
            </a:r>
            <a:r>
              <a:rPr sz="2400" dirty="0">
                <a:solidFill>
                  <a:srgbClr val="000000"/>
                </a:solidFill>
                <a:latin typeface="AAVGFJ+Calibri"/>
                <a:cs typeface="AAVGFJ+Calibri"/>
              </a:rPr>
              <a:t>braces,</a:t>
            </a:r>
            <a:r>
              <a:rPr sz="2400" spc="12" dirty="0">
                <a:solidFill>
                  <a:srgbClr val="000000"/>
                </a:solidFill>
                <a:latin typeface="AAVGFJ+Calibri"/>
                <a:cs typeface="AAVGFJ+Calibri"/>
              </a:rPr>
              <a:t> </a:t>
            </a:r>
            <a:r>
              <a:rPr sz="2400" dirty="0">
                <a:solidFill>
                  <a:srgbClr val="000000"/>
                </a:solidFill>
                <a:latin typeface="AAVGFJ+Calibri"/>
                <a:cs typeface="AAVGFJ+Calibri"/>
              </a:rPr>
              <a:t>which </a:t>
            </a:r>
            <a:r>
              <a:rPr sz="2400" spc="-11" dirty="0">
                <a:solidFill>
                  <a:srgbClr val="000000"/>
                </a:solidFill>
                <a:latin typeface="AAVGFJ+Calibri"/>
                <a:cs typeface="AAVGFJ+Calibri"/>
              </a:rPr>
              <a:t>indicate</a:t>
            </a:r>
            <a:r>
              <a:rPr sz="2400" spc="14" dirty="0">
                <a:solidFill>
                  <a:srgbClr val="000000"/>
                </a:solidFill>
                <a:latin typeface="AAVGFJ+Calibri"/>
                <a:cs typeface="AAVGFJ+Calibri"/>
              </a:rPr>
              <a:t> </a:t>
            </a:r>
            <a:r>
              <a:rPr sz="2400" dirty="0">
                <a:solidFill>
                  <a:srgbClr val="000000"/>
                </a:solidFill>
                <a:latin typeface="AAVGFJ+Calibri"/>
                <a:cs typeface="AAVGFJ+Calibri"/>
              </a:rPr>
              <a:t>the intended </a:t>
            </a:r>
            <a:r>
              <a:rPr sz="2400" spc="-66" dirty="0">
                <a:solidFill>
                  <a:srgbClr val="000000"/>
                </a:solidFill>
                <a:latin typeface="AAVGFJ+Calibri"/>
                <a:cs typeface="AAVGFJ+Calibri"/>
              </a:rPr>
              <a:t>row,</a:t>
            </a:r>
            <a:r>
              <a:rPr sz="2400" spc="69" dirty="0">
                <a:solidFill>
                  <a:srgbClr val="000000"/>
                </a:solidFill>
                <a:latin typeface="AAVGFJ+Calibri"/>
                <a:cs typeface="AAVGFJ+Calibri"/>
              </a:rPr>
              <a:t>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dirty="0">
                <a:solidFill>
                  <a:srgbClr val="000000"/>
                </a:solidFill>
                <a:latin typeface="AAVGFJ+Calibri"/>
                <a:cs typeface="AAVGFJ+Calibri"/>
              </a:rPr>
              <a:t>optional.</a:t>
            </a:r>
          </a:p>
          <a:p>
            <a:pPr marL="0" marR="0">
              <a:lnSpc>
                <a:spcPts val="2400"/>
              </a:lnSpc>
              <a:spcBef>
                <a:spcPts val="480"/>
              </a:spcBef>
              <a:spcAft>
                <a:spcPts val="0"/>
              </a:spcAft>
            </a:pPr>
            <a:r>
              <a:rPr sz="2400" dirty="0">
                <a:solidFill>
                  <a:srgbClr val="000000"/>
                </a:solidFill>
                <a:latin typeface="AAVGFJ+Calibri"/>
                <a:cs typeface="AAVGFJ+Calibri"/>
              </a:rPr>
              <a:t>The following</a:t>
            </a:r>
            <a:r>
              <a:rPr sz="2400" spc="12" dirty="0">
                <a:solidFill>
                  <a:srgbClr val="000000"/>
                </a:solidFill>
                <a:latin typeface="AAVGFJ+Calibri"/>
                <a:cs typeface="AAVGFJ+Calibri"/>
              </a:rPr>
              <a:t> </a:t>
            </a:r>
            <a:r>
              <a:rPr sz="2400" dirty="0">
                <a:solidFill>
                  <a:srgbClr val="000000"/>
                </a:solidFill>
                <a:latin typeface="AAVGFJ+Calibri"/>
                <a:cs typeface="AAVGFJ+Calibri"/>
              </a:rPr>
              <a:t>initialization is equivalent</a:t>
            </a:r>
            <a:r>
              <a:rPr sz="2400" spc="11"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previous</a:t>
            </a:r>
            <a:r>
              <a:rPr sz="2400" spc="11" dirty="0">
                <a:solidFill>
                  <a:srgbClr val="000000"/>
                </a:solidFill>
                <a:latin typeface="AAVGFJ+Calibri"/>
                <a:cs typeface="AAVGFJ+Calibri"/>
              </a:rPr>
              <a:t> </a:t>
            </a:r>
            <a:r>
              <a:rPr sz="2400" dirty="0">
                <a:solidFill>
                  <a:srgbClr val="000000"/>
                </a:solidFill>
                <a:latin typeface="AAVGFJ+Calibri"/>
                <a:cs typeface="AAVGFJ+Calibri"/>
              </a:rPr>
              <a:t>one:</a:t>
            </a:r>
          </a:p>
          <a:p>
            <a:pPr marL="0" marR="0">
              <a:lnSpc>
                <a:spcPts val="2400"/>
              </a:lnSpc>
              <a:spcBef>
                <a:spcPts val="479"/>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a[3][4] = {0,1,2,3,4,5,6,7,8,9,10,11};</a:t>
            </a:r>
          </a:p>
          <a:p>
            <a:pPr marL="0" marR="0">
              <a:lnSpc>
                <a:spcPts val="2400"/>
              </a:lnSpc>
              <a:spcBef>
                <a:spcPts val="479"/>
              </a:spcBef>
              <a:spcAft>
                <a:spcPts val="0"/>
              </a:spcAft>
            </a:pPr>
            <a:r>
              <a:rPr sz="2400" dirty="0">
                <a:solidFill>
                  <a:srgbClr val="FF0000"/>
                </a:solidFill>
                <a:latin typeface="OJWNPN+Calibri-Bold"/>
                <a:cs typeface="OJWNPN+Calibri-Bold"/>
              </a:rPr>
              <a:t>Method</a:t>
            </a:r>
            <a:r>
              <a:rPr sz="2400" spc="22" dirty="0">
                <a:solidFill>
                  <a:srgbClr val="FF0000"/>
                </a:solidFill>
                <a:latin typeface="OJWNPN+Calibri-Bold"/>
                <a:cs typeface="OJWNPN+Calibri-Bold"/>
              </a:rPr>
              <a:t> </a:t>
            </a:r>
            <a:r>
              <a:rPr sz="2400" dirty="0">
                <a:solidFill>
                  <a:srgbClr val="FF0000"/>
                </a:solidFill>
                <a:latin typeface="OJWNPN+Calibri-Bold"/>
                <a:cs typeface="OJWNPN+Calibri-Bold"/>
              </a:rPr>
              <a:t>2:</a:t>
            </a:r>
          </a:p>
          <a:p>
            <a:pPr marL="0" marR="0">
              <a:lnSpc>
                <a:spcPts val="2400"/>
              </a:lnSpc>
              <a:spcBef>
                <a:spcPts val="480"/>
              </a:spcBef>
              <a:spcAft>
                <a:spcPts val="0"/>
              </a:spcAft>
            </a:pPr>
            <a:r>
              <a:rPr sz="2400" spc="-24" dirty="0">
                <a:solidFill>
                  <a:srgbClr val="000000"/>
                </a:solidFill>
                <a:latin typeface="AAVGFJ+Calibri"/>
                <a:cs typeface="AAVGFJ+Calibri"/>
              </a:rPr>
              <a:t>Array</a:t>
            </a:r>
            <a:r>
              <a:rPr sz="2400" spc="25" dirty="0">
                <a:solidFill>
                  <a:srgbClr val="000000"/>
                </a:solidFill>
                <a:latin typeface="AAVGFJ+Calibri"/>
                <a:cs typeface="AAVGFJ+Calibri"/>
              </a:rPr>
              <a:t>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initialized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taking input </a:t>
            </a:r>
            <a:r>
              <a:rPr sz="2400" spc="-15" dirty="0">
                <a:solidFill>
                  <a:srgbClr val="000000"/>
                </a:solidFill>
                <a:latin typeface="AAVGFJ+Calibri"/>
                <a:cs typeface="AAVGFJ+Calibri"/>
              </a:rPr>
              <a:t>from</a:t>
            </a:r>
            <a:r>
              <a:rPr sz="2400" spc="15" dirty="0">
                <a:solidFill>
                  <a:srgbClr val="000000"/>
                </a:solidFill>
                <a:latin typeface="AAVGFJ+Calibri"/>
                <a:cs typeface="AAVGFJ+Calibri"/>
              </a:rPr>
              <a:t> </a:t>
            </a:r>
            <a:r>
              <a:rPr sz="2400" dirty="0">
                <a:solidFill>
                  <a:srgbClr val="000000"/>
                </a:solidFill>
                <a:latin typeface="AAVGFJ+Calibri"/>
                <a:cs typeface="AAVGFJ+Calibri"/>
              </a:rPr>
              <a:t>user </a:t>
            </a:r>
            <a:r>
              <a:rPr sz="2400" spc="-25" dirty="0">
                <a:solidFill>
                  <a:srgbClr val="000000"/>
                </a:solidFill>
                <a:latin typeface="AAVGFJ+Calibri"/>
                <a:cs typeface="AAVGFJ+Calibri"/>
              </a:rPr>
              <a:t>at</a:t>
            </a:r>
            <a:r>
              <a:rPr sz="2400" spc="28" dirty="0">
                <a:solidFill>
                  <a:srgbClr val="000000"/>
                </a:solidFill>
                <a:latin typeface="AAVGFJ+Calibri"/>
                <a:cs typeface="AAVGFJ+Calibri"/>
              </a:rPr>
              <a:t> </a:t>
            </a:r>
            <a:r>
              <a:rPr sz="2400" dirty="0">
                <a:solidFill>
                  <a:srgbClr val="000000"/>
                </a:solidFill>
                <a:latin typeface="AAVGFJ+Calibri"/>
                <a:cs typeface="AAVGFJ+Calibri"/>
              </a:rPr>
              <a:t>run time using loops.</a:t>
            </a:r>
          </a:p>
          <a:p>
            <a:pPr marL="0" marR="0">
              <a:lnSpc>
                <a:spcPts val="2400"/>
              </a:lnSpc>
              <a:spcBef>
                <a:spcPts val="429"/>
              </a:spcBef>
              <a:spcAft>
                <a:spcPts val="0"/>
              </a:spcAft>
            </a:pPr>
            <a:r>
              <a:rPr sz="2400" dirty="0">
                <a:solidFill>
                  <a:srgbClr val="000000"/>
                </a:solidFill>
                <a:latin typeface="AAVGFJ+Calibri"/>
                <a:cs typeface="AAVGFJ+Calibri"/>
              </a:rPr>
              <a:t>for(i=0;i&lt;3;i++)</a:t>
            </a:r>
          </a:p>
          <a:p>
            <a:pPr marL="415290" marR="0">
              <a:lnSpc>
                <a:spcPts val="2400"/>
              </a:lnSpc>
              <a:spcBef>
                <a:spcPts val="480"/>
              </a:spcBef>
              <a:spcAft>
                <a:spcPts val="0"/>
              </a:spcAft>
            </a:pPr>
            <a:r>
              <a:rPr sz="2400" dirty="0">
                <a:solidFill>
                  <a:srgbClr val="000000"/>
                </a:solidFill>
                <a:latin typeface="AAVGFJ+Calibri"/>
                <a:cs typeface="AAVGFJ+Calibri"/>
              </a:rPr>
              <a:t>for(j=0;j&lt;4;j++)</a:t>
            </a:r>
          </a:p>
        </p:txBody>
      </p:sp>
      <p:sp>
        <p:nvSpPr>
          <p:cNvPr id="6" name="object 6"/>
          <p:cNvSpPr txBox="1"/>
          <p:nvPr/>
        </p:nvSpPr>
        <p:spPr>
          <a:xfrm>
            <a:off x="1235290" y="6032716"/>
            <a:ext cx="2645866"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3" dirty="0">
                <a:solidFill>
                  <a:srgbClr val="000000"/>
                </a:solidFill>
                <a:latin typeface="AAVGFJ+Calibri"/>
                <a:cs typeface="AAVGFJ+Calibri"/>
              </a:rPr>
              <a:t>scanf(“%d”,&amp;a[i][j]);</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532923"/>
            <a:ext cx="7191897" cy="513715"/>
          </a:xfrm>
          <a:prstGeom prst="rect">
            <a:avLst/>
          </a:prstGeom>
        </p:spPr>
        <p:txBody>
          <a:bodyPr vert="horz" wrap="square" lIns="0" tIns="0" rIns="0" bIns="0" rtlCol="0">
            <a:spAutoFit/>
          </a:bodyPr>
          <a:lstStyle/>
          <a:p>
            <a:pPr marL="0" marR="0">
              <a:lnSpc>
                <a:spcPts val="3745"/>
              </a:lnSpc>
              <a:spcBef>
                <a:spcPts val="0"/>
              </a:spcBef>
              <a:spcAft>
                <a:spcPts val="0"/>
              </a:spcAft>
            </a:pPr>
            <a:r>
              <a:rPr sz="3750" spc="-20" dirty="0">
                <a:solidFill>
                  <a:srgbClr val="FF0000"/>
                </a:solidFill>
                <a:latin typeface="HWPIMB+Calibri-Light"/>
                <a:cs typeface="HWPIMB+Calibri-Light"/>
              </a:rPr>
              <a:t>TWO</a:t>
            </a:r>
            <a:r>
              <a:rPr sz="3750" spc="19" dirty="0">
                <a:solidFill>
                  <a:srgbClr val="FF0000"/>
                </a:solidFill>
                <a:latin typeface="HWPIMB+Calibri-Light"/>
                <a:cs typeface="HWPIMB+Calibri-Light"/>
              </a:rPr>
              <a:t> </a:t>
            </a:r>
            <a:r>
              <a:rPr sz="3750" dirty="0">
                <a:solidFill>
                  <a:srgbClr val="FF0000"/>
                </a:solidFill>
                <a:latin typeface="HWPIMB+Calibri-Light"/>
                <a:cs typeface="HWPIMB+Calibri-Light"/>
              </a:rPr>
              <a:t>DIMENSIONAL </a:t>
            </a:r>
            <a:r>
              <a:rPr sz="3750" spc="-24" dirty="0">
                <a:solidFill>
                  <a:srgbClr val="FF0000"/>
                </a:solidFill>
                <a:latin typeface="HWPIMB+Calibri-Light"/>
                <a:cs typeface="HWPIMB+Calibri-Light"/>
              </a:rPr>
              <a:t>ARRAYS(Contd..)</a:t>
            </a:r>
          </a:p>
        </p:txBody>
      </p:sp>
      <p:sp>
        <p:nvSpPr>
          <p:cNvPr id="4" name="object 4"/>
          <p:cNvSpPr txBox="1"/>
          <p:nvPr/>
        </p:nvSpPr>
        <p:spPr>
          <a:xfrm>
            <a:off x="557110" y="1522945"/>
            <a:ext cx="10914500" cy="21717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OJWNPN+Calibri-Bold"/>
                <a:cs typeface="OJWNPN+Calibri-Bold"/>
              </a:rPr>
              <a:t>Accessing</a:t>
            </a:r>
            <a:r>
              <a:rPr sz="2400" spc="18" dirty="0">
                <a:solidFill>
                  <a:srgbClr val="FF0000"/>
                </a:solidFill>
                <a:latin typeface="OJWNPN+Calibri-Bold"/>
                <a:cs typeface="OJWNPN+Calibri-Bold"/>
              </a:rPr>
              <a:t> </a:t>
            </a:r>
            <a:r>
              <a:rPr sz="2400" dirty="0">
                <a:solidFill>
                  <a:srgbClr val="FF0000"/>
                </a:solidFill>
                <a:latin typeface="OJWNPN+Calibri-Bold"/>
                <a:cs typeface="OJWNPN+Calibri-Bold"/>
              </a:rPr>
              <a:t>Two-Dimensional</a:t>
            </a:r>
            <a:r>
              <a:rPr sz="2400" spc="23" dirty="0">
                <a:solidFill>
                  <a:srgbClr val="FF0000"/>
                </a:solidFill>
                <a:latin typeface="OJWNPN+Calibri-Bold"/>
                <a:cs typeface="OJWNPN+Calibri-Bold"/>
              </a:rPr>
              <a:t> </a:t>
            </a:r>
            <a:r>
              <a:rPr sz="2400" spc="-24" dirty="0">
                <a:solidFill>
                  <a:srgbClr val="FF0000"/>
                </a:solidFill>
                <a:latin typeface="OJWNPN+Calibri-Bold"/>
                <a:cs typeface="OJWNPN+Calibri-Bold"/>
              </a:rPr>
              <a:t>Array</a:t>
            </a:r>
            <a:r>
              <a:rPr sz="2400" spc="39" dirty="0">
                <a:solidFill>
                  <a:srgbClr val="FF0000"/>
                </a:solidFill>
                <a:latin typeface="OJWNPN+Calibri-Bold"/>
                <a:cs typeface="OJWNPN+Calibri-Bold"/>
              </a:rPr>
              <a:t> </a:t>
            </a:r>
            <a:r>
              <a:rPr sz="2400" dirty="0">
                <a:solidFill>
                  <a:srgbClr val="FF0000"/>
                </a:solidFill>
                <a:latin typeface="OJWNPN+Calibri-Bold"/>
                <a:cs typeface="OJWNPN+Calibri-Bold"/>
              </a:rPr>
              <a:t>Elements:</a:t>
            </a:r>
          </a:p>
          <a:p>
            <a:pPr marL="0" marR="0">
              <a:lnSpc>
                <a:spcPts val="2400"/>
              </a:lnSpc>
              <a:spcBef>
                <a:spcPts val="479"/>
              </a:spcBef>
              <a:spcAft>
                <a:spcPts val="0"/>
              </a:spcAft>
            </a:pPr>
            <a:r>
              <a:rPr sz="2400" dirty="0">
                <a:solidFill>
                  <a:srgbClr val="000000"/>
                </a:solidFill>
                <a:latin typeface="AAVGFJ+Calibri"/>
                <a:cs typeface="AAVGFJ+Calibri"/>
              </a:rPr>
              <a:t>An element in 2-dimensional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is accessed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using the subscripts ie. </a:t>
            </a:r>
            <a:r>
              <a:rPr sz="2400" spc="-26" dirty="0">
                <a:solidFill>
                  <a:srgbClr val="000000"/>
                </a:solidFill>
                <a:latin typeface="AAVGFJ+Calibri"/>
                <a:cs typeface="AAVGFJ+Calibri"/>
              </a:rPr>
              <a:t>row</a:t>
            </a:r>
            <a:r>
              <a:rPr sz="2400" spc="28" dirty="0">
                <a:solidFill>
                  <a:srgbClr val="000000"/>
                </a:solidFill>
                <a:latin typeface="AAVGFJ+Calibri"/>
                <a:cs typeface="AAVGFJ+Calibri"/>
              </a:rPr>
              <a:t> </a:t>
            </a:r>
            <a:r>
              <a:rPr sz="2400" spc="-10" dirty="0">
                <a:solidFill>
                  <a:srgbClr val="000000"/>
                </a:solidFill>
                <a:latin typeface="AAVGFJ+Calibri"/>
                <a:cs typeface="AAVGFJ+Calibri"/>
              </a:rPr>
              <a:t>index</a:t>
            </a:r>
            <a:r>
              <a:rPr sz="2400" spc="13" dirty="0">
                <a:solidFill>
                  <a:srgbClr val="000000"/>
                </a:solidFill>
                <a:latin typeface="AAVGFJ+Calibri"/>
                <a:cs typeface="AAVGFJ+Calibri"/>
              </a:rPr>
              <a:t> </a:t>
            </a:r>
            <a:r>
              <a:rPr sz="2400" dirty="0">
                <a:solidFill>
                  <a:srgbClr val="000000"/>
                </a:solidFill>
                <a:latin typeface="AAVGFJ+Calibri"/>
                <a:cs typeface="AAVGFJ+Calibri"/>
              </a:rPr>
              <a:t>and</a:t>
            </a:r>
          </a:p>
          <a:p>
            <a:pPr marL="0" marR="0">
              <a:lnSpc>
                <a:spcPts val="2400"/>
              </a:lnSpc>
              <a:spcBef>
                <a:spcPts val="480"/>
              </a:spcBef>
              <a:spcAft>
                <a:spcPts val="0"/>
              </a:spcAft>
            </a:pPr>
            <a:r>
              <a:rPr sz="2400" dirty="0">
                <a:solidFill>
                  <a:srgbClr val="000000"/>
                </a:solidFill>
                <a:latin typeface="AAVGFJ+Calibri"/>
                <a:cs typeface="AAVGFJ+Calibri"/>
              </a:rPr>
              <a:t>column </a:t>
            </a:r>
            <a:r>
              <a:rPr sz="2400" spc="-10" dirty="0">
                <a:solidFill>
                  <a:srgbClr val="000000"/>
                </a:solidFill>
                <a:latin typeface="AAVGFJ+Calibri"/>
                <a:cs typeface="AAVGFJ+Calibri"/>
              </a:rPr>
              <a:t>index</a:t>
            </a:r>
            <a:r>
              <a:rPr sz="2400" spc="13" dirty="0">
                <a:solidFill>
                  <a:srgbClr val="000000"/>
                </a:solidFill>
                <a:latin typeface="AAVGFJ+Calibri"/>
                <a:cs typeface="AAVGFJ+Calibri"/>
              </a:rPr>
              <a:t> </a:t>
            </a:r>
            <a:r>
              <a:rPr sz="2400" dirty="0">
                <a:solidFill>
                  <a:srgbClr val="000000"/>
                </a:solidFill>
                <a:latin typeface="AAVGFJ+Calibri"/>
                <a:cs typeface="AAVGFJ+Calibri"/>
              </a:rPr>
              <a:t>of the </a:t>
            </a:r>
            <a:r>
              <a:rPr sz="2400" spc="-43" dirty="0">
                <a:solidFill>
                  <a:srgbClr val="000000"/>
                </a:solidFill>
                <a:latin typeface="AAVGFJ+Calibri"/>
                <a:cs typeface="AAVGFJ+Calibri"/>
              </a:rPr>
              <a:t>array.</a:t>
            </a:r>
          </a:p>
          <a:p>
            <a:pPr marL="0" marR="0">
              <a:lnSpc>
                <a:spcPts val="2400"/>
              </a:lnSpc>
              <a:spcBef>
                <a:spcPts val="430"/>
              </a:spcBef>
              <a:spcAft>
                <a:spcPts val="0"/>
              </a:spcAft>
            </a:pPr>
            <a:r>
              <a:rPr sz="2400" spc="-17" dirty="0">
                <a:solidFill>
                  <a:srgbClr val="000000"/>
                </a:solidFill>
                <a:latin typeface="AAVGFJ+Calibri"/>
                <a:cs typeface="AAVGFJ+Calibri"/>
              </a:rPr>
              <a:t>For</a:t>
            </a:r>
            <a:r>
              <a:rPr sz="2400" spc="17" dirty="0">
                <a:solidFill>
                  <a:srgbClr val="000000"/>
                </a:solidFill>
                <a:latin typeface="AAVGFJ+Calibri"/>
                <a:cs typeface="AAVGFJ+Calibri"/>
              </a:rPr>
              <a:t> </a:t>
            </a:r>
            <a:r>
              <a:rPr sz="2400" spc="-12" dirty="0">
                <a:solidFill>
                  <a:srgbClr val="000000"/>
                </a:solidFill>
                <a:latin typeface="AAVGFJ+Calibri"/>
                <a:cs typeface="AAVGFJ+Calibri"/>
              </a:rPr>
              <a:t>example:</a:t>
            </a:r>
          </a:p>
          <a:p>
            <a:pPr marL="0" marR="0">
              <a:lnSpc>
                <a:spcPts val="2400"/>
              </a:lnSpc>
              <a:spcBef>
                <a:spcPts val="479"/>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spc="-19" dirty="0">
                <a:solidFill>
                  <a:srgbClr val="000000"/>
                </a:solidFill>
                <a:latin typeface="AAVGFJ+Calibri"/>
                <a:cs typeface="AAVGFJ+Calibri"/>
              </a:rPr>
              <a:t>val</a:t>
            </a:r>
            <a:r>
              <a:rPr sz="2400" spc="21" dirty="0">
                <a:solidFill>
                  <a:srgbClr val="000000"/>
                </a:solidFill>
                <a:latin typeface="AAVGFJ+Calibri"/>
                <a:cs typeface="AAVGFJ+Calibri"/>
              </a:rPr>
              <a:t> </a:t>
            </a:r>
            <a:r>
              <a:rPr sz="2400" dirty="0">
                <a:solidFill>
                  <a:srgbClr val="000000"/>
                </a:solidFill>
                <a:latin typeface="AAVGFJ+Calibri"/>
                <a:cs typeface="AAVGFJ+Calibri"/>
              </a:rPr>
              <a:t>= a[2][3];</a:t>
            </a:r>
          </a:p>
          <a:p>
            <a:pPr marL="0" marR="0">
              <a:lnSpc>
                <a:spcPts val="2400"/>
              </a:lnSpc>
              <a:spcBef>
                <a:spcPts val="479"/>
              </a:spcBef>
              <a:spcAft>
                <a:spcPts val="0"/>
              </a:spcAft>
            </a:pPr>
            <a:r>
              <a:rPr sz="2400" dirty="0">
                <a:solidFill>
                  <a:srgbClr val="000000"/>
                </a:solidFill>
                <a:latin typeface="AAVGFJ+Calibri"/>
                <a:cs typeface="AAVGFJ+Calibri"/>
              </a:rPr>
              <a:t>The </a:t>
            </a:r>
            <a:r>
              <a:rPr sz="2400" spc="-10" dirty="0">
                <a:solidFill>
                  <a:srgbClr val="000000"/>
                </a:solidFill>
                <a:latin typeface="AAVGFJ+Calibri"/>
                <a:cs typeface="AAVGFJ+Calibri"/>
              </a:rPr>
              <a:t>above</a:t>
            </a:r>
            <a:r>
              <a:rPr sz="2400" spc="13" dirty="0">
                <a:solidFill>
                  <a:srgbClr val="000000"/>
                </a:solidFill>
                <a:latin typeface="AAVGFJ+Calibri"/>
                <a:cs typeface="AAVGFJ+Calibri"/>
              </a:rPr>
              <a:t> </a:t>
            </a:r>
            <a:r>
              <a:rPr sz="2400" spc="-17" dirty="0">
                <a:solidFill>
                  <a:srgbClr val="000000"/>
                </a:solidFill>
                <a:latin typeface="AAVGFJ+Calibri"/>
                <a:cs typeface="AAVGFJ+Calibri"/>
              </a:rPr>
              <a:t>statement</a:t>
            </a:r>
            <a:r>
              <a:rPr sz="2400" spc="21" dirty="0">
                <a:solidFill>
                  <a:srgbClr val="000000"/>
                </a:solidFill>
                <a:latin typeface="AAVGFJ+Calibri"/>
                <a:cs typeface="AAVGFJ+Calibri"/>
              </a:rPr>
              <a:t> </a:t>
            </a:r>
            <a:r>
              <a:rPr sz="2400" dirty="0">
                <a:solidFill>
                  <a:srgbClr val="000000"/>
                </a:solidFill>
                <a:latin typeface="AAVGFJ+Calibri"/>
                <a:cs typeface="AAVGFJ+Calibri"/>
              </a:rPr>
              <a:t>will </a:t>
            </a:r>
            <a:r>
              <a:rPr sz="2400" spc="-37" dirty="0">
                <a:solidFill>
                  <a:srgbClr val="000000"/>
                </a:solidFill>
                <a:latin typeface="AAVGFJ+Calibri"/>
                <a:cs typeface="AAVGFJ+Calibri"/>
              </a:rPr>
              <a:t>take</a:t>
            </a:r>
            <a:r>
              <a:rPr sz="2400" spc="40" dirty="0">
                <a:solidFill>
                  <a:srgbClr val="000000"/>
                </a:solidFill>
                <a:latin typeface="AAVGFJ+Calibri"/>
                <a:cs typeface="AAVGFJ+Calibri"/>
              </a:rPr>
              <a:t> </a:t>
            </a:r>
            <a:r>
              <a:rPr sz="2400" dirty="0">
                <a:solidFill>
                  <a:srgbClr val="000000"/>
                </a:solidFill>
                <a:latin typeface="AAVGFJ+Calibri"/>
                <a:cs typeface="AAVGFJ+Calibri"/>
              </a:rPr>
              <a:t>4th element </a:t>
            </a:r>
            <a:r>
              <a:rPr sz="2400" spc="-15" dirty="0">
                <a:solidFill>
                  <a:srgbClr val="000000"/>
                </a:solidFill>
                <a:latin typeface="AAVGFJ+Calibri"/>
                <a:cs typeface="AAVGFJ+Calibri"/>
              </a:rPr>
              <a:t>from</a:t>
            </a:r>
            <a:r>
              <a:rPr sz="2400" spc="15" dirty="0">
                <a:solidFill>
                  <a:srgbClr val="000000"/>
                </a:solidFill>
                <a:latin typeface="AAVGFJ+Calibri"/>
                <a:cs typeface="AAVGFJ+Calibri"/>
              </a:rPr>
              <a:t> </a:t>
            </a:r>
            <a:r>
              <a:rPr sz="2400" dirty="0">
                <a:solidFill>
                  <a:srgbClr val="000000"/>
                </a:solidFill>
                <a:latin typeface="AAVGFJ+Calibri"/>
                <a:cs typeface="AAVGFJ+Calibri"/>
              </a:rPr>
              <a:t>the </a:t>
            </a:r>
            <a:r>
              <a:rPr sz="2400" spc="-19" dirty="0">
                <a:solidFill>
                  <a:srgbClr val="000000"/>
                </a:solidFill>
                <a:latin typeface="AAVGFJ+Calibri"/>
                <a:cs typeface="AAVGFJ+Calibri"/>
              </a:rPr>
              <a:t>3rd</a:t>
            </a:r>
            <a:r>
              <a:rPr sz="2400" spc="21" dirty="0">
                <a:solidFill>
                  <a:srgbClr val="000000"/>
                </a:solidFill>
                <a:latin typeface="AAVGFJ+Calibri"/>
                <a:cs typeface="AAVGFJ+Calibri"/>
              </a:rPr>
              <a:t> </a:t>
            </a:r>
            <a:r>
              <a:rPr sz="2400" spc="-26" dirty="0">
                <a:solidFill>
                  <a:srgbClr val="000000"/>
                </a:solidFill>
                <a:latin typeface="AAVGFJ+Calibri"/>
                <a:cs typeface="AAVGFJ+Calibri"/>
              </a:rPr>
              <a:t>row</a:t>
            </a:r>
            <a:r>
              <a:rPr sz="2400" spc="28" dirty="0">
                <a:solidFill>
                  <a:srgbClr val="000000"/>
                </a:solidFill>
                <a:latin typeface="AAVGFJ+Calibri"/>
                <a:cs typeface="AAVGFJ+Calibri"/>
              </a:rPr>
              <a:t> </a:t>
            </a:r>
            <a:r>
              <a:rPr sz="2400" dirty="0">
                <a:solidFill>
                  <a:srgbClr val="000000"/>
                </a:solidFill>
                <a:latin typeface="AAVGFJ+Calibri"/>
                <a:cs typeface="AAVGFJ+Calibri"/>
              </a:rPr>
              <a:t>of the </a:t>
            </a:r>
            <a:r>
              <a:rPr sz="2400" spc="-43" dirty="0">
                <a:solidFill>
                  <a:srgbClr val="000000"/>
                </a:solidFill>
                <a:latin typeface="AAVGFJ+Calibri"/>
                <a:cs typeface="AAVGFJ+Calibri"/>
              </a:rPr>
              <a:t>array.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393065"/>
            <a:ext cx="5872400" cy="647700"/>
          </a:xfrm>
          <a:prstGeom prst="rect">
            <a:avLst/>
          </a:prstGeom>
        </p:spPr>
        <p:txBody>
          <a:bodyPr vert="horz" wrap="square" lIns="0" tIns="0" rIns="0" bIns="0" rtlCol="0">
            <a:spAutoFit/>
          </a:bodyPr>
          <a:lstStyle/>
          <a:p>
            <a:pPr marL="0" marR="0">
              <a:lnSpc>
                <a:spcPts val="4800"/>
              </a:lnSpc>
              <a:spcBef>
                <a:spcPts val="0"/>
              </a:spcBef>
              <a:spcAft>
                <a:spcPts val="0"/>
              </a:spcAft>
            </a:pPr>
            <a:r>
              <a:rPr sz="4800" spc="-52" dirty="0">
                <a:solidFill>
                  <a:srgbClr val="0070C0"/>
                </a:solidFill>
                <a:latin typeface="HWPIMB+Calibri-Light"/>
                <a:cs typeface="HWPIMB+Calibri-Light"/>
              </a:rPr>
              <a:t>Types</a:t>
            </a:r>
            <a:r>
              <a:rPr sz="4800" spc="51" dirty="0">
                <a:solidFill>
                  <a:srgbClr val="0070C0"/>
                </a:solidFill>
                <a:latin typeface="HWPIMB+Calibri-Light"/>
                <a:cs typeface="HWPIMB+Calibri-Light"/>
              </a:rPr>
              <a:t> </a:t>
            </a:r>
            <a:r>
              <a:rPr sz="4800" dirty="0">
                <a:solidFill>
                  <a:srgbClr val="0070C0"/>
                </a:solidFill>
                <a:latin typeface="HWPIMB+Calibri-Light"/>
                <a:cs typeface="HWPIMB+Calibri-Light"/>
              </a:rPr>
              <a:t>of </a:t>
            </a:r>
            <a:r>
              <a:rPr sz="4800" spc="-47" dirty="0">
                <a:solidFill>
                  <a:srgbClr val="0070C0"/>
                </a:solidFill>
                <a:latin typeface="HWPIMB+Calibri-Light"/>
                <a:cs typeface="HWPIMB+Calibri-Light"/>
              </a:rPr>
              <a:t>Array</a:t>
            </a:r>
            <a:r>
              <a:rPr sz="4800" spc="46" dirty="0">
                <a:solidFill>
                  <a:srgbClr val="0070C0"/>
                </a:solidFill>
                <a:latin typeface="HWPIMB+Calibri-Light"/>
                <a:cs typeface="HWPIMB+Calibri-Light"/>
              </a:rPr>
              <a:t> </a:t>
            </a:r>
            <a:r>
              <a:rPr sz="4800" spc="-13" dirty="0">
                <a:solidFill>
                  <a:srgbClr val="0070C0"/>
                </a:solidFill>
                <a:latin typeface="HWPIMB+Calibri-Light"/>
                <a:cs typeface="HWPIMB+Calibri-Light"/>
              </a:rPr>
              <a:t>(Contd..)</a:t>
            </a:r>
          </a:p>
        </p:txBody>
      </p:sp>
      <p:sp>
        <p:nvSpPr>
          <p:cNvPr id="4" name="object 4"/>
          <p:cNvSpPr txBox="1"/>
          <p:nvPr/>
        </p:nvSpPr>
        <p:spPr>
          <a:xfrm>
            <a:off x="419519" y="1359954"/>
            <a:ext cx="391469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36" dirty="0">
                <a:solidFill>
                  <a:srgbClr val="FF0000"/>
                </a:solidFill>
                <a:latin typeface="OJWNPN+Calibri-Bold"/>
                <a:cs typeface="OJWNPN+Calibri-Bold"/>
              </a:rPr>
              <a:t>MULTI</a:t>
            </a:r>
            <a:r>
              <a:rPr sz="2400" spc="52" dirty="0">
                <a:solidFill>
                  <a:srgbClr val="FF0000"/>
                </a:solidFill>
                <a:latin typeface="OJWNPN+Calibri-Bold"/>
                <a:cs typeface="OJWNPN+Calibri-Bold"/>
              </a:rPr>
              <a:t> </a:t>
            </a:r>
            <a:r>
              <a:rPr sz="2400" dirty="0">
                <a:solidFill>
                  <a:srgbClr val="FF0000"/>
                </a:solidFill>
                <a:latin typeface="OJWNPN+Calibri-Bold"/>
                <a:cs typeface="OJWNPN+Calibri-Bold"/>
              </a:rPr>
              <a:t>DIMENSIONAL</a:t>
            </a:r>
            <a:r>
              <a:rPr sz="2400" spc="16" dirty="0">
                <a:solidFill>
                  <a:srgbClr val="FF0000"/>
                </a:solidFill>
                <a:latin typeface="OJWNPN+Calibri-Bold"/>
                <a:cs typeface="OJWNPN+Calibri-Bold"/>
              </a:rPr>
              <a:t> </a:t>
            </a:r>
            <a:r>
              <a:rPr sz="2400" spc="-40" dirty="0">
                <a:solidFill>
                  <a:srgbClr val="FF0000"/>
                </a:solidFill>
                <a:latin typeface="OJWNPN+Calibri-Bold"/>
                <a:cs typeface="OJWNPN+Calibri-Bold"/>
              </a:rPr>
              <a:t>ARRAYS</a:t>
            </a:r>
          </a:p>
        </p:txBody>
      </p:sp>
      <p:sp>
        <p:nvSpPr>
          <p:cNvPr id="5" name="object 5"/>
          <p:cNvSpPr txBox="1"/>
          <p:nvPr/>
        </p:nvSpPr>
        <p:spPr>
          <a:xfrm>
            <a:off x="419519" y="2091473"/>
            <a:ext cx="11388849" cy="2537460"/>
          </a:xfrm>
          <a:prstGeom prst="rect">
            <a:avLst/>
          </a:prstGeom>
        </p:spPr>
        <p:txBody>
          <a:bodyPr vert="horz" wrap="square" lIns="0" tIns="0" rIns="0" bIns="0" rtlCol="0">
            <a:spAutoFit/>
          </a:bodyPr>
          <a:lstStyle/>
          <a:p>
            <a:pPr marL="0" marR="0">
              <a:lnSpc>
                <a:spcPts val="2400"/>
              </a:lnSpc>
              <a:spcBef>
                <a:spcPts val="0"/>
              </a:spcBef>
              <a:spcAft>
                <a:spcPts val="0"/>
              </a:spcAft>
            </a:pPr>
            <a:r>
              <a:rPr sz="2400" spc="-13" dirty="0">
                <a:solidFill>
                  <a:srgbClr val="000000"/>
                </a:solidFill>
                <a:latin typeface="AAVGFJ+Calibri"/>
                <a:cs typeface="AAVGFJ+Calibri"/>
              </a:rPr>
              <a:t>More</a:t>
            </a:r>
            <a:r>
              <a:rPr sz="2400" spc="16" dirty="0">
                <a:solidFill>
                  <a:srgbClr val="000000"/>
                </a:solidFill>
                <a:latin typeface="AAVGFJ+Calibri"/>
                <a:cs typeface="AAVGFJ+Calibri"/>
              </a:rPr>
              <a:t> </a:t>
            </a:r>
            <a:r>
              <a:rPr sz="2400" dirty="0">
                <a:solidFill>
                  <a:srgbClr val="000000"/>
                </a:solidFill>
                <a:latin typeface="AAVGFJ+Calibri"/>
                <a:cs typeface="AAVGFJ+Calibri"/>
              </a:rPr>
              <a:t>than </a:t>
            </a:r>
            <a:r>
              <a:rPr sz="2400" spc="-12" dirty="0">
                <a:solidFill>
                  <a:srgbClr val="000000"/>
                </a:solidFill>
                <a:latin typeface="AAVGFJ+Calibri"/>
                <a:cs typeface="AAVGFJ+Calibri"/>
              </a:rPr>
              <a:t>two</a:t>
            </a:r>
            <a:r>
              <a:rPr sz="2400" spc="14" dirty="0">
                <a:solidFill>
                  <a:srgbClr val="000000"/>
                </a:solidFill>
                <a:latin typeface="AAVGFJ+Calibri"/>
                <a:cs typeface="AAVGFJ+Calibri"/>
              </a:rPr>
              <a:t> </a:t>
            </a:r>
            <a:r>
              <a:rPr sz="2400" dirty="0">
                <a:solidFill>
                  <a:srgbClr val="000000"/>
                </a:solidFill>
                <a:latin typeface="AAVGFJ+Calibri"/>
                <a:cs typeface="AAVGFJ+Calibri"/>
              </a:rPr>
              <a:t>dimensions is also possible. It is a Collection of elements, all of the same</a:t>
            </a:r>
          </a:p>
          <a:p>
            <a:pPr marL="0" marR="0">
              <a:lnSpc>
                <a:spcPts val="2400"/>
              </a:lnSpc>
              <a:spcBef>
                <a:spcPts val="480"/>
              </a:spcBef>
              <a:spcAft>
                <a:spcPts val="0"/>
              </a:spcAft>
            </a:pPr>
            <a:r>
              <a:rPr sz="2400" dirty="0">
                <a:solidFill>
                  <a:srgbClr val="000000"/>
                </a:solidFill>
                <a:latin typeface="AAVGFJ+Calibri"/>
                <a:cs typeface="AAVGFJ+Calibri"/>
              </a:rPr>
              <a:t>type and having</a:t>
            </a:r>
            <a:r>
              <a:rPr sz="2400" spc="11" dirty="0">
                <a:solidFill>
                  <a:srgbClr val="000000"/>
                </a:solidFill>
                <a:latin typeface="AAVGFJ+Calibri"/>
                <a:cs typeface="AAVGFJ+Calibri"/>
              </a:rPr>
              <a:t> </a:t>
            </a:r>
            <a:r>
              <a:rPr sz="2400" dirty="0">
                <a:solidFill>
                  <a:srgbClr val="000000"/>
                </a:solidFill>
                <a:latin typeface="AAVGFJ+Calibri"/>
                <a:cs typeface="AAVGFJ+Calibri"/>
              </a:rPr>
              <a:t>the same name, </a:t>
            </a:r>
            <a:r>
              <a:rPr sz="2400" spc="-12" dirty="0">
                <a:solidFill>
                  <a:srgbClr val="000000"/>
                </a:solidFill>
                <a:latin typeface="AAVGFJ+Calibri"/>
                <a:cs typeface="AAVGFJ+Calibri"/>
              </a:rPr>
              <a:t>ordered</a:t>
            </a:r>
            <a:r>
              <a:rPr sz="2400" spc="14" dirty="0">
                <a:solidFill>
                  <a:srgbClr val="000000"/>
                </a:solidFill>
                <a:latin typeface="AAVGFJ+Calibri"/>
                <a:cs typeface="AAVGFJ+Calibri"/>
              </a:rPr>
              <a:t> </a:t>
            </a:r>
            <a:r>
              <a:rPr sz="2400" dirty="0">
                <a:solidFill>
                  <a:srgbClr val="000000"/>
                </a:solidFill>
                <a:latin typeface="AAVGFJ+Calibri"/>
                <a:cs typeface="AAVGFJ+Calibri"/>
              </a:rPr>
              <a:t>on N dimensions (N&gt;1). </a:t>
            </a:r>
            <a:r>
              <a:rPr sz="2400" spc="-14" dirty="0">
                <a:solidFill>
                  <a:srgbClr val="000000"/>
                </a:solidFill>
                <a:latin typeface="AAVGFJ+Calibri"/>
                <a:cs typeface="AAVGFJ+Calibri"/>
              </a:rPr>
              <a:t>Each</a:t>
            </a:r>
            <a:r>
              <a:rPr sz="2400" spc="15" dirty="0">
                <a:solidFill>
                  <a:srgbClr val="000000"/>
                </a:solidFill>
                <a:latin typeface="AAVGFJ+Calibri"/>
                <a:cs typeface="AAVGFJ+Calibri"/>
              </a:rPr>
              <a:t> </a:t>
            </a:r>
            <a:r>
              <a:rPr sz="2400" dirty="0">
                <a:solidFill>
                  <a:srgbClr val="000000"/>
                </a:solidFill>
                <a:latin typeface="AAVGFJ+Calibri"/>
                <a:cs typeface="AAVGFJ+Calibri"/>
              </a:rPr>
              <a:t>element is accessed</a:t>
            </a:r>
          </a:p>
          <a:p>
            <a:pPr marL="0" marR="0">
              <a:lnSpc>
                <a:spcPts val="2400"/>
              </a:lnSpc>
              <a:spcBef>
                <a:spcPts val="480"/>
              </a:spcBef>
              <a:spcAft>
                <a:spcPts val="0"/>
              </a:spcAft>
            </a:pP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N indicies, each of which </a:t>
            </a:r>
            <a:r>
              <a:rPr sz="2400" spc="-11" dirty="0">
                <a:solidFill>
                  <a:srgbClr val="000000"/>
                </a:solidFill>
                <a:latin typeface="AAVGFJ+Calibri"/>
                <a:cs typeface="AAVGFJ+Calibri"/>
              </a:rPr>
              <a:t>represents</a:t>
            </a:r>
            <a:r>
              <a:rPr sz="2400" spc="14" dirty="0">
                <a:solidFill>
                  <a:srgbClr val="000000"/>
                </a:solidFill>
                <a:latin typeface="AAVGFJ+Calibri"/>
                <a:cs typeface="AAVGFJ+Calibri"/>
              </a:rPr>
              <a:t> </a:t>
            </a:r>
            <a:r>
              <a:rPr sz="2400" dirty="0">
                <a:solidFill>
                  <a:srgbClr val="000000"/>
                </a:solidFill>
                <a:latin typeface="AAVGFJ+Calibri"/>
                <a:cs typeface="AAVGFJ+Calibri"/>
              </a:rPr>
              <a:t>the element's position within that</a:t>
            </a:r>
            <a:r>
              <a:rPr sz="2400" spc="12" dirty="0">
                <a:solidFill>
                  <a:srgbClr val="000000"/>
                </a:solidFill>
                <a:latin typeface="AAVGFJ+Calibri"/>
                <a:cs typeface="AAVGFJ+Calibri"/>
              </a:rPr>
              <a:t> </a:t>
            </a:r>
            <a:r>
              <a:rPr sz="2400" dirty="0">
                <a:solidFill>
                  <a:srgbClr val="000000"/>
                </a:solidFill>
                <a:latin typeface="AAVGFJ+Calibri"/>
                <a:cs typeface="AAVGFJ+Calibri"/>
              </a:rPr>
              <a:t>dimension.</a:t>
            </a:r>
          </a:p>
          <a:p>
            <a:pPr marL="0" marR="0">
              <a:lnSpc>
                <a:spcPts val="2400"/>
              </a:lnSpc>
              <a:spcBef>
                <a:spcPts val="429"/>
              </a:spcBef>
              <a:spcAft>
                <a:spcPts val="0"/>
              </a:spcAft>
            </a:pPr>
            <a:r>
              <a:rPr sz="2400" dirty="0">
                <a:solidFill>
                  <a:srgbClr val="000000"/>
                </a:solidFill>
                <a:latin typeface="AAVGFJ+Calibri"/>
                <a:cs typeface="AAVGFJ+Calibri"/>
              </a:rPr>
              <a:t>Declaration </a:t>
            </a:r>
            <a:r>
              <a:rPr sz="2400" spc="-18" dirty="0">
                <a:solidFill>
                  <a:srgbClr val="000000"/>
                </a:solidFill>
                <a:latin typeface="AAVGFJ+Calibri"/>
                <a:cs typeface="AAVGFJ+Calibri"/>
              </a:rPr>
              <a:t>Syntax:</a:t>
            </a:r>
          </a:p>
          <a:p>
            <a:pPr marL="0" marR="0">
              <a:lnSpc>
                <a:spcPts val="2400"/>
              </a:lnSpc>
              <a:spcBef>
                <a:spcPts val="479"/>
              </a:spcBef>
              <a:spcAft>
                <a:spcPts val="0"/>
              </a:spcAft>
            </a:pPr>
            <a:r>
              <a:rPr sz="2400" dirty="0">
                <a:solidFill>
                  <a:srgbClr val="000000"/>
                </a:solidFill>
                <a:latin typeface="AAVGFJ+Calibri"/>
                <a:cs typeface="AAVGFJ+Calibri"/>
              </a:rPr>
              <a:t>data_type</a:t>
            </a:r>
            <a:r>
              <a:rPr sz="2400" spc="10" dirty="0">
                <a:solidFill>
                  <a:srgbClr val="000000"/>
                </a:solidFill>
                <a:latin typeface="AAVGFJ+Calibri"/>
                <a:cs typeface="AAVGFJ+Calibri"/>
              </a:rPr>
              <a:t> </a:t>
            </a:r>
            <a:r>
              <a:rPr sz="2400" dirty="0">
                <a:solidFill>
                  <a:srgbClr val="000000"/>
                </a:solidFill>
                <a:latin typeface="AAVGFJ+Calibri"/>
                <a:cs typeface="AAVGFJ+Calibri"/>
              </a:rPr>
              <a:t>array-name[s1] [s2] [s3].........[sn];</a:t>
            </a:r>
          </a:p>
          <a:p>
            <a:pPr marL="0" marR="0">
              <a:lnSpc>
                <a:spcPts val="2400"/>
              </a:lnSpc>
              <a:spcBef>
                <a:spcPts val="480"/>
              </a:spcBef>
              <a:spcAft>
                <a:spcPts val="0"/>
              </a:spcAft>
            </a:pPr>
            <a:r>
              <a:rPr sz="2400" dirty="0">
                <a:solidFill>
                  <a:srgbClr val="FF0000"/>
                </a:solidFill>
                <a:latin typeface="AAVGFJ+Calibri"/>
                <a:cs typeface="AAVGFJ+Calibri"/>
              </a:rPr>
              <a:t>where</a:t>
            </a:r>
            <a:r>
              <a:rPr sz="2400" spc="13" dirty="0">
                <a:solidFill>
                  <a:srgbClr val="FF0000"/>
                </a:solidFill>
                <a:latin typeface="AAVGFJ+Calibri"/>
                <a:cs typeface="AAVGFJ+Calibri"/>
              </a:rPr>
              <a:t> </a:t>
            </a:r>
            <a:r>
              <a:rPr sz="2400" dirty="0">
                <a:solidFill>
                  <a:srgbClr val="FF0000"/>
                </a:solidFill>
                <a:latin typeface="AAVGFJ+Calibri"/>
                <a:cs typeface="AAVGFJ+Calibri"/>
              </a:rPr>
              <a:t>si</a:t>
            </a:r>
            <a:r>
              <a:rPr sz="2400" spc="545" dirty="0">
                <a:solidFill>
                  <a:srgbClr val="FF0000"/>
                </a:solidFill>
                <a:latin typeface="AAVGFJ+Calibri"/>
                <a:cs typeface="AAVGFJ+Calibri"/>
              </a:rPr>
              <a:t> </a:t>
            </a:r>
            <a:r>
              <a:rPr sz="2400" dirty="0">
                <a:solidFill>
                  <a:srgbClr val="FF0000"/>
                </a:solidFill>
                <a:latin typeface="AAVGFJ+Calibri"/>
                <a:cs typeface="AAVGFJ+Calibri"/>
              </a:rPr>
              <a:t>is the </a:t>
            </a:r>
            <a:r>
              <a:rPr sz="2400" spc="-18" dirty="0">
                <a:solidFill>
                  <a:srgbClr val="FF0000"/>
                </a:solidFill>
                <a:latin typeface="AAVGFJ+Calibri"/>
                <a:cs typeface="AAVGFJ+Calibri"/>
              </a:rPr>
              <a:t>size</a:t>
            </a:r>
            <a:r>
              <a:rPr sz="2400" spc="21" dirty="0">
                <a:solidFill>
                  <a:srgbClr val="FF0000"/>
                </a:solidFill>
                <a:latin typeface="AAVGFJ+Calibri"/>
                <a:cs typeface="AAVGFJ+Calibri"/>
              </a:rPr>
              <a:t> </a:t>
            </a:r>
            <a:r>
              <a:rPr sz="2400" dirty="0">
                <a:solidFill>
                  <a:srgbClr val="FF0000"/>
                </a:solidFill>
                <a:latin typeface="AAVGFJ+Calibri"/>
                <a:cs typeface="AAVGFJ+Calibri"/>
              </a:rPr>
              <a:t>of the ith dimension. .n-dimensional </a:t>
            </a:r>
            <a:r>
              <a:rPr sz="2400" spc="-24" dirty="0">
                <a:solidFill>
                  <a:srgbClr val="FF0000"/>
                </a:solidFill>
                <a:latin typeface="AAVGFJ+Calibri"/>
                <a:cs typeface="AAVGFJ+Calibri"/>
              </a:rPr>
              <a:t>array</a:t>
            </a:r>
            <a:r>
              <a:rPr sz="2400" spc="26" dirty="0">
                <a:solidFill>
                  <a:srgbClr val="FF0000"/>
                </a:solidFill>
                <a:latin typeface="AAVGFJ+Calibri"/>
                <a:cs typeface="AAVGFJ+Calibri"/>
              </a:rPr>
              <a:t> </a:t>
            </a:r>
            <a:r>
              <a:rPr sz="2400" dirty="0">
                <a:solidFill>
                  <a:srgbClr val="FF0000"/>
                </a:solidFill>
                <a:latin typeface="AAVGFJ+Calibri"/>
                <a:cs typeface="AAVGFJ+Calibri"/>
              </a:rPr>
              <a:t>will </a:t>
            </a:r>
            <a:r>
              <a:rPr sz="2400" spc="-22" dirty="0">
                <a:solidFill>
                  <a:srgbClr val="FF0000"/>
                </a:solidFill>
                <a:latin typeface="AAVGFJ+Calibri"/>
                <a:cs typeface="AAVGFJ+Calibri"/>
              </a:rPr>
              <a:t>have</a:t>
            </a:r>
            <a:r>
              <a:rPr sz="2400" spc="25" dirty="0">
                <a:solidFill>
                  <a:srgbClr val="FF0000"/>
                </a:solidFill>
                <a:latin typeface="AAVGFJ+Calibri"/>
                <a:cs typeface="AAVGFJ+Calibri"/>
              </a:rPr>
              <a:t> </a:t>
            </a:r>
            <a:r>
              <a:rPr sz="2400" dirty="0">
                <a:solidFill>
                  <a:srgbClr val="FF0000"/>
                </a:solidFill>
                <a:latin typeface="AAVGFJ+Calibri"/>
                <a:cs typeface="AAVGFJ+Calibri"/>
              </a:rPr>
              <a:t>n subscripts</a:t>
            </a:r>
          </a:p>
          <a:p>
            <a:pPr marL="0" marR="0">
              <a:lnSpc>
                <a:spcPts val="2400"/>
              </a:lnSpc>
              <a:spcBef>
                <a:spcPts val="479"/>
              </a:spcBef>
              <a:spcAft>
                <a:spcPts val="0"/>
              </a:spcAft>
            </a:pPr>
            <a:r>
              <a:rPr sz="2400" spc="-19" dirty="0">
                <a:solidFill>
                  <a:srgbClr val="FF0000"/>
                </a:solidFill>
                <a:latin typeface="AAVGFJ+Calibri"/>
                <a:cs typeface="AAVGFJ+Calibri"/>
              </a:rPr>
              <a:t>therefore</a:t>
            </a:r>
            <a:r>
              <a:rPr sz="2400" spc="23" dirty="0">
                <a:solidFill>
                  <a:srgbClr val="FF0000"/>
                </a:solidFill>
                <a:latin typeface="AAVGFJ+Calibri"/>
                <a:cs typeface="AAVGFJ+Calibri"/>
              </a:rPr>
              <a:t> </a:t>
            </a:r>
            <a:r>
              <a:rPr sz="2400" dirty="0">
                <a:solidFill>
                  <a:srgbClr val="FF0000"/>
                </a:solidFill>
                <a:latin typeface="AAVGFJ+Calibri"/>
                <a:cs typeface="AAVGFJ+Calibri"/>
              </a:rPr>
              <a:t>n looping </a:t>
            </a:r>
            <a:r>
              <a:rPr sz="2400" spc="-14" dirty="0">
                <a:solidFill>
                  <a:srgbClr val="FF0000"/>
                </a:solidFill>
                <a:latin typeface="AAVGFJ+Calibri"/>
                <a:cs typeface="AAVGFJ+Calibri"/>
              </a:rPr>
              <a:t>statements.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532923"/>
            <a:ext cx="7452881" cy="513715"/>
          </a:xfrm>
          <a:prstGeom prst="rect">
            <a:avLst/>
          </a:prstGeom>
        </p:spPr>
        <p:txBody>
          <a:bodyPr vert="horz" wrap="square" lIns="0" tIns="0" rIns="0" bIns="0" rtlCol="0">
            <a:spAutoFit/>
          </a:bodyPr>
          <a:lstStyle/>
          <a:p>
            <a:pPr marL="0" marR="0">
              <a:lnSpc>
                <a:spcPts val="3745"/>
              </a:lnSpc>
              <a:spcBef>
                <a:spcPts val="0"/>
              </a:spcBef>
              <a:spcAft>
                <a:spcPts val="0"/>
              </a:spcAft>
            </a:pPr>
            <a:r>
              <a:rPr sz="3750" spc="-55" dirty="0">
                <a:solidFill>
                  <a:srgbClr val="FF0000"/>
                </a:solidFill>
                <a:latin typeface="HWPIMB+Calibri-Light"/>
                <a:cs typeface="HWPIMB+Calibri-Light"/>
              </a:rPr>
              <a:t>MULTI</a:t>
            </a:r>
            <a:r>
              <a:rPr sz="3750" spc="62" dirty="0">
                <a:solidFill>
                  <a:srgbClr val="FF0000"/>
                </a:solidFill>
                <a:latin typeface="HWPIMB+Calibri-Light"/>
                <a:cs typeface="HWPIMB+Calibri-Light"/>
              </a:rPr>
              <a:t> </a:t>
            </a:r>
            <a:r>
              <a:rPr sz="3750" dirty="0">
                <a:solidFill>
                  <a:srgbClr val="FF0000"/>
                </a:solidFill>
                <a:latin typeface="HWPIMB+Calibri-Light"/>
                <a:cs typeface="HWPIMB+Calibri-Light"/>
              </a:rPr>
              <a:t>DIMENSIONAL </a:t>
            </a:r>
            <a:r>
              <a:rPr sz="3750" spc="-24" dirty="0">
                <a:solidFill>
                  <a:srgbClr val="FF0000"/>
                </a:solidFill>
                <a:latin typeface="HWPIMB+Calibri-Light"/>
                <a:cs typeface="HWPIMB+Calibri-Light"/>
              </a:rPr>
              <a:t>ARRAYS(Contd..)</a:t>
            </a:r>
          </a:p>
        </p:txBody>
      </p:sp>
      <p:sp>
        <p:nvSpPr>
          <p:cNvPr id="4" name="object 4"/>
          <p:cNvSpPr txBox="1"/>
          <p:nvPr/>
        </p:nvSpPr>
        <p:spPr>
          <a:xfrm>
            <a:off x="419519" y="1359954"/>
            <a:ext cx="10478601" cy="1805940"/>
          </a:xfrm>
          <a:prstGeom prst="rect">
            <a:avLst/>
          </a:prstGeom>
        </p:spPr>
        <p:txBody>
          <a:bodyPr vert="horz" wrap="square" lIns="0" tIns="0" rIns="0" bIns="0" rtlCol="0">
            <a:spAutoFit/>
          </a:bodyPr>
          <a:lstStyle/>
          <a:p>
            <a:pPr marL="0" marR="0">
              <a:lnSpc>
                <a:spcPts val="2400"/>
              </a:lnSpc>
              <a:spcBef>
                <a:spcPts val="0"/>
              </a:spcBef>
              <a:spcAft>
                <a:spcPts val="0"/>
              </a:spcAft>
            </a:pPr>
            <a:r>
              <a:rPr sz="2400" spc="-36" dirty="0">
                <a:solidFill>
                  <a:srgbClr val="FF0000"/>
                </a:solidFill>
                <a:latin typeface="OJWNPN+Calibri-Bold"/>
                <a:cs typeface="OJWNPN+Calibri-Bold"/>
              </a:rPr>
              <a:t>MULTI</a:t>
            </a:r>
            <a:r>
              <a:rPr sz="2400" spc="52" dirty="0">
                <a:solidFill>
                  <a:srgbClr val="FF0000"/>
                </a:solidFill>
                <a:latin typeface="OJWNPN+Calibri-Bold"/>
                <a:cs typeface="OJWNPN+Calibri-Bold"/>
              </a:rPr>
              <a:t> </a:t>
            </a:r>
            <a:r>
              <a:rPr sz="2400" dirty="0">
                <a:solidFill>
                  <a:srgbClr val="FF0000"/>
                </a:solidFill>
                <a:latin typeface="OJWNPN+Calibri-Bold"/>
                <a:cs typeface="OJWNPN+Calibri-Bold"/>
              </a:rPr>
              <a:t>DIMENSIONAL</a:t>
            </a:r>
            <a:r>
              <a:rPr sz="2400" spc="16" dirty="0">
                <a:solidFill>
                  <a:srgbClr val="FF0000"/>
                </a:solidFill>
                <a:latin typeface="OJWNPN+Calibri-Bold"/>
                <a:cs typeface="OJWNPN+Calibri-Bold"/>
              </a:rPr>
              <a:t> </a:t>
            </a:r>
            <a:r>
              <a:rPr sz="2400" spc="-40" dirty="0">
                <a:solidFill>
                  <a:srgbClr val="FF0000"/>
                </a:solidFill>
                <a:latin typeface="OJWNPN+Calibri-Bold"/>
                <a:cs typeface="OJWNPN+Calibri-Bold"/>
              </a:rPr>
              <a:t>ARRAYS</a:t>
            </a:r>
          </a:p>
          <a:p>
            <a:pPr marL="0" marR="0">
              <a:lnSpc>
                <a:spcPts val="2400"/>
              </a:lnSpc>
              <a:spcBef>
                <a:spcPts val="479"/>
              </a:spcBef>
              <a:spcAft>
                <a:spcPts val="0"/>
              </a:spcAft>
            </a:pPr>
            <a:r>
              <a:rPr sz="2400" dirty="0">
                <a:solidFill>
                  <a:srgbClr val="000000"/>
                </a:solidFill>
                <a:latin typeface="AAVGFJ+Calibri"/>
                <a:cs typeface="AAVGFJ+Calibri"/>
              </a:rPr>
              <a:t>Declaration </a:t>
            </a:r>
            <a:r>
              <a:rPr sz="2400" spc="-18" dirty="0">
                <a:solidFill>
                  <a:srgbClr val="000000"/>
                </a:solidFill>
                <a:latin typeface="AAVGFJ+Calibri"/>
                <a:cs typeface="AAVGFJ+Calibri"/>
              </a:rPr>
              <a:t>Syntax:</a:t>
            </a:r>
          </a:p>
          <a:p>
            <a:pPr marL="0" marR="0">
              <a:lnSpc>
                <a:spcPts val="2400"/>
              </a:lnSpc>
              <a:spcBef>
                <a:spcPts val="479"/>
              </a:spcBef>
              <a:spcAft>
                <a:spcPts val="0"/>
              </a:spcAft>
            </a:pPr>
            <a:r>
              <a:rPr sz="2400" dirty="0">
                <a:solidFill>
                  <a:srgbClr val="000000"/>
                </a:solidFill>
                <a:latin typeface="OJWNPN+Calibri-Bold"/>
                <a:cs typeface="OJWNPN+Calibri-Bold"/>
              </a:rPr>
              <a:t>data_type</a:t>
            </a:r>
            <a:r>
              <a:rPr sz="2400" spc="25" dirty="0">
                <a:solidFill>
                  <a:srgbClr val="000000"/>
                </a:solidFill>
                <a:latin typeface="OJWNPN+Calibri-Bold"/>
                <a:cs typeface="OJWNPN+Calibri-Bold"/>
              </a:rPr>
              <a:t> </a:t>
            </a:r>
            <a:r>
              <a:rPr sz="2400" dirty="0">
                <a:solidFill>
                  <a:srgbClr val="000000"/>
                </a:solidFill>
                <a:latin typeface="OJWNPN+Calibri-Bold"/>
                <a:cs typeface="OJWNPN+Calibri-Bold"/>
              </a:rPr>
              <a:t>array-name[s1]</a:t>
            </a:r>
            <a:r>
              <a:rPr sz="2400" spc="25" dirty="0">
                <a:solidFill>
                  <a:srgbClr val="000000"/>
                </a:solidFill>
                <a:latin typeface="OJWNPN+Calibri-Bold"/>
                <a:cs typeface="OJWNPN+Calibri-Bold"/>
              </a:rPr>
              <a:t> </a:t>
            </a:r>
            <a:r>
              <a:rPr sz="2400" dirty="0">
                <a:solidFill>
                  <a:srgbClr val="000000"/>
                </a:solidFill>
                <a:latin typeface="OJWNPN+Calibri-Bold"/>
                <a:cs typeface="OJWNPN+Calibri-Bold"/>
              </a:rPr>
              <a:t>[s2]</a:t>
            </a:r>
            <a:r>
              <a:rPr sz="2400" spc="18" dirty="0">
                <a:solidFill>
                  <a:srgbClr val="000000"/>
                </a:solidFill>
                <a:latin typeface="OJWNPN+Calibri-Bold"/>
                <a:cs typeface="OJWNPN+Calibri-Bold"/>
              </a:rPr>
              <a:t> </a:t>
            </a:r>
            <a:r>
              <a:rPr sz="2400" dirty="0">
                <a:solidFill>
                  <a:srgbClr val="000000"/>
                </a:solidFill>
                <a:latin typeface="OJWNPN+Calibri-Bold"/>
                <a:cs typeface="OJWNPN+Calibri-Bold"/>
              </a:rPr>
              <a:t>[s3].........[sn];</a:t>
            </a:r>
          </a:p>
          <a:p>
            <a:pPr marL="0" marR="0">
              <a:lnSpc>
                <a:spcPts val="2400"/>
              </a:lnSpc>
              <a:spcBef>
                <a:spcPts val="430"/>
              </a:spcBef>
              <a:spcAft>
                <a:spcPts val="0"/>
              </a:spcAft>
            </a:pPr>
            <a:r>
              <a:rPr sz="2400" dirty="0">
                <a:solidFill>
                  <a:srgbClr val="000000"/>
                </a:solidFill>
                <a:latin typeface="AAVGFJ+Calibri"/>
                <a:cs typeface="AAVGFJ+Calibri"/>
              </a:rPr>
              <a:t>where</a:t>
            </a:r>
            <a:r>
              <a:rPr sz="2400" spc="13" dirty="0">
                <a:solidFill>
                  <a:srgbClr val="000000"/>
                </a:solidFill>
                <a:latin typeface="AAVGFJ+Calibri"/>
                <a:cs typeface="AAVGFJ+Calibri"/>
              </a:rPr>
              <a:t> </a:t>
            </a:r>
            <a:r>
              <a:rPr sz="2400" dirty="0">
                <a:solidFill>
                  <a:srgbClr val="000000"/>
                </a:solidFill>
                <a:latin typeface="AAVGFJ+Calibri"/>
                <a:cs typeface="AAVGFJ+Calibri"/>
              </a:rPr>
              <a:t>si</a:t>
            </a:r>
            <a:r>
              <a:rPr sz="2400" spc="545" dirty="0">
                <a:solidFill>
                  <a:srgbClr val="000000"/>
                </a:solidFill>
                <a:latin typeface="AAVGFJ+Calibri"/>
                <a:cs typeface="AAVGFJ+Calibri"/>
              </a:rPr>
              <a:t> </a:t>
            </a:r>
            <a:r>
              <a:rPr sz="2400" dirty="0">
                <a:solidFill>
                  <a:srgbClr val="000000"/>
                </a:solidFill>
                <a:latin typeface="AAVGFJ+Calibri"/>
                <a:cs typeface="AAVGFJ+Calibri"/>
              </a:rPr>
              <a:t>is the </a:t>
            </a:r>
            <a:r>
              <a:rPr sz="2400" spc="-18" dirty="0">
                <a:solidFill>
                  <a:srgbClr val="000000"/>
                </a:solidFill>
                <a:latin typeface="AAVGFJ+Calibri"/>
                <a:cs typeface="AAVGFJ+Calibri"/>
              </a:rPr>
              <a:t>size</a:t>
            </a:r>
            <a:r>
              <a:rPr sz="2400" spc="21" dirty="0">
                <a:solidFill>
                  <a:srgbClr val="000000"/>
                </a:solidFill>
                <a:latin typeface="AAVGFJ+Calibri"/>
                <a:cs typeface="AAVGFJ+Calibri"/>
              </a:rPr>
              <a:t> </a:t>
            </a:r>
            <a:r>
              <a:rPr sz="2400" dirty="0">
                <a:solidFill>
                  <a:srgbClr val="000000"/>
                </a:solidFill>
                <a:latin typeface="AAVGFJ+Calibri"/>
                <a:cs typeface="AAVGFJ+Calibri"/>
              </a:rPr>
              <a:t>of the ith dimension. .n-dimensional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will </a:t>
            </a:r>
            <a:r>
              <a:rPr sz="2400" spc="-22" dirty="0">
                <a:solidFill>
                  <a:srgbClr val="000000"/>
                </a:solidFill>
                <a:latin typeface="AAVGFJ+Calibri"/>
                <a:cs typeface="AAVGFJ+Calibri"/>
              </a:rPr>
              <a:t>have</a:t>
            </a:r>
            <a:r>
              <a:rPr sz="2400" spc="25" dirty="0">
                <a:solidFill>
                  <a:srgbClr val="000000"/>
                </a:solidFill>
                <a:latin typeface="AAVGFJ+Calibri"/>
                <a:cs typeface="AAVGFJ+Calibri"/>
              </a:rPr>
              <a:t> </a:t>
            </a:r>
            <a:r>
              <a:rPr sz="2400" dirty="0">
                <a:solidFill>
                  <a:srgbClr val="000000"/>
                </a:solidFill>
                <a:latin typeface="AAVGFJ+Calibri"/>
                <a:cs typeface="AAVGFJ+Calibri"/>
              </a:rPr>
              <a:t>n subscripts</a:t>
            </a:r>
          </a:p>
          <a:p>
            <a:pPr marL="0" marR="0">
              <a:lnSpc>
                <a:spcPts val="2400"/>
              </a:lnSpc>
              <a:spcBef>
                <a:spcPts val="480"/>
              </a:spcBef>
              <a:spcAft>
                <a:spcPts val="0"/>
              </a:spcAft>
            </a:pPr>
            <a:r>
              <a:rPr sz="2400" spc="-19" dirty="0">
                <a:solidFill>
                  <a:srgbClr val="000000"/>
                </a:solidFill>
                <a:latin typeface="AAVGFJ+Calibri"/>
                <a:cs typeface="AAVGFJ+Calibri"/>
              </a:rPr>
              <a:t>therefore</a:t>
            </a:r>
            <a:r>
              <a:rPr sz="2400" spc="23" dirty="0">
                <a:solidFill>
                  <a:srgbClr val="000000"/>
                </a:solidFill>
                <a:latin typeface="AAVGFJ+Calibri"/>
                <a:cs typeface="AAVGFJ+Calibri"/>
              </a:rPr>
              <a:t> </a:t>
            </a:r>
            <a:r>
              <a:rPr sz="2400" dirty="0">
                <a:solidFill>
                  <a:srgbClr val="000000"/>
                </a:solidFill>
                <a:latin typeface="AAVGFJ+Calibri"/>
                <a:cs typeface="AAVGFJ+Calibri"/>
              </a:rPr>
              <a:t>n looping </a:t>
            </a:r>
            <a:r>
              <a:rPr sz="2400" spc="-14" dirty="0">
                <a:solidFill>
                  <a:srgbClr val="000000"/>
                </a:solidFill>
                <a:latin typeface="AAVGFJ+Calibri"/>
                <a:cs typeface="AAVGFJ+Calibri"/>
              </a:rPr>
              <a:t>statements.</a:t>
            </a:r>
          </a:p>
        </p:txBody>
      </p:sp>
      <p:sp>
        <p:nvSpPr>
          <p:cNvPr id="5" name="object 5"/>
          <p:cNvSpPr txBox="1"/>
          <p:nvPr/>
        </p:nvSpPr>
        <p:spPr>
          <a:xfrm>
            <a:off x="419519" y="3554514"/>
            <a:ext cx="11001208" cy="107442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Example</a:t>
            </a:r>
            <a:r>
              <a:rPr sz="2400" spc="12" dirty="0">
                <a:solidFill>
                  <a:srgbClr val="000000"/>
                </a:solidFill>
                <a:latin typeface="AAVGFJ+Calibri"/>
                <a:cs typeface="AAVGFJ+Calibri"/>
              </a:rPr>
              <a:t> </a:t>
            </a:r>
            <a:r>
              <a:rPr sz="2400" dirty="0">
                <a:solidFill>
                  <a:srgbClr val="000000"/>
                </a:solidFill>
                <a:latin typeface="AAVGFJ+Calibri"/>
                <a:cs typeface="AAVGFJ+Calibri"/>
              </a:rPr>
              <a:t>: Consider a series of department </a:t>
            </a:r>
            <a:r>
              <a:rPr sz="2400" spc="-18" dirty="0">
                <a:solidFill>
                  <a:srgbClr val="000000"/>
                </a:solidFill>
                <a:latin typeface="AAVGFJ+Calibri"/>
                <a:cs typeface="AAVGFJ+Calibri"/>
              </a:rPr>
              <a:t>stores</a:t>
            </a:r>
            <a:r>
              <a:rPr sz="2400" spc="22" dirty="0">
                <a:solidFill>
                  <a:srgbClr val="000000"/>
                </a:solidFill>
                <a:latin typeface="AAVGFJ+Calibri"/>
                <a:cs typeface="AAVGFJ+Calibri"/>
              </a:rPr>
              <a:t> </a:t>
            </a:r>
            <a:r>
              <a:rPr sz="2400" dirty="0">
                <a:solidFill>
                  <a:srgbClr val="000000"/>
                </a:solidFill>
                <a:latin typeface="AAVGFJ+Calibri"/>
                <a:cs typeface="AAVGFJ+Calibri"/>
              </a:rPr>
              <a:t>(10 </a:t>
            </a:r>
            <a:r>
              <a:rPr sz="2400" spc="-12" dirty="0">
                <a:solidFill>
                  <a:srgbClr val="000000"/>
                </a:solidFill>
                <a:latin typeface="AAVGFJ+Calibri"/>
                <a:cs typeface="AAVGFJ+Calibri"/>
              </a:rPr>
              <a:t>stores).</a:t>
            </a:r>
            <a:r>
              <a:rPr sz="2400" spc="14" dirty="0">
                <a:solidFill>
                  <a:srgbClr val="000000"/>
                </a:solidFill>
                <a:latin typeface="AAVGFJ+Calibri"/>
                <a:cs typeface="AAVGFJ+Calibri"/>
              </a:rPr>
              <a:t> </a:t>
            </a:r>
            <a:r>
              <a:rPr sz="2400" dirty="0">
                <a:solidFill>
                  <a:srgbClr val="000000"/>
                </a:solidFill>
                <a:latin typeface="AAVGFJ+Calibri"/>
                <a:cs typeface="AAVGFJ+Calibri"/>
              </a:rPr>
              <a:t>Monthly </a:t>
            </a:r>
            <a:r>
              <a:rPr sz="2400" spc="-13" dirty="0">
                <a:solidFill>
                  <a:srgbClr val="000000"/>
                </a:solidFill>
                <a:latin typeface="AAVGFJ+Calibri"/>
                <a:cs typeface="AAVGFJ+Calibri"/>
              </a:rPr>
              <a:t>total</a:t>
            </a:r>
            <a:r>
              <a:rPr sz="2400" spc="15" dirty="0">
                <a:solidFill>
                  <a:srgbClr val="000000"/>
                </a:solidFill>
                <a:latin typeface="AAVGFJ+Calibri"/>
                <a:cs typeface="AAVGFJ+Calibri"/>
              </a:rPr>
              <a:t> </a:t>
            </a:r>
            <a:r>
              <a:rPr sz="2400" dirty="0">
                <a:solidFill>
                  <a:srgbClr val="000000"/>
                </a:solidFill>
                <a:latin typeface="AAVGFJ+Calibri"/>
                <a:cs typeface="AAVGFJ+Calibri"/>
              </a:rPr>
              <a:t>sales figures</a:t>
            </a:r>
          </a:p>
          <a:p>
            <a:pPr marL="0" marR="0">
              <a:lnSpc>
                <a:spcPts val="2400"/>
              </a:lnSpc>
              <a:spcBef>
                <a:spcPts val="480"/>
              </a:spcBef>
              <a:spcAft>
                <a:spcPts val="0"/>
              </a:spcAft>
            </a:pPr>
            <a:r>
              <a:rPr sz="2400" spc="-11" dirty="0">
                <a:solidFill>
                  <a:srgbClr val="000000"/>
                </a:solidFill>
                <a:latin typeface="AAVGFJ+Calibri"/>
                <a:cs typeface="AAVGFJ+Calibri"/>
              </a:rPr>
              <a:t>must</a:t>
            </a:r>
            <a:r>
              <a:rPr sz="2400" spc="14" dirty="0">
                <a:solidFill>
                  <a:srgbClr val="000000"/>
                </a:solidFill>
                <a:latin typeface="AAVGFJ+Calibri"/>
                <a:cs typeface="AAVGFJ+Calibri"/>
              </a:rPr>
              <a:t> </a:t>
            </a:r>
            <a:r>
              <a:rPr sz="2400" dirty="0">
                <a:solidFill>
                  <a:srgbClr val="000000"/>
                </a:solidFill>
                <a:latin typeface="AAVGFJ+Calibri"/>
                <a:cs typeface="AAVGFJ+Calibri"/>
              </a:rPr>
              <a:t>be </a:t>
            </a:r>
            <a:r>
              <a:rPr sz="2400" spc="-32" dirty="0">
                <a:solidFill>
                  <a:srgbClr val="000000"/>
                </a:solidFill>
                <a:latin typeface="AAVGFJ+Calibri"/>
                <a:cs typeface="AAVGFJ+Calibri"/>
              </a:rPr>
              <a:t>kept</a:t>
            </a:r>
            <a:r>
              <a:rPr sz="2400" spc="36" dirty="0">
                <a:solidFill>
                  <a:srgbClr val="000000"/>
                </a:solidFill>
                <a:latin typeface="AAVGFJ+Calibri"/>
                <a:cs typeface="AAVGFJ+Calibri"/>
              </a:rPr>
              <a:t> </a:t>
            </a:r>
            <a:r>
              <a:rPr sz="2400" spc="-29" dirty="0">
                <a:solidFill>
                  <a:srgbClr val="000000"/>
                </a:solidFill>
                <a:latin typeface="AAVGFJ+Calibri"/>
                <a:cs typeface="AAVGFJ+Calibri"/>
              </a:rPr>
              <a:t>for</a:t>
            </a:r>
            <a:r>
              <a:rPr sz="2400" spc="30" dirty="0">
                <a:solidFill>
                  <a:srgbClr val="000000"/>
                </a:solidFill>
                <a:latin typeface="AAVGFJ+Calibri"/>
                <a:cs typeface="AAVGFJ+Calibri"/>
              </a:rPr>
              <a:t> </a:t>
            </a:r>
            <a:r>
              <a:rPr sz="2400" dirty="0">
                <a:solidFill>
                  <a:srgbClr val="000000"/>
                </a:solidFill>
                <a:latin typeface="AAVGFJ+Calibri"/>
                <a:cs typeface="AAVGFJ+Calibri"/>
              </a:rPr>
              <a:t>each </a:t>
            </a:r>
            <a:r>
              <a:rPr sz="2400" spc="-10" dirty="0">
                <a:solidFill>
                  <a:srgbClr val="000000"/>
                </a:solidFill>
                <a:latin typeface="AAVGFJ+Calibri"/>
                <a:cs typeface="AAVGFJ+Calibri"/>
              </a:rPr>
              <a:t>item</a:t>
            </a:r>
            <a:r>
              <a:rPr sz="2400" spc="10" dirty="0">
                <a:solidFill>
                  <a:srgbClr val="000000"/>
                </a:solidFill>
                <a:latin typeface="AAVGFJ+Calibri"/>
                <a:cs typeface="AAVGFJ+Calibri"/>
              </a:rPr>
              <a:t>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spc="-18" dirty="0">
                <a:solidFill>
                  <a:srgbClr val="000000"/>
                </a:solidFill>
                <a:latin typeface="AAVGFJ+Calibri"/>
                <a:cs typeface="AAVGFJ+Calibri"/>
              </a:rPr>
              <a:t>store.</a:t>
            </a:r>
            <a:r>
              <a:rPr sz="2400" spc="19" dirty="0">
                <a:solidFill>
                  <a:srgbClr val="000000"/>
                </a:solidFill>
                <a:latin typeface="AAVGFJ+Calibri"/>
                <a:cs typeface="AAVGFJ+Calibri"/>
              </a:rPr>
              <a:t> </a:t>
            </a:r>
            <a:r>
              <a:rPr sz="2400" dirty="0">
                <a:solidFill>
                  <a:srgbClr val="000000"/>
                </a:solidFill>
                <a:latin typeface="AAVGFJ+Calibri"/>
                <a:cs typeface="AAVGFJ+Calibri"/>
              </a:rPr>
              <a:t>Assuming the </a:t>
            </a:r>
            <a:r>
              <a:rPr sz="2400" spc="-22" dirty="0">
                <a:solidFill>
                  <a:srgbClr val="000000"/>
                </a:solidFill>
                <a:latin typeface="AAVGFJ+Calibri"/>
                <a:cs typeface="AAVGFJ+Calibri"/>
              </a:rPr>
              <a:t>store</a:t>
            </a:r>
            <a:r>
              <a:rPr sz="2400" spc="26" dirty="0">
                <a:solidFill>
                  <a:srgbClr val="000000"/>
                </a:solidFill>
                <a:latin typeface="AAVGFJ+Calibri"/>
                <a:cs typeface="AAVGFJ+Calibri"/>
              </a:rPr>
              <a:t> </a:t>
            </a:r>
            <a:r>
              <a:rPr sz="2400" dirty="0">
                <a:solidFill>
                  <a:srgbClr val="000000"/>
                </a:solidFill>
                <a:latin typeface="AAVGFJ+Calibri"/>
                <a:cs typeface="AAVGFJ+Calibri"/>
              </a:rPr>
              <a:t>sells 50 </a:t>
            </a:r>
            <a:r>
              <a:rPr sz="2400" spc="-19" dirty="0">
                <a:solidFill>
                  <a:srgbClr val="000000"/>
                </a:solidFill>
                <a:latin typeface="AAVGFJ+Calibri"/>
                <a:cs typeface="AAVGFJ+Calibri"/>
              </a:rPr>
              <a:t>different</a:t>
            </a:r>
            <a:r>
              <a:rPr sz="2400" spc="23" dirty="0">
                <a:solidFill>
                  <a:srgbClr val="000000"/>
                </a:solidFill>
                <a:latin typeface="AAVGFJ+Calibri"/>
                <a:cs typeface="AAVGFJ+Calibri"/>
              </a:rPr>
              <a:t> </a:t>
            </a:r>
            <a:r>
              <a:rPr sz="2400" dirty="0">
                <a:solidFill>
                  <a:srgbClr val="000000"/>
                </a:solidFill>
                <a:latin typeface="AAVGFJ+Calibri"/>
                <a:cs typeface="AAVGFJ+Calibri"/>
              </a:rPr>
              <a:t>items. </a:t>
            </a:r>
            <a:r>
              <a:rPr sz="2400" spc="-90" dirty="0">
                <a:solidFill>
                  <a:srgbClr val="000000"/>
                </a:solidFill>
                <a:latin typeface="AAVGFJ+Calibri"/>
                <a:cs typeface="AAVGFJ+Calibri"/>
              </a:rPr>
              <a:t>We</a:t>
            </a:r>
            <a:r>
              <a:rPr sz="2400" spc="93" dirty="0">
                <a:solidFill>
                  <a:srgbClr val="000000"/>
                </a:solidFill>
                <a:latin typeface="AAVGFJ+Calibri"/>
                <a:cs typeface="AAVGFJ+Calibri"/>
              </a:rPr>
              <a:t> </a:t>
            </a:r>
            <a:r>
              <a:rPr sz="2400" spc="-10" dirty="0">
                <a:solidFill>
                  <a:srgbClr val="000000"/>
                </a:solidFill>
                <a:latin typeface="AAVGFJ+Calibri"/>
                <a:cs typeface="AAVGFJ+Calibri"/>
              </a:rPr>
              <a:t>can</a:t>
            </a:r>
          </a:p>
          <a:p>
            <a:pPr marL="0" marR="0">
              <a:lnSpc>
                <a:spcPts val="2400"/>
              </a:lnSpc>
              <a:spcBef>
                <a:spcPts val="479"/>
              </a:spcBef>
              <a:spcAft>
                <a:spcPts val="0"/>
              </a:spcAft>
            </a:pPr>
            <a:r>
              <a:rPr sz="2400" dirty="0">
                <a:solidFill>
                  <a:srgbClr val="000000"/>
                </a:solidFill>
                <a:latin typeface="AAVGFJ+Calibri"/>
                <a:cs typeface="AAVGFJ+Calibri"/>
              </a:rPr>
              <a:t>define an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as:</a:t>
            </a:r>
          </a:p>
        </p:txBody>
      </p:sp>
      <p:sp>
        <p:nvSpPr>
          <p:cNvPr id="6" name="object 6"/>
          <p:cNvSpPr txBox="1"/>
          <p:nvPr/>
        </p:nvSpPr>
        <p:spPr>
          <a:xfrm>
            <a:off x="419519" y="5017554"/>
            <a:ext cx="327814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3" dirty="0">
                <a:solidFill>
                  <a:srgbClr val="000000"/>
                </a:solidFill>
                <a:latin typeface="AAVGFJ+Calibri"/>
                <a:cs typeface="AAVGFJ+Calibri"/>
              </a:rPr>
              <a:t>int</a:t>
            </a:r>
            <a:r>
              <a:rPr sz="2400" spc="562" dirty="0">
                <a:solidFill>
                  <a:srgbClr val="000000"/>
                </a:solidFill>
                <a:latin typeface="AAVGFJ+Calibri"/>
                <a:cs typeface="AAVGFJ+Calibri"/>
              </a:rPr>
              <a:t> </a:t>
            </a:r>
            <a:r>
              <a:rPr sz="2400" dirty="0">
                <a:solidFill>
                  <a:srgbClr val="000000"/>
                </a:solidFill>
                <a:latin typeface="AAVGFJ+Calibri"/>
                <a:cs typeface="AAVGFJ+Calibri"/>
              </a:rPr>
              <a:t>sales[ 10 ] [ 50 ][ 12 ];</a:t>
            </a:r>
          </a:p>
        </p:txBody>
      </p:sp>
      <p:sp>
        <p:nvSpPr>
          <p:cNvPr id="7" name="object 7"/>
          <p:cNvSpPr txBox="1"/>
          <p:nvPr/>
        </p:nvSpPr>
        <p:spPr>
          <a:xfrm>
            <a:off x="419519" y="5749074"/>
            <a:ext cx="5602079"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26" dirty="0">
                <a:solidFill>
                  <a:srgbClr val="000000"/>
                </a:solidFill>
                <a:latin typeface="AAVGFJ+Calibri"/>
                <a:cs typeface="AAVGFJ+Calibri"/>
              </a:rPr>
              <a:t>keep</a:t>
            </a:r>
            <a:r>
              <a:rPr sz="2400" spc="28" dirty="0">
                <a:solidFill>
                  <a:srgbClr val="000000"/>
                </a:solidFill>
                <a:latin typeface="AAVGFJ+Calibri"/>
                <a:cs typeface="AAVGFJ+Calibri"/>
              </a:rPr>
              <a:t> </a:t>
            </a:r>
            <a:r>
              <a:rPr sz="2400" spc="-13" dirty="0">
                <a:solidFill>
                  <a:srgbClr val="000000"/>
                </a:solidFill>
                <a:latin typeface="AAVGFJ+Calibri"/>
                <a:cs typeface="AAVGFJ+Calibri"/>
              </a:rPr>
              <a:t>track</a:t>
            </a:r>
            <a:r>
              <a:rPr sz="2400" spc="14" dirty="0">
                <a:solidFill>
                  <a:srgbClr val="000000"/>
                </a:solidFill>
                <a:latin typeface="AAVGFJ+Calibri"/>
                <a:cs typeface="AAVGFJ+Calibri"/>
              </a:rPr>
              <a:t> </a:t>
            </a:r>
            <a:r>
              <a:rPr sz="2400" dirty="0">
                <a:solidFill>
                  <a:srgbClr val="000000"/>
                </a:solidFill>
                <a:latin typeface="AAVGFJ+Calibri"/>
                <a:cs typeface="AAVGFJ+Calibri"/>
              </a:rPr>
              <a:t>of the </a:t>
            </a:r>
            <a:r>
              <a:rPr sz="2400" spc="-13" dirty="0">
                <a:solidFill>
                  <a:srgbClr val="000000"/>
                </a:solidFill>
                <a:latin typeface="AAVGFJ+Calibri"/>
                <a:cs typeface="AAVGFJ+Calibri"/>
              </a:rPr>
              <a:t>total</a:t>
            </a:r>
            <a:r>
              <a:rPr sz="2400" spc="15" dirty="0">
                <a:solidFill>
                  <a:srgbClr val="000000"/>
                </a:solidFill>
                <a:latin typeface="AAVGFJ+Calibri"/>
                <a:cs typeface="AAVGFJ+Calibri"/>
              </a:rPr>
              <a:t> </a:t>
            </a:r>
            <a:r>
              <a:rPr sz="2400" dirty="0">
                <a:solidFill>
                  <a:srgbClr val="000000"/>
                </a:solidFill>
                <a:latin typeface="AAVGFJ+Calibri"/>
                <a:cs typeface="AAVGFJ+Calibri"/>
              </a:rPr>
              <a:t>sales every month.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096000"/>
          </a:xfrm>
        </p:spPr>
        <p:txBody>
          <a:bodyPr>
            <a:normAutofit/>
          </a:bodyPr>
          <a:lstStyle/>
          <a:p>
            <a:pPr algn="just" fontAlgn="base"/>
            <a:r>
              <a:rPr lang="en-US" sz="2800" b="1" dirty="0">
                <a:solidFill>
                  <a:srgbClr val="FF0000"/>
                </a:solidFill>
                <a:latin typeface="Garamond" panose="02020404030301010803" pitchFamily="18" charset="0"/>
              </a:rPr>
              <a:t>Searching</a:t>
            </a:r>
          </a:p>
          <a:p>
            <a:pPr algn="just" fontAlgn="base"/>
            <a:r>
              <a:rPr lang="en-US" sz="2800" dirty="0">
                <a:solidFill>
                  <a:srgbClr val="002060"/>
                </a:solidFill>
                <a:latin typeface="Garamond" panose="02020404030301010803" pitchFamily="18" charset="0"/>
              </a:rPr>
              <a:t>Searching operation is to find an element in an array. The searching operations is performed in two ways.</a:t>
            </a:r>
          </a:p>
          <a:p>
            <a:pPr algn="just" fontAlgn="base"/>
            <a:r>
              <a:rPr lang="en-US" sz="2800" dirty="0">
                <a:solidFill>
                  <a:srgbClr val="002060"/>
                </a:solidFill>
                <a:latin typeface="Garamond" panose="02020404030301010803" pitchFamily="18" charset="0"/>
              </a:rPr>
              <a:t>1.Linear search (Sequential search)</a:t>
            </a:r>
          </a:p>
          <a:p>
            <a:pPr algn="just" fontAlgn="base"/>
            <a:r>
              <a:rPr lang="en-US" sz="2800" dirty="0">
                <a:solidFill>
                  <a:srgbClr val="002060"/>
                </a:solidFill>
                <a:latin typeface="Garamond" panose="02020404030301010803" pitchFamily="18" charset="0"/>
              </a:rPr>
              <a:t>2.Binary search</a:t>
            </a:r>
          </a:p>
          <a:p>
            <a:pPr algn="just" fontAlgn="base"/>
            <a:r>
              <a:rPr lang="en-US" sz="2800" b="1" dirty="0">
                <a:solidFill>
                  <a:srgbClr val="FF0000"/>
                </a:solidFill>
                <a:latin typeface="Garamond" panose="02020404030301010803" pitchFamily="18" charset="0"/>
              </a:rPr>
              <a:t>Linear search</a:t>
            </a:r>
          </a:p>
          <a:p>
            <a:pPr algn="just" fontAlgn="base"/>
            <a:r>
              <a:rPr lang="en-US" sz="2800" b="1" dirty="0">
                <a:solidFill>
                  <a:srgbClr val="FF0000"/>
                </a:solidFill>
                <a:latin typeface="Garamond" panose="02020404030301010803" pitchFamily="18" charset="0"/>
              </a:rPr>
              <a:t>  * </a:t>
            </a:r>
            <a:r>
              <a:rPr lang="en-US" sz="2800" dirty="0">
                <a:latin typeface="Garamond" panose="02020404030301010803" pitchFamily="18" charset="0"/>
              </a:rPr>
              <a:t>Linear search is the simplest search algorithm. </a:t>
            </a:r>
          </a:p>
          <a:p>
            <a:pPr algn="just" fontAlgn="base"/>
            <a:r>
              <a:rPr lang="en-US" sz="2800" dirty="0">
                <a:latin typeface="Garamond" panose="02020404030301010803" pitchFamily="18" charset="0"/>
              </a:rPr>
              <a:t>  *In this type of search, a sequential search is made over all items one by one. </a:t>
            </a:r>
          </a:p>
          <a:p>
            <a:pPr algn="just" fontAlgn="base"/>
            <a:r>
              <a:rPr lang="en-US" sz="2800" dirty="0">
                <a:latin typeface="Garamond" panose="02020404030301010803" pitchFamily="18" charset="0"/>
              </a:rPr>
              <a:t>   *Every item is checked and if a match is found then that particular item is returned, otherwise the search continues till the end of the data collection.</a:t>
            </a:r>
          </a:p>
          <a:p>
            <a:pPr algn="just" fontAlgn="base"/>
            <a:endParaRPr lang="en-US" sz="2800" dirty="0">
              <a:latin typeface="Garamond" panose="02020404030301010803" pitchFamily="18" charset="0"/>
            </a:endParaRPr>
          </a:p>
          <a:p>
            <a:pPr algn="just" fontAlgn="base"/>
            <a:endParaRPr lang="en-US" sz="2800" b="1" dirty="0">
              <a:solidFill>
                <a:srgbClr val="FF0000"/>
              </a:solidFill>
              <a:latin typeface="Garamond" panose="02020404030301010803" pitchFamily="18" charset="0"/>
            </a:endParaRPr>
          </a:p>
        </p:txBody>
      </p:sp>
    </p:spTree>
    <p:extLst>
      <p:ext uri="{BB962C8B-B14F-4D97-AF65-F5344CB8AC3E}">
        <p14:creationId xmlns:p14="http://schemas.microsoft.com/office/powerpoint/2010/main" val="4217821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096000"/>
          </a:xfrm>
        </p:spPr>
        <p:txBody>
          <a:bodyPr>
            <a:normAutofit/>
          </a:bodyPr>
          <a:lstStyle/>
          <a:p>
            <a:pPr algn="just" fontAlgn="base"/>
            <a:endParaRPr lang="en-US" sz="2800" dirty="0">
              <a:latin typeface="Garamond" panose="02020404030301010803" pitchFamily="18" charset="0"/>
            </a:endParaRPr>
          </a:p>
          <a:p>
            <a:pPr algn="just" fontAlgn="base"/>
            <a:endParaRPr lang="en-US" sz="2800" dirty="0">
              <a:latin typeface="Garamond" panose="02020404030301010803" pitchFamily="18" charset="0"/>
            </a:endParaRPr>
          </a:p>
          <a:p>
            <a:pPr algn="just" fontAlgn="base"/>
            <a:endParaRPr lang="en-US" sz="2800" dirty="0">
              <a:latin typeface="Garamond" panose="02020404030301010803" pitchFamily="18" charset="0"/>
            </a:endParaRPr>
          </a:p>
          <a:p>
            <a:pPr algn="just" fontAlgn="base"/>
            <a:endParaRPr lang="en-US" sz="2800" dirty="0">
              <a:latin typeface="Garamond" panose="02020404030301010803" pitchFamily="18" charset="0"/>
            </a:endParaRPr>
          </a:p>
          <a:p>
            <a:pPr algn="just" fontAlgn="base"/>
            <a:endParaRPr lang="en-US" sz="2800" dirty="0">
              <a:latin typeface="Garamond" panose="02020404030301010803" pitchFamily="18" charset="0"/>
            </a:endParaRPr>
          </a:p>
          <a:p>
            <a:pPr algn="just" fontAlgn="base"/>
            <a:endParaRPr lang="en-US" sz="2800" dirty="0">
              <a:latin typeface="Garamond" panose="02020404030301010803" pitchFamily="18" charset="0"/>
            </a:endParaRPr>
          </a:p>
          <a:p>
            <a:pPr algn="just" fontAlgn="base"/>
            <a:endParaRPr lang="en-US" sz="2800" b="1" dirty="0">
              <a:solidFill>
                <a:srgbClr val="FF0000"/>
              </a:solidFill>
              <a:latin typeface="Garamond" panose="02020404030301010803"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144" y="228601"/>
            <a:ext cx="8353425" cy="300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589" y="3581401"/>
            <a:ext cx="8956532" cy="303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766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77666" y="2459482"/>
            <a:ext cx="6797992" cy="276999"/>
          </a:xfrm>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27709"/>
            <a:ext cx="8991600"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256" y="3657600"/>
            <a:ext cx="8839201"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9252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77666" y="2459482"/>
            <a:ext cx="6797992" cy="276999"/>
          </a:xfrm>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34636"/>
            <a:ext cx="9067800"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197" y="3352800"/>
            <a:ext cx="8991601"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949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77666" y="2459482"/>
            <a:ext cx="6797992" cy="276999"/>
          </a:xfrm>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146" y="0"/>
            <a:ext cx="9157855"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712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04800"/>
            <a:ext cx="8610600" cy="6553200"/>
          </a:xfrm>
        </p:spPr>
        <p:txBody>
          <a:bodyPr>
            <a:normAutofit/>
          </a:bodyPr>
          <a:lstStyle/>
          <a:p>
            <a:pPr algn="just" fontAlgn="base"/>
            <a:r>
              <a:rPr lang="en-US" sz="2800" b="1" dirty="0">
                <a:solidFill>
                  <a:srgbClr val="FF0000"/>
                </a:solidFill>
                <a:latin typeface="Garamond" panose="02020404030301010803" pitchFamily="18" charset="0"/>
              </a:rPr>
              <a:t>Algorithm</a:t>
            </a:r>
          </a:p>
          <a:p>
            <a:pPr algn="just" fontAlgn="base"/>
            <a:r>
              <a:rPr lang="en-US" sz="2800" b="1" dirty="0">
                <a:solidFill>
                  <a:srgbClr val="002060"/>
                </a:solidFill>
                <a:latin typeface="Garamond" panose="02020404030301010803" pitchFamily="18" charset="0"/>
              </a:rPr>
              <a:t>A is an array of N elements</a:t>
            </a:r>
          </a:p>
          <a:p>
            <a:pPr algn="just" fontAlgn="base"/>
            <a:r>
              <a:rPr lang="en-US" sz="2800" b="1" dirty="0">
                <a:solidFill>
                  <a:srgbClr val="002060"/>
                </a:solidFill>
                <a:latin typeface="Garamond" panose="02020404030301010803" pitchFamily="18" charset="0"/>
              </a:rPr>
              <a:t>ITEM is element to be searched</a:t>
            </a:r>
          </a:p>
          <a:p>
            <a:pPr algn="just" fontAlgn="base"/>
            <a:r>
              <a:rPr lang="en-US" sz="2800" b="1" dirty="0">
                <a:solidFill>
                  <a:srgbClr val="002060"/>
                </a:solidFill>
                <a:latin typeface="Garamond" panose="02020404030301010803" pitchFamily="18" charset="0"/>
              </a:rPr>
              <a:t>i is the counter</a:t>
            </a:r>
          </a:p>
          <a:p>
            <a:pPr algn="just" fontAlgn="base"/>
            <a:r>
              <a:rPr lang="en-US" sz="2800" b="1" dirty="0">
                <a:solidFill>
                  <a:srgbClr val="002060"/>
                </a:solidFill>
                <a:latin typeface="Garamond" panose="02020404030301010803" pitchFamily="18" charset="0"/>
              </a:rPr>
              <a:t>Step1: set </a:t>
            </a:r>
            <a:r>
              <a:rPr lang="en-US" sz="2800" b="1" dirty="0" err="1">
                <a:solidFill>
                  <a:srgbClr val="002060"/>
                </a:solidFill>
                <a:latin typeface="Garamond" panose="02020404030301010803" pitchFamily="18" charset="0"/>
              </a:rPr>
              <a:t>i</a:t>
            </a:r>
            <a:r>
              <a:rPr lang="en-US" sz="2800" b="1" dirty="0">
                <a:solidFill>
                  <a:srgbClr val="002060"/>
                </a:solidFill>
                <a:latin typeface="Garamond" panose="02020404030301010803" pitchFamily="18" charset="0"/>
              </a:rPr>
              <a:t>=0; flag=1;</a:t>
            </a:r>
          </a:p>
          <a:p>
            <a:pPr algn="just" fontAlgn="base"/>
            <a:r>
              <a:rPr lang="en-US" sz="2800" b="1" dirty="0">
                <a:solidFill>
                  <a:srgbClr val="002060"/>
                </a:solidFill>
                <a:latin typeface="Garamond" panose="02020404030301010803" pitchFamily="18" charset="0"/>
              </a:rPr>
              <a:t>Step2: repeat step3 and step 4 while(</a:t>
            </a:r>
            <a:r>
              <a:rPr lang="en-US" sz="2800" b="1" dirty="0" err="1">
                <a:solidFill>
                  <a:srgbClr val="002060"/>
                </a:solidFill>
                <a:latin typeface="Garamond" panose="02020404030301010803" pitchFamily="18" charset="0"/>
              </a:rPr>
              <a:t>i</a:t>
            </a:r>
            <a:r>
              <a:rPr lang="en-US" sz="2800" b="1" dirty="0">
                <a:solidFill>
                  <a:srgbClr val="002060"/>
                </a:solidFill>
                <a:latin typeface="Garamond" panose="02020404030301010803" pitchFamily="18" charset="0"/>
              </a:rPr>
              <a:t>&lt;N)</a:t>
            </a:r>
          </a:p>
          <a:p>
            <a:pPr algn="just" fontAlgn="base"/>
            <a:r>
              <a:rPr lang="en-US" sz="2800" b="1" dirty="0">
                <a:solidFill>
                  <a:srgbClr val="002060"/>
                </a:solidFill>
                <a:latin typeface="Garamond" panose="02020404030301010803" pitchFamily="18" charset="0"/>
              </a:rPr>
              <a:t>Step3: if a[</a:t>
            </a:r>
            <a:r>
              <a:rPr lang="en-US" sz="2800" b="1" dirty="0" err="1">
                <a:solidFill>
                  <a:srgbClr val="002060"/>
                </a:solidFill>
                <a:latin typeface="Garamond" panose="02020404030301010803" pitchFamily="18" charset="0"/>
              </a:rPr>
              <a:t>i</a:t>
            </a:r>
            <a:r>
              <a:rPr lang="en-US" sz="2800" b="1" dirty="0">
                <a:solidFill>
                  <a:srgbClr val="002060"/>
                </a:solidFill>
                <a:latin typeface="Garamond" panose="02020404030301010803" pitchFamily="18" charset="0"/>
              </a:rPr>
              <a:t>]==item</a:t>
            </a:r>
          </a:p>
          <a:p>
            <a:pPr marL="571500" indent="-571500" algn="just" fontAlgn="base">
              <a:buAutoNum type="romanLcParenBoth"/>
            </a:pPr>
            <a:r>
              <a:rPr lang="en-US" sz="2800" b="1" dirty="0">
                <a:solidFill>
                  <a:srgbClr val="002060"/>
                </a:solidFill>
                <a:latin typeface="Garamond" panose="02020404030301010803" pitchFamily="18" charset="0"/>
              </a:rPr>
              <a:t>flag=0;</a:t>
            </a:r>
          </a:p>
          <a:p>
            <a:pPr marL="571500" indent="-571500" algn="just" fontAlgn="base">
              <a:buAutoNum type="romanLcParenBoth"/>
            </a:pPr>
            <a:r>
              <a:rPr lang="en-US" sz="2800" b="1" dirty="0">
                <a:solidFill>
                  <a:srgbClr val="002060"/>
                </a:solidFill>
                <a:latin typeface="Garamond" panose="02020404030301010803" pitchFamily="18" charset="0"/>
              </a:rPr>
              <a:t>Output search successful and element found at i+1 position</a:t>
            </a:r>
          </a:p>
          <a:p>
            <a:pPr marL="571500" indent="-571500" algn="just" fontAlgn="base">
              <a:buAutoNum type="romanLcParenBoth"/>
            </a:pPr>
            <a:r>
              <a:rPr lang="en-US" sz="2800" b="1" dirty="0">
                <a:solidFill>
                  <a:srgbClr val="002060"/>
                </a:solidFill>
                <a:latin typeface="Garamond" panose="02020404030301010803" pitchFamily="18" charset="0"/>
              </a:rPr>
              <a:t> go to step6</a:t>
            </a:r>
          </a:p>
          <a:p>
            <a:pPr algn="just" fontAlgn="base"/>
            <a:r>
              <a:rPr lang="en-US" sz="2800" b="1" dirty="0">
                <a:solidFill>
                  <a:srgbClr val="002060"/>
                </a:solidFill>
                <a:latin typeface="Garamond" panose="02020404030301010803" pitchFamily="18" charset="0"/>
              </a:rPr>
              <a:t>Step 4: set </a:t>
            </a:r>
            <a:r>
              <a:rPr lang="en-US" sz="2800" b="1" dirty="0" err="1">
                <a:solidFill>
                  <a:srgbClr val="002060"/>
                </a:solidFill>
                <a:latin typeface="Garamond" panose="02020404030301010803" pitchFamily="18" charset="0"/>
              </a:rPr>
              <a:t>i</a:t>
            </a:r>
            <a:r>
              <a:rPr lang="en-US" sz="2800" b="1" dirty="0">
                <a:solidFill>
                  <a:srgbClr val="002060"/>
                </a:solidFill>
                <a:latin typeface="Garamond" panose="02020404030301010803" pitchFamily="18" charset="0"/>
              </a:rPr>
              <a:t>=i+1</a:t>
            </a:r>
          </a:p>
          <a:p>
            <a:pPr algn="just" fontAlgn="base"/>
            <a:r>
              <a:rPr lang="en-US" sz="2800" b="1" dirty="0">
                <a:solidFill>
                  <a:srgbClr val="002060"/>
                </a:solidFill>
                <a:latin typeface="Garamond" panose="02020404030301010803" pitchFamily="18" charset="0"/>
              </a:rPr>
              <a:t>Step 5: if (flag ==0)</a:t>
            </a:r>
          </a:p>
          <a:p>
            <a:pPr algn="just" fontAlgn="base"/>
            <a:r>
              <a:rPr lang="en-US" sz="2800" b="1" dirty="0">
                <a:solidFill>
                  <a:srgbClr val="002060"/>
                </a:solidFill>
                <a:latin typeface="Garamond" panose="02020404030301010803" pitchFamily="18" charset="0"/>
              </a:rPr>
              <a:t>Output search successful</a:t>
            </a:r>
          </a:p>
          <a:p>
            <a:pPr algn="just" fontAlgn="base"/>
            <a:r>
              <a:rPr lang="en-US" sz="2800" b="1" dirty="0">
                <a:solidFill>
                  <a:srgbClr val="002060"/>
                </a:solidFill>
                <a:latin typeface="Garamond" panose="02020404030301010803" pitchFamily="18" charset="0"/>
              </a:rPr>
              <a:t>Step6: Exit</a:t>
            </a:r>
          </a:p>
          <a:p>
            <a:pPr algn="just" fontAlgn="base"/>
            <a:endParaRPr lang="en-US" sz="2800" b="1"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912855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04800"/>
            <a:ext cx="8610600" cy="6553200"/>
          </a:xfrm>
        </p:spPr>
        <p:txBody>
          <a:bodyPr>
            <a:normAutofit lnSpcReduction="10000"/>
          </a:bodyPr>
          <a:lstStyle/>
          <a:p>
            <a:pPr algn="just" fontAlgn="base"/>
            <a:r>
              <a:rPr lang="en-US" sz="2800" b="1" dirty="0">
                <a:solidFill>
                  <a:srgbClr val="FF0000"/>
                </a:solidFill>
                <a:latin typeface="Garamond" panose="02020404030301010803" pitchFamily="18" charset="0"/>
              </a:rPr>
              <a:t>Tracing</a:t>
            </a:r>
          </a:p>
          <a:p>
            <a:pPr algn="just" fontAlgn="base"/>
            <a:r>
              <a:rPr lang="en-US" sz="2800" b="1" dirty="0">
                <a:solidFill>
                  <a:srgbClr val="002060"/>
                </a:solidFill>
                <a:latin typeface="Garamond" panose="02020404030301010803" pitchFamily="18" charset="0"/>
              </a:rPr>
              <a:t>Let a[5] = {10,20,30,40,50} N=5, Item =30</a:t>
            </a:r>
          </a:p>
          <a:p>
            <a:pPr algn="just" fontAlgn="base"/>
            <a:r>
              <a:rPr lang="en-US" sz="2800" b="1" dirty="0">
                <a:solidFill>
                  <a:srgbClr val="002060"/>
                </a:solidFill>
                <a:latin typeface="Garamond" panose="02020404030301010803" pitchFamily="18" charset="0"/>
              </a:rPr>
              <a:t>Step1: set </a:t>
            </a:r>
            <a:r>
              <a:rPr lang="en-US" sz="2800" b="1" dirty="0" err="1">
                <a:solidFill>
                  <a:srgbClr val="002060"/>
                </a:solidFill>
                <a:latin typeface="Garamond" panose="02020404030301010803" pitchFamily="18" charset="0"/>
              </a:rPr>
              <a:t>i</a:t>
            </a:r>
            <a:r>
              <a:rPr lang="en-US" sz="2800" b="1" dirty="0">
                <a:solidFill>
                  <a:srgbClr val="002060"/>
                </a:solidFill>
                <a:latin typeface="Garamond" panose="02020404030301010803" pitchFamily="18" charset="0"/>
              </a:rPr>
              <a:t>=0; flag=1;</a:t>
            </a:r>
          </a:p>
          <a:p>
            <a:pPr algn="just" fontAlgn="base"/>
            <a:r>
              <a:rPr lang="en-US" sz="2800" b="1" dirty="0">
                <a:solidFill>
                  <a:srgbClr val="C73965"/>
                </a:solidFill>
                <a:latin typeface="Garamond" panose="02020404030301010803" pitchFamily="18" charset="0"/>
              </a:rPr>
              <a:t>Step2: repeat step3 and step 4 while(0&lt;5)</a:t>
            </a:r>
          </a:p>
          <a:p>
            <a:pPr algn="just" fontAlgn="base"/>
            <a:r>
              <a:rPr lang="en-US" sz="2800" b="1" dirty="0">
                <a:solidFill>
                  <a:srgbClr val="C73965"/>
                </a:solidFill>
                <a:latin typeface="Garamond" panose="02020404030301010803" pitchFamily="18" charset="0"/>
              </a:rPr>
              <a:t>Step3: if a[0]==30 10==30 //false</a:t>
            </a:r>
          </a:p>
          <a:p>
            <a:pPr algn="just" fontAlgn="base"/>
            <a:r>
              <a:rPr lang="en-US" sz="2800" b="1" dirty="0">
                <a:solidFill>
                  <a:srgbClr val="C73965"/>
                </a:solidFill>
                <a:latin typeface="Garamond" panose="02020404030301010803" pitchFamily="18" charset="0"/>
              </a:rPr>
              <a:t>Step 4: set </a:t>
            </a:r>
            <a:r>
              <a:rPr lang="en-US" sz="2800" b="1" dirty="0" err="1">
                <a:solidFill>
                  <a:srgbClr val="C73965"/>
                </a:solidFill>
                <a:latin typeface="Garamond" panose="02020404030301010803" pitchFamily="18" charset="0"/>
              </a:rPr>
              <a:t>i</a:t>
            </a:r>
            <a:r>
              <a:rPr lang="en-US" sz="2800" b="1" dirty="0">
                <a:solidFill>
                  <a:srgbClr val="C73965"/>
                </a:solidFill>
                <a:latin typeface="Garamond" panose="02020404030301010803" pitchFamily="18" charset="0"/>
              </a:rPr>
              <a:t>=i+1  </a:t>
            </a:r>
            <a:r>
              <a:rPr lang="en-US" sz="2800" b="1" dirty="0" err="1">
                <a:solidFill>
                  <a:srgbClr val="C73965"/>
                </a:solidFill>
                <a:latin typeface="Garamond" panose="02020404030301010803" pitchFamily="18" charset="0"/>
              </a:rPr>
              <a:t>i</a:t>
            </a:r>
            <a:r>
              <a:rPr lang="en-US" sz="2800" b="1" dirty="0">
                <a:solidFill>
                  <a:srgbClr val="C73965"/>
                </a:solidFill>
                <a:latin typeface="Garamond" panose="02020404030301010803" pitchFamily="18" charset="0"/>
              </a:rPr>
              <a:t>=0+1=1</a:t>
            </a:r>
          </a:p>
          <a:p>
            <a:pPr algn="just" fontAlgn="base"/>
            <a:r>
              <a:rPr lang="en-US" sz="2800" b="1" dirty="0">
                <a:solidFill>
                  <a:srgbClr val="F747DE"/>
                </a:solidFill>
                <a:latin typeface="Garamond" panose="02020404030301010803" pitchFamily="18" charset="0"/>
              </a:rPr>
              <a:t>Step2: repeat step3 and step 4 while(1&lt;5)</a:t>
            </a:r>
          </a:p>
          <a:p>
            <a:pPr algn="just" fontAlgn="base"/>
            <a:r>
              <a:rPr lang="en-US" sz="2800" b="1" dirty="0">
                <a:solidFill>
                  <a:srgbClr val="F747DE"/>
                </a:solidFill>
                <a:latin typeface="Garamond" panose="02020404030301010803" pitchFamily="18" charset="0"/>
              </a:rPr>
              <a:t>Step3: if a[1]==30 20==30 //false</a:t>
            </a:r>
          </a:p>
          <a:p>
            <a:pPr algn="just" fontAlgn="base"/>
            <a:r>
              <a:rPr lang="en-US" sz="2800" b="1" dirty="0">
                <a:solidFill>
                  <a:srgbClr val="F747DE"/>
                </a:solidFill>
                <a:latin typeface="Garamond" panose="02020404030301010803" pitchFamily="18" charset="0"/>
              </a:rPr>
              <a:t>Step 4: set </a:t>
            </a:r>
            <a:r>
              <a:rPr lang="en-US" sz="2800" b="1" dirty="0" err="1">
                <a:solidFill>
                  <a:srgbClr val="F747DE"/>
                </a:solidFill>
                <a:latin typeface="Garamond" panose="02020404030301010803" pitchFamily="18" charset="0"/>
              </a:rPr>
              <a:t>i</a:t>
            </a:r>
            <a:r>
              <a:rPr lang="en-US" sz="2800" b="1" dirty="0">
                <a:solidFill>
                  <a:srgbClr val="F747DE"/>
                </a:solidFill>
                <a:latin typeface="Garamond" panose="02020404030301010803" pitchFamily="18" charset="0"/>
              </a:rPr>
              <a:t>=i+1  </a:t>
            </a:r>
            <a:r>
              <a:rPr lang="en-US" sz="2800" b="1" dirty="0" err="1">
                <a:solidFill>
                  <a:srgbClr val="F747DE"/>
                </a:solidFill>
                <a:latin typeface="Garamond" panose="02020404030301010803" pitchFamily="18" charset="0"/>
              </a:rPr>
              <a:t>i</a:t>
            </a:r>
            <a:r>
              <a:rPr lang="en-US" sz="2800" b="1">
                <a:solidFill>
                  <a:srgbClr val="F747DE"/>
                </a:solidFill>
                <a:latin typeface="Garamond" panose="02020404030301010803" pitchFamily="18" charset="0"/>
              </a:rPr>
              <a:t>=1+1=2</a:t>
            </a:r>
            <a:endParaRPr lang="en-US" sz="2800" b="1" dirty="0">
              <a:solidFill>
                <a:srgbClr val="F747DE"/>
              </a:solidFill>
              <a:latin typeface="Garamond" panose="02020404030301010803" pitchFamily="18" charset="0"/>
            </a:endParaRPr>
          </a:p>
          <a:p>
            <a:pPr algn="just" fontAlgn="base"/>
            <a:r>
              <a:rPr lang="en-US" sz="2800" b="1" dirty="0">
                <a:solidFill>
                  <a:srgbClr val="5346F8"/>
                </a:solidFill>
                <a:latin typeface="Garamond" panose="02020404030301010803" pitchFamily="18" charset="0"/>
              </a:rPr>
              <a:t>Step2: repeat step3 and step 4 while(2&lt;5)</a:t>
            </a:r>
          </a:p>
          <a:p>
            <a:pPr algn="just" fontAlgn="base"/>
            <a:r>
              <a:rPr lang="en-US" sz="2800" b="1" dirty="0">
                <a:solidFill>
                  <a:srgbClr val="5346F8"/>
                </a:solidFill>
                <a:latin typeface="Garamond" panose="02020404030301010803" pitchFamily="18" charset="0"/>
              </a:rPr>
              <a:t>Step3: if a[2]==30 30==30 //true</a:t>
            </a:r>
          </a:p>
          <a:p>
            <a:pPr marL="571500" indent="-571500" algn="just" fontAlgn="base">
              <a:buAutoNum type="romanLcParenBoth"/>
            </a:pPr>
            <a:r>
              <a:rPr lang="en-US" sz="2800" b="1" dirty="0">
                <a:solidFill>
                  <a:srgbClr val="002060"/>
                </a:solidFill>
                <a:latin typeface="Garamond" panose="02020404030301010803" pitchFamily="18" charset="0"/>
              </a:rPr>
              <a:t>flag=0;</a:t>
            </a:r>
          </a:p>
          <a:p>
            <a:pPr marL="571500" indent="-571500" algn="just" fontAlgn="base">
              <a:buAutoNum type="romanLcParenBoth"/>
            </a:pPr>
            <a:r>
              <a:rPr lang="en-US" sz="2800" b="1" dirty="0">
                <a:solidFill>
                  <a:srgbClr val="002060"/>
                </a:solidFill>
                <a:latin typeface="Garamond" panose="02020404030301010803" pitchFamily="18" charset="0"/>
              </a:rPr>
              <a:t>Output search successful and element found at i+1 position</a:t>
            </a:r>
          </a:p>
          <a:p>
            <a:pPr marL="571500" indent="-571500" algn="just" fontAlgn="base">
              <a:buAutoNum type="romanLcParenBoth"/>
            </a:pPr>
            <a:r>
              <a:rPr lang="en-US" sz="2800" b="1" dirty="0">
                <a:solidFill>
                  <a:srgbClr val="002060"/>
                </a:solidFill>
                <a:latin typeface="Garamond" panose="02020404030301010803" pitchFamily="18" charset="0"/>
              </a:rPr>
              <a:t> go to step6</a:t>
            </a:r>
            <a:endParaRPr lang="en-US" sz="2800" b="1" dirty="0">
              <a:solidFill>
                <a:srgbClr val="F747DE"/>
              </a:solidFill>
              <a:latin typeface="Garamond" panose="02020404030301010803" pitchFamily="18" charset="0"/>
            </a:endParaRPr>
          </a:p>
          <a:p>
            <a:pPr algn="just" fontAlgn="base"/>
            <a:r>
              <a:rPr lang="en-US" sz="2800" b="1" dirty="0">
                <a:solidFill>
                  <a:srgbClr val="002060"/>
                </a:solidFill>
                <a:latin typeface="Garamond" panose="02020404030301010803" pitchFamily="18" charset="0"/>
              </a:rPr>
              <a:t>Step6: Exit</a:t>
            </a:r>
          </a:p>
          <a:p>
            <a:pPr algn="just" fontAlgn="base"/>
            <a:endParaRPr lang="en-US" sz="2800" b="1"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124730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763000" cy="7010400"/>
          </a:xfrm>
        </p:spPr>
        <p:txBody>
          <a:bodyPr>
            <a:normAutofit fontScale="70000" lnSpcReduction="20000"/>
          </a:bodyPr>
          <a:lstStyle/>
          <a:p>
            <a:pPr marL="114300"/>
            <a:r>
              <a:rPr lang="en-US" sz="3600" b="1" dirty="0">
                <a:solidFill>
                  <a:srgbClr val="F747DE"/>
                </a:solidFill>
                <a:latin typeface="Garamond" panose="02020404030301010803" pitchFamily="18" charset="0"/>
              </a:rPr>
              <a:t>search for the largest and smallest element in an array of integers using sequential search</a:t>
            </a:r>
          </a:p>
          <a:p>
            <a:pPr marL="114300"/>
            <a:r>
              <a:rPr lang="en-US" sz="4000" b="1" u="sng" dirty="0">
                <a:solidFill>
                  <a:srgbClr val="5346F8"/>
                </a:solidFill>
                <a:latin typeface="Garamond" panose="02020404030301010803" pitchFamily="18" charset="0"/>
              </a:rPr>
              <a:t>Algorithm</a:t>
            </a:r>
            <a:endParaRPr lang="en-US" sz="4000" dirty="0">
              <a:solidFill>
                <a:srgbClr val="5346F8"/>
              </a:solidFill>
              <a:latin typeface="Garamond" panose="02020404030301010803" pitchFamily="18" charset="0"/>
            </a:endParaRPr>
          </a:p>
          <a:p>
            <a:pPr marL="114300"/>
            <a:r>
              <a:rPr lang="en-US" sz="4500" dirty="0">
                <a:solidFill>
                  <a:srgbClr val="5346F8"/>
                </a:solidFill>
                <a:latin typeface="Garamond" panose="02020404030301010803" pitchFamily="18" charset="0"/>
              </a:rPr>
              <a:t>Step1: Start</a:t>
            </a:r>
          </a:p>
          <a:p>
            <a:pPr marL="114300"/>
            <a:r>
              <a:rPr lang="en-US" sz="4500" dirty="0">
                <a:solidFill>
                  <a:srgbClr val="5346F8"/>
                </a:solidFill>
                <a:latin typeface="Garamond" panose="02020404030301010803" pitchFamily="18" charset="0"/>
              </a:rPr>
              <a:t>Step2: Read the size of the array</a:t>
            </a:r>
          </a:p>
          <a:p>
            <a:pPr marL="114300"/>
            <a:r>
              <a:rPr lang="en-US" sz="4500" dirty="0">
                <a:solidFill>
                  <a:srgbClr val="5346F8"/>
                </a:solidFill>
                <a:latin typeface="Garamond" panose="02020404030301010803" pitchFamily="18" charset="0"/>
              </a:rPr>
              <a:t>Step3: Read the array elements</a:t>
            </a:r>
          </a:p>
          <a:p>
            <a:pPr marL="114300"/>
            <a:r>
              <a:rPr lang="en-US" sz="4500" dirty="0">
                <a:solidFill>
                  <a:srgbClr val="5346F8"/>
                </a:solidFill>
                <a:latin typeface="Garamond" panose="02020404030301010803" pitchFamily="18" charset="0"/>
              </a:rPr>
              <a:t>Step4: Initialize large=a[0],small=a[0]</a:t>
            </a:r>
          </a:p>
          <a:p>
            <a:pPr marL="114300"/>
            <a:r>
              <a:rPr lang="en-US" sz="4500" dirty="0">
                <a:solidFill>
                  <a:srgbClr val="5346F8"/>
                </a:solidFill>
                <a:latin typeface="Garamond" panose="02020404030301010803" pitchFamily="18" charset="0"/>
              </a:rPr>
              <a:t>Step 5: Repeat the following steps 6 and 7 for i=1 to n</a:t>
            </a:r>
          </a:p>
          <a:p>
            <a:pPr marL="114300"/>
            <a:r>
              <a:rPr lang="en-US" sz="4500" dirty="0">
                <a:solidFill>
                  <a:srgbClr val="5346F8"/>
                </a:solidFill>
                <a:latin typeface="Garamond" panose="02020404030301010803" pitchFamily="18" charset="0"/>
              </a:rPr>
              <a:t>Step6:If a[i]&gt;large</a:t>
            </a:r>
          </a:p>
          <a:p>
            <a:pPr marL="114300"/>
            <a:r>
              <a:rPr lang="en-US" sz="4500" dirty="0">
                <a:solidFill>
                  <a:srgbClr val="5346F8"/>
                </a:solidFill>
                <a:latin typeface="Garamond" panose="02020404030301010803" pitchFamily="18" charset="0"/>
              </a:rPr>
              <a:t>		large=a[i]</a:t>
            </a:r>
          </a:p>
          <a:p>
            <a:pPr marL="114300"/>
            <a:r>
              <a:rPr lang="en-US" sz="4500" dirty="0">
                <a:solidFill>
                  <a:srgbClr val="5346F8"/>
                </a:solidFill>
                <a:latin typeface="Garamond" panose="02020404030301010803" pitchFamily="18" charset="0"/>
              </a:rPr>
              <a:t>	End if</a:t>
            </a:r>
          </a:p>
          <a:p>
            <a:pPr marL="114300"/>
            <a:r>
              <a:rPr lang="en-US" sz="4500" dirty="0">
                <a:solidFill>
                  <a:srgbClr val="5346F8"/>
                </a:solidFill>
                <a:latin typeface="Garamond" panose="02020404030301010803" pitchFamily="18" charset="0"/>
              </a:rPr>
              <a:t>Step 7: If a[i]&lt;small</a:t>
            </a:r>
          </a:p>
          <a:p>
            <a:pPr marL="114300"/>
            <a:r>
              <a:rPr lang="en-US" sz="4500" dirty="0">
                <a:solidFill>
                  <a:srgbClr val="5346F8"/>
                </a:solidFill>
                <a:latin typeface="Garamond" panose="02020404030301010803" pitchFamily="18" charset="0"/>
              </a:rPr>
              <a:t>		small=a[i]</a:t>
            </a:r>
          </a:p>
          <a:p>
            <a:pPr marL="114300"/>
            <a:r>
              <a:rPr lang="en-US" sz="4500" dirty="0">
                <a:solidFill>
                  <a:srgbClr val="5346F8"/>
                </a:solidFill>
                <a:latin typeface="Garamond" panose="02020404030301010803" pitchFamily="18" charset="0"/>
              </a:rPr>
              <a:t>	End if   [end for]</a:t>
            </a:r>
          </a:p>
          <a:p>
            <a:pPr marL="114300"/>
            <a:r>
              <a:rPr lang="en-US" sz="4500" dirty="0">
                <a:solidFill>
                  <a:srgbClr val="5346F8"/>
                </a:solidFill>
                <a:latin typeface="Garamond" panose="02020404030301010803" pitchFamily="18" charset="0"/>
              </a:rPr>
              <a:t>Step 8:Print large and small</a:t>
            </a:r>
          </a:p>
          <a:p>
            <a:pPr marL="114300"/>
            <a:r>
              <a:rPr lang="en-US" sz="4500" dirty="0">
                <a:solidFill>
                  <a:srgbClr val="5346F8"/>
                </a:solidFill>
                <a:latin typeface="Garamond" panose="02020404030301010803" pitchFamily="18" charset="0"/>
              </a:rPr>
              <a:t>Step 9: Stop</a:t>
            </a:r>
          </a:p>
          <a:p>
            <a:endParaRPr lang="en-US" dirty="0">
              <a:solidFill>
                <a:srgbClr val="5346F8"/>
              </a:solidFill>
            </a:endParaRPr>
          </a:p>
        </p:txBody>
      </p:sp>
    </p:spTree>
    <p:extLst>
      <p:ext uri="{BB962C8B-B14F-4D97-AF65-F5344CB8AC3E}">
        <p14:creationId xmlns:p14="http://schemas.microsoft.com/office/powerpoint/2010/main" val="246634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7620000" cy="914400"/>
          </a:xfrm>
        </p:spPr>
        <p:txBody>
          <a:bodyPr>
            <a:normAutofit fontScale="90000"/>
          </a:bodyPr>
          <a:lstStyle/>
          <a:p>
            <a:r>
              <a:rPr lang="en-US" sz="2400" b="1" dirty="0">
                <a:latin typeface="Garamond" panose="02020404030301010803" pitchFamily="18" charset="0"/>
              </a:rPr>
              <a:t>Program to search for the largest and smallest element in an array of integers using sequential search*/</a:t>
            </a:r>
            <a:br>
              <a:rPr lang="en-US" dirty="0"/>
            </a:br>
            <a:endParaRPr lang="en-US" dirty="0"/>
          </a:p>
        </p:txBody>
      </p:sp>
      <p:sp>
        <p:nvSpPr>
          <p:cNvPr id="8" name="TextBox 7">
            <a:extLst>
              <a:ext uri="{FF2B5EF4-FFF2-40B4-BE49-F238E27FC236}">
                <a16:creationId xmlns:a16="http://schemas.microsoft.com/office/drawing/2014/main" id="{4C8C9EC2-8DA0-4FE2-9FD9-61C07EE224D1}"/>
              </a:ext>
            </a:extLst>
          </p:cNvPr>
          <p:cNvSpPr txBox="1"/>
          <p:nvPr/>
        </p:nvSpPr>
        <p:spPr>
          <a:xfrm>
            <a:off x="1782234" y="827315"/>
            <a:ext cx="4267200" cy="6186309"/>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void </a:t>
            </a:r>
            <a:r>
              <a:rPr lang="en-IN" dirty="0" err="1"/>
              <a:t>findMinMax</a:t>
            </a:r>
            <a:r>
              <a:rPr lang="en-IN" dirty="0"/>
              <a:t>(int </a:t>
            </a:r>
            <a:r>
              <a:rPr lang="en-IN" dirty="0" err="1"/>
              <a:t>arr</a:t>
            </a:r>
            <a:r>
              <a:rPr lang="en-IN" dirty="0"/>
              <a:t>[], int size, int *min, int *max)</a:t>
            </a:r>
          </a:p>
          <a:p>
            <a:r>
              <a:rPr lang="en-IN" dirty="0"/>
              <a:t> {</a:t>
            </a:r>
          </a:p>
          <a:p>
            <a:r>
              <a:rPr lang="en-IN" dirty="0"/>
              <a:t>    *min = *max = </a:t>
            </a:r>
            <a:r>
              <a:rPr lang="en-IN" dirty="0" err="1"/>
              <a:t>arr</a:t>
            </a:r>
            <a:r>
              <a:rPr lang="en-IN" dirty="0"/>
              <a:t>[0];</a:t>
            </a:r>
          </a:p>
          <a:p>
            <a:endParaRPr lang="en-IN" dirty="0"/>
          </a:p>
          <a:p>
            <a:r>
              <a:rPr lang="en-IN" dirty="0"/>
              <a:t>    for (int </a:t>
            </a:r>
            <a:r>
              <a:rPr lang="en-IN" dirty="0" err="1"/>
              <a:t>i</a:t>
            </a:r>
            <a:r>
              <a:rPr lang="en-IN" dirty="0"/>
              <a:t> = 1; </a:t>
            </a:r>
            <a:r>
              <a:rPr lang="en-IN" dirty="0" err="1"/>
              <a:t>i</a:t>
            </a:r>
            <a:r>
              <a:rPr lang="en-IN" dirty="0"/>
              <a:t> &lt; size; ++</a:t>
            </a:r>
            <a:r>
              <a:rPr lang="en-IN" dirty="0" err="1"/>
              <a:t>i</a:t>
            </a:r>
            <a:r>
              <a:rPr lang="en-IN" dirty="0"/>
              <a:t>) {</a:t>
            </a:r>
          </a:p>
          <a:p>
            <a:r>
              <a:rPr lang="en-IN" dirty="0"/>
              <a:t>        if (</a:t>
            </a:r>
            <a:r>
              <a:rPr lang="en-IN" dirty="0" err="1"/>
              <a:t>arr</a:t>
            </a:r>
            <a:r>
              <a:rPr lang="en-IN" dirty="0"/>
              <a:t>[</a:t>
            </a:r>
            <a:r>
              <a:rPr lang="en-IN" dirty="0" err="1"/>
              <a:t>i</a:t>
            </a:r>
            <a:r>
              <a:rPr lang="en-IN" dirty="0"/>
              <a:t>] &lt; *min) *min = </a:t>
            </a:r>
            <a:r>
              <a:rPr lang="en-IN" dirty="0" err="1"/>
              <a:t>arr</a:t>
            </a:r>
            <a:r>
              <a:rPr lang="en-IN" dirty="0"/>
              <a:t>[</a:t>
            </a:r>
            <a:r>
              <a:rPr lang="en-IN" dirty="0" err="1"/>
              <a:t>i</a:t>
            </a:r>
            <a:r>
              <a:rPr lang="en-IN" dirty="0"/>
              <a:t>];</a:t>
            </a:r>
          </a:p>
          <a:p>
            <a:r>
              <a:rPr lang="en-IN" dirty="0"/>
              <a:t>        if (</a:t>
            </a:r>
            <a:r>
              <a:rPr lang="en-IN" dirty="0" err="1"/>
              <a:t>arr</a:t>
            </a:r>
            <a:r>
              <a:rPr lang="en-IN" dirty="0"/>
              <a:t>[</a:t>
            </a:r>
            <a:r>
              <a:rPr lang="en-IN" dirty="0" err="1"/>
              <a:t>i</a:t>
            </a:r>
            <a:r>
              <a:rPr lang="en-IN" dirty="0"/>
              <a:t>] &gt; *max) *max = </a:t>
            </a:r>
            <a:r>
              <a:rPr lang="en-IN" dirty="0" err="1"/>
              <a:t>arr</a:t>
            </a:r>
            <a:r>
              <a:rPr lang="en-IN" dirty="0"/>
              <a:t>[</a:t>
            </a:r>
            <a:r>
              <a:rPr lang="en-IN" dirty="0" err="1"/>
              <a:t>i</a:t>
            </a:r>
            <a:r>
              <a:rPr lang="en-IN" dirty="0"/>
              <a:t>];</a:t>
            </a:r>
          </a:p>
          <a:p>
            <a:r>
              <a:rPr lang="en-IN" dirty="0"/>
              <a:t>    }</a:t>
            </a:r>
          </a:p>
          <a:p>
            <a:r>
              <a:rPr lang="en-IN" dirty="0"/>
              <a:t>}</a:t>
            </a:r>
          </a:p>
          <a:p>
            <a:endParaRPr lang="en-IN" dirty="0"/>
          </a:p>
          <a:p>
            <a:r>
              <a:rPr lang="en-IN" dirty="0"/>
              <a:t>int main() {</a:t>
            </a:r>
          </a:p>
          <a:p>
            <a:r>
              <a:rPr lang="en-IN" dirty="0"/>
              <a:t>    int size;</a:t>
            </a:r>
          </a:p>
          <a:p>
            <a:endParaRPr lang="en-IN" dirty="0"/>
          </a:p>
          <a:p>
            <a:r>
              <a:rPr lang="en-IN" dirty="0"/>
              <a:t>    </a:t>
            </a:r>
            <a:r>
              <a:rPr lang="en-IN" dirty="0" err="1"/>
              <a:t>printf</a:t>
            </a:r>
            <a:r>
              <a:rPr lang="en-IN" dirty="0"/>
              <a:t>("Enter the size of the array: ");</a:t>
            </a:r>
          </a:p>
          <a:p>
            <a:r>
              <a:rPr lang="en-IN" dirty="0"/>
              <a:t>    </a:t>
            </a:r>
            <a:r>
              <a:rPr lang="en-IN" dirty="0" err="1"/>
              <a:t>scanf</a:t>
            </a:r>
            <a:r>
              <a:rPr lang="en-IN" dirty="0"/>
              <a:t>("%d", &amp;size);</a:t>
            </a:r>
          </a:p>
          <a:p>
            <a:endParaRPr lang="en-IN" dirty="0"/>
          </a:p>
          <a:p>
            <a:r>
              <a:rPr lang="en-IN" dirty="0"/>
              <a:t>    int </a:t>
            </a:r>
            <a:r>
              <a:rPr lang="en-IN" dirty="0" err="1"/>
              <a:t>arr</a:t>
            </a:r>
            <a:r>
              <a:rPr lang="en-IN" dirty="0"/>
              <a:t>[size];</a:t>
            </a:r>
          </a:p>
          <a:p>
            <a:endParaRPr lang="en-IN" dirty="0"/>
          </a:p>
          <a:p>
            <a:r>
              <a:rPr lang="en-IN" dirty="0"/>
              <a:t>    </a:t>
            </a:r>
          </a:p>
        </p:txBody>
      </p:sp>
      <p:sp>
        <p:nvSpPr>
          <p:cNvPr id="9" name="TextBox 8">
            <a:extLst>
              <a:ext uri="{FF2B5EF4-FFF2-40B4-BE49-F238E27FC236}">
                <a16:creationId xmlns:a16="http://schemas.microsoft.com/office/drawing/2014/main" id="{680D2B7E-114A-42C6-ABB7-84EAF3C6E23A}"/>
              </a:ext>
            </a:extLst>
          </p:cNvPr>
          <p:cNvSpPr txBox="1"/>
          <p:nvPr/>
        </p:nvSpPr>
        <p:spPr>
          <a:xfrm>
            <a:off x="6858000" y="1066801"/>
            <a:ext cx="3714044" cy="3693319"/>
          </a:xfrm>
          <a:prstGeom prst="rect">
            <a:avLst/>
          </a:prstGeom>
          <a:noFill/>
        </p:spPr>
        <p:txBody>
          <a:bodyPr wrap="square">
            <a:spAutoFit/>
          </a:bodyPr>
          <a:lstStyle/>
          <a:p>
            <a:r>
              <a:rPr lang="en-IN" dirty="0"/>
              <a:t> </a:t>
            </a:r>
            <a:r>
              <a:rPr lang="en-IN" dirty="0" err="1"/>
              <a:t>printf</a:t>
            </a:r>
            <a:r>
              <a:rPr lang="en-IN" dirty="0"/>
              <a:t>("Enter %d elements:\n", size);</a:t>
            </a:r>
          </a:p>
          <a:p>
            <a:r>
              <a:rPr lang="en-IN" dirty="0"/>
              <a:t>for (int </a:t>
            </a:r>
            <a:r>
              <a:rPr lang="en-IN" dirty="0" err="1"/>
              <a:t>i</a:t>
            </a:r>
            <a:r>
              <a:rPr lang="en-IN" dirty="0"/>
              <a:t> = 0; </a:t>
            </a:r>
            <a:r>
              <a:rPr lang="en-IN" dirty="0" err="1"/>
              <a:t>i</a:t>
            </a:r>
            <a:r>
              <a:rPr lang="en-IN" dirty="0"/>
              <a:t> &lt; size; ++</a:t>
            </a:r>
            <a:r>
              <a:rPr lang="en-IN" dirty="0" err="1"/>
              <a:t>i</a:t>
            </a:r>
            <a:r>
              <a:rPr lang="en-IN" dirty="0"/>
              <a:t>) </a:t>
            </a:r>
            <a:r>
              <a:rPr lang="en-IN" dirty="0" err="1"/>
              <a:t>scanf</a:t>
            </a:r>
            <a:r>
              <a:rPr lang="en-IN" dirty="0"/>
              <a:t>("%d", &amp;</a:t>
            </a:r>
            <a:r>
              <a:rPr lang="en-IN" dirty="0" err="1"/>
              <a:t>arr</a:t>
            </a:r>
            <a:r>
              <a:rPr lang="en-IN" dirty="0"/>
              <a:t>[</a:t>
            </a:r>
            <a:r>
              <a:rPr lang="en-IN" dirty="0" err="1"/>
              <a:t>i</a:t>
            </a:r>
            <a:r>
              <a:rPr lang="en-IN" dirty="0"/>
              <a:t>]);</a:t>
            </a:r>
          </a:p>
          <a:p>
            <a:endParaRPr lang="en-IN" dirty="0"/>
          </a:p>
          <a:p>
            <a:r>
              <a:rPr lang="en-IN" dirty="0"/>
              <a:t>    int min, max;</a:t>
            </a:r>
          </a:p>
          <a:p>
            <a:r>
              <a:rPr lang="en-IN" dirty="0"/>
              <a:t>    </a:t>
            </a:r>
            <a:r>
              <a:rPr lang="en-IN" dirty="0" err="1"/>
              <a:t>findMinMax</a:t>
            </a:r>
            <a:r>
              <a:rPr lang="en-IN" dirty="0"/>
              <a:t>(</a:t>
            </a:r>
            <a:r>
              <a:rPr lang="en-IN" dirty="0" err="1"/>
              <a:t>arr</a:t>
            </a:r>
            <a:r>
              <a:rPr lang="en-IN" dirty="0"/>
              <a:t>, size, &amp;min, &amp;max);</a:t>
            </a:r>
          </a:p>
          <a:p>
            <a:endParaRPr lang="en-IN" dirty="0"/>
          </a:p>
          <a:p>
            <a:r>
              <a:rPr lang="en-IN" dirty="0"/>
              <a:t>    </a:t>
            </a:r>
            <a:r>
              <a:rPr lang="en-IN" dirty="0" err="1"/>
              <a:t>printf</a:t>
            </a:r>
            <a:r>
              <a:rPr lang="en-IN" dirty="0"/>
              <a:t>("Minimum element: %d\</a:t>
            </a:r>
            <a:r>
              <a:rPr lang="en-IN" dirty="0" err="1"/>
              <a:t>nMaximum</a:t>
            </a:r>
            <a:r>
              <a:rPr lang="en-IN" dirty="0"/>
              <a:t> element: %d\n", min, max);</a:t>
            </a:r>
          </a:p>
          <a:p>
            <a:endParaRPr lang="en-IN" dirty="0"/>
          </a:p>
          <a:p>
            <a:r>
              <a:rPr lang="en-IN" dirty="0"/>
              <a:t>    return 0;</a:t>
            </a:r>
          </a:p>
          <a:p>
            <a:r>
              <a:rPr lang="en-IN" dirty="0"/>
              <a:t>}</a:t>
            </a:r>
          </a:p>
        </p:txBody>
      </p:sp>
    </p:spTree>
    <p:extLst>
      <p:ext uri="{BB962C8B-B14F-4D97-AF65-F5344CB8AC3E}">
        <p14:creationId xmlns:p14="http://schemas.microsoft.com/office/powerpoint/2010/main" val="421889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692D41-A94B-4A36-82B0-7AC0D7A15E81}"/>
              </a:ext>
            </a:extLst>
          </p:cNvPr>
          <p:cNvSpPr txBox="1"/>
          <p:nvPr/>
        </p:nvSpPr>
        <p:spPr>
          <a:xfrm>
            <a:off x="1905000" y="152400"/>
            <a:ext cx="8610600" cy="7848302"/>
          </a:xfrm>
          <a:prstGeom prst="rect">
            <a:avLst/>
          </a:prstGeom>
          <a:noFill/>
        </p:spPr>
        <p:txBody>
          <a:bodyPr wrap="square">
            <a:spAutoFit/>
          </a:bodyPr>
          <a:lstStyle/>
          <a:p>
            <a:r>
              <a:rPr lang="en-US" sz="2400" dirty="0"/>
              <a:t>Enter the size of the array: 8</a:t>
            </a:r>
          </a:p>
          <a:p>
            <a:r>
              <a:rPr lang="en-US" sz="2400" dirty="0"/>
              <a:t>Enter 8 integers: 15 7 23 11 5 9 16 13</a:t>
            </a:r>
          </a:p>
          <a:p>
            <a:endParaRPr lang="en-US" sz="2400" dirty="0"/>
          </a:p>
          <a:p>
            <a:r>
              <a:rPr lang="en-US" sz="2400" dirty="0"/>
              <a:t>int size;</a:t>
            </a:r>
          </a:p>
          <a:p>
            <a:r>
              <a:rPr lang="en-US" sz="2400" dirty="0" err="1"/>
              <a:t>printf</a:t>
            </a:r>
            <a:r>
              <a:rPr lang="en-US" sz="2400" dirty="0"/>
              <a:t>("Enter the size of the array: ");</a:t>
            </a:r>
          </a:p>
          <a:p>
            <a:r>
              <a:rPr lang="en-US" sz="2400" dirty="0" err="1"/>
              <a:t>scanf</a:t>
            </a:r>
            <a:r>
              <a:rPr lang="en-US" sz="2400" dirty="0"/>
              <a:t>("%d", &amp;size);</a:t>
            </a:r>
          </a:p>
          <a:p>
            <a:endParaRPr lang="en-US" sz="2400" dirty="0"/>
          </a:p>
          <a:p>
            <a:r>
              <a:rPr lang="en-US" sz="2400" dirty="0">
                <a:solidFill>
                  <a:srgbClr val="374151"/>
                </a:solidFill>
                <a:latin typeface="Söhne"/>
              </a:rPr>
              <a:t>The user inputs a size of 8 for the array.</a:t>
            </a:r>
          </a:p>
          <a:p>
            <a:endParaRPr lang="en-US" sz="2400" dirty="0">
              <a:solidFill>
                <a:srgbClr val="374151"/>
              </a:solidFill>
              <a:latin typeface="Söhne"/>
            </a:endParaRPr>
          </a:p>
          <a:p>
            <a:r>
              <a:rPr lang="en-US" sz="2400" dirty="0"/>
              <a:t>int </a:t>
            </a:r>
            <a:r>
              <a:rPr lang="en-US" sz="2400" dirty="0" err="1"/>
              <a:t>arr</a:t>
            </a:r>
            <a:r>
              <a:rPr lang="en-US" sz="2400" dirty="0"/>
              <a:t>[size];</a:t>
            </a:r>
          </a:p>
          <a:p>
            <a:r>
              <a:rPr lang="en-US" sz="2400" dirty="0" err="1"/>
              <a:t>printf</a:t>
            </a:r>
            <a:r>
              <a:rPr lang="en-US" sz="2400" dirty="0"/>
              <a:t>("Enter %d integers:\n", size);</a:t>
            </a:r>
          </a:p>
          <a:p>
            <a:r>
              <a:rPr lang="en-US" sz="2400" dirty="0"/>
              <a:t>for (int </a:t>
            </a:r>
            <a:r>
              <a:rPr lang="en-US" sz="2400" dirty="0" err="1"/>
              <a:t>i</a:t>
            </a:r>
            <a:r>
              <a:rPr lang="en-US" sz="2400" dirty="0"/>
              <a:t> = 0; </a:t>
            </a:r>
            <a:r>
              <a:rPr lang="en-US" sz="2400" dirty="0" err="1"/>
              <a:t>i</a:t>
            </a:r>
            <a:r>
              <a:rPr lang="en-US" sz="2400" dirty="0"/>
              <a:t> &lt; size; </a:t>
            </a:r>
            <a:r>
              <a:rPr lang="en-US" sz="2400" dirty="0" err="1"/>
              <a:t>scanf</a:t>
            </a:r>
            <a:r>
              <a:rPr lang="en-US" sz="2400" dirty="0"/>
              <a:t>("%d", &amp;</a:t>
            </a:r>
            <a:r>
              <a:rPr lang="en-US" sz="2400" dirty="0" err="1"/>
              <a:t>arr</a:t>
            </a:r>
            <a:r>
              <a:rPr lang="en-US" sz="2400" dirty="0"/>
              <a:t>[</a:t>
            </a:r>
            <a:r>
              <a:rPr lang="en-US" sz="2400" dirty="0" err="1"/>
              <a:t>i</a:t>
            </a:r>
            <a:r>
              <a:rPr lang="en-US" sz="2400" dirty="0"/>
              <a:t>++]));</a:t>
            </a:r>
          </a:p>
          <a:p>
            <a:endParaRPr lang="en-US" sz="2400" dirty="0"/>
          </a:p>
          <a:p>
            <a:r>
              <a:rPr lang="en-US" sz="2400" dirty="0">
                <a:solidFill>
                  <a:srgbClr val="374151"/>
                </a:solidFill>
                <a:latin typeface="Söhne"/>
              </a:rPr>
              <a:t>The user inputs the array elements: 15, 7, 23, 11, 5, 9, 16, 13.</a:t>
            </a:r>
          </a:p>
          <a:p>
            <a:endParaRPr lang="en-US" sz="2400" dirty="0"/>
          </a:p>
          <a:p>
            <a:r>
              <a:rPr lang="en-US" sz="2400" dirty="0"/>
              <a:t>int min, max;</a:t>
            </a:r>
          </a:p>
          <a:p>
            <a:r>
              <a:rPr lang="en-US" sz="2400" dirty="0" err="1"/>
              <a:t>findMinMax</a:t>
            </a:r>
            <a:r>
              <a:rPr lang="en-US" sz="2400" dirty="0"/>
              <a:t>(</a:t>
            </a:r>
            <a:r>
              <a:rPr lang="en-US" sz="2400" dirty="0" err="1"/>
              <a:t>arr</a:t>
            </a:r>
            <a:r>
              <a:rPr lang="en-US" sz="2400" dirty="0"/>
              <a:t>, size, &amp;min, &amp;max); The function </a:t>
            </a:r>
            <a:r>
              <a:rPr lang="en-US" sz="2400" dirty="0" err="1"/>
              <a:t>findMinMax</a:t>
            </a:r>
            <a:r>
              <a:rPr lang="en-US" sz="2400" dirty="0"/>
              <a:t> is called with the array </a:t>
            </a:r>
            <a:r>
              <a:rPr lang="en-US" sz="2400" dirty="0" err="1"/>
              <a:t>arr</a:t>
            </a:r>
            <a:r>
              <a:rPr lang="en-US" sz="2400" dirty="0"/>
              <a:t>, its size </a:t>
            </a:r>
            <a:r>
              <a:rPr lang="en-US" sz="2400" dirty="0" err="1"/>
              <a:t>size</a:t>
            </a:r>
            <a:r>
              <a:rPr lang="en-US" sz="2400" dirty="0"/>
              <a:t>, and pointers to min and max.</a:t>
            </a:r>
          </a:p>
          <a:p>
            <a:endParaRPr lang="en-US" sz="2400" dirty="0"/>
          </a:p>
          <a:p>
            <a:endParaRPr lang="en-US" sz="2400" dirty="0"/>
          </a:p>
          <a:p>
            <a:endParaRPr lang="en-US" sz="2400" dirty="0"/>
          </a:p>
        </p:txBody>
      </p:sp>
    </p:spTree>
    <p:extLst>
      <p:ext uri="{BB962C8B-B14F-4D97-AF65-F5344CB8AC3E}">
        <p14:creationId xmlns:p14="http://schemas.microsoft.com/office/powerpoint/2010/main" val="3358006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C3AD89-FD05-4F41-9812-4CCF2C3D6945}"/>
              </a:ext>
            </a:extLst>
          </p:cNvPr>
          <p:cNvSpPr txBox="1"/>
          <p:nvPr/>
        </p:nvSpPr>
        <p:spPr>
          <a:xfrm>
            <a:off x="1752600" y="228601"/>
            <a:ext cx="8534400" cy="6186309"/>
          </a:xfrm>
          <a:prstGeom prst="rect">
            <a:avLst/>
          </a:prstGeom>
          <a:noFill/>
        </p:spPr>
        <p:txBody>
          <a:bodyPr wrap="square">
            <a:spAutoFit/>
          </a:bodyPr>
          <a:lstStyle/>
          <a:p>
            <a:r>
              <a:rPr lang="en-IN" dirty="0"/>
              <a:t>void </a:t>
            </a:r>
            <a:r>
              <a:rPr lang="en-IN" dirty="0" err="1"/>
              <a:t>findMinMax</a:t>
            </a:r>
            <a:r>
              <a:rPr lang="en-IN" dirty="0"/>
              <a:t>(int </a:t>
            </a:r>
            <a:r>
              <a:rPr lang="en-IN" dirty="0" err="1"/>
              <a:t>arr</a:t>
            </a:r>
            <a:r>
              <a:rPr lang="en-IN" dirty="0"/>
              <a:t>[], int size, int *min, int *max) {</a:t>
            </a:r>
          </a:p>
          <a:p>
            <a:r>
              <a:rPr lang="en-IN" dirty="0"/>
              <a:t>    *min = *max = </a:t>
            </a:r>
            <a:r>
              <a:rPr lang="en-IN" dirty="0" err="1"/>
              <a:t>arr</a:t>
            </a:r>
            <a:r>
              <a:rPr lang="en-IN" dirty="0"/>
              <a:t>[0];</a:t>
            </a:r>
          </a:p>
          <a:p>
            <a:endParaRPr lang="en-IN" dirty="0"/>
          </a:p>
          <a:p>
            <a:r>
              <a:rPr lang="en-IN" dirty="0"/>
              <a:t>    for (int </a:t>
            </a:r>
            <a:r>
              <a:rPr lang="en-IN" dirty="0" err="1"/>
              <a:t>i</a:t>
            </a:r>
            <a:r>
              <a:rPr lang="en-IN" dirty="0"/>
              <a:t> = 1; </a:t>
            </a:r>
            <a:r>
              <a:rPr lang="en-IN" dirty="0" err="1"/>
              <a:t>i</a:t>
            </a:r>
            <a:r>
              <a:rPr lang="en-IN" dirty="0"/>
              <a:t> &lt; size; </a:t>
            </a:r>
            <a:r>
              <a:rPr lang="en-IN" dirty="0" err="1"/>
              <a:t>i</a:t>
            </a:r>
            <a:r>
              <a:rPr lang="en-IN" dirty="0"/>
              <a:t>++) {</a:t>
            </a:r>
          </a:p>
          <a:p>
            <a:r>
              <a:rPr lang="en-IN" dirty="0"/>
              <a:t>        if (</a:t>
            </a:r>
            <a:r>
              <a:rPr lang="en-IN" dirty="0" err="1"/>
              <a:t>arr</a:t>
            </a:r>
            <a:r>
              <a:rPr lang="en-IN" dirty="0"/>
              <a:t>[</a:t>
            </a:r>
            <a:r>
              <a:rPr lang="en-IN" dirty="0" err="1"/>
              <a:t>i</a:t>
            </a:r>
            <a:r>
              <a:rPr lang="en-IN" dirty="0"/>
              <a:t>] &lt; *min) *min = </a:t>
            </a:r>
            <a:r>
              <a:rPr lang="en-IN" dirty="0" err="1"/>
              <a:t>arr</a:t>
            </a:r>
            <a:r>
              <a:rPr lang="en-IN" dirty="0"/>
              <a:t>[</a:t>
            </a:r>
            <a:r>
              <a:rPr lang="en-IN" dirty="0" err="1"/>
              <a:t>i</a:t>
            </a:r>
            <a:r>
              <a:rPr lang="en-IN" dirty="0"/>
              <a:t>];</a:t>
            </a:r>
          </a:p>
          <a:p>
            <a:r>
              <a:rPr lang="en-IN" dirty="0"/>
              <a:t>        if (</a:t>
            </a:r>
            <a:r>
              <a:rPr lang="en-IN" dirty="0" err="1"/>
              <a:t>arr</a:t>
            </a:r>
            <a:r>
              <a:rPr lang="en-IN" dirty="0"/>
              <a:t>[</a:t>
            </a:r>
            <a:r>
              <a:rPr lang="en-IN" dirty="0" err="1"/>
              <a:t>i</a:t>
            </a:r>
            <a:r>
              <a:rPr lang="en-IN" dirty="0"/>
              <a:t>] &gt; *max) *max = </a:t>
            </a:r>
            <a:r>
              <a:rPr lang="en-IN" dirty="0" err="1"/>
              <a:t>arr</a:t>
            </a:r>
            <a:r>
              <a:rPr lang="en-IN" dirty="0"/>
              <a:t>[</a:t>
            </a:r>
            <a:r>
              <a:rPr lang="en-IN" dirty="0" err="1"/>
              <a:t>i</a:t>
            </a:r>
            <a:r>
              <a:rPr lang="en-IN" dirty="0"/>
              <a:t>];</a:t>
            </a:r>
          </a:p>
          <a:p>
            <a:r>
              <a:rPr lang="en-IN" dirty="0"/>
              <a:t>    }</a:t>
            </a:r>
          </a:p>
          <a:p>
            <a:r>
              <a:rPr lang="en-IN" dirty="0"/>
              <a:t>}</a:t>
            </a:r>
          </a:p>
          <a:p>
            <a:endParaRPr lang="en-IN" dirty="0"/>
          </a:p>
          <a:p>
            <a:r>
              <a:rPr lang="en-US" dirty="0"/>
              <a:t>min and max are initialized with the first element of the array, i.e., 15.</a:t>
            </a:r>
          </a:p>
          <a:p>
            <a:r>
              <a:rPr lang="en-US" dirty="0"/>
              <a:t>The function iterates through the array. For each element, it updates min if the element is smaller than the current min, and updates max if the element is larger than the current max.</a:t>
            </a:r>
          </a:p>
          <a:p>
            <a:endParaRPr lang="en-US" dirty="0"/>
          </a:p>
          <a:p>
            <a:r>
              <a:rPr lang="en-US" dirty="0" err="1"/>
              <a:t>printf</a:t>
            </a:r>
            <a:r>
              <a:rPr lang="en-US" dirty="0"/>
              <a:t>("The smallest element is: %d\n", min);</a:t>
            </a:r>
          </a:p>
          <a:p>
            <a:r>
              <a:rPr lang="en-US" dirty="0" err="1"/>
              <a:t>printf</a:t>
            </a:r>
            <a:r>
              <a:rPr lang="en-US" dirty="0"/>
              <a:t>("The largest element is: %d\n", max);</a:t>
            </a:r>
          </a:p>
          <a:p>
            <a:endParaRPr lang="en-US" dirty="0"/>
          </a:p>
          <a:p>
            <a:r>
              <a:rPr lang="en-US" dirty="0">
                <a:solidFill>
                  <a:srgbClr val="374151"/>
                </a:solidFill>
                <a:latin typeface="Söhne"/>
              </a:rPr>
              <a:t>The program prints the smallest and largest elements:</a:t>
            </a:r>
          </a:p>
          <a:p>
            <a:r>
              <a:rPr lang="en-US" dirty="0"/>
              <a:t>The smallest element is: 5</a:t>
            </a:r>
          </a:p>
          <a:p>
            <a:r>
              <a:rPr lang="en-US" dirty="0"/>
              <a:t>The largest element is: 23</a:t>
            </a:r>
          </a:p>
          <a:p>
            <a:r>
              <a:rPr lang="en-US" dirty="0">
                <a:solidFill>
                  <a:srgbClr val="374151"/>
                </a:solidFill>
                <a:latin typeface="Söhne"/>
              </a:rPr>
              <a:t>In this example, the smallest element in the array is 5, and the largest element is 23, as determined by the program.</a:t>
            </a:r>
            <a:endParaRPr lang="en-IN" dirty="0"/>
          </a:p>
        </p:txBody>
      </p:sp>
    </p:spTree>
    <p:extLst>
      <p:ext uri="{BB962C8B-B14F-4D97-AF65-F5344CB8AC3E}">
        <p14:creationId xmlns:p14="http://schemas.microsoft.com/office/powerpoint/2010/main" val="1424985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46918"/>
            <a:ext cx="2768287"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dirty="0">
                <a:solidFill>
                  <a:srgbClr val="0033CC"/>
                </a:solidFill>
                <a:latin typeface="HWPIMB+Calibri-Light"/>
                <a:cs typeface="HWPIMB+Calibri-Light"/>
              </a:rPr>
              <a:t>Bubble Sort</a:t>
            </a:r>
          </a:p>
        </p:txBody>
      </p:sp>
      <p:sp>
        <p:nvSpPr>
          <p:cNvPr id="4" name="object 4"/>
          <p:cNvSpPr txBox="1"/>
          <p:nvPr/>
        </p:nvSpPr>
        <p:spPr>
          <a:xfrm>
            <a:off x="929639" y="1904841"/>
            <a:ext cx="2158292" cy="393065"/>
          </a:xfrm>
          <a:prstGeom prst="rect">
            <a:avLst/>
          </a:prstGeom>
        </p:spPr>
        <p:txBody>
          <a:bodyPr vert="horz" wrap="square" lIns="0" tIns="0" rIns="0" bIns="0" rtlCol="0">
            <a:spAutoFit/>
          </a:bodyPr>
          <a:lstStyle/>
          <a:p>
            <a:pPr marL="0" marR="0">
              <a:lnSpc>
                <a:spcPts val="2795"/>
              </a:lnSpc>
              <a:spcBef>
                <a:spcPts val="0"/>
              </a:spcBef>
              <a:spcAft>
                <a:spcPts val="0"/>
              </a:spcAft>
            </a:pPr>
            <a:r>
              <a:rPr sz="2800" spc="-249" dirty="0">
                <a:solidFill>
                  <a:srgbClr val="FF0000"/>
                </a:solidFill>
                <a:latin typeface="AAVGFJ+Calibri"/>
                <a:cs typeface="AAVGFJ+Calibri"/>
              </a:rPr>
              <a:t>To</a:t>
            </a:r>
            <a:r>
              <a:rPr sz="2800" spc="250" dirty="0">
                <a:solidFill>
                  <a:srgbClr val="FF0000"/>
                </a:solidFill>
                <a:latin typeface="AAVGFJ+Calibri"/>
                <a:cs typeface="AAVGFJ+Calibri"/>
              </a:rPr>
              <a:t> </a:t>
            </a:r>
            <a:r>
              <a:rPr sz="2800" dirty="0">
                <a:solidFill>
                  <a:srgbClr val="FF0000"/>
                </a:solidFill>
                <a:latin typeface="AAVGFJ+Calibri"/>
                <a:cs typeface="AAVGFJ+Calibri"/>
              </a:rPr>
              <a:t>Remember</a:t>
            </a:r>
          </a:p>
        </p:txBody>
      </p:sp>
      <p:sp>
        <p:nvSpPr>
          <p:cNvPr id="5" name="object 5"/>
          <p:cNvSpPr txBox="1"/>
          <p:nvPr/>
        </p:nvSpPr>
        <p:spPr>
          <a:xfrm>
            <a:off x="929639" y="2415381"/>
            <a:ext cx="9857547" cy="776605"/>
          </a:xfrm>
          <a:prstGeom prst="rect">
            <a:avLst/>
          </a:prstGeom>
        </p:spPr>
        <p:txBody>
          <a:bodyPr vert="horz" wrap="square" lIns="0" tIns="0" rIns="0" bIns="0" rtlCol="0">
            <a:spAutoFit/>
          </a:bodyPr>
          <a:lstStyle/>
          <a:p>
            <a:pPr marL="0" marR="0">
              <a:lnSpc>
                <a:spcPts val="2795"/>
              </a:lnSpc>
              <a:spcBef>
                <a:spcPts val="0"/>
              </a:spcBef>
              <a:spcAft>
                <a:spcPts val="0"/>
              </a:spcAft>
            </a:pPr>
            <a:r>
              <a:rPr sz="2800" dirty="0">
                <a:solidFill>
                  <a:srgbClr val="000000"/>
                </a:solidFill>
                <a:latin typeface="AAVGFJ+Calibri"/>
                <a:cs typeface="AAVGFJ+Calibri"/>
              </a:rPr>
              <a:t>Compare</a:t>
            </a:r>
            <a:r>
              <a:rPr sz="2800" spc="11" dirty="0">
                <a:solidFill>
                  <a:srgbClr val="000000"/>
                </a:solidFill>
                <a:latin typeface="AAVGFJ+Calibri"/>
                <a:cs typeface="AAVGFJ+Calibri"/>
              </a:rPr>
              <a:t> </a:t>
            </a:r>
            <a:r>
              <a:rPr sz="2800" dirty="0">
                <a:solidFill>
                  <a:srgbClr val="000000"/>
                </a:solidFill>
                <a:latin typeface="AAVGFJ+Calibri"/>
                <a:cs typeface="AAVGFJ+Calibri"/>
              </a:rPr>
              <a:t>adjacent elements ..if </a:t>
            </a:r>
            <a:r>
              <a:rPr sz="2800" spc="-21" dirty="0">
                <a:solidFill>
                  <a:srgbClr val="000000"/>
                </a:solidFill>
                <a:latin typeface="AAVGFJ+Calibri"/>
                <a:cs typeface="AAVGFJ+Calibri"/>
              </a:rPr>
              <a:t>first</a:t>
            </a:r>
            <a:r>
              <a:rPr sz="2800" spc="25" dirty="0">
                <a:solidFill>
                  <a:srgbClr val="000000"/>
                </a:solidFill>
                <a:latin typeface="AAVGFJ+Calibri"/>
                <a:cs typeface="AAVGFJ+Calibri"/>
              </a:rPr>
              <a:t> </a:t>
            </a:r>
            <a:r>
              <a:rPr sz="2800" dirty="0">
                <a:solidFill>
                  <a:srgbClr val="000000"/>
                </a:solidFill>
                <a:latin typeface="AAVGFJ+Calibri"/>
                <a:cs typeface="AAVGFJ+Calibri"/>
              </a:rPr>
              <a:t>element is </a:t>
            </a:r>
            <a:r>
              <a:rPr sz="2800" spc="-17" dirty="0">
                <a:solidFill>
                  <a:srgbClr val="000000"/>
                </a:solidFill>
                <a:latin typeface="AAVGFJ+Calibri"/>
                <a:cs typeface="AAVGFJ+Calibri"/>
              </a:rPr>
              <a:t>greater</a:t>
            </a:r>
            <a:r>
              <a:rPr sz="2800" spc="17" dirty="0">
                <a:solidFill>
                  <a:srgbClr val="000000"/>
                </a:solidFill>
                <a:latin typeface="AAVGFJ+Calibri"/>
                <a:cs typeface="AAVGFJ+Calibri"/>
              </a:rPr>
              <a:t> </a:t>
            </a:r>
            <a:r>
              <a:rPr sz="2800" dirty="0">
                <a:solidFill>
                  <a:srgbClr val="000000"/>
                </a:solidFill>
                <a:latin typeface="AAVGFJ+Calibri"/>
                <a:cs typeface="AAVGFJ+Calibri"/>
              </a:rPr>
              <a:t>than second</a:t>
            </a:r>
          </a:p>
          <a:p>
            <a:pPr marL="0" marR="0">
              <a:lnSpc>
                <a:spcPts val="2795"/>
              </a:lnSpc>
              <a:spcBef>
                <a:spcPts val="225"/>
              </a:spcBef>
              <a:spcAft>
                <a:spcPts val="0"/>
              </a:spcAft>
            </a:pPr>
            <a:r>
              <a:rPr sz="2800" dirty="0">
                <a:solidFill>
                  <a:srgbClr val="000000"/>
                </a:solidFill>
                <a:latin typeface="AAVGFJ+Calibri"/>
                <a:cs typeface="AAVGFJ+Calibri"/>
              </a:rPr>
              <a:t>element </a:t>
            </a:r>
            <a:r>
              <a:rPr sz="2800" spc="-18" dirty="0">
                <a:solidFill>
                  <a:srgbClr val="000000"/>
                </a:solidFill>
                <a:latin typeface="AAVGFJ+Calibri"/>
                <a:cs typeface="AAVGFJ+Calibri"/>
              </a:rPr>
              <a:t>swap</a:t>
            </a:r>
            <a:r>
              <a:rPr sz="2800" spc="19" dirty="0">
                <a:solidFill>
                  <a:srgbClr val="000000"/>
                </a:solidFill>
                <a:latin typeface="AAVGFJ+Calibri"/>
                <a:cs typeface="AAVGFJ+Calibri"/>
              </a:rPr>
              <a:t> </a:t>
            </a:r>
            <a:r>
              <a:rPr sz="2800" dirty="0">
                <a:solidFill>
                  <a:srgbClr val="000000"/>
                </a:solidFill>
                <a:latin typeface="AAVGFJ+Calibri"/>
                <a:cs typeface="AAVGFJ+Calibri"/>
              </a:rPr>
              <a:t>them otherwise continue</a:t>
            </a:r>
            <a:r>
              <a:rPr sz="2800" spc="12" dirty="0">
                <a:solidFill>
                  <a:srgbClr val="000000"/>
                </a:solidFill>
                <a:latin typeface="AAVGFJ+Calibri"/>
                <a:cs typeface="AAVGFJ+Calibri"/>
              </a:rPr>
              <a:t> </a:t>
            </a:r>
            <a:r>
              <a:rPr sz="2800" dirty="0">
                <a:solidFill>
                  <a:srgbClr val="000000"/>
                </a:solidFill>
                <a:latin typeface="AAVGFJ+Calibri"/>
                <a:cs typeface="AAVGFJ+Calibri"/>
              </a:rPr>
              <a:t>with </a:t>
            </a:r>
            <a:r>
              <a:rPr sz="2800" spc="-12" dirty="0">
                <a:solidFill>
                  <a:srgbClr val="000000"/>
                </a:solidFill>
                <a:latin typeface="AAVGFJ+Calibri"/>
                <a:cs typeface="AAVGFJ+Calibri"/>
              </a:rPr>
              <a:t>next</a:t>
            </a:r>
            <a:r>
              <a:rPr sz="2800" spc="16" dirty="0">
                <a:solidFill>
                  <a:srgbClr val="000000"/>
                </a:solidFill>
                <a:latin typeface="AAVGFJ+Calibri"/>
                <a:cs typeface="AAVGFJ+Calibri"/>
              </a:rPr>
              <a:t> </a:t>
            </a:r>
            <a:r>
              <a:rPr sz="2800" dirty="0">
                <a:solidFill>
                  <a:srgbClr val="000000"/>
                </a:solidFill>
                <a:latin typeface="AAVGFJ+Calibri"/>
                <a:cs typeface="AAVGFJ+Calibri"/>
              </a:rPr>
              <a:t>comparison.</a:t>
            </a:r>
          </a:p>
        </p:txBody>
      </p:sp>
      <p:sp>
        <p:nvSpPr>
          <p:cNvPr id="6" name="object 6"/>
          <p:cNvSpPr txBox="1"/>
          <p:nvPr/>
        </p:nvSpPr>
        <p:spPr>
          <a:xfrm>
            <a:off x="929639" y="3309461"/>
            <a:ext cx="9734624" cy="393065"/>
          </a:xfrm>
          <a:prstGeom prst="rect">
            <a:avLst/>
          </a:prstGeom>
        </p:spPr>
        <p:txBody>
          <a:bodyPr vert="horz" wrap="square" lIns="0" tIns="0" rIns="0" bIns="0" rtlCol="0">
            <a:spAutoFit/>
          </a:bodyPr>
          <a:lstStyle/>
          <a:p>
            <a:pPr marL="0" marR="0">
              <a:lnSpc>
                <a:spcPts val="2795"/>
              </a:lnSpc>
              <a:spcBef>
                <a:spcPts val="0"/>
              </a:spcBef>
              <a:spcAft>
                <a:spcPts val="0"/>
              </a:spcAft>
            </a:pPr>
            <a:r>
              <a:rPr sz="2800" dirty="0">
                <a:solidFill>
                  <a:srgbClr val="000000"/>
                </a:solidFill>
                <a:latin typeface="AAVGFJ+Calibri"/>
                <a:cs typeface="AAVGFJ+Calibri"/>
              </a:rPr>
              <a:t>After each pass one element will come</a:t>
            </a:r>
            <a:r>
              <a:rPr sz="2800" spc="13" dirty="0">
                <a:solidFill>
                  <a:srgbClr val="000000"/>
                </a:solidFill>
                <a:latin typeface="AAVGFJ+Calibri"/>
                <a:cs typeface="AAVGFJ+Calibri"/>
              </a:rPr>
              <a:t> </a:t>
            </a:r>
            <a:r>
              <a:rPr sz="2800" spc="-28" dirty="0">
                <a:solidFill>
                  <a:srgbClr val="000000"/>
                </a:solidFill>
                <a:latin typeface="AAVGFJ+Calibri"/>
                <a:cs typeface="AAVGFJ+Calibri"/>
              </a:rPr>
              <a:t>to</a:t>
            </a:r>
            <a:r>
              <a:rPr sz="2800" spc="28" dirty="0">
                <a:solidFill>
                  <a:srgbClr val="000000"/>
                </a:solidFill>
                <a:latin typeface="AAVGFJ+Calibri"/>
                <a:cs typeface="AAVGFJ+Calibri"/>
              </a:rPr>
              <a:t> </a:t>
            </a:r>
            <a:r>
              <a:rPr sz="2800" dirty="0">
                <a:solidFill>
                  <a:srgbClr val="000000"/>
                </a:solidFill>
                <a:latin typeface="AAVGFJ+Calibri"/>
                <a:cs typeface="AAVGFJ+Calibri"/>
              </a:rPr>
              <a:t>its position in sorted list.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839200" cy="6248400"/>
          </a:xfrm>
        </p:spPr>
        <p:txBody>
          <a:bodyPr>
            <a:normAutofit/>
          </a:bodyPr>
          <a:lstStyle/>
          <a:p>
            <a:r>
              <a:rPr lang="en-US" sz="2800" b="1" dirty="0">
                <a:latin typeface="Garamond" panose="02020404030301010803" pitchFamily="18" charset="0"/>
              </a:rPr>
              <a:t>Bubble sort</a:t>
            </a:r>
          </a:p>
          <a:p>
            <a:r>
              <a:rPr lang="en-US" sz="2800" b="1" dirty="0">
                <a:latin typeface="Garamond" panose="02020404030301010803" pitchFamily="18" charset="0"/>
              </a:rPr>
              <a:t>Bubble Sort</a:t>
            </a:r>
            <a:r>
              <a:rPr lang="en-US" sz="2800" dirty="0">
                <a:latin typeface="Garamond" panose="02020404030301010803" pitchFamily="18" charset="0"/>
              </a:rPr>
              <a:t> is an algorithm which is used to sort N elements that are given in a memory .</a:t>
            </a:r>
          </a:p>
          <a:p>
            <a:r>
              <a:rPr lang="en-US" sz="2800" dirty="0">
                <a:latin typeface="Garamond" panose="02020404030301010803" pitchFamily="18" charset="0"/>
              </a:rPr>
              <a:t>For </a:t>
            </a:r>
            <a:r>
              <a:rPr lang="en-US" sz="2800" dirty="0" err="1">
                <a:latin typeface="Garamond" panose="02020404030301010803" pitchFamily="18" charset="0"/>
              </a:rPr>
              <a:t>eg</a:t>
            </a:r>
            <a:r>
              <a:rPr lang="en-US" sz="2800" dirty="0">
                <a:latin typeface="Garamond" panose="02020404030301010803" pitchFamily="18" charset="0"/>
              </a:rPr>
              <a:t>: an Array with </a:t>
            </a:r>
            <a:r>
              <a:rPr lang="en-US" sz="2800" b="1" dirty="0">
                <a:latin typeface="Garamond" panose="02020404030301010803" pitchFamily="18" charset="0"/>
              </a:rPr>
              <a:t>N</a:t>
            </a:r>
            <a:r>
              <a:rPr lang="en-US" sz="2800" dirty="0">
                <a:latin typeface="Garamond" panose="02020404030301010803" pitchFamily="18" charset="0"/>
              </a:rPr>
              <a:t> number of elements. Bubble Sort compares all the element one by one and sort them based on their values.</a:t>
            </a:r>
          </a:p>
          <a:p>
            <a:r>
              <a:rPr lang="en-US" sz="2800" dirty="0">
                <a:latin typeface="Garamond" panose="02020404030301010803" pitchFamily="18" charset="0"/>
              </a:rPr>
              <a:t>Sorting takes place by stepping through all the data items one-by-one in pairs and comparing adjacent data items and swapping each pair that is out of order.</a:t>
            </a:r>
          </a:p>
          <a:p>
            <a:r>
              <a:rPr lang="en-US" sz="2800" dirty="0">
                <a:latin typeface="Garamond" panose="02020404030301010803" pitchFamily="18" charset="0"/>
              </a:rPr>
              <a:t>Example</a:t>
            </a:r>
          </a:p>
          <a:p>
            <a:r>
              <a:rPr lang="en-US" sz="2800" dirty="0">
                <a:latin typeface="Garamond" panose="02020404030301010803" pitchFamily="18" charset="0"/>
              </a:rPr>
              <a:t>We take an unsorted array </a:t>
            </a:r>
          </a:p>
          <a:p>
            <a:endParaRPr lang="en-US" sz="2800" dirty="0">
              <a:latin typeface="Garamond" panose="02020404030301010803" pitchFamily="18" charset="0"/>
            </a:endParaRPr>
          </a:p>
          <a:p>
            <a:endParaRPr lang="en-US" sz="2800" dirty="0">
              <a:latin typeface="Garamond" panose="02020404030301010803" pitchFamily="18" charset="0"/>
            </a:endParaRPr>
          </a:p>
          <a:p>
            <a:endParaRPr lang="en-US" sz="2800" dirty="0">
              <a:latin typeface="Garamond" panose="02020404030301010803" pitchFamily="18" charset="0"/>
            </a:endParaRPr>
          </a:p>
          <a:p>
            <a:endParaRPr lang="en-US" sz="2800" dirty="0">
              <a:latin typeface="Garamond" panose="02020404030301010803" pitchFamily="18" charset="0"/>
            </a:endParaRPr>
          </a:p>
        </p:txBody>
      </p:sp>
    </p:spTree>
    <p:extLst>
      <p:ext uri="{BB962C8B-B14F-4D97-AF65-F5344CB8AC3E}">
        <p14:creationId xmlns:p14="http://schemas.microsoft.com/office/powerpoint/2010/main" val="2876800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52400"/>
            <a:ext cx="7467600" cy="632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115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77666" y="2459482"/>
            <a:ext cx="6797992" cy="276999"/>
          </a:xfrm>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38545"/>
            <a:ext cx="8382000" cy="6109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7777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28600"/>
            <a:ext cx="86106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19473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76200"/>
            <a:ext cx="8610600" cy="6553200"/>
          </a:xfrm>
        </p:spPr>
        <p:txBody>
          <a:bodyPr>
            <a:normAutofit fontScale="62500" lnSpcReduction="20000"/>
          </a:bodyPr>
          <a:lstStyle/>
          <a:p>
            <a:pPr>
              <a:lnSpc>
                <a:spcPct val="115000"/>
              </a:lnSpc>
            </a:pPr>
            <a:r>
              <a:rPr lang="en-US" sz="4500" b="1" dirty="0">
                <a:solidFill>
                  <a:srgbClr val="FF0000"/>
                </a:solidFill>
                <a:latin typeface="Garamond" panose="02020404030301010803" pitchFamily="18" charset="0"/>
                <a:ea typeface="Calibri"/>
                <a:cs typeface="Times New Roman"/>
              </a:rPr>
              <a:t>Algorithm</a:t>
            </a:r>
          </a:p>
          <a:p>
            <a:pPr>
              <a:lnSpc>
                <a:spcPct val="115000"/>
              </a:lnSpc>
            </a:pPr>
            <a:r>
              <a:rPr lang="en-US" sz="4500" dirty="0">
                <a:latin typeface="Garamond" panose="02020404030301010803" pitchFamily="18" charset="0"/>
                <a:ea typeface="Calibri"/>
                <a:cs typeface="Times New Roman"/>
              </a:rPr>
              <a:t>A is an array of n elements. The variable i and j are used to index the array elements.</a:t>
            </a:r>
          </a:p>
          <a:p>
            <a:pPr>
              <a:lnSpc>
                <a:spcPct val="115000"/>
              </a:lnSpc>
            </a:pPr>
            <a:r>
              <a:rPr lang="en-US" sz="4500" dirty="0">
                <a:latin typeface="Garamond" panose="02020404030301010803" pitchFamily="18" charset="0"/>
                <a:ea typeface="Calibri"/>
                <a:cs typeface="Times New Roman"/>
              </a:rPr>
              <a:t>Step1: Start</a:t>
            </a:r>
          </a:p>
          <a:p>
            <a:pPr>
              <a:lnSpc>
                <a:spcPct val="115000"/>
              </a:lnSpc>
            </a:pPr>
            <a:r>
              <a:rPr lang="en-US" sz="4500" dirty="0">
                <a:latin typeface="Garamond" panose="02020404030301010803" pitchFamily="18" charset="0"/>
                <a:ea typeface="Calibri"/>
                <a:cs typeface="Times New Roman"/>
              </a:rPr>
              <a:t>Step2: Read the size of the array in to variable n</a:t>
            </a:r>
          </a:p>
          <a:p>
            <a:pPr>
              <a:lnSpc>
                <a:spcPct val="115000"/>
              </a:lnSpc>
            </a:pPr>
            <a:r>
              <a:rPr lang="en-US" sz="4500" dirty="0">
                <a:latin typeface="Garamond" panose="02020404030301010803" pitchFamily="18" charset="0"/>
                <a:ea typeface="Calibri"/>
                <a:cs typeface="Times New Roman"/>
              </a:rPr>
              <a:t>Step3: Read the array elements</a:t>
            </a:r>
          </a:p>
          <a:p>
            <a:pPr>
              <a:lnSpc>
                <a:spcPct val="115000"/>
              </a:lnSpc>
            </a:pPr>
            <a:r>
              <a:rPr lang="en-US" sz="4500" dirty="0">
                <a:latin typeface="Garamond" panose="02020404030301010803" pitchFamily="18" charset="0"/>
                <a:ea typeface="Calibri"/>
                <a:cs typeface="Times New Roman"/>
              </a:rPr>
              <a:t>Step4: Repeat the following steps 5 and 6 for i=0 to n-1</a:t>
            </a:r>
          </a:p>
          <a:p>
            <a:pPr>
              <a:lnSpc>
                <a:spcPct val="115000"/>
              </a:lnSpc>
            </a:pPr>
            <a:r>
              <a:rPr lang="en-US" sz="4500" dirty="0">
                <a:latin typeface="Garamond" panose="02020404030301010803" pitchFamily="18" charset="0"/>
                <a:ea typeface="Calibri"/>
                <a:cs typeface="Times New Roman"/>
              </a:rPr>
              <a:t>Step 5: Repeat step 6 for j=0 to n-i-1</a:t>
            </a:r>
          </a:p>
          <a:p>
            <a:pPr>
              <a:lnSpc>
                <a:spcPct val="115000"/>
              </a:lnSpc>
            </a:pPr>
            <a:r>
              <a:rPr lang="en-US" sz="4500" dirty="0">
                <a:latin typeface="Garamond" panose="02020404030301010803" pitchFamily="18" charset="0"/>
                <a:ea typeface="Calibri"/>
                <a:cs typeface="Times New Roman"/>
              </a:rPr>
              <a:t>Step 6: If (a[j]&gt;=a [j+1])</a:t>
            </a:r>
          </a:p>
          <a:p>
            <a:pPr>
              <a:lnSpc>
                <a:spcPct val="115000"/>
              </a:lnSpc>
            </a:pPr>
            <a:r>
              <a:rPr lang="en-US" sz="4500" dirty="0">
                <a:latin typeface="Garamond" panose="02020404030301010803" pitchFamily="18" charset="0"/>
                <a:ea typeface="Calibri"/>
                <a:cs typeface="Times New Roman"/>
              </a:rPr>
              <a:t>		Swap a[j] with a[j+1]</a:t>
            </a:r>
          </a:p>
          <a:p>
            <a:pPr>
              <a:lnSpc>
                <a:spcPct val="115000"/>
              </a:lnSpc>
            </a:pPr>
            <a:r>
              <a:rPr lang="en-US" sz="4500" dirty="0">
                <a:latin typeface="Garamond" panose="02020404030301010803" pitchFamily="18" charset="0"/>
                <a:ea typeface="Calibri"/>
                <a:cs typeface="Times New Roman"/>
              </a:rPr>
              <a:t>	[End if]</a:t>
            </a:r>
          </a:p>
          <a:p>
            <a:pPr>
              <a:lnSpc>
                <a:spcPct val="115000"/>
              </a:lnSpc>
            </a:pPr>
            <a:r>
              <a:rPr lang="en-US" sz="4500" dirty="0">
                <a:latin typeface="Garamond" panose="02020404030301010803" pitchFamily="18" charset="0"/>
                <a:ea typeface="Calibri"/>
                <a:cs typeface="Times New Roman"/>
              </a:rPr>
              <a:t>[end of step 4 for loop]</a:t>
            </a:r>
          </a:p>
          <a:p>
            <a:pPr>
              <a:lnSpc>
                <a:spcPct val="115000"/>
              </a:lnSpc>
            </a:pPr>
            <a:r>
              <a:rPr lang="en-US" sz="4500" dirty="0">
                <a:latin typeface="Garamond" panose="02020404030301010803" pitchFamily="18" charset="0"/>
                <a:ea typeface="Calibri"/>
                <a:cs typeface="Times New Roman"/>
              </a:rPr>
              <a:t>[end of step 5 for loop]</a:t>
            </a:r>
          </a:p>
          <a:p>
            <a:pPr>
              <a:lnSpc>
                <a:spcPct val="115000"/>
              </a:lnSpc>
            </a:pPr>
            <a:r>
              <a:rPr lang="en-US" sz="4500" dirty="0">
                <a:latin typeface="Garamond" panose="02020404030301010803" pitchFamily="18" charset="0"/>
                <a:ea typeface="Calibri"/>
                <a:cs typeface="Times New Roman"/>
              </a:rPr>
              <a:t>Step 7: print the sorted list</a:t>
            </a:r>
          </a:p>
          <a:p>
            <a:pPr>
              <a:lnSpc>
                <a:spcPct val="115000"/>
              </a:lnSpc>
            </a:pPr>
            <a:r>
              <a:rPr lang="en-US" sz="4500" dirty="0">
                <a:latin typeface="Garamond" panose="02020404030301010803" pitchFamily="18" charset="0"/>
                <a:ea typeface="Calibri"/>
                <a:cs typeface="Times New Roman"/>
              </a:rPr>
              <a:t>Step 8: Stop</a:t>
            </a:r>
          </a:p>
          <a:p>
            <a:endParaRPr lang="en-US" dirty="0"/>
          </a:p>
        </p:txBody>
      </p:sp>
    </p:spTree>
    <p:extLst>
      <p:ext uri="{BB962C8B-B14F-4D97-AF65-F5344CB8AC3E}">
        <p14:creationId xmlns:p14="http://schemas.microsoft.com/office/powerpoint/2010/main" val="3162361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382000" cy="6629400"/>
          </a:xfrm>
        </p:spPr>
        <p:txBody>
          <a:bodyPr>
            <a:noAutofit/>
          </a:bodyPr>
          <a:lstStyle/>
          <a:p>
            <a:r>
              <a:rPr lang="en-US" sz="2800" dirty="0">
                <a:latin typeface="Garamond" panose="02020404030301010803" pitchFamily="18" charset="0"/>
              </a:rPr>
              <a:t>Program</a:t>
            </a:r>
          </a:p>
          <a:p>
            <a:r>
              <a:rPr lang="en-US" sz="2800" dirty="0" err="1">
                <a:latin typeface="Garamond" panose="02020404030301010803" pitchFamily="18" charset="0"/>
              </a:rPr>
              <a:t>int</a:t>
            </a:r>
            <a:r>
              <a:rPr lang="en-US" sz="2800" dirty="0">
                <a:latin typeface="Garamond" panose="02020404030301010803" pitchFamily="18" charset="0"/>
              </a:rPr>
              <a:t> a[6] = {5, 1, 6, 2, 4, 3};</a:t>
            </a:r>
          </a:p>
          <a:p>
            <a:r>
              <a:rPr lang="en-US" sz="2800" dirty="0">
                <a:latin typeface="Garamond" panose="02020404030301010803" pitchFamily="18" charset="0"/>
              </a:rPr>
              <a:t> </a:t>
            </a:r>
            <a:r>
              <a:rPr lang="en-US" sz="2800" dirty="0" err="1">
                <a:latin typeface="Garamond" panose="02020404030301010803" pitchFamily="18" charset="0"/>
              </a:rPr>
              <a:t>int</a:t>
            </a:r>
            <a:r>
              <a:rPr lang="en-US" sz="2800" dirty="0">
                <a:latin typeface="Garamond" panose="02020404030301010803" pitchFamily="18" charset="0"/>
              </a:rPr>
              <a:t> i, j, temp; </a:t>
            </a:r>
          </a:p>
          <a:p>
            <a:r>
              <a:rPr lang="en-US" sz="2800" dirty="0">
                <a:latin typeface="Garamond" panose="02020404030301010803" pitchFamily="18" charset="0"/>
              </a:rPr>
              <a:t>for(i=0; </a:t>
            </a:r>
            <a:r>
              <a:rPr lang="en-US" sz="2800" dirty="0" err="1">
                <a:latin typeface="Garamond" panose="02020404030301010803" pitchFamily="18" charset="0"/>
              </a:rPr>
              <a:t>i</a:t>
            </a:r>
            <a:r>
              <a:rPr lang="en-US" sz="2800" dirty="0">
                <a:latin typeface="Garamond" panose="02020404030301010803" pitchFamily="18" charset="0"/>
              </a:rPr>
              <a:t>&lt;n-1; i++)</a:t>
            </a:r>
          </a:p>
          <a:p>
            <a:r>
              <a:rPr lang="en-US" sz="2800" dirty="0">
                <a:latin typeface="Garamond" panose="02020404030301010803" pitchFamily="18" charset="0"/>
              </a:rPr>
              <a:t> { </a:t>
            </a:r>
          </a:p>
          <a:p>
            <a:r>
              <a:rPr lang="en-US" sz="2800" dirty="0">
                <a:latin typeface="Garamond" panose="02020404030301010803" pitchFamily="18" charset="0"/>
              </a:rPr>
              <a:t>for(j=0; j&lt;n-i-1; j++)</a:t>
            </a:r>
          </a:p>
          <a:p>
            <a:r>
              <a:rPr lang="en-US" sz="2800" dirty="0">
                <a:latin typeface="Garamond" panose="02020404030301010803" pitchFamily="18" charset="0"/>
              </a:rPr>
              <a:t> { </a:t>
            </a:r>
          </a:p>
          <a:p>
            <a:r>
              <a:rPr lang="en-US" sz="2800" dirty="0">
                <a:latin typeface="Garamond" panose="02020404030301010803" pitchFamily="18" charset="0"/>
              </a:rPr>
              <a:t>if( a[j] &gt; a[j+1]) </a:t>
            </a:r>
          </a:p>
          <a:p>
            <a:r>
              <a:rPr lang="en-US" sz="2800" dirty="0">
                <a:latin typeface="Garamond" panose="02020404030301010803" pitchFamily="18" charset="0"/>
              </a:rPr>
              <a:t>{</a:t>
            </a:r>
          </a:p>
          <a:p>
            <a:r>
              <a:rPr lang="en-US" sz="2800" dirty="0">
                <a:latin typeface="Garamond" panose="02020404030301010803" pitchFamily="18" charset="0"/>
              </a:rPr>
              <a:t> temp = a[j]; </a:t>
            </a:r>
          </a:p>
          <a:p>
            <a:r>
              <a:rPr lang="en-US" sz="2800" dirty="0">
                <a:latin typeface="Garamond" panose="02020404030301010803" pitchFamily="18" charset="0"/>
              </a:rPr>
              <a:t>a[j] = a[j+1];</a:t>
            </a:r>
          </a:p>
          <a:p>
            <a:r>
              <a:rPr lang="en-US" sz="2800" dirty="0">
                <a:latin typeface="Garamond" panose="02020404030301010803" pitchFamily="18" charset="0"/>
              </a:rPr>
              <a:t> a[j+1] = temp;</a:t>
            </a:r>
          </a:p>
          <a:p>
            <a:r>
              <a:rPr lang="en-US" sz="2800" dirty="0">
                <a:latin typeface="Garamond" panose="02020404030301010803" pitchFamily="18" charset="0"/>
              </a:rPr>
              <a:t> } } } </a:t>
            </a:r>
          </a:p>
          <a:p>
            <a:endParaRPr lang="en-US" sz="2800" dirty="0">
              <a:latin typeface="Garamond" panose="02020404030301010803" pitchFamily="18" charset="0"/>
            </a:endParaRPr>
          </a:p>
          <a:p>
            <a:endParaRPr lang="en-US" sz="2800" dirty="0">
              <a:latin typeface="Garamond" panose="02020404030301010803" pitchFamily="18" charset="0"/>
            </a:endParaRPr>
          </a:p>
        </p:txBody>
      </p:sp>
    </p:spTree>
    <p:extLst>
      <p:ext uri="{BB962C8B-B14F-4D97-AF65-F5344CB8AC3E}">
        <p14:creationId xmlns:p14="http://schemas.microsoft.com/office/powerpoint/2010/main" val="1788058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686800" cy="6629400"/>
          </a:xfrm>
        </p:spPr>
        <p:txBody>
          <a:bodyPr>
            <a:normAutofit fontScale="32500" lnSpcReduction="20000"/>
          </a:bodyPr>
          <a:lstStyle/>
          <a:p>
            <a:r>
              <a:rPr lang="en-US" sz="5500" b="1" dirty="0">
                <a:latin typeface="Garamond" panose="02020404030301010803" pitchFamily="18" charset="0"/>
              </a:rPr>
              <a:t>Example:</a:t>
            </a:r>
          </a:p>
          <a:p>
            <a:r>
              <a:rPr lang="en-US" sz="5500" dirty="0">
                <a:latin typeface="Garamond" panose="02020404030301010803" pitchFamily="18" charset="0"/>
              </a:rPr>
              <a:t>Let us take the array of numbers 5 1 4 2 8 and sort the array in ascending order using bubble sort algorithm. In each step, elements written in bold are being compared.</a:t>
            </a:r>
            <a:endParaRPr lang="en-US" sz="5500" b="1" dirty="0">
              <a:latin typeface="Garamond" panose="02020404030301010803" pitchFamily="18" charset="0"/>
            </a:endParaRPr>
          </a:p>
          <a:p>
            <a:r>
              <a:rPr lang="en-US" sz="5500" b="1" dirty="0">
                <a:latin typeface="Garamond" panose="02020404030301010803" pitchFamily="18" charset="0"/>
              </a:rPr>
              <a:t>Pass 1:</a:t>
            </a:r>
            <a:br>
              <a:rPr lang="en-US" sz="5500" b="1" dirty="0">
                <a:latin typeface="Garamond" panose="02020404030301010803" pitchFamily="18" charset="0"/>
              </a:rPr>
            </a:b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1</a:t>
            </a:r>
            <a:r>
              <a:rPr lang="en-US" sz="5500" dirty="0">
                <a:latin typeface="Garamond" panose="02020404030301010803" pitchFamily="18" charset="0"/>
              </a:rPr>
              <a:t> 4 2 8 ) (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4 2 8 ), Here, algorithm compares the first two elements, and</a:t>
            </a:r>
          </a:p>
          <a:p>
            <a:r>
              <a:rPr lang="en-US" sz="5500" dirty="0">
                <a:latin typeface="Garamond" panose="02020404030301010803" pitchFamily="18" charset="0"/>
              </a:rPr>
              <a:t>                            swaps them , since 5&gt;1.</a:t>
            </a:r>
            <a:br>
              <a:rPr lang="en-US" sz="5500" dirty="0">
                <a:latin typeface="Garamond" panose="02020404030301010803" pitchFamily="18" charset="0"/>
              </a:rPr>
            </a:br>
            <a:r>
              <a:rPr lang="en-US" sz="5500" dirty="0">
                <a:latin typeface="Garamond" panose="02020404030301010803" pitchFamily="18" charset="0"/>
              </a:rPr>
              <a:t>( 1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2 8 ) ( 1 </a:t>
            </a:r>
            <a:r>
              <a:rPr lang="en-US" sz="5500" b="1" dirty="0">
                <a:latin typeface="Garamond" panose="02020404030301010803" pitchFamily="18" charset="0"/>
              </a:rPr>
              <a:t>4</a:t>
            </a: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2 8 ), Swap since 5 &gt; 4</a:t>
            </a:r>
            <a:br>
              <a:rPr lang="en-US" sz="5500" dirty="0">
                <a:latin typeface="Garamond" panose="02020404030301010803" pitchFamily="18" charset="0"/>
              </a:rPr>
            </a:br>
            <a:r>
              <a:rPr lang="en-US" sz="5500" dirty="0">
                <a:latin typeface="Garamond" panose="02020404030301010803" pitchFamily="18" charset="0"/>
              </a:rPr>
              <a:t>( 1 4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8 ) ( 1 4 </a:t>
            </a:r>
            <a:r>
              <a:rPr lang="en-US" sz="5500" b="1" dirty="0">
                <a:latin typeface="Garamond" panose="02020404030301010803" pitchFamily="18" charset="0"/>
              </a:rPr>
              <a:t>2</a:t>
            </a: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8 ), Swap since 5 &gt; 2</a:t>
            </a:r>
            <a:br>
              <a:rPr lang="en-US" sz="5500" dirty="0">
                <a:latin typeface="Garamond" panose="02020404030301010803" pitchFamily="18" charset="0"/>
              </a:rPr>
            </a:br>
            <a:r>
              <a:rPr lang="en-US" sz="5500" dirty="0">
                <a:latin typeface="Garamond" panose="02020404030301010803" pitchFamily="18" charset="0"/>
              </a:rPr>
              <a:t>( 1 4 2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8</a:t>
            </a:r>
            <a:r>
              <a:rPr lang="en-US" sz="5500" dirty="0">
                <a:latin typeface="Garamond" panose="02020404030301010803" pitchFamily="18" charset="0"/>
              </a:rPr>
              <a:t> ) ( 1 4 2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8</a:t>
            </a:r>
            <a:r>
              <a:rPr lang="en-US" sz="5500" dirty="0">
                <a:latin typeface="Garamond" panose="02020404030301010803" pitchFamily="18" charset="0"/>
              </a:rPr>
              <a:t> ), Now, since these elements are already in order (5&lt;8), </a:t>
            </a:r>
          </a:p>
          <a:p>
            <a:r>
              <a:rPr lang="en-US" sz="5500" dirty="0">
                <a:latin typeface="Garamond" panose="02020404030301010803" pitchFamily="18" charset="0"/>
              </a:rPr>
              <a:t>                            algorithm does not swap them. After pass 1 , 8 has come to its position</a:t>
            </a:r>
            <a:br>
              <a:rPr lang="en-US" sz="5500" dirty="0">
                <a:latin typeface="Garamond" panose="02020404030301010803" pitchFamily="18" charset="0"/>
              </a:rPr>
            </a:br>
            <a:r>
              <a:rPr lang="en-US" sz="5500" b="1" dirty="0">
                <a:latin typeface="Garamond" panose="02020404030301010803" pitchFamily="18" charset="0"/>
              </a:rPr>
              <a:t>Pass 2:</a:t>
            </a:r>
            <a:endParaRPr lang="en-US" sz="5500" dirty="0">
              <a:latin typeface="Garamond" panose="02020404030301010803" pitchFamily="18" charset="0"/>
            </a:endParaRPr>
          </a:p>
          <a:p>
            <a:r>
              <a:rPr lang="en-US" sz="5500" dirty="0">
                <a:latin typeface="Garamond" panose="02020404030301010803" pitchFamily="18" charset="0"/>
              </a:rPr>
              <a:t>(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2 5 8 ) (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2 5 8 )  No Swap since1&lt;4</a:t>
            </a:r>
            <a:br>
              <a:rPr lang="en-US" sz="5500" dirty="0">
                <a:latin typeface="Garamond" panose="02020404030301010803" pitchFamily="18" charset="0"/>
              </a:rPr>
            </a:br>
            <a:r>
              <a:rPr lang="en-US" sz="5500" dirty="0">
                <a:latin typeface="Garamond" panose="02020404030301010803" pitchFamily="18" charset="0"/>
              </a:rPr>
              <a:t>( 1 </a:t>
            </a:r>
            <a:r>
              <a:rPr lang="en-US" sz="5500" b="1" dirty="0">
                <a:latin typeface="Garamond" panose="02020404030301010803" pitchFamily="18" charset="0"/>
              </a:rPr>
              <a:t>4</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5 8 ) ( 1 </a:t>
            </a:r>
            <a:r>
              <a:rPr lang="en-US" sz="5500" b="1" dirty="0">
                <a:latin typeface="Garamond" panose="02020404030301010803" pitchFamily="18" charset="0"/>
              </a:rPr>
              <a:t>2</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5 8 ), Swap since 4 &gt; 2</a:t>
            </a:r>
            <a:br>
              <a:rPr lang="en-US" sz="5500" dirty="0">
                <a:latin typeface="Garamond" panose="02020404030301010803" pitchFamily="18" charset="0"/>
              </a:rPr>
            </a:br>
            <a:r>
              <a:rPr lang="en-US" sz="5500" dirty="0">
                <a:latin typeface="Garamond" panose="02020404030301010803" pitchFamily="18" charset="0"/>
              </a:rPr>
              <a:t>( 1 2 </a:t>
            </a:r>
            <a:r>
              <a:rPr lang="en-US" sz="5500" b="1" dirty="0">
                <a:latin typeface="Garamond" panose="02020404030301010803" pitchFamily="18" charset="0"/>
              </a:rPr>
              <a:t>4</a:t>
            </a: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8 ) ( 1 2 </a:t>
            </a:r>
            <a:r>
              <a:rPr lang="en-US" sz="5500" b="1" dirty="0">
                <a:latin typeface="Garamond" panose="02020404030301010803" pitchFamily="18" charset="0"/>
              </a:rPr>
              <a:t>4</a:t>
            </a:r>
            <a:r>
              <a:rPr lang="en-US" sz="5500" dirty="0">
                <a:latin typeface="Garamond" panose="02020404030301010803" pitchFamily="18" charset="0"/>
              </a:rPr>
              <a:t> </a:t>
            </a:r>
            <a:r>
              <a:rPr lang="en-US" sz="5500" b="1" dirty="0">
                <a:latin typeface="Garamond" panose="02020404030301010803" pitchFamily="18" charset="0"/>
              </a:rPr>
              <a:t>5</a:t>
            </a:r>
            <a:r>
              <a:rPr lang="en-US" sz="5500" dirty="0">
                <a:latin typeface="Garamond" panose="02020404030301010803" pitchFamily="18" charset="0"/>
              </a:rPr>
              <a:t> 8 ) , No Swap since4&lt;5</a:t>
            </a:r>
            <a:br>
              <a:rPr lang="en-US" sz="5500" dirty="0">
                <a:latin typeface="Garamond" panose="02020404030301010803" pitchFamily="18" charset="0"/>
              </a:rPr>
            </a:br>
            <a:r>
              <a:rPr lang="en-US" sz="5500" dirty="0">
                <a:latin typeface="Garamond" panose="02020404030301010803" pitchFamily="18" charset="0"/>
              </a:rPr>
              <a:t>( 1 2 4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8</a:t>
            </a:r>
            <a:r>
              <a:rPr lang="en-US" sz="5500" dirty="0">
                <a:latin typeface="Garamond" panose="02020404030301010803" pitchFamily="18" charset="0"/>
              </a:rPr>
              <a:t> ) ( 1 2 4 </a:t>
            </a:r>
            <a:r>
              <a:rPr lang="en-US" sz="5500" b="1" dirty="0">
                <a:latin typeface="Garamond" panose="02020404030301010803" pitchFamily="18" charset="0"/>
              </a:rPr>
              <a:t>5</a:t>
            </a:r>
            <a:r>
              <a:rPr lang="en-US" sz="5500" dirty="0">
                <a:latin typeface="Garamond" panose="02020404030301010803" pitchFamily="18" charset="0"/>
              </a:rPr>
              <a:t> </a:t>
            </a:r>
            <a:r>
              <a:rPr lang="en-US" sz="5500" b="1" dirty="0">
                <a:latin typeface="Garamond" panose="02020404030301010803" pitchFamily="18" charset="0"/>
              </a:rPr>
              <a:t>8</a:t>
            </a:r>
            <a:r>
              <a:rPr lang="en-US" sz="5500" dirty="0">
                <a:latin typeface="Garamond" panose="02020404030301010803" pitchFamily="18" charset="0"/>
              </a:rPr>
              <a:t> )</a:t>
            </a:r>
            <a:br>
              <a:rPr lang="en-US" sz="5500" dirty="0">
                <a:latin typeface="Garamond" panose="02020404030301010803" pitchFamily="18" charset="0"/>
              </a:rPr>
            </a:br>
            <a:r>
              <a:rPr lang="en-US" sz="5500" dirty="0">
                <a:latin typeface="Garamond" panose="02020404030301010803" pitchFamily="18" charset="0"/>
              </a:rPr>
              <a:t>Now, the array is already sorted, but our algorithm does not know if it is completed. The algorithm needs one </a:t>
            </a:r>
            <a:r>
              <a:rPr lang="en-US" sz="5500" b="1" dirty="0">
                <a:latin typeface="Garamond" panose="02020404030301010803" pitchFamily="18" charset="0"/>
              </a:rPr>
              <a:t>whole</a:t>
            </a:r>
            <a:r>
              <a:rPr lang="en-US" sz="5500" dirty="0">
                <a:latin typeface="Garamond" panose="02020404030301010803" pitchFamily="18" charset="0"/>
              </a:rPr>
              <a:t> pass without </a:t>
            </a:r>
            <a:r>
              <a:rPr lang="en-US" sz="5500" b="1" dirty="0">
                <a:latin typeface="Garamond" panose="02020404030301010803" pitchFamily="18" charset="0"/>
              </a:rPr>
              <a:t>any</a:t>
            </a:r>
            <a:r>
              <a:rPr lang="en-US" sz="5500" dirty="0">
                <a:latin typeface="Garamond" panose="02020404030301010803" pitchFamily="18" charset="0"/>
              </a:rPr>
              <a:t> swap to know it is sorted. After pass 2 , 5 has come to its position and 2 elements are arranged.</a:t>
            </a:r>
            <a:br>
              <a:rPr lang="en-US" sz="5500" dirty="0">
                <a:latin typeface="Garamond" panose="02020404030301010803" pitchFamily="18" charset="0"/>
              </a:rPr>
            </a:br>
            <a:r>
              <a:rPr lang="en-US" sz="5500" b="1" dirty="0">
                <a:latin typeface="Garamond" panose="02020404030301010803" pitchFamily="18" charset="0"/>
              </a:rPr>
              <a:t>Pass 3:</a:t>
            </a:r>
            <a:endParaRPr lang="en-US" sz="5500" dirty="0">
              <a:latin typeface="Garamond" panose="02020404030301010803" pitchFamily="18" charset="0"/>
            </a:endParaRPr>
          </a:p>
          <a:p>
            <a:r>
              <a:rPr lang="en-US" sz="5500" dirty="0">
                <a:latin typeface="Garamond" panose="02020404030301010803" pitchFamily="18" charset="0"/>
              </a:rPr>
              <a:t>(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4 5 8 ) (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4 5 8 ) No Swap since1&lt;2</a:t>
            </a:r>
            <a:br>
              <a:rPr lang="en-US" sz="5500" dirty="0">
                <a:latin typeface="Garamond" panose="02020404030301010803" pitchFamily="18" charset="0"/>
              </a:rPr>
            </a:br>
            <a:r>
              <a:rPr lang="en-US" sz="5500" dirty="0">
                <a:latin typeface="Garamond" panose="02020404030301010803" pitchFamily="18" charset="0"/>
              </a:rPr>
              <a:t>( 1 </a:t>
            </a:r>
            <a:r>
              <a:rPr lang="en-US" sz="5500" b="1" dirty="0">
                <a:latin typeface="Garamond" panose="02020404030301010803" pitchFamily="18" charset="0"/>
              </a:rPr>
              <a:t>2</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5 8 ) ( 1 </a:t>
            </a:r>
            <a:r>
              <a:rPr lang="en-US" sz="5500" b="1" dirty="0">
                <a:latin typeface="Garamond" panose="02020404030301010803" pitchFamily="18" charset="0"/>
              </a:rPr>
              <a:t>2</a:t>
            </a:r>
            <a:r>
              <a:rPr lang="en-US" sz="5500" dirty="0">
                <a:latin typeface="Garamond" panose="02020404030301010803" pitchFamily="18" charset="0"/>
              </a:rPr>
              <a:t> </a:t>
            </a:r>
            <a:r>
              <a:rPr lang="en-US" sz="5500" b="1" dirty="0">
                <a:latin typeface="Garamond" panose="02020404030301010803" pitchFamily="18" charset="0"/>
              </a:rPr>
              <a:t>4</a:t>
            </a:r>
            <a:r>
              <a:rPr lang="en-US" sz="5500" dirty="0">
                <a:latin typeface="Garamond" panose="02020404030301010803" pitchFamily="18" charset="0"/>
              </a:rPr>
              <a:t> 5 8 ) No Swap since2&lt;4</a:t>
            </a:r>
          </a:p>
          <a:p>
            <a:r>
              <a:rPr lang="en-US" sz="5500" dirty="0">
                <a:latin typeface="Garamond" panose="02020404030301010803" pitchFamily="18" charset="0"/>
              </a:rPr>
              <a:t>After pass 3, 4 has come to its position and 3 elements are sorted.</a:t>
            </a:r>
          </a:p>
          <a:p>
            <a:br>
              <a:rPr lang="en-US" sz="5500" dirty="0">
                <a:latin typeface="Garamond" panose="02020404030301010803" pitchFamily="18" charset="0"/>
              </a:rPr>
            </a:br>
            <a:r>
              <a:rPr lang="en-US" sz="5500" b="1" dirty="0">
                <a:latin typeface="Garamond" panose="02020404030301010803" pitchFamily="18" charset="0"/>
              </a:rPr>
              <a:t>Pass 4:</a:t>
            </a:r>
            <a:endParaRPr lang="en-US" sz="5500" dirty="0">
              <a:latin typeface="Garamond" panose="02020404030301010803" pitchFamily="18" charset="0"/>
            </a:endParaRPr>
          </a:p>
          <a:p>
            <a:r>
              <a:rPr lang="en-US" sz="5500" dirty="0">
                <a:latin typeface="Garamond" panose="02020404030301010803" pitchFamily="18" charset="0"/>
              </a:rPr>
              <a:t>(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4 5 8 ) ( </a:t>
            </a:r>
            <a:r>
              <a:rPr lang="en-US" sz="5500" b="1" dirty="0">
                <a:latin typeface="Garamond" panose="02020404030301010803" pitchFamily="18" charset="0"/>
              </a:rPr>
              <a:t>1</a:t>
            </a:r>
            <a:r>
              <a:rPr lang="en-US" sz="5500" dirty="0">
                <a:latin typeface="Garamond" panose="02020404030301010803" pitchFamily="18" charset="0"/>
              </a:rPr>
              <a:t> </a:t>
            </a:r>
            <a:r>
              <a:rPr lang="en-US" sz="5500" b="1" dirty="0">
                <a:latin typeface="Garamond" panose="02020404030301010803" pitchFamily="18" charset="0"/>
              </a:rPr>
              <a:t>2</a:t>
            </a:r>
            <a:r>
              <a:rPr lang="en-US" sz="5500" dirty="0">
                <a:latin typeface="Garamond" panose="02020404030301010803" pitchFamily="18" charset="0"/>
              </a:rPr>
              <a:t> 4 5 8 ) No Swap since1&lt;2</a:t>
            </a:r>
            <a:br>
              <a:rPr lang="en-US" sz="5500" dirty="0">
                <a:latin typeface="Garamond" panose="02020404030301010803" pitchFamily="18" charset="0"/>
              </a:rPr>
            </a:br>
            <a:r>
              <a:rPr lang="en-US" sz="5500" dirty="0">
                <a:latin typeface="Garamond" panose="02020404030301010803" pitchFamily="18" charset="0"/>
              </a:rPr>
              <a:t>After pass 4, 2 has come to its position and 4 elements are sorted.</a:t>
            </a:r>
          </a:p>
          <a:p>
            <a:r>
              <a:rPr lang="en-US" sz="5500" dirty="0">
                <a:latin typeface="Garamond" panose="02020404030301010803" pitchFamily="18" charset="0"/>
              </a:rPr>
              <a:t>Finally, the array is sorted, and the algorithm can terminate.</a:t>
            </a:r>
          </a:p>
          <a:p>
            <a:endParaRPr lang="en-US" dirty="0"/>
          </a:p>
        </p:txBody>
      </p:sp>
    </p:spTree>
    <p:extLst>
      <p:ext uri="{BB962C8B-B14F-4D97-AF65-F5344CB8AC3E}">
        <p14:creationId xmlns:p14="http://schemas.microsoft.com/office/powerpoint/2010/main" val="921724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915400" cy="6629400"/>
          </a:xfrm>
        </p:spPr>
        <p:txBody>
          <a:bodyPr>
            <a:normAutofit/>
          </a:bodyPr>
          <a:lstStyle/>
          <a:p>
            <a:r>
              <a:rPr lang="en-US" b="1" dirty="0">
                <a:latin typeface="Garamond" panose="02020404030301010803" pitchFamily="18" charset="0"/>
              </a:rPr>
              <a:t>//Program to sort a list of N elements using Bubble Sort</a:t>
            </a:r>
            <a:endParaRPr lang="en-US" dirty="0">
              <a:latin typeface="Garamond" panose="02020404030301010803" pitchFamily="18" charset="0"/>
            </a:endParaRPr>
          </a:p>
          <a:p>
            <a:r>
              <a:rPr lang="en-US" dirty="0">
                <a:latin typeface="Garamond" panose="02020404030301010803" pitchFamily="18" charset="0"/>
              </a:rPr>
              <a:t>#include&lt;</a:t>
            </a:r>
            <a:r>
              <a:rPr lang="en-US" dirty="0" err="1">
                <a:latin typeface="Garamond" panose="02020404030301010803" pitchFamily="18" charset="0"/>
              </a:rPr>
              <a:t>stdio.h</a:t>
            </a:r>
            <a:r>
              <a:rPr lang="en-US" dirty="0">
                <a:latin typeface="Garamond" panose="02020404030301010803" pitchFamily="18" charset="0"/>
              </a:rPr>
              <a:t>&gt;</a:t>
            </a:r>
          </a:p>
          <a:p>
            <a:r>
              <a:rPr lang="en-US" dirty="0">
                <a:latin typeface="Garamond" panose="02020404030301010803" pitchFamily="18" charset="0"/>
              </a:rPr>
              <a:t>void main()</a:t>
            </a:r>
          </a:p>
          <a:p>
            <a:r>
              <a:rPr lang="en-US" dirty="0">
                <a:latin typeface="Garamond" panose="02020404030301010803" pitchFamily="18" charset="0"/>
              </a:rPr>
              <a:t>{</a:t>
            </a:r>
          </a:p>
          <a:p>
            <a:r>
              <a:rPr lang="en-US" dirty="0">
                <a:latin typeface="Garamond" panose="02020404030301010803" pitchFamily="18" charset="0"/>
              </a:rPr>
              <a:t>	</a:t>
            </a:r>
            <a:r>
              <a:rPr lang="en-US" dirty="0" err="1">
                <a:latin typeface="Garamond" panose="02020404030301010803" pitchFamily="18" charset="0"/>
              </a:rPr>
              <a:t>int</a:t>
            </a:r>
            <a:r>
              <a:rPr lang="en-US" dirty="0">
                <a:latin typeface="Garamond" panose="02020404030301010803" pitchFamily="18" charset="0"/>
              </a:rPr>
              <a:t> </a:t>
            </a:r>
            <a:r>
              <a:rPr lang="en-US" dirty="0" err="1">
                <a:latin typeface="Garamond" panose="02020404030301010803" pitchFamily="18" charset="0"/>
              </a:rPr>
              <a:t>n,i,j,temp,a</a:t>
            </a:r>
            <a:r>
              <a:rPr lang="en-US" dirty="0">
                <a:latin typeface="Garamond" panose="02020404030301010803" pitchFamily="18" charset="0"/>
              </a:rPr>
              <a:t>[100];</a:t>
            </a:r>
          </a:p>
          <a:p>
            <a:r>
              <a:rPr lang="en-US" dirty="0">
                <a:latin typeface="Garamond" panose="02020404030301010803" pitchFamily="18" charset="0"/>
              </a:rPr>
              <a:t>	</a:t>
            </a:r>
            <a:r>
              <a:rPr lang="en-US" dirty="0" err="1">
                <a:latin typeface="Garamond" panose="02020404030301010803" pitchFamily="18" charset="0"/>
              </a:rPr>
              <a:t>clrscr</a:t>
            </a:r>
            <a:r>
              <a:rPr lang="en-US" dirty="0">
                <a:latin typeface="Garamond" panose="02020404030301010803" pitchFamily="18" charset="0"/>
              </a:rPr>
              <a:t>();</a:t>
            </a:r>
          </a:p>
          <a:p>
            <a:r>
              <a:rPr lang="en-US" dirty="0">
                <a:latin typeface="Garamond" panose="02020404030301010803" pitchFamily="18" charset="0"/>
              </a:rPr>
              <a:t>	</a:t>
            </a:r>
            <a:r>
              <a:rPr lang="en-US" dirty="0" err="1">
                <a:latin typeface="Garamond" panose="02020404030301010803" pitchFamily="18" charset="0"/>
              </a:rPr>
              <a:t>printf</a:t>
            </a:r>
            <a:r>
              <a:rPr lang="en-US" dirty="0">
                <a:latin typeface="Garamond" panose="02020404030301010803" pitchFamily="18" charset="0"/>
              </a:rPr>
              <a:t>("\</a:t>
            </a:r>
            <a:r>
              <a:rPr lang="en-US" dirty="0" err="1">
                <a:latin typeface="Garamond" panose="02020404030301010803" pitchFamily="18" charset="0"/>
              </a:rPr>
              <a:t>nEnter</a:t>
            </a:r>
            <a:r>
              <a:rPr lang="en-US" dirty="0">
                <a:latin typeface="Garamond" panose="02020404030301010803" pitchFamily="18" charset="0"/>
              </a:rPr>
              <a:t> the size of array :");</a:t>
            </a:r>
          </a:p>
          <a:p>
            <a:r>
              <a:rPr lang="en-US" dirty="0">
                <a:latin typeface="Garamond" panose="02020404030301010803" pitchFamily="18" charset="0"/>
              </a:rPr>
              <a:t>	</a:t>
            </a:r>
            <a:r>
              <a:rPr lang="en-US" dirty="0" err="1">
                <a:latin typeface="Garamond" panose="02020404030301010803" pitchFamily="18" charset="0"/>
              </a:rPr>
              <a:t>scanf</a:t>
            </a:r>
            <a:r>
              <a:rPr lang="en-US" dirty="0">
                <a:latin typeface="Garamond" panose="02020404030301010803" pitchFamily="18" charset="0"/>
              </a:rPr>
              <a:t>("%</a:t>
            </a:r>
            <a:r>
              <a:rPr lang="en-US" dirty="0" err="1">
                <a:latin typeface="Garamond" panose="02020404030301010803" pitchFamily="18" charset="0"/>
              </a:rPr>
              <a:t>d",&amp;n</a:t>
            </a:r>
            <a:r>
              <a:rPr lang="en-US" dirty="0">
                <a:latin typeface="Garamond" panose="02020404030301010803" pitchFamily="18" charset="0"/>
              </a:rPr>
              <a:t>);</a:t>
            </a:r>
          </a:p>
          <a:p>
            <a:r>
              <a:rPr lang="en-US" dirty="0">
                <a:latin typeface="Garamond" panose="02020404030301010803" pitchFamily="18" charset="0"/>
              </a:rPr>
              <a:t>	</a:t>
            </a:r>
            <a:r>
              <a:rPr lang="en-US" dirty="0" err="1">
                <a:latin typeface="Garamond" panose="02020404030301010803" pitchFamily="18" charset="0"/>
              </a:rPr>
              <a:t>printf</a:t>
            </a:r>
            <a:r>
              <a:rPr lang="en-US" dirty="0">
                <a:latin typeface="Garamond" panose="02020404030301010803" pitchFamily="18" charset="0"/>
              </a:rPr>
              <a:t>("\n Enter the elements\n");</a:t>
            </a:r>
          </a:p>
          <a:p>
            <a:r>
              <a:rPr lang="en-US" dirty="0">
                <a:latin typeface="Garamond" panose="02020404030301010803" pitchFamily="18" charset="0"/>
              </a:rPr>
              <a:t>	for(</a:t>
            </a:r>
            <a:r>
              <a:rPr lang="en-US" dirty="0" err="1">
                <a:latin typeface="Garamond" panose="02020404030301010803" pitchFamily="18" charset="0"/>
              </a:rPr>
              <a:t>i</a:t>
            </a:r>
            <a:r>
              <a:rPr lang="en-US" dirty="0">
                <a:latin typeface="Garamond" panose="02020404030301010803" pitchFamily="18" charset="0"/>
              </a:rPr>
              <a:t>=0;i&lt;</a:t>
            </a:r>
            <a:r>
              <a:rPr lang="en-US" dirty="0" err="1">
                <a:latin typeface="Garamond" panose="02020404030301010803" pitchFamily="18" charset="0"/>
              </a:rPr>
              <a:t>n;i</a:t>
            </a:r>
            <a:r>
              <a:rPr lang="en-US" dirty="0">
                <a:latin typeface="Garamond" panose="02020404030301010803" pitchFamily="18" charset="0"/>
              </a:rPr>
              <a:t>++)</a:t>
            </a:r>
          </a:p>
          <a:p>
            <a:r>
              <a:rPr lang="en-US" dirty="0">
                <a:latin typeface="Garamond" panose="02020404030301010803" pitchFamily="18" charset="0"/>
              </a:rPr>
              <a:t>	{</a:t>
            </a:r>
          </a:p>
          <a:p>
            <a:r>
              <a:rPr lang="en-US" dirty="0">
                <a:latin typeface="Garamond" panose="02020404030301010803" pitchFamily="18" charset="0"/>
              </a:rPr>
              <a:t>		</a:t>
            </a:r>
            <a:r>
              <a:rPr lang="en-US" dirty="0" err="1">
                <a:latin typeface="Garamond" panose="02020404030301010803" pitchFamily="18" charset="0"/>
              </a:rPr>
              <a:t>scanf</a:t>
            </a:r>
            <a:r>
              <a:rPr lang="en-US" dirty="0">
                <a:latin typeface="Garamond" panose="02020404030301010803" pitchFamily="18" charset="0"/>
              </a:rPr>
              <a:t>("%</a:t>
            </a:r>
            <a:r>
              <a:rPr lang="en-US" dirty="0" err="1">
                <a:latin typeface="Garamond" panose="02020404030301010803" pitchFamily="18" charset="0"/>
              </a:rPr>
              <a:t>d",&amp;a</a:t>
            </a:r>
            <a:r>
              <a:rPr lang="en-US" dirty="0">
                <a:latin typeface="Garamond" panose="02020404030301010803" pitchFamily="18" charset="0"/>
              </a:rPr>
              <a:t>[</a:t>
            </a:r>
            <a:r>
              <a:rPr lang="en-US" dirty="0" err="1">
                <a:latin typeface="Garamond" panose="02020404030301010803" pitchFamily="18" charset="0"/>
              </a:rPr>
              <a:t>i</a:t>
            </a:r>
            <a:r>
              <a:rPr lang="en-US" dirty="0">
                <a:latin typeface="Garamond" panose="02020404030301010803" pitchFamily="18" charset="0"/>
              </a:rPr>
              <a:t>]);</a:t>
            </a:r>
          </a:p>
          <a:p>
            <a:r>
              <a:rPr lang="en-US" dirty="0">
                <a:latin typeface="Garamond" panose="02020404030301010803" pitchFamily="18" charset="0"/>
              </a:rPr>
              <a:t>	}</a:t>
            </a:r>
          </a:p>
          <a:p>
            <a:r>
              <a:rPr lang="en-US" dirty="0">
                <a:latin typeface="Garamond" panose="02020404030301010803" pitchFamily="18" charset="0"/>
              </a:rPr>
              <a:t>	</a:t>
            </a:r>
            <a:r>
              <a:rPr lang="en-US" dirty="0" err="1">
                <a:latin typeface="Garamond" panose="02020404030301010803" pitchFamily="18" charset="0"/>
              </a:rPr>
              <a:t>printf</a:t>
            </a:r>
            <a:r>
              <a:rPr lang="en-US" dirty="0">
                <a:latin typeface="Garamond" panose="02020404030301010803" pitchFamily="18" charset="0"/>
              </a:rPr>
              <a:t>("Entered array is\n");</a:t>
            </a:r>
          </a:p>
          <a:p>
            <a:endParaRPr lang="en-US" dirty="0">
              <a:latin typeface="Garamond" panose="02020404030301010803" pitchFamily="18" charset="0"/>
            </a:endParaRPr>
          </a:p>
        </p:txBody>
      </p:sp>
    </p:spTree>
    <p:extLst>
      <p:ext uri="{BB962C8B-B14F-4D97-AF65-F5344CB8AC3E}">
        <p14:creationId xmlns:p14="http://schemas.microsoft.com/office/powerpoint/2010/main" val="1149125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458200" cy="6553200"/>
          </a:xfrm>
        </p:spPr>
        <p:txBody>
          <a:bodyPr>
            <a:normAutofit fontScale="55000" lnSpcReduction="20000"/>
          </a:bodyPr>
          <a:lstStyle/>
          <a:p>
            <a:r>
              <a:rPr lang="en-US" sz="5900" dirty="0">
                <a:latin typeface="Garamond" panose="02020404030301010803" pitchFamily="18" charset="0"/>
              </a:rPr>
              <a:t>for(</a:t>
            </a:r>
            <a:r>
              <a:rPr lang="en-US" sz="5900" dirty="0" err="1">
                <a:latin typeface="Garamond" panose="02020404030301010803" pitchFamily="18" charset="0"/>
              </a:rPr>
              <a:t>i</a:t>
            </a:r>
            <a:r>
              <a:rPr lang="en-US" sz="5900" dirty="0">
                <a:latin typeface="Garamond" panose="02020404030301010803" pitchFamily="18" charset="0"/>
              </a:rPr>
              <a:t>=0;i&lt;</a:t>
            </a:r>
            <a:r>
              <a:rPr lang="en-US" sz="5900" dirty="0" err="1">
                <a:latin typeface="Garamond" panose="02020404030301010803" pitchFamily="18" charset="0"/>
              </a:rPr>
              <a:t>n;i</a:t>
            </a:r>
            <a:r>
              <a:rPr lang="en-US" sz="5900" dirty="0">
                <a:latin typeface="Garamond" panose="02020404030301010803" pitchFamily="18" charset="0"/>
              </a:rPr>
              <a:t>++)</a:t>
            </a:r>
          </a:p>
          <a:p>
            <a:r>
              <a:rPr lang="en-US" sz="5900" dirty="0">
                <a:latin typeface="Garamond" panose="02020404030301010803" pitchFamily="18" charset="0"/>
              </a:rPr>
              <a:t>	{</a:t>
            </a:r>
          </a:p>
          <a:p>
            <a:r>
              <a:rPr lang="en-US" sz="5900" dirty="0">
                <a:latin typeface="Garamond" panose="02020404030301010803" pitchFamily="18" charset="0"/>
              </a:rPr>
              <a:t>		</a:t>
            </a:r>
            <a:r>
              <a:rPr lang="en-US" sz="5900" dirty="0" err="1">
                <a:latin typeface="Garamond" panose="02020404030301010803" pitchFamily="18" charset="0"/>
              </a:rPr>
              <a:t>printf</a:t>
            </a:r>
            <a:r>
              <a:rPr lang="en-US" sz="5900" dirty="0">
                <a:latin typeface="Garamond" panose="02020404030301010803" pitchFamily="18" charset="0"/>
              </a:rPr>
              <a:t>("%d\</a:t>
            </a:r>
            <a:r>
              <a:rPr lang="en-US" sz="5900" dirty="0" err="1">
                <a:latin typeface="Garamond" panose="02020404030301010803" pitchFamily="18" charset="0"/>
              </a:rPr>
              <a:t>t",a</a:t>
            </a:r>
            <a:r>
              <a:rPr lang="en-US" sz="5900" dirty="0">
                <a:latin typeface="Garamond" panose="02020404030301010803" pitchFamily="18" charset="0"/>
              </a:rPr>
              <a:t>[</a:t>
            </a:r>
            <a:r>
              <a:rPr lang="en-US" sz="5900" dirty="0" err="1">
                <a:latin typeface="Garamond" panose="02020404030301010803" pitchFamily="18" charset="0"/>
              </a:rPr>
              <a:t>i</a:t>
            </a:r>
            <a:r>
              <a:rPr lang="en-US" sz="5900" dirty="0">
                <a:latin typeface="Garamond" panose="02020404030301010803" pitchFamily="18" charset="0"/>
              </a:rPr>
              <a:t>]);</a:t>
            </a:r>
          </a:p>
          <a:p>
            <a:r>
              <a:rPr lang="en-US" sz="5900" dirty="0">
                <a:latin typeface="Garamond" panose="02020404030301010803" pitchFamily="18" charset="0"/>
              </a:rPr>
              <a:t>	}</a:t>
            </a:r>
          </a:p>
          <a:p>
            <a:r>
              <a:rPr lang="en-US" sz="5900" dirty="0">
                <a:latin typeface="Garamond" panose="02020404030301010803" pitchFamily="18" charset="0"/>
              </a:rPr>
              <a:t>	for(</a:t>
            </a:r>
            <a:r>
              <a:rPr lang="en-US" sz="5900" dirty="0" err="1">
                <a:latin typeface="Garamond" panose="02020404030301010803" pitchFamily="18" charset="0"/>
              </a:rPr>
              <a:t>i</a:t>
            </a:r>
            <a:r>
              <a:rPr lang="en-US" sz="5900" dirty="0">
                <a:latin typeface="Garamond" panose="02020404030301010803" pitchFamily="18" charset="0"/>
              </a:rPr>
              <a:t>=0;i&lt;n-1;i++)</a:t>
            </a:r>
          </a:p>
          <a:p>
            <a:r>
              <a:rPr lang="en-US" sz="5900" dirty="0">
                <a:latin typeface="Garamond" panose="02020404030301010803" pitchFamily="18" charset="0"/>
              </a:rPr>
              <a:t>	{</a:t>
            </a:r>
          </a:p>
          <a:p>
            <a:r>
              <a:rPr lang="en-US" sz="5900" dirty="0">
                <a:latin typeface="Garamond" panose="02020404030301010803" pitchFamily="18" charset="0"/>
              </a:rPr>
              <a:t>		for(j=0;j&lt;n-i-1;j++)</a:t>
            </a:r>
          </a:p>
          <a:p>
            <a:r>
              <a:rPr lang="en-US" sz="5900" dirty="0">
                <a:latin typeface="Garamond" panose="02020404030301010803" pitchFamily="18" charset="0"/>
              </a:rPr>
              <a:t>		{</a:t>
            </a:r>
          </a:p>
          <a:p>
            <a:r>
              <a:rPr lang="en-US" sz="5900" dirty="0">
                <a:latin typeface="Garamond" panose="02020404030301010803" pitchFamily="18" charset="0"/>
              </a:rPr>
              <a:t>			if(a[j]&gt;=a[j+1])</a:t>
            </a:r>
          </a:p>
          <a:p>
            <a:r>
              <a:rPr lang="en-US" sz="5900" dirty="0">
                <a:latin typeface="Garamond" panose="02020404030301010803" pitchFamily="18" charset="0"/>
              </a:rPr>
              <a:t>			{</a:t>
            </a:r>
          </a:p>
          <a:p>
            <a:r>
              <a:rPr lang="en-US" sz="5900" dirty="0">
                <a:latin typeface="Garamond" panose="02020404030301010803" pitchFamily="18" charset="0"/>
              </a:rPr>
              <a:t>				temp=a[j];</a:t>
            </a:r>
          </a:p>
          <a:p>
            <a:r>
              <a:rPr lang="en-US" sz="5900" dirty="0">
                <a:latin typeface="Garamond" panose="02020404030301010803" pitchFamily="18" charset="0"/>
              </a:rPr>
              <a:t>				a[j]=a[j+1];</a:t>
            </a:r>
          </a:p>
          <a:p>
            <a:r>
              <a:rPr lang="en-US" sz="5900" dirty="0">
                <a:latin typeface="Garamond" panose="02020404030301010803" pitchFamily="18" charset="0"/>
              </a:rPr>
              <a:t>				a[j+1]=temp;</a:t>
            </a:r>
          </a:p>
          <a:p>
            <a:r>
              <a:rPr lang="en-US" sz="5900" dirty="0">
                <a:latin typeface="Garamond" panose="02020404030301010803" pitchFamily="18" charset="0"/>
              </a:rPr>
              <a:t>			}</a:t>
            </a:r>
          </a:p>
          <a:p>
            <a:r>
              <a:rPr lang="en-US" sz="5900" dirty="0">
                <a:latin typeface="Garamond" panose="02020404030301010803" pitchFamily="18" charset="0"/>
              </a:rPr>
              <a:t>	}</a:t>
            </a:r>
          </a:p>
          <a:p>
            <a:r>
              <a:rPr lang="en-US" sz="5900" dirty="0">
                <a:latin typeface="Garamond" panose="02020404030301010803" pitchFamily="18" charset="0"/>
              </a:rPr>
              <a:t>}</a:t>
            </a:r>
            <a:r>
              <a:rPr lang="en-US" dirty="0"/>
              <a:t>	</a:t>
            </a:r>
          </a:p>
        </p:txBody>
      </p:sp>
    </p:spTree>
    <p:extLst>
      <p:ext uri="{BB962C8B-B14F-4D97-AF65-F5344CB8AC3E}">
        <p14:creationId xmlns:p14="http://schemas.microsoft.com/office/powerpoint/2010/main" val="2462747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458200" cy="6477000"/>
          </a:xfrm>
        </p:spPr>
        <p:txBody>
          <a:bodyPr>
            <a:normAutofit/>
          </a:bodyPr>
          <a:lstStyle/>
          <a:p>
            <a:r>
              <a:rPr lang="en-US" dirty="0">
                <a:latin typeface="Garamond" panose="02020404030301010803" pitchFamily="18" charset="0"/>
              </a:rPr>
              <a:t>	</a:t>
            </a:r>
            <a:r>
              <a:rPr lang="en-US" dirty="0" err="1">
                <a:latin typeface="Garamond" panose="02020404030301010803" pitchFamily="18" charset="0"/>
              </a:rPr>
              <a:t>printf</a:t>
            </a:r>
            <a:r>
              <a:rPr lang="en-US" dirty="0">
                <a:latin typeface="Garamond" panose="02020404030301010803" pitchFamily="18" charset="0"/>
              </a:rPr>
              <a:t>("\</a:t>
            </a:r>
            <a:r>
              <a:rPr lang="en-US" dirty="0" err="1">
                <a:latin typeface="Garamond" panose="02020404030301010803" pitchFamily="18" charset="0"/>
              </a:rPr>
              <a:t>nThe</a:t>
            </a:r>
            <a:r>
              <a:rPr lang="en-US" dirty="0">
                <a:latin typeface="Garamond" panose="02020404030301010803" pitchFamily="18" charset="0"/>
              </a:rPr>
              <a:t> sorted array\n");</a:t>
            </a:r>
          </a:p>
          <a:p>
            <a:r>
              <a:rPr lang="en-US" dirty="0">
                <a:latin typeface="Garamond" panose="02020404030301010803" pitchFamily="18" charset="0"/>
              </a:rPr>
              <a:t>	for(</a:t>
            </a:r>
            <a:r>
              <a:rPr lang="en-US" dirty="0" err="1">
                <a:latin typeface="Garamond" panose="02020404030301010803" pitchFamily="18" charset="0"/>
              </a:rPr>
              <a:t>i</a:t>
            </a:r>
            <a:r>
              <a:rPr lang="en-US" dirty="0">
                <a:latin typeface="Garamond" panose="02020404030301010803" pitchFamily="18" charset="0"/>
              </a:rPr>
              <a:t>=0;i&lt;</a:t>
            </a:r>
            <a:r>
              <a:rPr lang="en-US" dirty="0" err="1">
                <a:latin typeface="Garamond" panose="02020404030301010803" pitchFamily="18" charset="0"/>
              </a:rPr>
              <a:t>n;i</a:t>
            </a:r>
            <a:r>
              <a:rPr lang="en-US" dirty="0">
                <a:latin typeface="Garamond" panose="02020404030301010803" pitchFamily="18" charset="0"/>
              </a:rPr>
              <a:t>++)</a:t>
            </a:r>
          </a:p>
          <a:p>
            <a:r>
              <a:rPr lang="en-US" dirty="0">
                <a:latin typeface="Garamond" panose="02020404030301010803" pitchFamily="18" charset="0"/>
              </a:rPr>
              <a:t>	{</a:t>
            </a:r>
          </a:p>
          <a:p>
            <a:r>
              <a:rPr lang="en-US" dirty="0">
                <a:latin typeface="Garamond" panose="02020404030301010803" pitchFamily="18" charset="0"/>
              </a:rPr>
              <a:t>		</a:t>
            </a:r>
            <a:r>
              <a:rPr lang="en-US" dirty="0" err="1">
                <a:latin typeface="Garamond" panose="02020404030301010803" pitchFamily="18" charset="0"/>
              </a:rPr>
              <a:t>printf</a:t>
            </a:r>
            <a:r>
              <a:rPr lang="en-US" dirty="0">
                <a:latin typeface="Garamond" panose="02020404030301010803" pitchFamily="18" charset="0"/>
              </a:rPr>
              <a:t>("%d\</a:t>
            </a:r>
            <a:r>
              <a:rPr lang="en-US" dirty="0" err="1">
                <a:latin typeface="Garamond" panose="02020404030301010803" pitchFamily="18" charset="0"/>
              </a:rPr>
              <a:t>t",a</a:t>
            </a:r>
            <a:r>
              <a:rPr lang="en-US" dirty="0">
                <a:latin typeface="Garamond" panose="02020404030301010803" pitchFamily="18" charset="0"/>
              </a:rPr>
              <a:t>[</a:t>
            </a:r>
            <a:r>
              <a:rPr lang="en-US" dirty="0" err="1">
                <a:latin typeface="Garamond" panose="02020404030301010803" pitchFamily="18" charset="0"/>
              </a:rPr>
              <a:t>i</a:t>
            </a:r>
            <a:r>
              <a:rPr lang="en-US" dirty="0">
                <a:latin typeface="Garamond" panose="02020404030301010803" pitchFamily="18" charset="0"/>
              </a:rPr>
              <a:t>]);</a:t>
            </a:r>
          </a:p>
          <a:p>
            <a:r>
              <a:rPr lang="en-US" dirty="0">
                <a:latin typeface="Garamond" panose="02020404030301010803" pitchFamily="18" charset="0"/>
              </a:rPr>
              <a:t>	}</a:t>
            </a:r>
          </a:p>
          <a:p>
            <a:r>
              <a:rPr lang="en-US" dirty="0">
                <a:latin typeface="Garamond" panose="02020404030301010803" pitchFamily="18" charset="0"/>
              </a:rPr>
              <a:t>	</a:t>
            </a:r>
            <a:r>
              <a:rPr lang="en-US" dirty="0" err="1">
                <a:latin typeface="Garamond" panose="02020404030301010803" pitchFamily="18" charset="0"/>
              </a:rPr>
              <a:t>getch</a:t>
            </a:r>
            <a:r>
              <a:rPr lang="en-US" dirty="0">
                <a:latin typeface="Garamond" panose="02020404030301010803" pitchFamily="18" charset="0"/>
              </a:rPr>
              <a:t>();</a:t>
            </a:r>
          </a:p>
          <a:p>
            <a:r>
              <a:rPr lang="en-US" dirty="0">
                <a:latin typeface="Garamond" panose="02020404030301010803" pitchFamily="18" charset="0"/>
              </a:rPr>
              <a:t>}</a:t>
            </a:r>
          </a:p>
          <a:p>
            <a:r>
              <a:rPr lang="en-US" dirty="0"/>
              <a:t> </a:t>
            </a:r>
          </a:p>
          <a:p>
            <a:endParaRPr lang="en-US" dirty="0"/>
          </a:p>
        </p:txBody>
      </p:sp>
    </p:spTree>
    <p:extLst>
      <p:ext uri="{BB962C8B-B14F-4D97-AF65-F5344CB8AC3E}">
        <p14:creationId xmlns:p14="http://schemas.microsoft.com/office/powerpoint/2010/main" val="1425337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01040" y="575786"/>
            <a:ext cx="1892999"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STRINGS</a:t>
            </a:r>
          </a:p>
        </p:txBody>
      </p:sp>
      <p:sp>
        <p:nvSpPr>
          <p:cNvPr id="4" name="object 4"/>
          <p:cNvSpPr txBox="1"/>
          <p:nvPr/>
        </p:nvSpPr>
        <p:spPr>
          <a:xfrm>
            <a:off x="480910" y="1996655"/>
            <a:ext cx="10505906" cy="21717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A string is a sequence of </a:t>
            </a:r>
            <a:r>
              <a:rPr sz="2400" spc="-14" dirty="0">
                <a:solidFill>
                  <a:srgbClr val="FF0000"/>
                </a:solidFill>
                <a:latin typeface="AAVGFJ+Calibri"/>
                <a:cs typeface="AAVGFJ+Calibri"/>
              </a:rPr>
              <a:t>characters</a:t>
            </a:r>
            <a:r>
              <a:rPr sz="2400" spc="18" dirty="0">
                <a:solidFill>
                  <a:srgbClr val="FF0000"/>
                </a:solidFill>
                <a:latin typeface="AAVGFJ+Calibri"/>
                <a:cs typeface="AAVGFJ+Calibri"/>
              </a:rPr>
              <a:t> </a:t>
            </a:r>
            <a:r>
              <a:rPr sz="2400" spc="-10" dirty="0">
                <a:solidFill>
                  <a:srgbClr val="FF0000"/>
                </a:solidFill>
                <a:latin typeface="AAVGFJ+Calibri"/>
                <a:cs typeface="AAVGFJ+Calibri"/>
              </a:rPr>
              <a:t>terminated</a:t>
            </a:r>
            <a:r>
              <a:rPr sz="2400" spc="11" dirty="0">
                <a:solidFill>
                  <a:srgbClr val="FF0000"/>
                </a:solidFill>
                <a:latin typeface="AAVGFJ+Calibri"/>
                <a:cs typeface="AAVGFJ+Calibri"/>
              </a:rPr>
              <a:t> </a:t>
            </a:r>
            <a:r>
              <a:rPr sz="2400" dirty="0">
                <a:solidFill>
                  <a:srgbClr val="FF0000"/>
                </a:solidFill>
                <a:latin typeface="AAVGFJ+Calibri"/>
                <a:cs typeface="AAVGFJ+Calibri"/>
              </a:rPr>
              <a:t>with a null </a:t>
            </a:r>
            <a:r>
              <a:rPr sz="2400" spc="-10" dirty="0">
                <a:solidFill>
                  <a:srgbClr val="FF0000"/>
                </a:solidFill>
                <a:latin typeface="AAVGFJ+Calibri"/>
                <a:cs typeface="AAVGFJ+Calibri"/>
              </a:rPr>
              <a:t>character</a:t>
            </a:r>
            <a:r>
              <a:rPr sz="2400" spc="11" dirty="0">
                <a:solidFill>
                  <a:srgbClr val="FF0000"/>
                </a:solidFill>
                <a:latin typeface="AAVGFJ+Calibri"/>
                <a:cs typeface="AAVGFJ+Calibri"/>
              </a:rPr>
              <a:t> </a:t>
            </a:r>
            <a:r>
              <a:rPr sz="2400" dirty="0">
                <a:solidFill>
                  <a:srgbClr val="FF0000"/>
                </a:solidFill>
                <a:latin typeface="AAVGFJ+Calibri"/>
                <a:cs typeface="AAVGFJ+Calibri"/>
              </a:rPr>
              <a:t>\0</a:t>
            </a:r>
          </a:p>
          <a:p>
            <a:pPr marL="0" marR="0">
              <a:lnSpc>
                <a:spcPts val="2663"/>
              </a:lnSpc>
              <a:spcBef>
                <a:spcPts val="122"/>
              </a:spcBef>
              <a:spcAft>
                <a:spcPts val="0"/>
              </a:spcAft>
            </a:pPr>
            <a:r>
              <a:rPr sz="2400" spc="111" dirty="0">
                <a:solidFill>
                  <a:srgbClr val="000000"/>
                </a:solidFill>
                <a:latin typeface="JUSNVH+Wingdings-Regular"/>
                <a:cs typeface="JUSNVH+Wingdings-Regular"/>
              </a:rPr>
              <a:t>v</a:t>
            </a:r>
            <a:r>
              <a:rPr sz="2400" dirty="0">
                <a:solidFill>
                  <a:srgbClr val="000000"/>
                </a:solidFill>
                <a:latin typeface="AAVGFJ+Calibri"/>
                <a:cs typeface="AAVGFJ+Calibri"/>
              </a:rPr>
              <a:t>A string is </a:t>
            </a:r>
            <a:r>
              <a:rPr sz="2400" spc="-18" dirty="0">
                <a:solidFill>
                  <a:srgbClr val="000000"/>
                </a:solidFill>
                <a:latin typeface="AAVGFJ+Calibri"/>
                <a:cs typeface="AAVGFJ+Calibri"/>
              </a:rPr>
              <a:t>stored</a:t>
            </a:r>
            <a:r>
              <a:rPr sz="2400" spc="19" dirty="0">
                <a:solidFill>
                  <a:srgbClr val="000000"/>
                </a:solidFill>
                <a:latin typeface="AAVGFJ+Calibri"/>
                <a:cs typeface="AAVGFJ+Calibri"/>
              </a:rPr>
              <a:t> </a:t>
            </a:r>
            <a:r>
              <a:rPr sz="2400" dirty="0">
                <a:solidFill>
                  <a:srgbClr val="000000"/>
                </a:solidFill>
                <a:latin typeface="AAVGFJ+Calibri"/>
                <a:cs typeface="AAVGFJ+Calibri"/>
              </a:rPr>
              <a:t>in a one-dimensional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dirty="0">
                <a:solidFill>
                  <a:srgbClr val="000000"/>
                </a:solidFill>
                <a:latin typeface="AAVGFJ+Calibri"/>
                <a:cs typeface="AAVGFJ+Calibri"/>
              </a:rPr>
              <a:t>type </a:t>
            </a:r>
            <a:r>
              <a:rPr sz="2400" spc="-43" dirty="0">
                <a:solidFill>
                  <a:srgbClr val="000000"/>
                </a:solidFill>
                <a:latin typeface="AAVGFJ+Calibri"/>
                <a:cs typeface="AAVGFJ+Calibri"/>
              </a:rPr>
              <a:t>array.</a:t>
            </a:r>
          </a:p>
          <a:p>
            <a:pPr marL="0" marR="0">
              <a:lnSpc>
                <a:spcPts val="2663"/>
              </a:lnSpc>
              <a:spcBef>
                <a:spcPts val="122"/>
              </a:spcBef>
              <a:spcAft>
                <a:spcPts val="0"/>
              </a:spcAft>
            </a:pPr>
            <a:r>
              <a:rPr sz="2400" spc="111" dirty="0">
                <a:solidFill>
                  <a:srgbClr val="000000"/>
                </a:solidFill>
                <a:latin typeface="JUSNVH+Wingdings-Regular"/>
                <a:cs typeface="JUSNVH+Wingdings-Regular"/>
              </a:rPr>
              <a:t>v</a:t>
            </a:r>
            <a:r>
              <a:rPr sz="2400" spc="-14" dirty="0">
                <a:solidFill>
                  <a:srgbClr val="000000"/>
                </a:solidFill>
                <a:latin typeface="AAVGFJ+Calibri"/>
                <a:cs typeface="AAVGFJ+Calibri"/>
              </a:rPr>
              <a:t>Each</a:t>
            </a:r>
            <a:r>
              <a:rPr sz="2400" spc="15" dirty="0">
                <a:solidFill>
                  <a:srgbClr val="000000"/>
                </a:solidFill>
                <a:latin typeface="AAVGFJ+Calibri"/>
                <a:cs typeface="AAVGFJ+Calibri"/>
              </a:rPr>
              <a:t>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dirty="0">
                <a:solidFill>
                  <a:srgbClr val="000000"/>
                </a:solidFill>
                <a:latin typeface="AAVGFJ+Calibri"/>
                <a:cs typeface="AAVGFJ+Calibri"/>
              </a:rPr>
              <a:t>within the string is </a:t>
            </a:r>
            <a:r>
              <a:rPr sz="2400" spc="-18" dirty="0">
                <a:solidFill>
                  <a:srgbClr val="000000"/>
                </a:solidFill>
                <a:latin typeface="AAVGFJ+Calibri"/>
                <a:cs typeface="AAVGFJ+Calibri"/>
              </a:rPr>
              <a:t>stored</a:t>
            </a:r>
            <a:r>
              <a:rPr sz="2400" spc="19" dirty="0">
                <a:solidFill>
                  <a:srgbClr val="000000"/>
                </a:solidFill>
                <a:latin typeface="AAVGFJ+Calibri"/>
                <a:cs typeface="AAVGFJ+Calibri"/>
              </a:rPr>
              <a:t> </a:t>
            </a:r>
            <a:r>
              <a:rPr sz="2400" dirty="0">
                <a:solidFill>
                  <a:srgbClr val="000000"/>
                </a:solidFill>
                <a:latin typeface="AAVGFJ+Calibri"/>
                <a:cs typeface="AAVGFJ+Calibri"/>
              </a:rPr>
              <a:t>as an element of the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in contiguous</a:t>
            </a:r>
          </a:p>
          <a:p>
            <a:pPr marL="285750" marR="0">
              <a:lnSpc>
                <a:spcPts val="2400"/>
              </a:lnSpc>
              <a:spcBef>
                <a:spcPts val="479"/>
              </a:spcBef>
              <a:spcAft>
                <a:spcPts val="0"/>
              </a:spcAft>
            </a:pPr>
            <a:r>
              <a:rPr sz="2400" dirty="0">
                <a:solidFill>
                  <a:srgbClr val="000000"/>
                </a:solidFill>
                <a:latin typeface="AAVGFJ+Calibri"/>
                <a:cs typeface="AAVGFJ+Calibri"/>
              </a:rPr>
              <a:t>memory locations.</a:t>
            </a:r>
          </a:p>
          <a:p>
            <a:pPr marL="0" marR="0">
              <a:lnSpc>
                <a:spcPts val="2663"/>
              </a:lnSpc>
              <a:spcBef>
                <a:spcPts val="72"/>
              </a:spcBef>
              <a:spcAft>
                <a:spcPts val="0"/>
              </a:spcAft>
            </a:pPr>
            <a:r>
              <a:rPr sz="2400" spc="111" dirty="0">
                <a:solidFill>
                  <a:srgbClr val="000000"/>
                </a:solidFill>
                <a:latin typeface="JUSNVH+Wingdings-Regular"/>
                <a:cs typeface="JUSNVH+Wingdings-Regular"/>
              </a:rPr>
              <a:t>v</a:t>
            </a:r>
            <a:r>
              <a:rPr sz="2400" dirty="0">
                <a:solidFill>
                  <a:srgbClr val="000000"/>
                </a:solidFill>
                <a:latin typeface="AAVGFJ+Calibri"/>
                <a:cs typeface="AAVGFJ+Calibri"/>
              </a:rPr>
              <a:t>The strings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spc="-10" dirty="0">
                <a:solidFill>
                  <a:srgbClr val="000000"/>
                </a:solidFill>
                <a:latin typeface="AAVGFJ+Calibri"/>
                <a:cs typeface="AAVGFJ+Calibri"/>
              </a:rPr>
              <a:t>terminated</a:t>
            </a:r>
            <a:r>
              <a:rPr sz="2400" spc="11" dirty="0">
                <a:solidFill>
                  <a:srgbClr val="000000"/>
                </a:solidFill>
                <a:latin typeface="AAVGFJ+Calibri"/>
                <a:cs typeface="AAVGFJ+Calibri"/>
              </a:rPr>
              <a:t> </a:t>
            </a:r>
            <a:r>
              <a:rPr sz="2400" dirty="0">
                <a:solidFill>
                  <a:srgbClr val="000000"/>
                </a:solidFill>
                <a:latin typeface="AAVGFJ+Calibri"/>
                <a:cs typeface="AAVGFJ+Calibri"/>
              </a:rPr>
              <a:t>with a null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spc="-46" dirty="0">
                <a:solidFill>
                  <a:srgbClr val="000000"/>
                </a:solidFill>
                <a:latin typeface="AAVGFJ+Calibri"/>
                <a:cs typeface="AAVGFJ+Calibri"/>
              </a:rPr>
              <a:t>’\0’.</a:t>
            </a:r>
          </a:p>
          <a:p>
            <a:pPr marL="0" marR="0">
              <a:lnSpc>
                <a:spcPts val="2663"/>
              </a:lnSpc>
              <a:spcBef>
                <a:spcPts val="122"/>
              </a:spcBef>
              <a:spcAft>
                <a:spcPts val="0"/>
              </a:spcAft>
            </a:pPr>
            <a:r>
              <a:rPr sz="2400" spc="111" dirty="0">
                <a:solidFill>
                  <a:srgbClr val="000000"/>
                </a:solidFill>
                <a:latin typeface="JUSNVH+Wingdings-Regular"/>
                <a:cs typeface="JUSNVH+Wingdings-Regular"/>
              </a:rPr>
              <a:t>v</a:t>
            </a:r>
            <a:r>
              <a:rPr sz="2400" spc="-215" dirty="0">
                <a:solidFill>
                  <a:srgbClr val="000000"/>
                </a:solidFill>
                <a:latin typeface="AAVGFJ+Calibri"/>
                <a:cs typeface="AAVGFJ+Calibri"/>
              </a:rPr>
              <a:t>To</a:t>
            </a:r>
            <a:r>
              <a:rPr sz="2400" spc="216" dirty="0">
                <a:solidFill>
                  <a:srgbClr val="000000"/>
                </a:solidFill>
                <a:latin typeface="AAVGFJ+Calibri"/>
                <a:cs typeface="AAVGFJ+Calibri"/>
              </a:rPr>
              <a:t> </a:t>
            </a:r>
            <a:r>
              <a:rPr sz="2400" spc="-22" dirty="0">
                <a:solidFill>
                  <a:srgbClr val="000000"/>
                </a:solidFill>
                <a:latin typeface="AAVGFJ+Calibri"/>
                <a:cs typeface="AAVGFJ+Calibri"/>
              </a:rPr>
              <a:t>store</a:t>
            </a:r>
            <a:r>
              <a:rPr sz="2400" spc="26" dirty="0">
                <a:solidFill>
                  <a:srgbClr val="000000"/>
                </a:solidFill>
                <a:latin typeface="AAVGFJ+Calibri"/>
                <a:cs typeface="AAVGFJ+Calibri"/>
              </a:rPr>
              <a:t> </a:t>
            </a:r>
            <a:r>
              <a:rPr sz="2400" dirty="0">
                <a:solidFill>
                  <a:srgbClr val="000000"/>
                </a:solidFill>
                <a:latin typeface="AAVGFJ+Calibri"/>
                <a:cs typeface="AAVGFJ+Calibri"/>
              </a:rPr>
              <a:t>a string of n </a:t>
            </a:r>
            <a:r>
              <a:rPr sz="2400" spc="-12" dirty="0">
                <a:solidFill>
                  <a:srgbClr val="000000"/>
                </a:solidFill>
                <a:latin typeface="AAVGFJ+Calibri"/>
                <a:cs typeface="AAVGFJ+Calibri"/>
              </a:rPr>
              <a:t>characters,</a:t>
            </a:r>
            <a:r>
              <a:rPr sz="2400" spc="16" dirty="0">
                <a:solidFill>
                  <a:srgbClr val="000000"/>
                </a:solidFill>
                <a:latin typeface="AAVGFJ+Calibri"/>
                <a:cs typeface="AAVGFJ+Calibri"/>
              </a:rPr>
              <a:t> </a:t>
            </a:r>
            <a:r>
              <a:rPr sz="2400" spc="-16" dirty="0">
                <a:solidFill>
                  <a:srgbClr val="000000"/>
                </a:solidFill>
                <a:latin typeface="AAVGFJ+Calibri"/>
                <a:cs typeface="AAVGFJ+Calibri"/>
              </a:rPr>
              <a:t>you</a:t>
            </a:r>
            <a:r>
              <a:rPr sz="2400" spc="17" dirty="0">
                <a:solidFill>
                  <a:srgbClr val="000000"/>
                </a:solidFill>
                <a:latin typeface="AAVGFJ+Calibri"/>
                <a:cs typeface="AAVGFJ+Calibri"/>
              </a:rPr>
              <a:t> </a:t>
            </a:r>
            <a:r>
              <a:rPr sz="2400" spc="-13" dirty="0">
                <a:solidFill>
                  <a:srgbClr val="000000"/>
                </a:solidFill>
                <a:latin typeface="AAVGFJ+Calibri"/>
                <a:cs typeface="AAVGFJ+Calibri"/>
              </a:rPr>
              <a:t>require</a:t>
            </a:r>
            <a:r>
              <a:rPr sz="2400" spc="16" dirty="0">
                <a:solidFill>
                  <a:srgbClr val="000000"/>
                </a:solidFill>
                <a:latin typeface="AAVGFJ+Calibri"/>
                <a:cs typeface="AAVGFJ+Calibri"/>
              </a:rPr>
              <a:t> </a:t>
            </a:r>
            <a:r>
              <a:rPr sz="2400" dirty="0">
                <a:solidFill>
                  <a:srgbClr val="000000"/>
                </a:solidFill>
                <a:latin typeface="AAVGFJ+Calibri"/>
                <a:cs typeface="AAVGFJ+Calibri"/>
              </a:rPr>
              <a:t>a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spc="-24" dirty="0">
                <a:solidFill>
                  <a:srgbClr val="000000"/>
                </a:solidFill>
                <a:latin typeface="AAVGFJ+Calibri"/>
                <a:cs typeface="AAVGFJ+Calibri"/>
              </a:rPr>
              <a:t>array</a:t>
            </a:r>
            <a:r>
              <a:rPr sz="2400" spc="26" dirty="0">
                <a:solidFill>
                  <a:srgbClr val="000000"/>
                </a:solidFill>
                <a:latin typeface="AAVGFJ+Calibri"/>
                <a:cs typeface="AAVGFJ+Calibri"/>
              </a:rPr>
              <a:t> </a:t>
            </a:r>
            <a:r>
              <a:rPr sz="2400" dirty="0">
                <a:solidFill>
                  <a:srgbClr val="000000"/>
                </a:solidFill>
                <a:latin typeface="AAVGFJ+Calibri"/>
                <a:cs typeface="AAVGFJ+Calibri"/>
              </a:rPr>
              <a:t>of n+1 </a:t>
            </a:r>
            <a:r>
              <a:rPr sz="2400" spc="-17" dirty="0">
                <a:solidFill>
                  <a:srgbClr val="000000"/>
                </a:solidFill>
                <a:latin typeface="AAVGFJ+Calibri"/>
                <a:cs typeface="AAVGFJ+Calibri"/>
              </a:rPr>
              <a:t>size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551815"/>
            <a:ext cx="3666529" cy="495300"/>
          </a:xfrm>
          <a:prstGeom prst="rect">
            <a:avLst/>
          </a:prstGeom>
        </p:spPr>
        <p:txBody>
          <a:bodyPr vert="horz" wrap="square" lIns="0" tIns="0" rIns="0" bIns="0" rtlCol="0">
            <a:spAutoFit/>
          </a:bodyPr>
          <a:lstStyle/>
          <a:p>
            <a:pPr marL="0" marR="0">
              <a:lnSpc>
                <a:spcPts val="3600"/>
              </a:lnSpc>
              <a:spcBef>
                <a:spcPts val="0"/>
              </a:spcBef>
              <a:spcAft>
                <a:spcPts val="0"/>
              </a:spcAft>
            </a:pPr>
            <a:r>
              <a:rPr sz="3600" dirty="0">
                <a:solidFill>
                  <a:srgbClr val="0070C0"/>
                </a:solidFill>
                <a:latin typeface="HWPIMB+Calibri-Light"/>
                <a:cs typeface="HWPIMB+Calibri-Light"/>
              </a:rPr>
              <a:t>String - </a:t>
            </a:r>
            <a:r>
              <a:rPr sz="3600" spc="-11" dirty="0">
                <a:solidFill>
                  <a:srgbClr val="0070C0"/>
                </a:solidFill>
                <a:latin typeface="HWPIMB+Calibri-Light"/>
                <a:cs typeface="HWPIMB+Calibri-Light"/>
              </a:rPr>
              <a:t>Declaration</a:t>
            </a:r>
          </a:p>
        </p:txBody>
      </p:sp>
      <p:sp>
        <p:nvSpPr>
          <p:cNvPr id="4" name="object 4"/>
          <p:cNvSpPr txBox="1"/>
          <p:nvPr/>
        </p:nvSpPr>
        <p:spPr>
          <a:xfrm>
            <a:off x="929639" y="1911826"/>
            <a:ext cx="5221271" cy="1046480"/>
          </a:xfrm>
          <a:prstGeom prst="rect">
            <a:avLst/>
          </a:prstGeom>
        </p:spPr>
        <p:txBody>
          <a:bodyPr vert="horz" wrap="square" lIns="0" tIns="0" rIns="0" bIns="0" rtlCol="0">
            <a:spAutoFit/>
          </a:bodyPr>
          <a:lstStyle/>
          <a:p>
            <a:pPr marL="0" marR="0">
              <a:lnSpc>
                <a:spcPts val="3335"/>
              </a:lnSpc>
              <a:spcBef>
                <a:spcPts val="0"/>
              </a:spcBef>
              <a:spcAft>
                <a:spcPts val="0"/>
              </a:spcAft>
            </a:pPr>
            <a:r>
              <a:rPr sz="3350" spc="-21" dirty="0">
                <a:solidFill>
                  <a:srgbClr val="FF0000"/>
                </a:solidFill>
                <a:latin typeface="AAVGFJ+Calibri"/>
                <a:cs typeface="AAVGFJ+Calibri"/>
              </a:rPr>
              <a:t>Syntax:char</a:t>
            </a:r>
            <a:r>
              <a:rPr sz="3350" spc="15" dirty="0">
                <a:solidFill>
                  <a:srgbClr val="FF0000"/>
                </a:solidFill>
                <a:latin typeface="AAVGFJ+Calibri"/>
                <a:cs typeface="AAVGFJ+Calibri"/>
              </a:rPr>
              <a:t> </a:t>
            </a:r>
            <a:r>
              <a:rPr sz="3350" spc="-18" dirty="0">
                <a:solidFill>
                  <a:srgbClr val="FF0000"/>
                </a:solidFill>
                <a:latin typeface="AAVGFJ+Calibri"/>
                <a:cs typeface="AAVGFJ+Calibri"/>
              </a:rPr>
              <a:t>array-name[size];</a:t>
            </a:r>
          </a:p>
          <a:p>
            <a:pPr marL="0" marR="0">
              <a:lnSpc>
                <a:spcPts val="3335"/>
              </a:lnSpc>
              <a:spcBef>
                <a:spcPts val="1270"/>
              </a:spcBef>
              <a:spcAft>
                <a:spcPts val="0"/>
              </a:spcAft>
            </a:pPr>
            <a:r>
              <a:rPr sz="3350" spc="-16" dirty="0">
                <a:solidFill>
                  <a:srgbClr val="000000"/>
                </a:solidFill>
                <a:latin typeface="AAVGFJ+Calibri"/>
                <a:cs typeface="AAVGFJ+Calibri"/>
              </a:rPr>
              <a:t>Example</a:t>
            </a:r>
          </a:p>
        </p:txBody>
      </p:sp>
      <p:sp>
        <p:nvSpPr>
          <p:cNvPr id="5" name="object 5"/>
          <p:cNvSpPr txBox="1"/>
          <p:nvPr/>
        </p:nvSpPr>
        <p:spPr>
          <a:xfrm>
            <a:off x="929639" y="3081496"/>
            <a:ext cx="2566336" cy="461645"/>
          </a:xfrm>
          <a:prstGeom prst="rect">
            <a:avLst/>
          </a:prstGeom>
        </p:spPr>
        <p:txBody>
          <a:bodyPr vert="horz" wrap="square" lIns="0" tIns="0" rIns="0" bIns="0" rtlCol="0">
            <a:spAutoFit/>
          </a:bodyPr>
          <a:lstStyle/>
          <a:p>
            <a:pPr marL="0" marR="0">
              <a:lnSpc>
                <a:spcPts val="3335"/>
              </a:lnSpc>
              <a:spcBef>
                <a:spcPts val="0"/>
              </a:spcBef>
              <a:spcAft>
                <a:spcPts val="0"/>
              </a:spcAft>
            </a:pPr>
            <a:r>
              <a:rPr sz="3350" dirty="0">
                <a:solidFill>
                  <a:srgbClr val="000000"/>
                </a:solidFill>
                <a:latin typeface="AAVGFJ+Calibri"/>
                <a:cs typeface="AAVGFJ+Calibri"/>
              </a:rPr>
              <a:t>char name[5];</a:t>
            </a:r>
          </a:p>
        </p:txBody>
      </p:sp>
      <p:sp>
        <p:nvSpPr>
          <p:cNvPr id="6" name="object 6"/>
          <p:cNvSpPr txBox="1"/>
          <p:nvPr/>
        </p:nvSpPr>
        <p:spPr>
          <a:xfrm>
            <a:off x="929639" y="3666331"/>
            <a:ext cx="9957987" cy="919479"/>
          </a:xfrm>
          <a:prstGeom prst="rect">
            <a:avLst/>
          </a:prstGeom>
        </p:spPr>
        <p:txBody>
          <a:bodyPr vert="horz" wrap="square" lIns="0" tIns="0" rIns="0" bIns="0" rtlCol="0">
            <a:spAutoFit/>
          </a:bodyPr>
          <a:lstStyle/>
          <a:p>
            <a:pPr marL="287655" marR="0">
              <a:lnSpc>
                <a:spcPts val="3335"/>
              </a:lnSpc>
              <a:spcBef>
                <a:spcPts val="0"/>
              </a:spcBef>
              <a:spcAft>
                <a:spcPts val="0"/>
              </a:spcAft>
            </a:pPr>
            <a:r>
              <a:rPr sz="3350" dirty="0">
                <a:solidFill>
                  <a:srgbClr val="000000"/>
                </a:solidFill>
                <a:latin typeface="AAVGFJ+Calibri"/>
                <a:cs typeface="AAVGFJ+Calibri"/>
              </a:rPr>
              <a:t>It </a:t>
            </a:r>
            <a:r>
              <a:rPr sz="3350" spc="-12" dirty="0">
                <a:solidFill>
                  <a:srgbClr val="000000"/>
                </a:solidFill>
                <a:latin typeface="AAVGFJ+Calibri"/>
                <a:cs typeface="AAVGFJ+Calibri"/>
              </a:rPr>
              <a:t>reserves</a:t>
            </a:r>
            <a:r>
              <a:rPr sz="3350" dirty="0">
                <a:solidFill>
                  <a:srgbClr val="000000"/>
                </a:solidFill>
                <a:latin typeface="AAVGFJ+Calibri"/>
                <a:cs typeface="AAVGFJ+Calibri"/>
              </a:rPr>
              <a:t> 20 </a:t>
            </a:r>
            <a:r>
              <a:rPr sz="3350" spc="-16" dirty="0">
                <a:solidFill>
                  <a:srgbClr val="000000"/>
                </a:solidFill>
                <a:latin typeface="AAVGFJ+Calibri"/>
                <a:cs typeface="AAVGFJ+Calibri"/>
              </a:rPr>
              <a:t>bytes</a:t>
            </a:r>
            <a:r>
              <a:rPr sz="3350" dirty="0">
                <a:solidFill>
                  <a:srgbClr val="000000"/>
                </a:solidFill>
                <a:latin typeface="AAVGFJ+Calibri"/>
                <a:cs typeface="AAVGFJ+Calibri"/>
              </a:rPr>
              <a:t> of </a:t>
            </a:r>
            <a:r>
              <a:rPr sz="3350" spc="-13" dirty="0">
                <a:solidFill>
                  <a:srgbClr val="000000"/>
                </a:solidFill>
                <a:latin typeface="AAVGFJ+Calibri"/>
                <a:cs typeface="AAVGFJ+Calibri"/>
              </a:rPr>
              <a:t>contiguous</a:t>
            </a:r>
            <a:r>
              <a:rPr sz="3350" dirty="0">
                <a:solidFill>
                  <a:srgbClr val="000000"/>
                </a:solidFill>
                <a:latin typeface="AAVGFJ+Calibri"/>
                <a:cs typeface="AAVGFJ+Calibri"/>
              </a:rPr>
              <a:t> </a:t>
            </a:r>
            <a:r>
              <a:rPr sz="3350" spc="-13" dirty="0">
                <a:solidFill>
                  <a:srgbClr val="000000"/>
                </a:solidFill>
                <a:latin typeface="AAVGFJ+Calibri"/>
                <a:cs typeface="AAVGFJ+Calibri"/>
              </a:rPr>
              <a:t>locations</a:t>
            </a:r>
            <a:r>
              <a:rPr sz="3350" dirty="0">
                <a:solidFill>
                  <a:srgbClr val="000000"/>
                </a:solidFill>
                <a:latin typeface="AAVGFJ+Calibri"/>
                <a:cs typeface="AAVGFJ+Calibri"/>
              </a:rPr>
              <a:t> </a:t>
            </a:r>
            <a:r>
              <a:rPr sz="3350" spc="-37" dirty="0">
                <a:solidFill>
                  <a:srgbClr val="000000"/>
                </a:solidFill>
                <a:latin typeface="AAVGFJ+Calibri"/>
                <a:cs typeface="AAVGFJ+Calibri"/>
              </a:rPr>
              <a:t>to</a:t>
            </a:r>
            <a:r>
              <a:rPr sz="3350" spc="28" dirty="0">
                <a:solidFill>
                  <a:srgbClr val="000000"/>
                </a:solidFill>
                <a:latin typeface="AAVGFJ+Calibri"/>
                <a:cs typeface="AAVGFJ+Calibri"/>
              </a:rPr>
              <a:t> </a:t>
            </a:r>
            <a:r>
              <a:rPr sz="3350" spc="-34" dirty="0">
                <a:solidFill>
                  <a:srgbClr val="000000"/>
                </a:solidFill>
                <a:latin typeface="AAVGFJ+Calibri"/>
                <a:cs typeface="AAVGFJ+Calibri"/>
              </a:rPr>
              <a:t>store</a:t>
            </a:r>
            <a:r>
              <a:rPr sz="3350" spc="25" dirty="0">
                <a:solidFill>
                  <a:srgbClr val="000000"/>
                </a:solidFill>
                <a:latin typeface="AAVGFJ+Calibri"/>
                <a:cs typeface="AAVGFJ+Calibri"/>
              </a:rPr>
              <a:t> </a:t>
            </a:r>
            <a:r>
              <a:rPr sz="3350" dirty="0">
                <a:solidFill>
                  <a:srgbClr val="000000"/>
                </a:solidFill>
                <a:latin typeface="AAVGFJ+Calibri"/>
                <a:cs typeface="AAVGFJ+Calibri"/>
              </a:rPr>
              <a:t>the</a:t>
            </a:r>
          </a:p>
          <a:p>
            <a:pPr marL="0" marR="0">
              <a:lnSpc>
                <a:spcPts val="3335"/>
              </a:lnSpc>
              <a:spcBef>
                <a:spcPts val="269"/>
              </a:spcBef>
              <a:spcAft>
                <a:spcPts val="0"/>
              </a:spcAft>
            </a:pPr>
            <a:r>
              <a:rPr sz="3350" spc="-22" dirty="0">
                <a:solidFill>
                  <a:srgbClr val="000000"/>
                </a:solidFill>
                <a:latin typeface="AAVGFJ+Calibri"/>
                <a:cs typeface="AAVGFJ+Calibri"/>
              </a:rPr>
              <a:t>characters.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46918"/>
            <a:ext cx="4600389"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dirty="0">
                <a:solidFill>
                  <a:srgbClr val="0070C0"/>
                </a:solidFill>
                <a:latin typeface="HWPIMB+Calibri-Light"/>
                <a:cs typeface="HWPIMB+Calibri-Light"/>
              </a:rPr>
              <a:t>String - </a:t>
            </a:r>
            <a:r>
              <a:rPr sz="4400" spc="-11" dirty="0">
                <a:solidFill>
                  <a:srgbClr val="0070C0"/>
                </a:solidFill>
                <a:latin typeface="HWPIMB+Calibri-Light"/>
                <a:cs typeface="HWPIMB+Calibri-Light"/>
              </a:rPr>
              <a:t>Initialization</a:t>
            </a:r>
          </a:p>
        </p:txBody>
      </p:sp>
      <p:sp>
        <p:nvSpPr>
          <p:cNvPr id="4" name="object 4"/>
          <p:cNvSpPr txBox="1"/>
          <p:nvPr/>
        </p:nvSpPr>
        <p:spPr>
          <a:xfrm>
            <a:off x="277710" y="1495482"/>
            <a:ext cx="3033492"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1" dirty="0">
                <a:solidFill>
                  <a:srgbClr val="FF0000"/>
                </a:solidFill>
                <a:latin typeface="AAVGFJ+Calibri"/>
                <a:cs typeface="AAVGFJ+Calibri"/>
              </a:rPr>
              <a:t>char</a:t>
            </a:r>
            <a:r>
              <a:rPr sz="2650" dirty="0">
                <a:solidFill>
                  <a:srgbClr val="FF0000"/>
                </a:solidFill>
                <a:latin typeface="AAVGFJ+Calibri"/>
                <a:cs typeface="AAVGFJ+Calibri"/>
              </a:rPr>
              <a:t> </a:t>
            </a:r>
            <a:r>
              <a:rPr sz="2650" spc="10" dirty="0">
                <a:solidFill>
                  <a:srgbClr val="FF0000"/>
                </a:solidFill>
                <a:latin typeface="AAVGFJ+Calibri"/>
                <a:cs typeface="AAVGFJ+Calibri"/>
              </a:rPr>
              <a:t>name[5]=”liah”;</a:t>
            </a:r>
          </a:p>
        </p:txBody>
      </p:sp>
      <p:sp>
        <p:nvSpPr>
          <p:cNvPr id="5" name="object 5"/>
          <p:cNvSpPr txBox="1"/>
          <p:nvPr/>
        </p:nvSpPr>
        <p:spPr>
          <a:xfrm>
            <a:off x="277710" y="1988242"/>
            <a:ext cx="11490478" cy="743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String requires</a:t>
            </a:r>
            <a:r>
              <a:rPr sz="2650" spc="16" dirty="0">
                <a:solidFill>
                  <a:srgbClr val="000000"/>
                </a:solidFill>
                <a:latin typeface="AAVGFJ+Calibri"/>
                <a:cs typeface="AAVGFJ+Calibri"/>
              </a:rPr>
              <a:t> </a:t>
            </a:r>
            <a:r>
              <a:rPr sz="2650" spc="11" dirty="0">
                <a:solidFill>
                  <a:srgbClr val="000000"/>
                </a:solidFill>
                <a:latin typeface="AAVGFJ+Calibri"/>
                <a:cs typeface="AAVGFJ+Calibri"/>
              </a:rPr>
              <a:t>only</a:t>
            </a:r>
            <a:r>
              <a:rPr sz="2650" dirty="0">
                <a:solidFill>
                  <a:srgbClr val="000000"/>
                </a:solidFill>
                <a:latin typeface="AAVGFJ+Calibri"/>
                <a:cs typeface="AAVGFJ+Calibri"/>
              </a:rPr>
              <a:t> 4</a:t>
            </a:r>
            <a:r>
              <a:rPr sz="2650" spc="18" dirty="0">
                <a:solidFill>
                  <a:srgbClr val="000000"/>
                </a:solidFill>
                <a:latin typeface="AAVGFJ+Calibri"/>
                <a:cs typeface="AAVGFJ+Calibri"/>
              </a:rPr>
              <a:t> </a:t>
            </a:r>
            <a:r>
              <a:rPr sz="2650" dirty="0">
                <a:solidFill>
                  <a:srgbClr val="000000"/>
                </a:solidFill>
                <a:latin typeface="AAVGFJ+Calibri"/>
                <a:cs typeface="AAVGFJ+Calibri"/>
              </a:rPr>
              <a:t>locations</a:t>
            </a:r>
            <a:r>
              <a:rPr sz="2650" spc="11" dirty="0">
                <a:solidFill>
                  <a:srgbClr val="000000"/>
                </a:solidFill>
                <a:latin typeface="AAVGFJ+Calibri"/>
                <a:cs typeface="AAVGFJ+Calibri"/>
              </a:rPr>
              <a:t> </a:t>
            </a:r>
            <a:r>
              <a:rPr sz="2650" spc="13" dirty="0">
                <a:solidFill>
                  <a:srgbClr val="000000"/>
                </a:solidFill>
                <a:latin typeface="AAVGFJ+Calibri"/>
                <a:cs typeface="AAVGFJ+Calibri"/>
              </a:rPr>
              <a:t>but</a:t>
            </a:r>
            <a:r>
              <a:rPr sz="2650" dirty="0">
                <a:solidFill>
                  <a:srgbClr val="000000"/>
                </a:solidFill>
                <a:latin typeface="AAVGFJ+Calibri"/>
                <a:cs typeface="AAVGFJ+Calibri"/>
              </a:rPr>
              <a:t> </a:t>
            </a:r>
            <a:r>
              <a:rPr sz="2650" spc="11" dirty="0">
                <a:solidFill>
                  <a:srgbClr val="000000"/>
                </a:solidFill>
                <a:latin typeface="AAVGFJ+Calibri"/>
                <a:cs typeface="AAVGFJ+Calibri"/>
              </a:rPr>
              <a:t>another</a:t>
            </a:r>
            <a:r>
              <a:rPr sz="2650" dirty="0">
                <a:solidFill>
                  <a:srgbClr val="000000"/>
                </a:solidFill>
                <a:latin typeface="AAVGFJ+Calibri"/>
                <a:cs typeface="AAVGFJ+Calibri"/>
              </a:rPr>
              <a:t> location</a:t>
            </a:r>
            <a:r>
              <a:rPr sz="2650" spc="16" dirty="0">
                <a:solidFill>
                  <a:srgbClr val="000000"/>
                </a:solidFill>
                <a:latin typeface="AAVGFJ+Calibri"/>
                <a:cs typeface="AAVGFJ+Calibri"/>
              </a:rPr>
              <a:t> </a:t>
            </a:r>
            <a:r>
              <a:rPr sz="2650" dirty="0">
                <a:solidFill>
                  <a:srgbClr val="000000"/>
                </a:solidFill>
                <a:latin typeface="AAVGFJ+Calibri"/>
                <a:cs typeface="AAVGFJ+Calibri"/>
              </a:rPr>
              <a:t>is </a:t>
            </a:r>
            <a:r>
              <a:rPr sz="2650" spc="12" dirty="0">
                <a:solidFill>
                  <a:srgbClr val="000000"/>
                </a:solidFill>
                <a:latin typeface="AAVGFJ+Calibri"/>
                <a:cs typeface="AAVGFJ+Calibri"/>
              </a:rPr>
              <a:t>added</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2" dirty="0">
                <a:solidFill>
                  <a:srgbClr val="000000"/>
                </a:solidFill>
                <a:latin typeface="AAVGFJ+Calibri"/>
                <a:cs typeface="AAVGFJ+Calibri"/>
              </a:rPr>
              <a:t>size</a:t>
            </a:r>
            <a:r>
              <a:rPr sz="2650" spc="30" dirty="0">
                <a:solidFill>
                  <a:srgbClr val="000000"/>
                </a:solidFill>
                <a:latin typeface="AAVGFJ+Calibri"/>
                <a:cs typeface="AAVGFJ+Calibri"/>
              </a:rPr>
              <a:t> </a:t>
            </a:r>
            <a:r>
              <a:rPr sz="2650" spc="11" dirty="0">
                <a:solidFill>
                  <a:srgbClr val="000000"/>
                </a:solidFill>
                <a:latin typeface="AAVGFJ+Calibri"/>
                <a:cs typeface="AAVGFJ+Calibri"/>
              </a:rPr>
              <a:t>as</a:t>
            </a:r>
            <a:r>
              <a:rPr sz="2650" dirty="0">
                <a:solidFill>
                  <a:srgbClr val="000000"/>
                </a:solidFill>
                <a:latin typeface="AAVGFJ+Calibri"/>
                <a:cs typeface="AAVGFJ+Calibri"/>
              </a:rPr>
              <a:t> ‘\0’ </a:t>
            </a:r>
            <a:r>
              <a:rPr sz="2650" spc="12" dirty="0">
                <a:solidFill>
                  <a:srgbClr val="000000"/>
                </a:solidFill>
                <a:latin typeface="AAVGFJ+Calibri"/>
                <a:cs typeface="AAVGFJ+Calibri"/>
              </a:rPr>
              <a:t>has</a:t>
            </a:r>
          </a:p>
          <a:p>
            <a:pPr marL="0" marR="0">
              <a:lnSpc>
                <a:spcPts val="2675"/>
              </a:lnSpc>
              <a:spcBef>
                <a:spcPts val="204"/>
              </a:spcBef>
              <a:spcAft>
                <a:spcPts val="0"/>
              </a:spcAft>
            </a:pP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4" dirty="0">
                <a:solidFill>
                  <a:srgbClr val="000000"/>
                </a:solidFill>
                <a:latin typeface="AAVGFJ+Calibri"/>
                <a:cs typeface="AAVGFJ+Calibri"/>
              </a:rPr>
              <a:t>at</a:t>
            </a:r>
            <a:r>
              <a:rPr sz="2650" spc="28"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2" dirty="0">
                <a:solidFill>
                  <a:srgbClr val="000000"/>
                </a:solidFill>
                <a:latin typeface="AAVGFJ+Calibri"/>
                <a:cs typeface="AAVGFJ+Calibri"/>
              </a:rPr>
              <a:t>end</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a:t>
            </a:r>
          </a:p>
        </p:txBody>
      </p:sp>
      <p:sp>
        <p:nvSpPr>
          <p:cNvPr id="6" name="object 6"/>
          <p:cNvSpPr txBox="1"/>
          <p:nvPr/>
        </p:nvSpPr>
        <p:spPr>
          <a:xfrm>
            <a:off x="277710" y="2846762"/>
            <a:ext cx="4373582"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1" dirty="0">
                <a:solidFill>
                  <a:srgbClr val="FF0000"/>
                </a:solidFill>
                <a:latin typeface="AAVGFJ+Calibri"/>
                <a:cs typeface="AAVGFJ+Calibri"/>
              </a:rPr>
              <a:t>char</a:t>
            </a:r>
            <a:r>
              <a:rPr sz="2650" dirty="0">
                <a:solidFill>
                  <a:srgbClr val="FF0000"/>
                </a:solidFill>
                <a:latin typeface="AAVGFJ+Calibri"/>
                <a:cs typeface="AAVGFJ+Calibri"/>
              </a:rPr>
              <a:t> </a:t>
            </a:r>
            <a:r>
              <a:rPr sz="2650" spc="-56" dirty="0">
                <a:solidFill>
                  <a:srgbClr val="FF0000"/>
                </a:solidFill>
                <a:latin typeface="AAVGFJ+Calibri"/>
                <a:cs typeface="AAVGFJ+Calibri"/>
              </a:rPr>
              <a:t>name[5]=[‘l’,’i’,’a’,’h’,’\0’];</a:t>
            </a:r>
          </a:p>
        </p:txBody>
      </p:sp>
      <p:sp>
        <p:nvSpPr>
          <p:cNvPr id="7" name="object 7"/>
          <p:cNvSpPr txBox="1"/>
          <p:nvPr/>
        </p:nvSpPr>
        <p:spPr>
          <a:xfrm>
            <a:off x="277710" y="3339522"/>
            <a:ext cx="11796427" cy="743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Each</a:t>
            </a:r>
            <a:r>
              <a:rPr sz="2650" spc="23" dirty="0">
                <a:solidFill>
                  <a:srgbClr val="000000"/>
                </a:solidFill>
                <a:latin typeface="AAVGFJ+Calibri"/>
                <a:cs typeface="AAVGFJ+Calibri"/>
              </a:rPr>
              <a:t> </a:t>
            </a:r>
            <a:r>
              <a:rPr sz="2650" dirty="0">
                <a:solidFill>
                  <a:srgbClr val="000000"/>
                </a:solidFill>
                <a:latin typeface="AAVGFJ+Calibri"/>
                <a:cs typeface="AAVGFJ+Calibri"/>
              </a:rPr>
              <a:t>character</a:t>
            </a:r>
            <a:r>
              <a:rPr sz="2650" spc="13" dirty="0">
                <a:solidFill>
                  <a:srgbClr val="000000"/>
                </a:solidFill>
                <a:latin typeface="AAVGFJ+Calibri"/>
                <a:cs typeface="AAVGFJ+Calibri"/>
              </a:rPr>
              <a:t> </a:t>
            </a:r>
            <a:r>
              <a:rPr sz="2650" dirty="0">
                <a:solidFill>
                  <a:srgbClr val="000000"/>
                </a:solidFill>
                <a:latin typeface="AAVGFJ+Calibri"/>
                <a:cs typeface="AAVGFJ+Calibri"/>
              </a:rPr>
              <a:t>is assigned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8" dirty="0">
                <a:solidFill>
                  <a:srgbClr val="000000"/>
                </a:solidFill>
                <a:latin typeface="AAVGFJ+Calibri"/>
                <a:cs typeface="AAVGFJ+Calibri"/>
              </a:rPr>
              <a:t>array</a:t>
            </a:r>
            <a:r>
              <a:rPr sz="2650" spc="34" dirty="0">
                <a:solidFill>
                  <a:srgbClr val="000000"/>
                </a:solidFill>
                <a:latin typeface="AAVGFJ+Calibri"/>
                <a:cs typeface="AAVGFJ+Calibri"/>
              </a:rPr>
              <a:t> </a:t>
            </a:r>
            <a:r>
              <a:rPr sz="2650" dirty="0">
                <a:solidFill>
                  <a:srgbClr val="000000"/>
                </a:solidFill>
                <a:latin typeface="AAVGFJ+Calibri"/>
                <a:cs typeface="AAVGFJ+Calibri"/>
              </a:rPr>
              <a:t>element </a:t>
            </a:r>
            <a:r>
              <a:rPr sz="2650" spc="11" dirty="0">
                <a:solidFill>
                  <a:srgbClr val="000000"/>
                </a:solidFill>
                <a:latin typeface="AAVGFJ+Calibri"/>
                <a:cs typeface="AAVGFJ+Calibri"/>
              </a:rPr>
              <a:t>as</a:t>
            </a:r>
            <a:r>
              <a:rPr sz="2650" dirty="0">
                <a:solidFill>
                  <a:srgbClr val="000000"/>
                </a:solidFill>
                <a:latin typeface="AAVGFJ+Calibri"/>
                <a:cs typeface="AAVGFJ+Calibri"/>
              </a:rPr>
              <a:t> name[0]=’l’,name[1]=’i’</a:t>
            </a:r>
            <a:r>
              <a:rPr sz="2650" spc="10" dirty="0">
                <a:solidFill>
                  <a:srgbClr val="000000"/>
                </a:solidFill>
                <a:latin typeface="AAVGFJ+Calibri"/>
                <a:cs typeface="AAVGFJ+Calibri"/>
              </a:rPr>
              <a:t> </a:t>
            </a:r>
            <a:r>
              <a:rPr sz="2650" spc="12" dirty="0">
                <a:solidFill>
                  <a:srgbClr val="000000"/>
                </a:solidFill>
                <a:latin typeface="AAVGFJ+Calibri"/>
                <a:cs typeface="AAVGFJ+Calibri"/>
              </a:rPr>
              <a:t>and</a:t>
            </a:r>
            <a:r>
              <a:rPr sz="2650" dirty="0">
                <a:solidFill>
                  <a:srgbClr val="000000"/>
                </a:solidFill>
                <a:latin typeface="AAVGFJ+Calibri"/>
                <a:cs typeface="AAVGFJ+Calibri"/>
              </a:rPr>
              <a:t> so</a:t>
            </a:r>
            <a:r>
              <a:rPr sz="2650" spc="10" dirty="0">
                <a:solidFill>
                  <a:srgbClr val="000000"/>
                </a:solidFill>
                <a:latin typeface="AAVGFJ+Calibri"/>
                <a:cs typeface="AAVGFJ+Calibri"/>
              </a:rPr>
              <a:t> </a:t>
            </a:r>
            <a:r>
              <a:rPr sz="2650" spc="13" dirty="0">
                <a:solidFill>
                  <a:srgbClr val="000000"/>
                </a:solidFill>
                <a:latin typeface="AAVGFJ+Calibri"/>
                <a:cs typeface="AAVGFJ+Calibri"/>
              </a:rPr>
              <a:t>on.</a:t>
            </a:r>
          </a:p>
          <a:p>
            <a:pPr marL="0" marR="0">
              <a:lnSpc>
                <a:spcPts val="2675"/>
              </a:lnSpc>
              <a:spcBef>
                <a:spcPts val="204"/>
              </a:spcBef>
              <a:spcAft>
                <a:spcPts val="0"/>
              </a:spcAft>
            </a:pPr>
            <a:r>
              <a:rPr sz="2650" spc="11" dirty="0">
                <a:solidFill>
                  <a:srgbClr val="000000"/>
                </a:solidFill>
                <a:latin typeface="AAVGFJ+Calibri"/>
                <a:cs typeface="AAVGFJ+Calibri"/>
              </a:rPr>
              <a:t>Null</a:t>
            </a:r>
            <a:r>
              <a:rPr sz="2650" dirty="0">
                <a:solidFill>
                  <a:srgbClr val="000000"/>
                </a:solidFill>
                <a:latin typeface="AAVGFJ+Calibri"/>
                <a:cs typeface="AAVGFJ+Calibri"/>
              </a:rPr>
              <a:t> character</a:t>
            </a:r>
            <a:r>
              <a:rPr sz="2650" spc="13" dirty="0">
                <a:solidFill>
                  <a:srgbClr val="000000"/>
                </a:solidFill>
                <a:latin typeface="AAVGFJ+Calibri"/>
                <a:cs typeface="AAVGFJ+Calibri"/>
              </a:rPr>
              <a:t> </a:t>
            </a:r>
            <a:r>
              <a:rPr sz="2650" dirty="0">
                <a:solidFill>
                  <a:srgbClr val="000000"/>
                </a:solidFill>
                <a:latin typeface="AAVGFJ+Calibri"/>
                <a:cs typeface="AAVGFJ+Calibri"/>
              </a:rPr>
              <a:t>is also</a:t>
            </a:r>
            <a:r>
              <a:rPr sz="2650" spc="1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0" dirty="0">
                <a:solidFill>
                  <a:srgbClr val="000000"/>
                </a:solidFill>
                <a:latin typeface="AAVGFJ+Calibri"/>
                <a:cs typeface="AAVGFJ+Calibri"/>
              </a:rPr>
              <a:t>included</a:t>
            </a:r>
            <a:r>
              <a:rPr sz="2650" dirty="0">
                <a:solidFill>
                  <a:srgbClr val="000000"/>
                </a:solidFill>
                <a:latin typeface="AAVGFJ+Calibri"/>
                <a:cs typeface="AAVGFJ+Calibri"/>
              </a:rPr>
              <a:t> </a:t>
            </a:r>
            <a:r>
              <a:rPr sz="2650" spc="11" dirty="0">
                <a:solidFill>
                  <a:srgbClr val="000000"/>
                </a:solidFill>
                <a:latin typeface="AAVGFJ+Calibri"/>
                <a:cs typeface="AAVGFJ+Calibri"/>
              </a:rPr>
              <a:t>as</a:t>
            </a:r>
            <a:r>
              <a:rPr sz="2650" dirty="0">
                <a:solidFill>
                  <a:srgbClr val="000000"/>
                </a:solidFill>
                <a:latin typeface="AAVGFJ+Calibri"/>
                <a:cs typeface="AAVGFJ+Calibri"/>
              </a:rPr>
              <a:t> last</a:t>
            </a:r>
            <a:r>
              <a:rPr sz="2650" spc="15" dirty="0">
                <a:solidFill>
                  <a:srgbClr val="000000"/>
                </a:solidFill>
                <a:latin typeface="AAVGFJ+Calibri"/>
                <a:cs typeface="AAVGFJ+Calibri"/>
              </a:rPr>
              <a:t> </a:t>
            </a:r>
            <a:r>
              <a:rPr sz="2650" spc="-27" dirty="0">
                <a:solidFill>
                  <a:srgbClr val="000000"/>
                </a:solidFill>
                <a:latin typeface="AAVGFJ+Calibri"/>
                <a:cs typeface="AAVGFJ+Calibri"/>
              </a:rPr>
              <a:t>character.</a:t>
            </a:r>
          </a:p>
        </p:txBody>
      </p:sp>
      <p:sp>
        <p:nvSpPr>
          <p:cNvPr id="8" name="object 8"/>
          <p:cNvSpPr txBox="1"/>
          <p:nvPr/>
        </p:nvSpPr>
        <p:spPr>
          <a:xfrm>
            <a:off x="277710" y="4198042"/>
            <a:ext cx="4201398"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1" dirty="0">
                <a:solidFill>
                  <a:srgbClr val="FF0000"/>
                </a:solidFill>
                <a:latin typeface="AAVGFJ+Calibri"/>
                <a:cs typeface="AAVGFJ+Calibri"/>
              </a:rPr>
              <a:t>char</a:t>
            </a:r>
            <a:r>
              <a:rPr sz="2650" dirty="0">
                <a:solidFill>
                  <a:srgbClr val="FF0000"/>
                </a:solidFill>
                <a:latin typeface="AAVGFJ+Calibri"/>
                <a:cs typeface="AAVGFJ+Calibri"/>
              </a:rPr>
              <a:t> </a:t>
            </a:r>
            <a:r>
              <a:rPr sz="2650" spc="13" dirty="0">
                <a:solidFill>
                  <a:srgbClr val="FF0000"/>
                </a:solidFill>
                <a:latin typeface="AAVGFJ+Calibri"/>
                <a:cs typeface="AAVGFJ+Calibri"/>
              </a:rPr>
              <a:t>name[</a:t>
            </a:r>
            <a:r>
              <a:rPr sz="2650" dirty="0">
                <a:solidFill>
                  <a:srgbClr val="FF0000"/>
                </a:solidFill>
                <a:latin typeface="AAVGFJ+Calibri"/>
                <a:cs typeface="AAVGFJ+Calibri"/>
              </a:rPr>
              <a:t> </a:t>
            </a:r>
            <a:r>
              <a:rPr sz="2650" spc="-72" dirty="0">
                <a:solidFill>
                  <a:srgbClr val="FF0000"/>
                </a:solidFill>
                <a:latin typeface="AAVGFJ+Calibri"/>
                <a:cs typeface="AAVGFJ+Calibri"/>
              </a:rPr>
              <a:t>]=[‘l’,’i’,’a’,’h’,’\0’];</a:t>
            </a:r>
          </a:p>
        </p:txBody>
      </p:sp>
      <p:sp>
        <p:nvSpPr>
          <p:cNvPr id="9" name="object 9"/>
          <p:cNvSpPr txBox="1"/>
          <p:nvPr/>
        </p:nvSpPr>
        <p:spPr>
          <a:xfrm>
            <a:off x="277710" y="4690802"/>
            <a:ext cx="11066898" cy="743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In</a:t>
            </a:r>
            <a:r>
              <a:rPr sz="2650" spc="11" dirty="0">
                <a:solidFill>
                  <a:srgbClr val="000000"/>
                </a:solidFill>
                <a:latin typeface="AAVGFJ+Calibri"/>
                <a:cs typeface="AAVGFJ+Calibri"/>
              </a:rPr>
              <a:t> </a:t>
            </a:r>
            <a:r>
              <a:rPr sz="2650" dirty="0">
                <a:solidFill>
                  <a:srgbClr val="000000"/>
                </a:solidFill>
                <a:latin typeface="AAVGFJ+Calibri"/>
                <a:cs typeface="AAVGFJ+Calibri"/>
              </a:rPr>
              <a:t>this case</a:t>
            </a:r>
            <a:r>
              <a:rPr sz="2650" spc="16" dirty="0">
                <a:solidFill>
                  <a:srgbClr val="000000"/>
                </a:solidFill>
                <a:latin typeface="AAVGFJ+Calibri"/>
                <a:cs typeface="AAVGFJ+Calibri"/>
              </a:rPr>
              <a:t> </a:t>
            </a:r>
            <a:r>
              <a:rPr sz="2650" spc="-12" dirty="0">
                <a:solidFill>
                  <a:srgbClr val="000000"/>
                </a:solidFill>
                <a:latin typeface="AAVGFJ+Calibri"/>
                <a:cs typeface="AAVGFJ+Calibri"/>
              </a:rPr>
              <a:t>size</a:t>
            </a:r>
            <a:r>
              <a:rPr sz="2650" spc="3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8" dirty="0">
                <a:solidFill>
                  <a:srgbClr val="000000"/>
                </a:solidFill>
                <a:latin typeface="AAVGFJ+Calibri"/>
                <a:cs typeface="AAVGFJ+Calibri"/>
              </a:rPr>
              <a:t>array</a:t>
            </a:r>
            <a:r>
              <a:rPr sz="2650" spc="34" dirty="0">
                <a:solidFill>
                  <a:srgbClr val="000000"/>
                </a:solidFill>
                <a:latin typeface="AAVGFJ+Calibri"/>
                <a:cs typeface="AAVGFJ+Calibri"/>
              </a:rPr>
              <a:t> </a:t>
            </a:r>
            <a:r>
              <a:rPr sz="2650" spc="10" dirty="0">
                <a:solidFill>
                  <a:srgbClr val="000000"/>
                </a:solidFill>
                <a:latin typeface="AAVGFJ+Calibri"/>
                <a:cs typeface="AAVGFJ+Calibri"/>
              </a:rPr>
              <a:t>will</a:t>
            </a:r>
            <a:r>
              <a:rPr sz="2650"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determined</a:t>
            </a:r>
            <a:r>
              <a:rPr sz="2650" spc="13" dirty="0">
                <a:solidFill>
                  <a:srgbClr val="000000"/>
                </a:solidFill>
                <a:latin typeface="AAVGFJ+Calibri"/>
                <a:cs typeface="AAVGFJ+Calibri"/>
              </a:rPr>
              <a:t> </a:t>
            </a:r>
            <a:r>
              <a:rPr sz="2650" dirty="0">
                <a:solidFill>
                  <a:srgbClr val="000000"/>
                </a:solidFill>
                <a:latin typeface="AAVGFJ+Calibri"/>
                <a:cs typeface="AAVGFJ+Calibri"/>
              </a:rPr>
              <a:t>automatically</a:t>
            </a:r>
            <a:r>
              <a:rPr sz="2650" spc="13" dirty="0">
                <a:solidFill>
                  <a:srgbClr val="000000"/>
                </a:solidFill>
                <a:latin typeface="AAVGFJ+Calibri"/>
                <a:cs typeface="AAVGFJ+Calibri"/>
              </a:rPr>
              <a:t> </a:t>
            </a:r>
            <a:r>
              <a:rPr sz="2650" spc="12" dirty="0">
                <a:solidFill>
                  <a:srgbClr val="000000"/>
                </a:solidFill>
                <a:latin typeface="AAVGFJ+Calibri"/>
                <a:cs typeface="AAVGFJ+Calibri"/>
              </a:rPr>
              <a:t>depending</a:t>
            </a:r>
            <a:r>
              <a:rPr sz="2650" dirty="0">
                <a:solidFill>
                  <a:srgbClr val="000000"/>
                </a:solidFill>
                <a:latin typeface="AAVGFJ+Calibri"/>
                <a:cs typeface="AAVGFJ+Calibri"/>
              </a:rPr>
              <a:t> </a:t>
            </a:r>
            <a:r>
              <a:rPr sz="2650" spc="13" dirty="0">
                <a:solidFill>
                  <a:srgbClr val="000000"/>
                </a:solidFill>
                <a:latin typeface="AAVGFJ+Calibri"/>
                <a:cs typeface="AAVGFJ+Calibri"/>
              </a:rPr>
              <a:t>on</a:t>
            </a:r>
            <a:r>
              <a:rPr sz="2650" dirty="0">
                <a:solidFill>
                  <a:srgbClr val="000000"/>
                </a:solidFill>
                <a:latin typeface="AAVGFJ+Calibri"/>
                <a:cs typeface="AAVGFJ+Calibri"/>
              </a:rPr>
              <a:t> </a:t>
            </a:r>
            <a:r>
              <a:rPr sz="2650" spc="10" dirty="0">
                <a:solidFill>
                  <a:srgbClr val="000000"/>
                </a:solidFill>
                <a:latin typeface="AAVGFJ+Calibri"/>
                <a:cs typeface="AAVGFJ+Calibri"/>
              </a:rPr>
              <a:t>the</a:t>
            </a:r>
          </a:p>
          <a:p>
            <a:pPr marL="0" marR="0">
              <a:lnSpc>
                <a:spcPts val="2675"/>
              </a:lnSpc>
              <a:spcBef>
                <a:spcPts val="205"/>
              </a:spcBef>
              <a:spcAft>
                <a:spcPts val="0"/>
              </a:spcAft>
            </a:pPr>
            <a:r>
              <a:rPr sz="2650" spc="14" dirty="0">
                <a:solidFill>
                  <a:srgbClr val="000000"/>
                </a:solidFill>
                <a:latin typeface="AAVGFJ+Calibri"/>
                <a:cs typeface="AAVGFJ+Calibri"/>
              </a:rPr>
              <a:t>number</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elements listed</a:t>
            </a:r>
            <a:r>
              <a:rPr sz="2650" spc="22" dirty="0">
                <a:solidFill>
                  <a:srgbClr val="000000"/>
                </a:solidFill>
                <a:latin typeface="AAVGFJ+Calibri"/>
                <a:cs typeface="AAVGFJ+Calibri"/>
              </a:rPr>
              <a:t> </a:t>
            </a:r>
            <a:r>
              <a:rPr sz="2650" spc="10" dirty="0">
                <a:solidFill>
                  <a:srgbClr val="000000"/>
                </a:solidFill>
                <a:latin typeface="AAVGFJ+Calibri"/>
                <a:cs typeface="AAVGFJ+Calibri"/>
              </a:rPr>
              <a:t>within</a:t>
            </a:r>
            <a:r>
              <a:rPr sz="2650" dirty="0">
                <a:solidFill>
                  <a:srgbClr val="000000"/>
                </a:solidFill>
                <a:latin typeface="AAVGFJ+Calibri"/>
                <a:cs typeface="AAVGFJ+Calibri"/>
              </a:rPr>
              <a:t> braces.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93745" y="330098"/>
            <a:ext cx="6188589" cy="783590"/>
          </a:xfrm>
          <a:prstGeom prst="rect">
            <a:avLst/>
          </a:prstGeom>
        </p:spPr>
        <p:txBody>
          <a:bodyPr vert="horz" wrap="square" lIns="0" tIns="0" rIns="0" bIns="0" rtlCol="0">
            <a:spAutoFit/>
          </a:bodyPr>
          <a:lstStyle/>
          <a:p>
            <a:pPr marL="0" marR="0">
              <a:lnSpc>
                <a:spcPts val="5870"/>
              </a:lnSpc>
              <a:spcBef>
                <a:spcPts val="0"/>
              </a:spcBef>
              <a:spcAft>
                <a:spcPts val="0"/>
              </a:spcAft>
            </a:pPr>
            <a:r>
              <a:rPr sz="5850" dirty="0">
                <a:solidFill>
                  <a:srgbClr val="0070C0"/>
                </a:solidFill>
                <a:latin typeface="AAVGFJ+Calibri"/>
                <a:cs typeface="AAVGFJ+Calibri"/>
              </a:rPr>
              <a:t>String - Initialization</a:t>
            </a:r>
          </a:p>
        </p:txBody>
      </p:sp>
      <p:sp>
        <p:nvSpPr>
          <p:cNvPr id="4" name="object 4"/>
          <p:cNvSpPr txBox="1"/>
          <p:nvPr/>
        </p:nvSpPr>
        <p:spPr>
          <a:xfrm>
            <a:off x="701040" y="1677511"/>
            <a:ext cx="8914225"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Example: </a:t>
            </a:r>
            <a:r>
              <a:rPr sz="2650" spc="11" dirty="0">
                <a:solidFill>
                  <a:srgbClr val="000000"/>
                </a:solidFill>
                <a:latin typeface="AAVGFJ+Calibri"/>
                <a:cs typeface="AAVGFJ+Calibri"/>
              </a:rPr>
              <a:t>Consider</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following</a:t>
            </a:r>
            <a:r>
              <a:rPr sz="2650" spc="13"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dirty="0">
                <a:solidFill>
                  <a:srgbClr val="000000"/>
                </a:solidFill>
                <a:latin typeface="AAVGFJ+Calibri"/>
                <a:cs typeface="AAVGFJ+Calibri"/>
              </a:rPr>
              <a:t>declaration:char str</a:t>
            </a:r>
            <a:r>
              <a:rPr sz="2650" spc="19" dirty="0">
                <a:solidFill>
                  <a:srgbClr val="000000"/>
                </a:solidFill>
                <a:latin typeface="AAVGFJ+Calibri"/>
                <a:cs typeface="AAVGFJ+Calibri"/>
              </a:rPr>
              <a:t> </a:t>
            </a:r>
            <a:r>
              <a:rPr sz="2650" spc="10" dirty="0">
                <a:solidFill>
                  <a:srgbClr val="000000"/>
                </a:solidFill>
                <a:latin typeface="AAVGFJ+Calibri"/>
                <a:cs typeface="AAVGFJ+Calibri"/>
              </a:rPr>
              <a:t>[10];</a:t>
            </a:r>
          </a:p>
        </p:txBody>
      </p:sp>
      <p:sp>
        <p:nvSpPr>
          <p:cNvPr id="5" name="object 5"/>
          <p:cNvSpPr txBox="1"/>
          <p:nvPr/>
        </p:nvSpPr>
        <p:spPr>
          <a:xfrm>
            <a:off x="701040" y="2170271"/>
            <a:ext cx="9321287" cy="743584"/>
          </a:xfrm>
          <a:prstGeom prst="rect">
            <a:avLst/>
          </a:prstGeom>
        </p:spPr>
        <p:txBody>
          <a:bodyPr vert="horz" wrap="square" lIns="0" tIns="0" rIns="0" bIns="0" rtlCol="0">
            <a:spAutoFit/>
          </a:bodyPr>
          <a:lstStyle/>
          <a:p>
            <a:pPr marL="0" marR="0">
              <a:lnSpc>
                <a:spcPts val="2675"/>
              </a:lnSpc>
              <a:spcBef>
                <a:spcPts val="0"/>
              </a:spcBef>
              <a:spcAft>
                <a:spcPts val="0"/>
              </a:spcAft>
            </a:pPr>
            <a:r>
              <a:rPr sz="2650" spc="14" dirty="0">
                <a:solidFill>
                  <a:srgbClr val="000000"/>
                </a:solidFill>
                <a:latin typeface="AAVGFJ+Calibri"/>
                <a:cs typeface="AAVGFJ+Calibri"/>
              </a:rPr>
              <a:t>When</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a:t>
            </a:r>
            <a:r>
              <a:rPr sz="2650" spc="11" dirty="0">
                <a:solidFill>
                  <a:srgbClr val="000000"/>
                </a:solidFill>
                <a:latin typeface="AAVGFJ+Calibri"/>
                <a:cs typeface="AAVGFJ+Calibri"/>
              </a:rPr>
              <a:t> </a:t>
            </a:r>
            <a:r>
              <a:rPr sz="2650" dirty="0">
                <a:solidFill>
                  <a:srgbClr val="000000"/>
                </a:solidFill>
                <a:latin typeface="AAVGFJ+Calibri"/>
                <a:cs typeface="AAVGFJ+Calibri"/>
              </a:rPr>
              <a:t>"Computer" is assigned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dirty="0">
                <a:solidFill>
                  <a:srgbClr val="000000"/>
                </a:solidFill>
                <a:latin typeface="AAVGFJ+Calibri"/>
                <a:cs typeface="AAVGFJ+Calibri"/>
              </a:rPr>
              <a:t>variable</a:t>
            </a:r>
            <a:r>
              <a:rPr sz="2650" spc="14" dirty="0">
                <a:solidFill>
                  <a:srgbClr val="000000"/>
                </a:solidFill>
                <a:latin typeface="AAVGFJ+Calibri"/>
                <a:cs typeface="AAVGFJ+Calibri"/>
              </a:rPr>
              <a:t> </a:t>
            </a:r>
            <a:r>
              <a:rPr sz="2650" spc="-58" dirty="0">
                <a:solidFill>
                  <a:srgbClr val="000000"/>
                </a:solidFill>
                <a:latin typeface="AAVGFJ+Calibri"/>
                <a:cs typeface="AAVGFJ+Calibri"/>
              </a:rPr>
              <a:t>str,</a:t>
            </a:r>
            <a:r>
              <a:rPr sz="2650" spc="69" dirty="0">
                <a:solidFill>
                  <a:srgbClr val="000000"/>
                </a:solidFill>
                <a:latin typeface="AAVGFJ+Calibri"/>
                <a:cs typeface="AAVGFJ+Calibri"/>
              </a:rPr>
              <a:t> </a:t>
            </a:r>
            <a:r>
              <a:rPr sz="2650" spc="10" dirty="0">
                <a:solidFill>
                  <a:srgbClr val="000000"/>
                </a:solidFill>
                <a:latin typeface="AAVGFJ+Calibri"/>
                <a:cs typeface="AAVGFJ+Calibri"/>
              </a:rPr>
              <a:t>the</a:t>
            </a:r>
          </a:p>
          <a:p>
            <a:pPr marL="0" marR="0">
              <a:lnSpc>
                <a:spcPts val="2675"/>
              </a:lnSpc>
              <a:spcBef>
                <a:spcPts val="204"/>
              </a:spcBef>
              <a:spcAft>
                <a:spcPts val="0"/>
              </a:spcAft>
            </a:pPr>
            <a:r>
              <a:rPr sz="2650" dirty="0">
                <a:solidFill>
                  <a:srgbClr val="000000"/>
                </a:solidFill>
                <a:latin typeface="AAVGFJ+Calibri"/>
                <a:cs typeface="AAVGFJ+Calibri"/>
              </a:rPr>
              <a:t>characters</a:t>
            </a:r>
            <a:r>
              <a:rPr sz="2650" spc="20"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spc="-11" dirty="0">
                <a:solidFill>
                  <a:srgbClr val="000000"/>
                </a:solidFill>
                <a:latin typeface="AAVGFJ+Calibri"/>
                <a:cs typeface="AAVGFJ+Calibri"/>
              </a:rPr>
              <a:t>stored</a:t>
            </a:r>
            <a:r>
              <a:rPr sz="2650" spc="29"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5" dirty="0">
                <a:solidFill>
                  <a:srgbClr val="000000"/>
                </a:solidFill>
                <a:latin typeface="AAVGFJ+Calibri"/>
                <a:cs typeface="AAVGFJ+Calibri"/>
              </a:rPr>
              <a:t>memory</a:t>
            </a:r>
            <a:r>
              <a:rPr sz="2650" dirty="0">
                <a:solidFill>
                  <a:srgbClr val="000000"/>
                </a:solidFill>
                <a:latin typeface="AAVGFJ+Calibri"/>
                <a:cs typeface="AAVGFJ+Calibri"/>
              </a:rPr>
              <a:t> </a:t>
            </a:r>
            <a:r>
              <a:rPr sz="2650" spc="11" dirty="0">
                <a:solidFill>
                  <a:srgbClr val="000000"/>
                </a:solidFill>
                <a:latin typeface="AAVGFJ+Calibri"/>
                <a:cs typeface="AAVGFJ+Calibri"/>
              </a:rPr>
              <a:t>as</a:t>
            </a:r>
            <a:r>
              <a:rPr sz="2650" dirty="0">
                <a:solidFill>
                  <a:srgbClr val="000000"/>
                </a:solidFill>
                <a:latin typeface="AAVGFJ+Calibri"/>
                <a:cs typeface="AAVGFJ+Calibri"/>
              </a:rPr>
              <a:t> follows:</a:t>
            </a:r>
          </a:p>
        </p:txBody>
      </p:sp>
      <p:sp>
        <p:nvSpPr>
          <p:cNvPr id="6" name="object 6"/>
          <p:cNvSpPr txBox="1"/>
          <p:nvPr/>
        </p:nvSpPr>
        <p:spPr>
          <a:xfrm>
            <a:off x="701040" y="3028791"/>
            <a:ext cx="3892012"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1" dirty="0">
                <a:solidFill>
                  <a:srgbClr val="000000"/>
                </a:solidFill>
                <a:latin typeface="AAVGFJ+Calibri"/>
                <a:cs typeface="AAVGFJ+Calibri"/>
              </a:rPr>
              <a:t>char</a:t>
            </a:r>
            <a:r>
              <a:rPr sz="2650" dirty="0">
                <a:solidFill>
                  <a:srgbClr val="000000"/>
                </a:solidFill>
                <a:latin typeface="AAVGFJ+Calibri"/>
                <a:cs typeface="AAVGFJ+Calibri"/>
              </a:rPr>
              <a:t> str</a:t>
            </a:r>
            <a:r>
              <a:rPr sz="2650" spc="19" dirty="0">
                <a:solidFill>
                  <a:srgbClr val="000000"/>
                </a:solidFill>
                <a:latin typeface="AAVGFJ+Calibri"/>
                <a:cs typeface="AAVGFJ+Calibri"/>
              </a:rPr>
              <a:t> </a:t>
            </a:r>
            <a:r>
              <a:rPr sz="2650" spc="10" dirty="0">
                <a:solidFill>
                  <a:srgbClr val="000000"/>
                </a:solidFill>
                <a:latin typeface="AAVGFJ+Calibri"/>
                <a:cs typeface="AAVGFJ+Calibri"/>
              </a:rPr>
              <a:t>[10]</a:t>
            </a:r>
            <a:r>
              <a:rPr sz="2650" dirty="0">
                <a:solidFill>
                  <a:srgbClr val="000000"/>
                </a:solidFill>
                <a:latin typeface="AAVGFJ+Calibri"/>
                <a:cs typeface="AAVGFJ+Calibri"/>
              </a:rPr>
              <a:t> =</a:t>
            </a:r>
            <a:r>
              <a:rPr sz="2650" spc="16" dirty="0">
                <a:solidFill>
                  <a:srgbClr val="000000"/>
                </a:solidFill>
                <a:latin typeface="AAVGFJ+Calibri"/>
                <a:cs typeface="AAVGFJ+Calibri"/>
              </a:rPr>
              <a:t> </a:t>
            </a:r>
            <a:r>
              <a:rPr sz="2650" dirty="0">
                <a:solidFill>
                  <a:srgbClr val="000000"/>
                </a:solidFill>
                <a:latin typeface="AAVGFJ+Calibri"/>
                <a:cs typeface="AAVGFJ+Calibri"/>
              </a:rPr>
              <a:t>"Computer";</a:t>
            </a:r>
          </a:p>
        </p:txBody>
      </p:sp>
      <p:sp>
        <p:nvSpPr>
          <p:cNvPr id="7" name="object 7"/>
          <p:cNvSpPr txBox="1"/>
          <p:nvPr/>
        </p:nvSpPr>
        <p:spPr>
          <a:xfrm>
            <a:off x="2233930" y="4100026"/>
            <a:ext cx="287509" cy="506265"/>
          </a:xfrm>
          <a:prstGeom prst="rect">
            <a:avLst/>
          </a:prstGeom>
        </p:spPr>
        <p:txBody>
          <a:bodyPr vert="horz" wrap="square" lIns="0" tIns="0" rIns="0" bIns="0" rtlCol="0">
            <a:spAutoFit/>
          </a:bodyPr>
          <a:lstStyle/>
          <a:p>
            <a:pPr marL="16510" marR="0">
              <a:lnSpc>
                <a:spcPts val="1766"/>
              </a:lnSpc>
              <a:spcBef>
                <a:spcPts val="0"/>
              </a:spcBef>
              <a:spcAft>
                <a:spcPts val="0"/>
              </a:spcAft>
            </a:pPr>
            <a:r>
              <a:rPr sz="1600" dirty="0">
                <a:solidFill>
                  <a:srgbClr val="000000"/>
                </a:solidFill>
                <a:latin typeface="JWSKAR+TimesNewRomanPSMT"/>
                <a:cs typeface="JWSKAR+TimesNewRomanPSMT"/>
              </a:rPr>
              <a:t>0</a:t>
            </a:r>
          </a:p>
          <a:p>
            <a:pPr marL="0" marR="0">
              <a:lnSpc>
                <a:spcPts val="1766"/>
              </a:lnSpc>
              <a:spcBef>
                <a:spcPts val="103"/>
              </a:spcBef>
              <a:spcAft>
                <a:spcPts val="0"/>
              </a:spcAft>
            </a:pPr>
            <a:r>
              <a:rPr sz="1600" dirty="0">
                <a:solidFill>
                  <a:srgbClr val="000000"/>
                </a:solidFill>
                <a:latin typeface="JWSKAR+TimesNewRomanPSMT"/>
                <a:cs typeface="JWSKAR+TimesNewRomanPSMT"/>
              </a:rPr>
              <a:t>C</a:t>
            </a:r>
          </a:p>
        </p:txBody>
      </p:sp>
      <p:sp>
        <p:nvSpPr>
          <p:cNvPr id="8" name="object 8"/>
          <p:cNvSpPr txBox="1"/>
          <p:nvPr/>
        </p:nvSpPr>
        <p:spPr>
          <a:xfrm>
            <a:off x="2789555"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1</a:t>
            </a:r>
          </a:p>
          <a:p>
            <a:pPr marL="0" marR="0">
              <a:lnSpc>
                <a:spcPts val="1766"/>
              </a:lnSpc>
              <a:spcBef>
                <a:spcPts val="103"/>
              </a:spcBef>
              <a:spcAft>
                <a:spcPts val="0"/>
              </a:spcAft>
            </a:pPr>
            <a:r>
              <a:rPr sz="1600" dirty="0">
                <a:solidFill>
                  <a:srgbClr val="000000"/>
                </a:solidFill>
                <a:latin typeface="JWSKAR+TimesNewRomanPSMT"/>
                <a:cs typeface="JWSKAR+TimesNewRomanPSMT"/>
              </a:rPr>
              <a:t>o</a:t>
            </a:r>
          </a:p>
        </p:txBody>
      </p:sp>
      <p:sp>
        <p:nvSpPr>
          <p:cNvPr id="9" name="object 9"/>
          <p:cNvSpPr txBox="1"/>
          <p:nvPr/>
        </p:nvSpPr>
        <p:spPr>
          <a:xfrm>
            <a:off x="3287395" y="4100026"/>
            <a:ext cx="332512" cy="506265"/>
          </a:xfrm>
          <a:prstGeom prst="rect">
            <a:avLst/>
          </a:prstGeom>
        </p:spPr>
        <p:txBody>
          <a:bodyPr vert="horz" wrap="square" lIns="0" tIns="0" rIns="0" bIns="0" rtlCol="0">
            <a:spAutoFit/>
          </a:bodyPr>
          <a:lstStyle/>
          <a:p>
            <a:pPr marL="40004" marR="0">
              <a:lnSpc>
                <a:spcPts val="1766"/>
              </a:lnSpc>
              <a:spcBef>
                <a:spcPts val="0"/>
              </a:spcBef>
              <a:spcAft>
                <a:spcPts val="0"/>
              </a:spcAft>
            </a:pPr>
            <a:r>
              <a:rPr sz="1600" dirty="0">
                <a:solidFill>
                  <a:srgbClr val="000000"/>
                </a:solidFill>
                <a:latin typeface="JWSKAR+TimesNewRomanPSMT"/>
                <a:cs typeface="JWSKAR+TimesNewRomanPSMT"/>
              </a:rPr>
              <a:t>2</a:t>
            </a:r>
          </a:p>
          <a:p>
            <a:pPr marL="0" marR="0">
              <a:lnSpc>
                <a:spcPts val="1766"/>
              </a:lnSpc>
              <a:spcBef>
                <a:spcPts val="103"/>
              </a:spcBef>
              <a:spcAft>
                <a:spcPts val="0"/>
              </a:spcAft>
            </a:pPr>
            <a:r>
              <a:rPr sz="1600" dirty="0">
                <a:solidFill>
                  <a:srgbClr val="000000"/>
                </a:solidFill>
                <a:latin typeface="JWSKAR+TimesNewRomanPSMT"/>
                <a:cs typeface="JWSKAR+TimesNewRomanPSMT"/>
              </a:rPr>
              <a:t>M</a:t>
            </a:r>
          </a:p>
        </p:txBody>
      </p:sp>
      <p:sp>
        <p:nvSpPr>
          <p:cNvPr id="10" name="object 10"/>
          <p:cNvSpPr txBox="1"/>
          <p:nvPr/>
        </p:nvSpPr>
        <p:spPr>
          <a:xfrm>
            <a:off x="3865245"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3</a:t>
            </a:r>
          </a:p>
          <a:p>
            <a:pPr marL="0" marR="0">
              <a:lnSpc>
                <a:spcPts val="1766"/>
              </a:lnSpc>
              <a:spcBef>
                <a:spcPts val="103"/>
              </a:spcBef>
              <a:spcAft>
                <a:spcPts val="0"/>
              </a:spcAft>
            </a:pPr>
            <a:r>
              <a:rPr sz="1600" dirty="0">
                <a:solidFill>
                  <a:srgbClr val="000000"/>
                </a:solidFill>
                <a:latin typeface="JWSKAR+TimesNewRomanPSMT"/>
                <a:cs typeface="JWSKAR+TimesNewRomanPSMT"/>
              </a:rPr>
              <a:t>p</a:t>
            </a:r>
          </a:p>
        </p:txBody>
      </p:sp>
      <p:sp>
        <p:nvSpPr>
          <p:cNvPr id="11" name="object 11"/>
          <p:cNvSpPr txBox="1"/>
          <p:nvPr/>
        </p:nvSpPr>
        <p:spPr>
          <a:xfrm>
            <a:off x="4404360"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4</a:t>
            </a:r>
          </a:p>
          <a:p>
            <a:pPr marL="0" marR="0">
              <a:lnSpc>
                <a:spcPts val="1766"/>
              </a:lnSpc>
              <a:spcBef>
                <a:spcPts val="103"/>
              </a:spcBef>
              <a:spcAft>
                <a:spcPts val="0"/>
              </a:spcAft>
            </a:pPr>
            <a:r>
              <a:rPr sz="1600" dirty="0">
                <a:solidFill>
                  <a:srgbClr val="000000"/>
                </a:solidFill>
                <a:latin typeface="JWSKAR+TimesNewRomanPSMT"/>
                <a:cs typeface="JWSKAR+TimesNewRomanPSMT"/>
              </a:rPr>
              <a:t>u</a:t>
            </a:r>
          </a:p>
        </p:txBody>
      </p:sp>
      <p:sp>
        <p:nvSpPr>
          <p:cNvPr id="12" name="object 12"/>
          <p:cNvSpPr txBox="1"/>
          <p:nvPr/>
        </p:nvSpPr>
        <p:spPr>
          <a:xfrm>
            <a:off x="4942840"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5</a:t>
            </a:r>
          </a:p>
          <a:p>
            <a:pPr marL="22859" marR="0">
              <a:lnSpc>
                <a:spcPts val="1766"/>
              </a:lnSpc>
              <a:spcBef>
                <a:spcPts val="103"/>
              </a:spcBef>
              <a:spcAft>
                <a:spcPts val="0"/>
              </a:spcAft>
            </a:pPr>
            <a:r>
              <a:rPr sz="1600" dirty="0">
                <a:solidFill>
                  <a:srgbClr val="000000"/>
                </a:solidFill>
                <a:latin typeface="JWSKAR+TimesNewRomanPSMT"/>
                <a:cs typeface="JWSKAR+TimesNewRomanPSMT"/>
              </a:rPr>
              <a:t>t</a:t>
            </a:r>
          </a:p>
        </p:txBody>
      </p:sp>
      <p:sp>
        <p:nvSpPr>
          <p:cNvPr id="13" name="object 13"/>
          <p:cNvSpPr txBox="1"/>
          <p:nvPr/>
        </p:nvSpPr>
        <p:spPr>
          <a:xfrm>
            <a:off x="5481955"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6</a:t>
            </a:r>
          </a:p>
          <a:p>
            <a:pPr marL="5715" marR="0">
              <a:lnSpc>
                <a:spcPts val="1766"/>
              </a:lnSpc>
              <a:spcBef>
                <a:spcPts val="103"/>
              </a:spcBef>
              <a:spcAft>
                <a:spcPts val="0"/>
              </a:spcAft>
            </a:pPr>
            <a:r>
              <a:rPr sz="1600" dirty="0">
                <a:solidFill>
                  <a:srgbClr val="000000"/>
                </a:solidFill>
                <a:latin typeface="JWSKAR+TimesNewRomanPSMT"/>
                <a:cs typeface="JWSKAR+TimesNewRomanPSMT"/>
              </a:rPr>
              <a:t>e</a:t>
            </a:r>
          </a:p>
        </p:txBody>
      </p:sp>
      <p:sp>
        <p:nvSpPr>
          <p:cNvPr id="14" name="object 14"/>
          <p:cNvSpPr txBox="1"/>
          <p:nvPr/>
        </p:nvSpPr>
        <p:spPr>
          <a:xfrm>
            <a:off x="6019800" y="4100026"/>
            <a:ext cx="253682" cy="506265"/>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7</a:t>
            </a:r>
          </a:p>
          <a:p>
            <a:pPr marL="16509" marR="0">
              <a:lnSpc>
                <a:spcPts val="1766"/>
              </a:lnSpc>
              <a:spcBef>
                <a:spcPts val="103"/>
              </a:spcBef>
              <a:spcAft>
                <a:spcPts val="0"/>
              </a:spcAft>
            </a:pPr>
            <a:r>
              <a:rPr sz="1600" dirty="0">
                <a:solidFill>
                  <a:srgbClr val="000000"/>
                </a:solidFill>
                <a:latin typeface="JWSKAR+TimesNewRomanPSMT"/>
                <a:cs typeface="JWSKAR+TimesNewRomanPSMT"/>
              </a:rPr>
              <a:t>r</a:t>
            </a:r>
          </a:p>
        </p:txBody>
      </p:sp>
      <p:sp>
        <p:nvSpPr>
          <p:cNvPr id="15" name="object 15"/>
          <p:cNvSpPr txBox="1"/>
          <p:nvPr/>
        </p:nvSpPr>
        <p:spPr>
          <a:xfrm>
            <a:off x="6529705" y="4100026"/>
            <a:ext cx="310197" cy="506265"/>
          </a:xfrm>
          <a:prstGeom prst="rect">
            <a:avLst/>
          </a:prstGeom>
        </p:spPr>
        <p:txBody>
          <a:bodyPr vert="horz" wrap="square" lIns="0" tIns="0" rIns="0" bIns="0" rtlCol="0">
            <a:spAutoFit/>
          </a:bodyPr>
          <a:lstStyle/>
          <a:p>
            <a:pPr marL="27939" marR="0">
              <a:lnSpc>
                <a:spcPts val="1766"/>
              </a:lnSpc>
              <a:spcBef>
                <a:spcPts val="0"/>
              </a:spcBef>
              <a:spcAft>
                <a:spcPts val="0"/>
              </a:spcAft>
            </a:pPr>
            <a:r>
              <a:rPr sz="1600" dirty="0">
                <a:solidFill>
                  <a:srgbClr val="000000"/>
                </a:solidFill>
                <a:latin typeface="JWSKAR+TimesNewRomanPSMT"/>
                <a:cs typeface="JWSKAR+TimesNewRomanPSMT"/>
              </a:rPr>
              <a:t>8</a:t>
            </a:r>
          </a:p>
          <a:p>
            <a:pPr marL="0" marR="0">
              <a:lnSpc>
                <a:spcPts val="1766"/>
              </a:lnSpc>
              <a:spcBef>
                <a:spcPts val="103"/>
              </a:spcBef>
              <a:spcAft>
                <a:spcPts val="0"/>
              </a:spcAft>
            </a:pPr>
            <a:r>
              <a:rPr sz="1600" dirty="0">
                <a:solidFill>
                  <a:srgbClr val="000000"/>
                </a:solidFill>
                <a:latin typeface="JWSKAR+TimesNewRomanPSMT"/>
                <a:cs typeface="JWSKAR+TimesNewRomanPSMT"/>
              </a:rPr>
              <a:t>\0</a:t>
            </a:r>
          </a:p>
        </p:txBody>
      </p:sp>
      <p:sp>
        <p:nvSpPr>
          <p:cNvPr id="16" name="object 16"/>
          <p:cNvSpPr txBox="1"/>
          <p:nvPr/>
        </p:nvSpPr>
        <p:spPr>
          <a:xfrm>
            <a:off x="7096760" y="4100026"/>
            <a:ext cx="253682" cy="262424"/>
          </a:xfrm>
          <a:prstGeom prst="rect">
            <a:avLst/>
          </a:prstGeom>
        </p:spPr>
        <p:txBody>
          <a:bodyPr vert="horz" wrap="square" lIns="0" tIns="0" rIns="0" bIns="0" rtlCol="0">
            <a:spAutoFit/>
          </a:bodyPr>
          <a:lstStyle/>
          <a:p>
            <a:pPr marL="0" marR="0">
              <a:lnSpc>
                <a:spcPts val="1766"/>
              </a:lnSpc>
              <a:spcBef>
                <a:spcPts val="0"/>
              </a:spcBef>
              <a:spcAft>
                <a:spcPts val="0"/>
              </a:spcAft>
            </a:pPr>
            <a:r>
              <a:rPr sz="1600" dirty="0">
                <a:solidFill>
                  <a:srgbClr val="000000"/>
                </a:solidFill>
                <a:latin typeface="JWSKAR+TimesNewRomanPSMT"/>
                <a:cs typeface="JWSKAR+TimesNewRomanPSMT"/>
              </a:rPr>
              <a:t>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93745" y="330098"/>
            <a:ext cx="6188589" cy="783590"/>
          </a:xfrm>
          <a:prstGeom prst="rect">
            <a:avLst/>
          </a:prstGeom>
        </p:spPr>
        <p:txBody>
          <a:bodyPr vert="horz" wrap="square" lIns="0" tIns="0" rIns="0" bIns="0" rtlCol="0">
            <a:spAutoFit/>
          </a:bodyPr>
          <a:lstStyle/>
          <a:p>
            <a:pPr marL="0" marR="0">
              <a:lnSpc>
                <a:spcPts val="5870"/>
              </a:lnSpc>
              <a:spcBef>
                <a:spcPts val="0"/>
              </a:spcBef>
              <a:spcAft>
                <a:spcPts val="0"/>
              </a:spcAft>
            </a:pPr>
            <a:r>
              <a:rPr sz="5850" dirty="0">
                <a:solidFill>
                  <a:srgbClr val="0070C0"/>
                </a:solidFill>
                <a:latin typeface="AAVGFJ+Calibri"/>
                <a:cs typeface="AAVGFJ+Calibri"/>
              </a:rPr>
              <a:t>String - Initialization</a:t>
            </a:r>
          </a:p>
        </p:txBody>
      </p:sp>
      <p:sp>
        <p:nvSpPr>
          <p:cNvPr id="4" name="object 4"/>
          <p:cNvSpPr txBox="1"/>
          <p:nvPr/>
        </p:nvSpPr>
        <p:spPr>
          <a:xfrm>
            <a:off x="444919" y="1481080"/>
            <a:ext cx="8062313"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spc="-12" dirty="0">
                <a:solidFill>
                  <a:srgbClr val="000000"/>
                </a:solidFill>
                <a:latin typeface="AAVGFJ+Calibri"/>
                <a:cs typeface="AAVGFJ+Calibri"/>
              </a:rPr>
              <a:t>/*Program</a:t>
            </a:r>
            <a:r>
              <a:rPr sz="2200" dirty="0">
                <a:solidFill>
                  <a:srgbClr val="000000"/>
                </a:solidFill>
                <a:latin typeface="AAVGFJ+Calibri"/>
                <a:cs typeface="AAVGFJ+Calibri"/>
              </a:rPr>
              <a:t> </a:t>
            </a:r>
            <a:r>
              <a:rPr sz="2200" spc="-27" dirty="0">
                <a:solidFill>
                  <a:srgbClr val="000000"/>
                </a:solidFill>
                <a:latin typeface="AAVGFJ+Calibri"/>
                <a:cs typeface="AAVGFJ+Calibri"/>
              </a:rPr>
              <a:t>to</a:t>
            </a:r>
            <a:r>
              <a:rPr sz="2200" spc="24" dirty="0">
                <a:solidFill>
                  <a:srgbClr val="000000"/>
                </a:solidFill>
                <a:latin typeface="AAVGFJ+Calibri"/>
                <a:cs typeface="AAVGFJ+Calibri"/>
              </a:rPr>
              <a:t> </a:t>
            </a:r>
            <a:r>
              <a:rPr sz="2200" dirty="0">
                <a:solidFill>
                  <a:srgbClr val="000000"/>
                </a:solidFill>
                <a:latin typeface="AAVGFJ+Calibri"/>
                <a:cs typeface="AAVGFJ+Calibri"/>
              </a:rPr>
              <a:t>input and output the string using scanf( ) and printf( ) */</a:t>
            </a:r>
          </a:p>
        </p:txBody>
      </p:sp>
      <p:sp>
        <p:nvSpPr>
          <p:cNvPr id="5" name="object 5"/>
          <p:cNvSpPr txBox="1"/>
          <p:nvPr/>
        </p:nvSpPr>
        <p:spPr>
          <a:xfrm>
            <a:off x="444919" y="1842395"/>
            <a:ext cx="2233068" cy="1039494"/>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#include&lt;stdio.h&gt;</a:t>
            </a:r>
          </a:p>
          <a:p>
            <a:pPr marL="0" marR="0">
              <a:lnSpc>
                <a:spcPts val="2195"/>
              </a:lnSpc>
              <a:spcBef>
                <a:spcPts val="649"/>
              </a:spcBef>
              <a:spcAft>
                <a:spcPts val="0"/>
              </a:spcAft>
            </a:pPr>
            <a:r>
              <a:rPr sz="2200" dirty="0">
                <a:solidFill>
                  <a:srgbClr val="000000"/>
                </a:solidFill>
                <a:latin typeface="AAVGFJ+Calibri"/>
                <a:cs typeface="AAVGFJ+Calibri"/>
              </a:rPr>
              <a:t>#include&lt;conio.h&gt;</a:t>
            </a:r>
          </a:p>
          <a:p>
            <a:pPr marL="0" marR="0">
              <a:lnSpc>
                <a:spcPts val="2195"/>
              </a:lnSpc>
              <a:spcBef>
                <a:spcPts val="699"/>
              </a:spcBef>
              <a:spcAft>
                <a:spcPts val="0"/>
              </a:spcAft>
            </a:pPr>
            <a:r>
              <a:rPr sz="2200" dirty="0">
                <a:solidFill>
                  <a:srgbClr val="000000"/>
                </a:solidFill>
                <a:latin typeface="AAVGFJ+Calibri"/>
                <a:cs typeface="AAVGFJ+Calibri"/>
              </a:rPr>
              <a:t>void main()</a:t>
            </a:r>
          </a:p>
        </p:txBody>
      </p:sp>
      <p:sp>
        <p:nvSpPr>
          <p:cNvPr id="6" name="object 6"/>
          <p:cNvSpPr txBox="1"/>
          <p:nvPr/>
        </p:nvSpPr>
        <p:spPr>
          <a:xfrm>
            <a:off x="444919" y="2926340"/>
            <a:ext cx="240058"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a:t>
            </a:r>
          </a:p>
        </p:txBody>
      </p:sp>
      <p:sp>
        <p:nvSpPr>
          <p:cNvPr id="7" name="object 7"/>
          <p:cNvSpPr txBox="1"/>
          <p:nvPr/>
        </p:nvSpPr>
        <p:spPr>
          <a:xfrm>
            <a:off x="1359319" y="3287655"/>
            <a:ext cx="1883071" cy="678179"/>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char name[20];</a:t>
            </a:r>
          </a:p>
          <a:p>
            <a:pPr marL="0" marR="0">
              <a:lnSpc>
                <a:spcPts val="2195"/>
              </a:lnSpc>
              <a:spcBef>
                <a:spcPts val="649"/>
              </a:spcBef>
              <a:spcAft>
                <a:spcPts val="0"/>
              </a:spcAft>
            </a:pPr>
            <a:r>
              <a:rPr sz="2200" dirty="0">
                <a:solidFill>
                  <a:srgbClr val="000000"/>
                </a:solidFill>
                <a:latin typeface="AAVGFJ+Calibri"/>
                <a:cs typeface="AAVGFJ+Calibri"/>
              </a:rPr>
              <a:t>clrscr();</a:t>
            </a:r>
          </a:p>
        </p:txBody>
      </p:sp>
      <p:sp>
        <p:nvSpPr>
          <p:cNvPr id="8" name="object 8"/>
          <p:cNvSpPr txBox="1"/>
          <p:nvPr/>
        </p:nvSpPr>
        <p:spPr>
          <a:xfrm>
            <a:off x="1359319" y="4010285"/>
            <a:ext cx="3501051" cy="1400810"/>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printf("Enter name\n");</a:t>
            </a:r>
          </a:p>
          <a:p>
            <a:pPr marL="0" marR="0">
              <a:lnSpc>
                <a:spcPts val="2195"/>
              </a:lnSpc>
              <a:spcBef>
                <a:spcPts val="600"/>
              </a:spcBef>
              <a:spcAft>
                <a:spcPts val="0"/>
              </a:spcAft>
            </a:pPr>
            <a:r>
              <a:rPr sz="2200" dirty="0">
                <a:solidFill>
                  <a:srgbClr val="000000"/>
                </a:solidFill>
                <a:latin typeface="AAVGFJ+Calibri"/>
                <a:cs typeface="AAVGFJ+Calibri"/>
              </a:rPr>
              <a:t>scanf("%s",name);</a:t>
            </a:r>
          </a:p>
          <a:p>
            <a:pPr marL="0" marR="0">
              <a:lnSpc>
                <a:spcPts val="2195"/>
              </a:lnSpc>
              <a:spcBef>
                <a:spcPts val="699"/>
              </a:spcBef>
              <a:spcAft>
                <a:spcPts val="0"/>
              </a:spcAft>
            </a:pPr>
            <a:r>
              <a:rPr sz="2200" dirty="0">
                <a:solidFill>
                  <a:srgbClr val="000000"/>
                </a:solidFill>
                <a:latin typeface="AAVGFJ+Calibri"/>
                <a:cs typeface="AAVGFJ+Calibri"/>
              </a:rPr>
              <a:t>printf("Name is %s\n",name);</a:t>
            </a:r>
          </a:p>
          <a:p>
            <a:pPr marL="0" marR="0">
              <a:lnSpc>
                <a:spcPts val="2195"/>
              </a:lnSpc>
              <a:spcBef>
                <a:spcPts val="600"/>
              </a:spcBef>
              <a:spcAft>
                <a:spcPts val="0"/>
              </a:spcAft>
            </a:pPr>
            <a:r>
              <a:rPr sz="2200" spc="-10" dirty="0">
                <a:solidFill>
                  <a:srgbClr val="000000"/>
                </a:solidFill>
                <a:latin typeface="AAVGFJ+Calibri"/>
                <a:cs typeface="AAVGFJ+Calibri"/>
              </a:rPr>
              <a:t>getch();</a:t>
            </a:r>
          </a:p>
        </p:txBody>
      </p:sp>
      <p:sp>
        <p:nvSpPr>
          <p:cNvPr id="9" name="object 9"/>
          <p:cNvSpPr txBox="1"/>
          <p:nvPr/>
        </p:nvSpPr>
        <p:spPr>
          <a:xfrm>
            <a:off x="444919" y="5455545"/>
            <a:ext cx="240058"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93745" y="330098"/>
            <a:ext cx="6188589" cy="783590"/>
          </a:xfrm>
          <a:prstGeom prst="rect">
            <a:avLst/>
          </a:prstGeom>
        </p:spPr>
        <p:txBody>
          <a:bodyPr vert="horz" wrap="square" lIns="0" tIns="0" rIns="0" bIns="0" rtlCol="0">
            <a:spAutoFit/>
          </a:bodyPr>
          <a:lstStyle/>
          <a:p>
            <a:pPr marL="0" marR="0">
              <a:lnSpc>
                <a:spcPts val="5870"/>
              </a:lnSpc>
              <a:spcBef>
                <a:spcPts val="0"/>
              </a:spcBef>
              <a:spcAft>
                <a:spcPts val="0"/>
              </a:spcAft>
            </a:pPr>
            <a:r>
              <a:rPr sz="5850" dirty="0">
                <a:solidFill>
                  <a:srgbClr val="0070C0"/>
                </a:solidFill>
                <a:latin typeface="AAVGFJ+Calibri"/>
                <a:cs typeface="AAVGFJ+Calibri"/>
              </a:rPr>
              <a:t>String - Initialization</a:t>
            </a:r>
          </a:p>
        </p:txBody>
      </p:sp>
      <p:sp>
        <p:nvSpPr>
          <p:cNvPr id="4" name="object 4"/>
          <p:cNvSpPr txBox="1"/>
          <p:nvPr/>
        </p:nvSpPr>
        <p:spPr>
          <a:xfrm>
            <a:off x="444919" y="1539023"/>
            <a:ext cx="10679547" cy="67183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gets(</a:t>
            </a:r>
            <a:r>
              <a:rPr sz="2400" spc="13" dirty="0">
                <a:solidFill>
                  <a:srgbClr val="000000"/>
                </a:solidFill>
                <a:latin typeface="AAVGFJ+Calibri"/>
                <a:cs typeface="AAVGFJ+Calibri"/>
              </a:rPr>
              <a:t> </a:t>
            </a:r>
            <a:r>
              <a:rPr sz="2400" dirty="0">
                <a:solidFill>
                  <a:srgbClr val="000000"/>
                </a:solidFill>
                <a:latin typeface="AAVGFJ+Calibri"/>
                <a:cs typeface="AAVGFJ+Calibri"/>
              </a:rPr>
              <a:t>) function is used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12" dirty="0">
                <a:solidFill>
                  <a:srgbClr val="000000"/>
                </a:solidFill>
                <a:latin typeface="AAVGFJ+Calibri"/>
                <a:cs typeface="AAVGFJ+Calibri"/>
              </a:rPr>
              <a:t>read</a:t>
            </a:r>
            <a:r>
              <a:rPr sz="2400" spc="13" dirty="0">
                <a:solidFill>
                  <a:srgbClr val="000000"/>
                </a:solidFill>
                <a:latin typeface="AAVGFJ+Calibri"/>
                <a:cs typeface="AAVGFJ+Calibri"/>
              </a:rPr>
              <a:t> </a:t>
            </a:r>
            <a:r>
              <a:rPr sz="2400" dirty="0">
                <a:solidFill>
                  <a:srgbClr val="000000"/>
                </a:solidFill>
                <a:latin typeface="AAVGFJ+Calibri"/>
                <a:cs typeface="AAVGFJ+Calibri"/>
              </a:rPr>
              <a:t>the string. It </a:t>
            </a:r>
            <a:r>
              <a:rPr sz="2400" spc="-11" dirty="0">
                <a:solidFill>
                  <a:srgbClr val="000000"/>
                </a:solidFill>
                <a:latin typeface="AAVGFJ+Calibri"/>
                <a:cs typeface="AAVGFJ+Calibri"/>
              </a:rPr>
              <a:t>gets</a:t>
            </a:r>
            <a:r>
              <a:rPr sz="2400" spc="15" dirty="0">
                <a:solidFill>
                  <a:srgbClr val="000000"/>
                </a:solidFill>
                <a:latin typeface="AAVGFJ+Calibri"/>
                <a:cs typeface="AAVGFJ+Calibri"/>
              </a:rPr>
              <a:t> </a:t>
            </a:r>
            <a:r>
              <a:rPr sz="2400" dirty="0">
                <a:solidFill>
                  <a:srgbClr val="000000"/>
                </a:solidFill>
                <a:latin typeface="AAVGFJ+Calibri"/>
                <a:cs typeface="AAVGFJ+Calibri"/>
              </a:rPr>
              <a:t>the </a:t>
            </a:r>
            <a:r>
              <a:rPr sz="2400" spc="-14" dirty="0">
                <a:solidFill>
                  <a:srgbClr val="000000"/>
                </a:solidFill>
                <a:latin typeface="AAVGFJ+Calibri"/>
                <a:cs typeface="AAVGFJ+Calibri"/>
              </a:rPr>
              <a:t>characters</a:t>
            </a:r>
            <a:r>
              <a:rPr sz="2400" spc="18" dirty="0">
                <a:solidFill>
                  <a:srgbClr val="000000"/>
                </a:solidFill>
                <a:latin typeface="AAVGFJ+Calibri"/>
                <a:cs typeface="AAVGFJ+Calibri"/>
              </a:rPr>
              <a:t> </a:t>
            </a:r>
            <a:r>
              <a:rPr sz="2400" dirty="0">
                <a:solidFill>
                  <a:srgbClr val="000000"/>
                </a:solidFill>
                <a:latin typeface="AAVGFJ+Calibri"/>
                <a:cs typeface="AAVGFJ+Calibri"/>
              </a:rPr>
              <a:t>typed </a:t>
            </a:r>
            <a:r>
              <a:rPr sz="2400" spc="-25" dirty="0">
                <a:solidFill>
                  <a:srgbClr val="000000"/>
                </a:solidFill>
                <a:latin typeface="AAVGFJ+Calibri"/>
                <a:cs typeface="AAVGFJ+Calibri"/>
              </a:rPr>
              <a:t>at</a:t>
            </a:r>
            <a:r>
              <a:rPr sz="2400" spc="28" dirty="0">
                <a:solidFill>
                  <a:srgbClr val="000000"/>
                </a:solidFill>
                <a:latin typeface="AAVGFJ+Calibri"/>
                <a:cs typeface="AAVGFJ+Calibri"/>
              </a:rPr>
              <a:t> </a:t>
            </a:r>
            <a:r>
              <a:rPr sz="2400" dirty="0">
                <a:solidFill>
                  <a:srgbClr val="000000"/>
                </a:solidFill>
                <a:latin typeface="AAVGFJ+Calibri"/>
                <a:cs typeface="AAVGFJ+Calibri"/>
              </a:rPr>
              <a:t>the </a:t>
            </a:r>
            <a:r>
              <a:rPr sz="2400" spc="-20" dirty="0">
                <a:solidFill>
                  <a:srgbClr val="000000"/>
                </a:solidFill>
                <a:latin typeface="AAVGFJ+Calibri"/>
                <a:cs typeface="AAVGFJ+Calibri"/>
              </a:rPr>
              <a:t>keyboard</a:t>
            </a:r>
          </a:p>
          <a:p>
            <a:pPr marL="0" marR="0">
              <a:lnSpc>
                <a:spcPts val="2400"/>
              </a:lnSpc>
              <a:spcBef>
                <a:spcPts val="190"/>
              </a:spcBef>
              <a:spcAft>
                <a:spcPts val="0"/>
              </a:spcAft>
            </a:pPr>
            <a:r>
              <a:rPr sz="2400" dirty="0">
                <a:solidFill>
                  <a:srgbClr val="000000"/>
                </a:solidFill>
                <a:latin typeface="AAVGFJ+Calibri"/>
                <a:cs typeface="AAVGFJ+Calibri"/>
              </a:rPr>
              <a:t>until the </a:t>
            </a:r>
            <a:r>
              <a:rPr sz="2400" spc="-10" dirty="0">
                <a:solidFill>
                  <a:srgbClr val="000000"/>
                </a:solidFill>
                <a:latin typeface="AAVGFJ+Calibri"/>
                <a:cs typeface="AAVGFJ+Calibri"/>
              </a:rPr>
              <a:t>return</a:t>
            </a:r>
            <a:r>
              <a:rPr sz="2400" spc="12" dirty="0">
                <a:solidFill>
                  <a:srgbClr val="000000"/>
                </a:solidFill>
                <a:latin typeface="AAVGFJ+Calibri"/>
                <a:cs typeface="AAVGFJ+Calibri"/>
              </a:rPr>
              <a:t> </a:t>
            </a:r>
            <a:r>
              <a:rPr sz="2400" spc="-50" dirty="0">
                <a:solidFill>
                  <a:srgbClr val="000000"/>
                </a:solidFill>
                <a:latin typeface="AAVGFJ+Calibri"/>
                <a:cs typeface="AAVGFJ+Calibri"/>
              </a:rPr>
              <a:t>key</a:t>
            </a:r>
            <a:r>
              <a:rPr sz="2400" spc="51" dirty="0">
                <a:solidFill>
                  <a:srgbClr val="000000"/>
                </a:solidFill>
                <a:latin typeface="AAVGFJ+Calibri"/>
                <a:cs typeface="AAVGFJ+Calibri"/>
              </a:rPr>
              <a:t> </a:t>
            </a:r>
            <a:r>
              <a:rPr sz="2400" dirty="0">
                <a:solidFill>
                  <a:srgbClr val="000000"/>
                </a:solidFill>
                <a:latin typeface="AAVGFJ+Calibri"/>
                <a:cs typeface="AAVGFJ+Calibri"/>
              </a:rPr>
              <a:t>is pressed.</a:t>
            </a:r>
          </a:p>
        </p:txBody>
      </p:sp>
      <p:sp>
        <p:nvSpPr>
          <p:cNvPr id="5" name="object 5"/>
          <p:cNvSpPr txBox="1"/>
          <p:nvPr/>
        </p:nvSpPr>
        <p:spPr>
          <a:xfrm>
            <a:off x="444919" y="2323884"/>
            <a:ext cx="1052214"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8" dirty="0">
                <a:solidFill>
                  <a:srgbClr val="000000"/>
                </a:solidFill>
                <a:latin typeface="AAVGFJ+Calibri"/>
                <a:cs typeface="AAVGFJ+Calibri"/>
              </a:rPr>
              <a:t>Syntax:</a:t>
            </a:r>
          </a:p>
        </p:txBody>
      </p:sp>
      <p:sp>
        <p:nvSpPr>
          <p:cNvPr id="6" name="object 6"/>
          <p:cNvSpPr txBox="1"/>
          <p:nvPr/>
        </p:nvSpPr>
        <p:spPr>
          <a:xfrm>
            <a:off x="444919" y="2779814"/>
            <a:ext cx="3325266"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gets(stringvariablename);</a:t>
            </a:r>
          </a:p>
        </p:txBody>
      </p:sp>
      <p:sp>
        <p:nvSpPr>
          <p:cNvPr id="7" name="object 7"/>
          <p:cNvSpPr txBox="1"/>
          <p:nvPr/>
        </p:nvSpPr>
        <p:spPr>
          <a:xfrm>
            <a:off x="444919" y="3691674"/>
            <a:ext cx="6851123"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puts( ) function is used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print</a:t>
            </a:r>
            <a:r>
              <a:rPr sz="2400" spc="11" dirty="0">
                <a:solidFill>
                  <a:srgbClr val="000000"/>
                </a:solidFill>
                <a:latin typeface="AAVGFJ+Calibri"/>
                <a:cs typeface="AAVGFJ+Calibri"/>
              </a:rPr>
              <a:t> </a:t>
            </a:r>
            <a:r>
              <a:rPr sz="2400" dirty="0">
                <a:solidFill>
                  <a:srgbClr val="000000"/>
                </a:solidFill>
                <a:latin typeface="AAVGFJ+Calibri"/>
                <a:cs typeface="AAVGFJ+Calibri"/>
              </a:rPr>
              <a:t>the string type of </a:t>
            </a:r>
            <a:r>
              <a:rPr sz="2400" spc="-14" dirty="0">
                <a:solidFill>
                  <a:srgbClr val="000000"/>
                </a:solidFill>
                <a:latin typeface="AAVGFJ+Calibri"/>
                <a:cs typeface="AAVGFJ+Calibri"/>
              </a:rPr>
              <a:t>data.</a:t>
            </a:r>
          </a:p>
        </p:txBody>
      </p:sp>
      <p:sp>
        <p:nvSpPr>
          <p:cNvPr id="8" name="object 8"/>
          <p:cNvSpPr txBox="1"/>
          <p:nvPr/>
        </p:nvSpPr>
        <p:spPr>
          <a:xfrm>
            <a:off x="444919" y="4147604"/>
            <a:ext cx="1052214"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8" dirty="0">
                <a:solidFill>
                  <a:srgbClr val="000000"/>
                </a:solidFill>
                <a:latin typeface="AAVGFJ+Calibri"/>
                <a:cs typeface="AAVGFJ+Calibri"/>
              </a:rPr>
              <a:t>Syntax:</a:t>
            </a:r>
          </a:p>
        </p:txBody>
      </p:sp>
      <p:sp>
        <p:nvSpPr>
          <p:cNvPr id="9" name="object 9"/>
          <p:cNvSpPr txBox="1"/>
          <p:nvPr/>
        </p:nvSpPr>
        <p:spPr>
          <a:xfrm>
            <a:off x="444919" y="4603534"/>
            <a:ext cx="335041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puts(stringvariablename);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93745" y="330098"/>
            <a:ext cx="6188589" cy="783590"/>
          </a:xfrm>
          <a:prstGeom prst="rect">
            <a:avLst/>
          </a:prstGeom>
        </p:spPr>
        <p:txBody>
          <a:bodyPr vert="horz" wrap="square" lIns="0" tIns="0" rIns="0" bIns="0" rtlCol="0">
            <a:spAutoFit/>
          </a:bodyPr>
          <a:lstStyle/>
          <a:p>
            <a:pPr marL="0" marR="0">
              <a:lnSpc>
                <a:spcPts val="5870"/>
              </a:lnSpc>
              <a:spcBef>
                <a:spcPts val="0"/>
              </a:spcBef>
              <a:spcAft>
                <a:spcPts val="0"/>
              </a:spcAft>
            </a:pPr>
            <a:r>
              <a:rPr sz="5850" dirty="0">
                <a:solidFill>
                  <a:srgbClr val="0070C0"/>
                </a:solidFill>
                <a:latin typeface="AAVGFJ+Calibri"/>
                <a:cs typeface="AAVGFJ+Calibri"/>
              </a:rPr>
              <a:t>String - Initialization</a:t>
            </a:r>
          </a:p>
        </p:txBody>
      </p:sp>
      <p:sp>
        <p:nvSpPr>
          <p:cNvPr id="4" name="object 4"/>
          <p:cNvSpPr txBox="1"/>
          <p:nvPr/>
        </p:nvSpPr>
        <p:spPr>
          <a:xfrm>
            <a:off x="444919" y="1509179"/>
            <a:ext cx="815745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2" dirty="0">
                <a:solidFill>
                  <a:srgbClr val="000000"/>
                </a:solidFill>
                <a:latin typeface="AAVGFJ+Calibri"/>
                <a:cs typeface="AAVGFJ+Calibri"/>
              </a:rPr>
              <a:t>/*Program</a:t>
            </a:r>
            <a:r>
              <a:rPr sz="2400" spc="12"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12" dirty="0">
                <a:solidFill>
                  <a:srgbClr val="000000"/>
                </a:solidFill>
                <a:latin typeface="AAVGFJ+Calibri"/>
                <a:cs typeface="AAVGFJ+Calibri"/>
              </a:rPr>
              <a:t>read</a:t>
            </a:r>
            <a:r>
              <a:rPr sz="2400" spc="13" dirty="0">
                <a:solidFill>
                  <a:srgbClr val="000000"/>
                </a:solidFill>
                <a:latin typeface="AAVGFJ+Calibri"/>
                <a:cs typeface="AAVGFJ+Calibri"/>
              </a:rPr>
              <a:t> </a:t>
            </a:r>
            <a:r>
              <a:rPr sz="2400" dirty="0">
                <a:solidFill>
                  <a:srgbClr val="000000"/>
                </a:solidFill>
                <a:latin typeface="AAVGFJ+Calibri"/>
                <a:cs typeface="AAVGFJ+Calibri"/>
              </a:rPr>
              <a:t>and write</a:t>
            </a:r>
            <a:r>
              <a:rPr sz="2400" spc="11" dirty="0">
                <a:solidFill>
                  <a:srgbClr val="000000"/>
                </a:solidFill>
                <a:latin typeface="AAVGFJ+Calibri"/>
                <a:cs typeface="AAVGFJ+Calibri"/>
              </a:rPr>
              <a:t> </a:t>
            </a:r>
            <a:r>
              <a:rPr sz="2400" dirty="0">
                <a:solidFill>
                  <a:srgbClr val="000000"/>
                </a:solidFill>
                <a:latin typeface="AAVGFJ+Calibri"/>
                <a:cs typeface="AAVGFJ+Calibri"/>
              </a:rPr>
              <a:t>the string using gets(</a:t>
            </a:r>
            <a:r>
              <a:rPr sz="2400" spc="13" dirty="0">
                <a:solidFill>
                  <a:srgbClr val="000000"/>
                </a:solidFill>
                <a:latin typeface="AAVGFJ+Calibri"/>
                <a:cs typeface="AAVGFJ+Calibri"/>
              </a:rPr>
              <a:t> </a:t>
            </a:r>
            <a:r>
              <a:rPr sz="2400" dirty="0">
                <a:solidFill>
                  <a:srgbClr val="000000"/>
                </a:solidFill>
                <a:latin typeface="AAVGFJ+Calibri"/>
                <a:cs typeface="AAVGFJ+Calibri"/>
              </a:rPr>
              <a:t>) and puts( )*/</a:t>
            </a:r>
          </a:p>
        </p:txBody>
      </p:sp>
      <p:sp>
        <p:nvSpPr>
          <p:cNvPr id="5" name="object 5"/>
          <p:cNvSpPr txBox="1"/>
          <p:nvPr/>
        </p:nvSpPr>
        <p:spPr>
          <a:xfrm>
            <a:off x="444919" y="1928279"/>
            <a:ext cx="2357883" cy="7620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#include&lt;stdio.h&gt;</a:t>
            </a:r>
          </a:p>
          <a:p>
            <a:pPr marL="0" marR="0">
              <a:lnSpc>
                <a:spcPts val="2400"/>
              </a:lnSpc>
              <a:spcBef>
                <a:spcPts val="900"/>
              </a:spcBef>
              <a:spcAft>
                <a:spcPts val="0"/>
              </a:spcAft>
            </a:pPr>
            <a:r>
              <a:rPr sz="2400" dirty="0">
                <a:solidFill>
                  <a:srgbClr val="000000"/>
                </a:solidFill>
                <a:latin typeface="AAVGFJ+Calibri"/>
                <a:cs typeface="AAVGFJ+Calibri"/>
              </a:rPr>
              <a:t>void</a:t>
            </a:r>
            <a:r>
              <a:rPr sz="2400" spc="10" dirty="0">
                <a:solidFill>
                  <a:srgbClr val="000000"/>
                </a:solidFill>
                <a:latin typeface="AAVGFJ+Calibri"/>
                <a:cs typeface="AAVGFJ+Calibri"/>
              </a:rPr>
              <a:t> </a:t>
            </a:r>
            <a:r>
              <a:rPr sz="2400" dirty="0">
                <a:solidFill>
                  <a:srgbClr val="000000"/>
                </a:solidFill>
                <a:latin typeface="AAVGFJ+Calibri"/>
                <a:cs typeface="AAVGFJ+Calibri"/>
              </a:rPr>
              <a:t>main()</a:t>
            </a:r>
          </a:p>
        </p:txBody>
      </p:sp>
      <p:sp>
        <p:nvSpPr>
          <p:cNvPr id="6" name="object 6"/>
          <p:cNvSpPr txBox="1"/>
          <p:nvPr/>
        </p:nvSpPr>
        <p:spPr>
          <a:xfrm>
            <a:off x="444919" y="2766479"/>
            <a:ext cx="24824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a:t>
            </a:r>
          </a:p>
        </p:txBody>
      </p:sp>
      <p:sp>
        <p:nvSpPr>
          <p:cNvPr id="7" name="object 7"/>
          <p:cNvSpPr txBox="1"/>
          <p:nvPr/>
        </p:nvSpPr>
        <p:spPr>
          <a:xfrm>
            <a:off x="1359319" y="3185579"/>
            <a:ext cx="3317518" cy="11811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char addr[100];</a:t>
            </a:r>
          </a:p>
          <a:p>
            <a:pPr marL="0" marR="0">
              <a:lnSpc>
                <a:spcPts val="2400"/>
              </a:lnSpc>
              <a:spcBef>
                <a:spcPts val="900"/>
              </a:spcBef>
              <a:spcAft>
                <a:spcPts val="0"/>
              </a:spcAft>
            </a:pPr>
            <a:r>
              <a:rPr sz="2400" dirty="0">
                <a:solidFill>
                  <a:srgbClr val="000000"/>
                </a:solidFill>
                <a:latin typeface="AAVGFJ+Calibri"/>
                <a:cs typeface="AAVGFJ+Calibri"/>
              </a:rPr>
              <a:t>printf("Enter address\n");</a:t>
            </a:r>
          </a:p>
          <a:p>
            <a:pPr marL="0" marR="0">
              <a:lnSpc>
                <a:spcPts val="2400"/>
              </a:lnSpc>
              <a:spcBef>
                <a:spcPts val="900"/>
              </a:spcBef>
              <a:spcAft>
                <a:spcPts val="0"/>
              </a:spcAft>
            </a:pPr>
            <a:r>
              <a:rPr sz="2400" dirty="0">
                <a:solidFill>
                  <a:srgbClr val="000000"/>
                </a:solidFill>
                <a:latin typeface="AAVGFJ+Calibri"/>
                <a:cs typeface="AAVGFJ+Calibri"/>
              </a:rPr>
              <a:t>gets(addr);</a:t>
            </a:r>
          </a:p>
        </p:txBody>
      </p:sp>
      <p:sp>
        <p:nvSpPr>
          <p:cNvPr id="8" name="object 8"/>
          <p:cNvSpPr txBox="1"/>
          <p:nvPr/>
        </p:nvSpPr>
        <p:spPr>
          <a:xfrm>
            <a:off x="1359319" y="4442879"/>
            <a:ext cx="2875557" cy="7620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printf("Address is\n");</a:t>
            </a:r>
          </a:p>
          <a:p>
            <a:pPr marL="0" marR="0">
              <a:lnSpc>
                <a:spcPts val="2400"/>
              </a:lnSpc>
              <a:spcBef>
                <a:spcPts val="900"/>
              </a:spcBef>
              <a:spcAft>
                <a:spcPts val="0"/>
              </a:spcAft>
            </a:pPr>
            <a:r>
              <a:rPr sz="2400" dirty="0">
                <a:solidFill>
                  <a:srgbClr val="000000"/>
                </a:solidFill>
                <a:latin typeface="AAVGFJ+Calibri"/>
                <a:cs typeface="AAVGFJ+Calibri"/>
              </a:rPr>
              <a:t>puts(addr);</a:t>
            </a:r>
          </a:p>
        </p:txBody>
      </p:sp>
      <p:sp>
        <p:nvSpPr>
          <p:cNvPr id="9" name="object 9"/>
          <p:cNvSpPr txBox="1"/>
          <p:nvPr/>
        </p:nvSpPr>
        <p:spPr>
          <a:xfrm>
            <a:off x="444919" y="5281079"/>
            <a:ext cx="24824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46918"/>
            <a:ext cx="3570413"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spc="-46" dirty="0">
                <a:solidFill>
                  <a:srgbClr val="0070C0"/>
                </a:solidFill>
                <a:latin typeface="HWPIMB+Calibri-Light"/>
                <a:cs typeface="HWPIMB+Calibri-Light"/>
              </a:rPr>
              <a:t>Array</a:t>
            </a:r>
            <a:r>
              <a:rPr sz="4400" spc="46" dirty="0">
                <a:solidFill>
                  <a:srgbClr val="0070C0"/>
                </a:solidFill>
                <a:latin typeface="HWPIMB+Calibri-Light"/>
                <a:cs typeface="HWPIMB+Calibri-Light"/>
              </a:rPr>
              <a:t> </a:t>
            </a:r>
            <a:r>
              <a:rPr sz="4400" dirty="0">
                <a:solidFill>
                  <a:srgbClr val="0070C0"/>
                </a:solidFill>
                <a:latin typeface="HWPIMB+Calibri-Light"/>
                <a:cs typeface="HWPIMB+Calibri-Light"/>
              </a:rPr>
              <a:t>of Strings</a:t>
            </a:r>
          </a:p>
        </p:txBody>
      </p:sp>
      <p:sp>
        <p:nvSpPr>
          <p:cNvPr id="4" name="object 4"/>
          <p:cNvSpPr txBox="1"/>
          <p:nvPr/>
        </p:nvSpPr>
        <p:spPr>
          <a:xfrm>
            <a:off x="277710" y="1495482"/>
            <a:ext cx="11272005" cy="110934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A</a:t>
            </a:r>
            <a:r>
              <a:rPr sz="2650" spc="18" dirty="0">
                <a:solidFill>
                  <a:srgbClr val="000000"/>
                </a:solidFill>
                <a:latin typeface="AAVGFJ+Calibri"/>
                <a:cs typeface="AAVGFJ+Calibri"/>
              </a:rPr>
              <a:t> </a:t>
            </a:r>
            <a:r>
              <a:rPr sz="2650" dirty="0">
                <a:solidFill>
                  <a:srgbClr val="000000"/>
                </a:solidFill>
                <a:latin typeface="AAVGFJ+Calibri"/>
                <a:cs typeface="AAVGFJ+Calibri"/>
              </a:rPr>
              <a:t>single string</a:t>
            </a:r>
            <a:r>
              <a:rPr sz="2650" spc="11" dirty="0">
                <a:solidFill>
                  <a:srgbClr val="000000"/>
                </a:solidFill>
                <a:latin typeface="AAVGFJ+Calibri"/>
                <a:cs typeface="AAVGFJ+Calibri"/>
              </a:rPr>
              <a:t> </a:t>
            </a:r>
            <a:r>
              <a:rPr sz="2650" dirty="0">
                <a:solidFill>
                  <a:srgbClr val="000000"/>
                </a:solidFill>
                <a:latin typeface="AAVGFJ+Calibri"/>
                <a:cs typeface="AAVGFJ+Calibri"/>
              </a:rPr>
              <a:t>is treated</a:t>
            </a:r>
            <a:r>
              <a:rPr sz="2650" spc="25" dirty="0">
                <a:solidFill>
                  <a:srgbClr val="000000"/>
                </a:solidFill>
                <a:latin typeface="AAVGFJ+Calibri"/>
                <a:cs typeface="AAVGFJ+Calibri"/>
              </a:rPr>
              <a:t> </a:t>
            </a:r>
            <a:r>
              <a:rPr sz="2650" spc="11" dirty="0">
                <a:solidFill>
                  <a:srgbClr val="000000"/>
                </a:solidFill>
                <a:latin typeface="AAVGFJ+Calibri"/>
                <a:cs typeface="AAVGFJ+Calibri"/>
              </a:rPr>
              <a:t>as</a:t>
            </a:r>
            <a:r>
              <a:rPr sz="2650" dirty="0">
                <a:solidFill>
                  <a:srgbClr val="000000"/>
                </a:solidFill>
                <a:latin typeface="AAVGFJ+Calibri"/>
                <a:cs typeface="AAVGFJ+Calibri"/>
              </a:rPr>
              <a:t> </a:t>
            </a:r>
            <a:r>
              <a:rPr sz="2650" spc="11" dirty="0">
                <a:solidFill>
                  <a:srgbClr val="000000"/>
                </a:solidFill>
                <a:latin typeface="AAVGFJ+Calibri"/>
                <a:cs typeface="AAVGFJ+Calibri"/>
              </a:rPr>
              <a:t>an</a:t>
            </a:r>
            <a:r>
              <a:rPr sz="2650" dirty="0">
                <a:solidFill>
                  <a:srgbClr val="000000"/>
                </a:solidFill>
                <a:latin typeface="AAVGFJ+Calibri"/>
                <a:cs typeface="AAVGFJ+Calibri"/>
              </a:rPr>
              <a:t> </a:t>
            </a:r>
            <a:r>
              <a:rPr sz="2650" spc="-18" dirty="0">
                <a:solidFill>
                  <a:srgbClr val="000000"/>
                </a:solidFill>
                <a:latin typeface="AAVGFJ+Calibri"/>
                <a:cs typeface="AAVGFJ+Calibri"/>
              </a:rPr>
              <a:t>array</a:t>
            </a:r>
            <a:r>
              <a:rPr sz="2650" spc="34"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characters.</a:t>
            </a:r>
            <a:r>
              <a:rPr sz="2650" spc="16" dirty="0">
                <a:solidFill>
                  <a:srgbClr val="000000"/>
                </a:solidFill>
                <a:latin typeface="AAVGFJ+Calibri"/>
                <a:cs typeface="AAVGFJ+Calibri"/>
              </a:rPr>
              <a:t> </a:t>
            </a:r>
            <a:r>
              <a:rPr sz="2650" spc="14" dirty="0">
                <a:solidFill>
                  <a:srgbClr val="000000"/>
                </a:solidFill>
                <a:latin typeface="AAVGFJ+Calibri"/>
                <a:cs typeface="AAVGFJ+Calibri"/>
              </a:rPr>
              <a:t>When</a:t>
            </a:r>
            <a:r>
              <a:rPr sz="2650" dirty="0">
                <a:solidFill>
                  <a:srgbClr val="000000"/>
                </a:solidFill>
                <a:latin typeface="AAVGFJ+Calibri"/>
                <a:cs typeface="AAVGFJ+Calibri"/>
              </a:rPr>
              <a:t> a</a:t>
            </a:r>
            <a:r>
              <a:rPr sz="2650" spc="17" dirty="0">
                <a:solidFill>
                  <a:srgbClr val="000000"/>
                </a:solidFill>
                <a:latin typeface="AAVGFJ+Calibri"/>
                <a:cs typeface="AAVGFJ+Calibri"/>
              </a:rPr>
              <a:t> </a:t>
            </a:r>
            <a:r>
              <a:rPr sz="2650" dirty="0">
                <a:solidFill>
                  <a:srgbClr val="000000"/>
                </a:solidFill>
                <a:latin typeface="AAVGFJ+Calibri"/>
                <a:cs typeface="AAVGFJ+Calibri"/>
              </a:rPr>
              <a:t>list</a:t>
            </a:r>
            <a:r>
              <a:rPr sz="2650" spc="16"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strings</a:t>
            </a:r>
            <a:r>
              <a:rPr sz="2650" spc="11" dirty="0">
                <a:solidFill>
                  <a:srgbClr val="000000"/>
                </a:solidFill>
                <a:latin typeface="AAVGFJ+Calibri"/>
                <a:cs typeface="AAVGFJ+Calibri"/>
              </a:rPr>
              <a:t> </a:t>
            </a:r>
            <a:r>
              <a:rPr sz="2650" spc="12" dirty="0">
                <a:solidFill>
                  <a:srgbClr val="000000"/>
                </a:solidFill>
                <a:latin typeface="AAVGFJ+Calibri"/>
                <a:cs typeface="AAVGFJ+Calibri"/>
              </a:rPr>
              <a:t>has</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3" dirty="0">
                <a:solidFill>
                  <a:srgbClr val="000000"/>
                </a:solidFill>
                <a:latin typeface="AAVGFJ+Calibri"/>
                <a:cs typeface="AAVGFJ+Calibri"/>
              </a:rPr>
              <a:t>be</a:t>
            </a:r>
          </a:p>
          <a:p>
            <a:pPr marL="0" marR="0">
              <a:lnSpc>
                <a:spcPts val="2675"/>
              </a:lnSpc>
              <a:spcBef>
                <a:spcPts val="204"/>
              </a:spcBef>
              <a:spcAft>
                <a:spcPts val="0"/>
              </a:spcAft>
            </a:pPr>
            <a:r>
              <a:rPr sz="2650" dirty="0">
                <a:solidFill>
                  <a:srgbClr val="000000"/>
                </a:solidFill>
                <a:latin typeface="AAVGFJ+Calibri"/>
                <a:cs typeface="AAVGFJ+Calibri"/>
              </a:rPr>
              <a:t>processed</a:t>
            </a:r>
            <a:r>
              <a:rPr sz="2650" spc="14" dirty="0">
                <a:solidFill>
                  <a:srgbClr val="000000"/>
                </a:solidFill>
                <a:latin typeface="AAVGFJ+Calibri"/>
                <a:cs typeface="AAVGFJ+Calibri"/>
              </a:rPr>
              <a:t> </a:t>
            </a:r>
            <a:r>
              <a:rPr sz="2650" spc="-22" dirty="0">
                <a:solidFill>
                  <a:srgbClr val="000000"/>
                </a:solidFill>
                <a:latin typeface="AAVGFJ+Calibri"/>
                <a:cs typeface="AAVGFJ+Calibri"/>
              </a:rPr>
              <a:t>like</a:t>
            </a:r>
            <a:r>
              <a:rPr sz="2650" spc="39"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list</a:t>
            </a:r>
            <a:r>
              <a:rPr sz="2650" spc="16"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student</a:t>
            </a:r>
            <a:r>
              <a:rPr sz="2650" spc="12" dirty="0">
                <a:solidFill>
                  <a:srgbClr val="000000"/>
                </a:solidFill>
                <a:latin typeface="AAVGFJ+Calibri"/>
                <a:cs typeface="AAVGFJ+Calibri"/>
              </a:rPr>
              <a:t> </a:t>
            </a:r>
            <a:r>
              <a:rPr sz="2650" spc="13" dirty="0">
                <a:solidFill>
                  <a:srgbClr val="000000"/>
                </a:solidFill>
                <a:latin typeface="AAVGFJ+Calibri"/>
                <a:cs typeface="AAVGFJ+Calibri"/>
              </a:rPr>
              <a:t>names</a:t>
            </a:r>
            <a:r>
              <a:rPr sz="2650" dirty="0">
                <a:solidFill>
                  <a:srgbClr val="000000"/>
                </a:solidFill>
                <a:latin typeface="AAVGFJ+Calibri"/>
                <a:cs typeface="AAVGFJ+Calibri"/>
              </a:rPr>
              <a:t> </a:t>
            </a:r>
            <a:r>
              <a:rPr sz="2650" spc="13" dirty="0">
                <a:solidFill>
                  <a:srgbClr val="000000"/>
                </a:solidFill>
                <a:latin typeface="AAVGFJ+Calibri"/>
                <a:cs typeface="AAVGFJ+Calibri"/>
              </a:rPr>
              <a:t>or</a:t>
            </a:r>
            <a:r>
              <a:rPr sz="2650" dirty="0">
                <a:solidFill>
                  <a:srgbClr val="000000"/>
                </a:solidFill>
                <a:latin typeface="AAVGFJ+Calibri"/>
                <a:cs typeface="AAVGFJ+Calibri"/>
              </a:rPr>
              <a:t> list</a:t>
            </a:r>
            <a:r>
              <a:rPr sz="2650" spc="16"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cities, it is represented</a:t>
            </a:r>
            <a:r>
              <a:rPr sz="2650" spc="22" dirty="0">
                <a:solidFill>
                  <a:srgbClr val="000000"/>
                </a:solidFill>
                <a:latin typeface="AAVGFJ+Calibri"/>
                <a:cs typeface="AAVGFJ+Calibri"/>
              </a:rPr>
              <a:t> </a:t>
            </a:r>
            <a:r>
              <a:rPr sz="2650" spc="10" dirty="0">
                <a:solidFill>
                  <a:srgbClr val="000000"/>
                </a:solidFill>
                <a:latin typeface="AAVGFJ+Calibri"/>
                <a:cs typeface="AAVGFJ+Calibri"/>
              </a:rPr>
              <a:t>with</a:t>
            </a:r>
            <a:r>
              <a:rPr sz="2650" dirty="0">
                <a:solidFill>
                  <a:srgbClr val="000000"/>
                </a:solidFill>
                <a:latin typeface="AAVGFJ+Calibri"/>
                <a:cs typeface="AAVGFJ+Calibri"/>
              </a:rPr>
              <a:t> two</a:t>
            </a:r>
          </a:p>
          <a:p>
            <a:pPr marL="0" marR="0">
              <a:lnSpc>
                <a:spcPts val="2675"/>
              </a:lnSpc>
              <a:spcBef>
                <a:spcPts val="154"/>
              </a:spcBef>
              <a:spcAft>
                <a:spcPts val="0"/>
              </a:spcAft>
            </a:pPr>
            <a:r>
              <a:rPr sz="2650" spc="11" dirty="0">
                <a:solidFill>
                  <a:srgbClr val="000000"/>
                </a:solidFill>
                <a:latin typeface="AAVGFJ+Calibri"/>
                <a:cs typeface="AAVGFJ+Calibri"/>
              </a:rPr>
              <a:t>dimensional</a:t>
            </a:r>
            <a:r>
              <a:rPr sz="2650" dirty="0">
                <a:solidFill>
                  <a:srgbClr val="000000"/>
                </a:solidFill>
                <a:latin typeface="AAVGFJ+Calibri"/>
                <a:cs typeface="AAVGFJ+Calibri"/>
              </a:rPr>
              <a:t> </a:t>
            </a:r>
            <a:r>
              <a:rPr sz="2650" spc="-13" dirty="0">
                <a:solidFill>
                  <a:srgbClr val="000000"/>
                </a:solidFill>
                <a:latin typeface="AAVGFJ+Calibri"/>
                <a:cs typeface="AAVGFJ+Calibri"/>
              </a:rPr>
              <a:t>arrays.</a:t>
            </a:r>
          </a:p>
        </p:txBody>
      </p:sp>
      <p:sp>
        <p:nvSpPr>
          <p:cNvPr id="5" name="object 5"/>
          <p:cNvSpPr txBox="1"/>
          <p:nvPr/>
        </p:nvSpPr>
        <p:spPr>
          <a:xfrm>
            <a:off x="277710" y="2719762"/>
            <a:ext cx="4422873" cy="870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Declaration: </a:t>
            </a:r>
            <a:r>
              <a:rPr sz="2650" spc="11" dirty="0">
                <a:solidFill>
                  <a:srgbClr val="000000"/>
                </a:solidFill>
                <a:latin typeface="AAVGFJ+Calibri"/>
                <a:cs typeface="AAVGFJ+Calibri"/>
              </a:rPr>
              <a:t>char</a:t>
            </a:r>
            <a:r>
              <a:rPr sz="2650" dirty="0">
                <a:solidFill>
                  <a:srgbClr val="000000"/>
                </a:solidFill>
                <a:latin typeface="AAVGFJ+Calibri"/>
                <a:cs typeface="AAVGFJ+Calibri"/>
              </a:rPr>
              <a:t> stdname[20];</a:t>
            </a:r>
          </a:p>
          <a:p>
            <a:pPr marL="0" marR="0">
              <a:lnSpc>
                <a:spcPts val="2675"/>
              </a:lnSpc>
              <a:spcBef>
                <a:spcPts val="1205"/>
              </a:spcBef>
              <a:spcAft>
                <a:spcPts val="0"/>
              </a:spcAft>
            </a:pPr>
            <a:r>
              <a:rPr sz="2650" spc="11" dirty="0">
                <a:solidFill>
                  <a:srgbClr val="FF0000"/>
                </a:solidFill>
                <a:latin typeface="AAVGFJ+Calibri"/>
                <a:cs typeface="AAVGFJ+Calibri"/>
              </a:rPr>
              <a:t>char</a:t>
            </a:r>
            <a:r>
              <a:rPr sz="2650" dirty="0">
                <a:solidFill>
                  <a:srgbClr val="FF0000"/>
                </a:solidFill>
                <a:latin typeface="AAVGFJ+Calibri"/>
                <a:cs typeface="AAVGFJ+Calibri"/>
              </a:rPr>
              <a:t> stdname[50][20];</a:t>
            </a:r>
          </a:p>
        </p:txBody>
      </p:sp>
      <p:sp>
        <p:nvSpPr>
          <p:cNvPr id="6" name="object 6"/>
          <p:cNvSpPr txBox="1"/>
          <p:nvPr/>
        </p:nvSpPr>
        <p:spPr>
          <a:xfrm>
            <a:off x="277710" y="3705282"/>
            <a:ext cx="11293642" cy="110934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stdname</a:t>
            </a:r>
            <a:r>
              <a:rPr sz="2650" spc="16" dirty="0">
                <a:solidFill>
                  <a:srgbClr val="000000"/>
                </a:solidFill>
                <a:latin typeface="AAVGFJ+Calibri"/>
                <a:cs typeface="AAVGFJ+Calibri"/>
              </a:rPr>
              <a:t> </a:t>
            </a:r>
            <a:r>
              <a:rPr sz="2650" dirty="0">
                <a:solidFill>
                  <a:srgbClr val="000000"/>
                </a:solidFill>
                <a:latin typeface="AAVGFJ+Calibri"/>
                <a:cs typeface="AAVGFJ+Calibri"/>
              </a:rPr>
              <a:t>is a</a:t>
            </a:r>
            <a:r>
              <a:rPr sz="2650" spc="17" dirty="0">
                <a:solidFill>
                  <a:srgbClr val="000000"/>
                </a:solidFill>
                <a:latin typeface="AAVGFJ+Calibri"/>
                <a:cs typeface="AAVGFJ+Calibri"/>
              </a:rPr>
              <a:t> </a:t>
            </a:r>
            <a:r>
              <a:rPr sz="2650" dirty="0">
                <a:solidFill>
                  <a:srgbClr val="000000"/>
                </a:solidFill>
                <a:latin typeface="AAVGFJ+Calibri"/>
                <a:cs typeface="AAVGFJ+Calibri"/>
              </a:rPr>
              <a:t>matrix containing</a:t>
            </a:r>
            <a:r>
              <a:rPr sz="2650" spc="13" dirty="0">
                <a:solidFill>
                  <a:srgbClr val="000000"/>
                </a:solidFill>
                <a:latin typeface="AAVGFJ+Calibri"/>
                <a:cs typeface="AAVGFJ+Calibri"/>
              </a:rPr>
              <a:t> </a:t>
            </a:r>
            <a:r>
              <a:rPr sz="2650" spc="12" dirty="0">
                <a:solidFill>
                  <a:srgbClr val="000000"/>
                </a:solidFill>
                <a:latin typeface="AAVGFJ+Calibri"/>
                <a:cs typeface="AAVGFJ+Calibri"/>
              </a:rPr>
              <a:t>50</a:t>
            </a:r>
            <a:r>
              <a:rPr sz="2650" dirty="0">
                <a:solidFill>
                  <a:srgbClr val="000000"/>
                </a:solidFill>
                <a:latin typeface="AAVGFJ+Calibri"/>
                <a:cs typeface="AAVGFJ+Calibri"/>
              </a:rPr>
              <a:t> </a:t>
            </a:r>
            <a:r>
              <a:rPr sz="2650" spc="-17" dirty="0">
                <a:solidFill>
                  <a:srgbClr val="000000"/>
                </a:solidFill>
                <a:latin typeface="AAVGFJ+Calibri"/>
                <a:cs typeface="AAVGFJ+Calibri"/>
              </a:rPr>
              <a:t>rows</a:t>
            </a:r>
            <a:r>
              <a:rPr sz="2650" spc="31" dirty="0">
                <a:solidFill>
                  <a:srgbClr val="000000"/>
                </a:solidFill>
                <a:latin typeface="AAVGFJ+Calibri"/>
                <a:cs typeface="AAVGFJ+Calibri"/>
              </a:rPr>
              <a:t> </a:t>
            </a:r>
            <a:r>
              <a:rPr sz="2650" spc="12" dirty="0">
                <a:solidFill>
                  <a:srgbClr val="000000"/>
                </a:solidFill>
                <a:latin typeface="AAVGFJ+Calibri"/>
                <a:cs typeface="AAVGFJ+Calibri"/>
              </a:rPr>
              <a:t>and</a:t>
            </a:r>
            <a:r>
              <a:rPr sz="2650" dirty="0">
                <a:solidFill>
                  <a:srgbClr val="000000"/>
                </a:solidFill>
                <a:latin typeface="AAVGFJ+Calibri"/>
                <a:cs typeface="AAVGFJ+Calibri"/>
              </a:rPr>
              <a:t> </a:t>
            </a:r>
            <a:r>
              <a:rPr sz="2650" spc="12" dirty="0">
                <a:solidFill>
                  <a:srgbClr val="000000"/>
                </a:solidFill>
                <a:latin typeface="AAVGFJ+Calibri"/>
                <a:cs typeface="AAVGFJ+Calibri"/>
              </a:rPr>
              <a:t>20</a:t>
            </a:r>
            <a:r>
              <a:rPr sz="2650" dirty="0">
                <a:solidFill>
                  <a:srgbClr val="000000"/>
                </a:solidFill>
                <a:latin typeface="AAVGFJ+Calibri"/>
                <a:cs typeface="AAVGFJ+Calibri"/>
              </a:rPr>
              <a:t> columns,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7" dirty="0">
                <a:solidFill>
                  <a:srgbClr val="000000"/>
                </a:solidFill>
                <a:latin typeface="AAVGFJ+Calibri"/>
                <a:cs typeface="AAVGFJ+Calibri"/>
              </a:rPr>
              <a:t>rows</a:t>
            </a:r>
            <a:r>
              <a:rPr sz="2650" spc="31" dirty="0">
                <a:solidFill>
                  <a:srgbClr val="000000"/>
                </a:solidFill>
                <a:latin typeface="AAVGFJ+Calibri"/>
                <a:cs typeface="AAVGFJ+Calibri"/>
              </a:rPr>
              <a:t> </a:t>
            </a:r>
            <a:r>
              <a:rPr sz="2650" spc="11" dirty="0">
                <a:solidFill>
                  <a:srgbClr val="000000"/>
                </a:solidFill>
                <a:latin typeface="AAVGFJ+Calibri"/>
                <a:cs typeface="AAVGFJ+Calibri"/>
              </a:rPr>
              <a:t>specifying</a:t>
            </a:r>
            <a:r>
              <a:rPr sz="2650" dirty="0">
                <a:solidFill>
                  <a:srgbClr val="000000"/>
                </a:solidFill>
                <a:latin typeface="AAVGFJ+Calibri"/>
                <a:cs typeface="AAVGFJ+Calibri"/>
              </a:rPr>
              <a:t> </a:t>
            </a:r>
            <a:r>
              <a:rPr sz="2650" spc="10" dirty="0">
                <a:solidFill>
                  <a:srgbClr val="000000"/>
                </a:solidFill>
                <a:latin typeface="AAVGFJ+Calibri"/>
                <a:cs typeface="AAVGFJ+Calibri"/>
              </a:rPr>
              <a:t>the</a:t>
            </a:r>
          </a:p>
          <a:p>
            <a:pPr marL="0" marR="0">
              <a:lnSpc>
                <a:spcPts val="2675"/>
              </a:lnSpc>
              <a:spcBef>
                <a:spcPts val="205"/>
              </a:spcBef>
              <a:spcAft>
                <a:spcPts val="0"/>
              </a:spcAft>
            </a:pPr>
            <a:r>
              <a:rPr sz="2650" spc="14" dirty="0">
                <a:solidFill>
                  <a:srgbClr val="000000"/>
                </a:solidFill>
                <a:latin typeface="AAVGFJ+Calibri"/>
                <a:cs typeface="AAVGFJ+Calibri"/>
              </a:rPr>
              <a:t>number</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3" dirty="0">
                <a:solidFill>
                  <a:srgbClr val="000000"/>
                </a:solidFill>
                <a:latin typeface="AAVGFJ+Calibri"/>
                <a:cs typeface="AAVGFJ+Calibri"/>
              </a:rPr>
              <a:t>names</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spc="612" dirty="0">
                <a:solidFill>
                  <a:srgbClr val="000000"/>
                </a:solidFill>
                <a:latin typeface="AAVGFJ+Calibri"/>
                <a:cs typeface="AAVGFJ+Calibri"/>
              </a:rPr>
              <a:t> </a:t>
            </a:r>
            <a:r>
              <a:rPr sz="2650" dirty="0">
                <a:solidFill>
                  <a:srgbClr val="000000"/>
                </a:solidFill>
                <a:latin typeface="AAVGFJ+Calibri"/>
                <a:cs typeface="AAVGFJ+Calibri"/>
              </a:rPr>
              <a:t>students</a:t>
            </a:r>
            <a:r>
              <a:rPr sz="2650" spc="12" dirty="0">
                <a:solidFill>
                  <a:srgbClr val="000000"/>
                </a:solidFill>
                <a:latin typeface="AAVGFJ+Calibri"/>
                <a:cs typeface="AAVGFJ+Calibri"/>
              </a:rPr>
              <a:t> and</a:t>
            </a:r>
            <a:r>
              <a:rPr sz="2650" dirty="0">
                <a:solidFill>
                  <a:srgbClr val="000000"/>
                </a:solidFill>
                <a:latin typeface="AAVGFJ+Calibri"/>
                <a:cs typeface="AAVGFJ+Calibri"/>
              </a:rPr>
              <a:t> columns </a:t>
            </a:r>
            <a:r>
              <a:rPr sz="2650" spc="11" dirty="0">
                <a:solidFill>
                  <a:srgbClr val="000000"/>
                </a:solidFill>
                <a:latin typeface="AAVGFJ+Calibri"/>
                <a:cs typeface="AAVGFJ+Calibri"/>
              </a:rPr>
              <a:t>specifying</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maximum</a:t>
            </a:r>
            <a:r>
              <a:rPr sz="2650" spc="16" dirty="0">
                <a:solidFill>
                  <a:srgbClr val="000000"/>
                </a:solidFill>
                <a:latin typeface="AAVGFJ+Calibri"/>
                <a:cs typeface="AAVGFJ+Calibri"/>
              </a:rPr>
              <a:t> </a:t>
            </a:r>
            <a:r>
              <a:rPr sz="2650" spc="-12" dirty="0">
                <a:solidFill>
                  <a:srgbClr val="000000"/>
                </a:solidFill>
                <a:latin typeface="AAVGFJ+Calibri"/>
                <a:cs typeface="AAVGFJ+Calibri"/>
              </a:rPr>
              <a:t>size</a:t>
            </a:r>
            <a:r>
              <a:rPr sz="2650" spc="3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a:t>
            </a:r>
          </a:p>
          <a:p>
            <a:pPr marL="0" marR="0">
              <a:lnSpc>
                <a:spcPts val="2675"/>
              </a:lnSpc>
              <a:spcBef>
                <a:spcPts val="154"/>
              </a:spcBef>
              <a:spcAft>
                <a:spcPts val="0"/>
              </a:spcAft>
            </a:pPr>
            <a:r>
              <a:rPr sz="2650" spc="13" dirty="0">
                <a:solidFill>
                  <a:srgbClr val="000000"/>
                </a:solidFill>
                <a:latin typeface="AAVGFJ+Calibri"/>
                <a:cs typeface="AAVGFJ+Calibri"/>
              </a:rPr>
              <a:t>name.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6206309"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Arithmetic</a:t>
            </a:r>
            <a:r>
              <a:rPr sz="3200" spc="24" dirty="0">
                <a:solidFill>
                  <a:srgbClr val="0033CC"/>
                </a:solidFill>
                <a:latin typeface="OJWNPN+Calibri-Bold"/>
                <a:cs typeface="OJWNPN+Calibri-Bold"/>
              </a:rPr>
              <a:t> </a:t>
            </a:r>
            <a:r>
              <a:rPr sz="3200" spc="-12" dirty="0">
                <a:solidFill>
                  <a:srgbClr val="0033CC"/>
                </a:solidFill>
                <a:latin typeface="OJWNPN+Calibri-Bold"/>
                <a:cs typeface="OJWNPN+Calibri-Bold"/>
              </a:rPr>
              <a:t>operations</a:t>
            </a:r>
            <a:r>
              <a:rPr sz="3200" spc="31" dirty="0">
                <a:solidFill>
                  <a:srgbClr val="0033CC"/>
                </a:solidFill>
                <a:latin typeface="OJWNPN+Calibri-Bold"/>
                <a:cs typeface="OJWNPN+Calibri-Bold"/>
              </a:rPr>
              <a:t> </a:t>
            </a:r>
            <a:r>
              <a:rPr sz="3200" dirty="0">
                <a:solidFill>
                  <a:srgbClr val="0033CC"/>
                </a:solidFill>
                <a:latin typeface="OJWNPN+Calibri-Bold"/>
                <a:cs typeface="OJWNPN+Calibri-Bold"/>
              </a:rPr>
              <a:t>on</a:t>
            </a:r>
            <a:r>
              <a:rPr sz="3200" spc="19" dirty="0">
                <a:solidFill>
                  <a:srgbClr val="0033CC"/>
                </a:solidFill>
                <a:latin typeface="OJWNPN+Calibri-Bold"/>
                <a:cs typeface="OJWNPN+Calibri-Bold"/>
              </a:rPr>
              <a:t> </a:t>
            </a:r>
            <a:r>
              <a:rPr sz="3200" spc="-17" dirty="0">
                <a:solidFill>
                  <a:srgbClr val="0033CC"/>
                </a:solidFill>
                <a:latin typeface="OJWNPN+Calibri-Bold"/>
                <a:cs typeface="OJWNPN+Calibri-Bold"/>
              </a:rPr>
              <a:t>characters</a:t>
            </a:r>
          </a:p>
        </p:txBody>
      </p:sp>
      <p:sp>
        <p:nvSpPr>
          <p:cNvPr id="4" name="object 4"/>
          <p:cNvSpPr txBox="1"/>
          <p:nvPr/>
        </p:nvSpPr>
        <p:spPr>
          <a:xfrm>
            <a:off x="277710" y="1492465"/>
            <a:ext cx="11764497" cy="67182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Whenever an arithmetic </a:t>
            </a:r>
            <a:r>
              <a:rPr sz="2400" spc="-10" dirty="0">
                <a:solidFill>
                  <a:srgbClr val="000000"/>
                </a:solidFill>
                <a:latin typeface="AAVGFJ+Calibri"/>
                <a:cs typeface="AAVGFJ+Calibri"/>
              </a:rPr>
              <a:t>operation</a:t>
            </a:r>
            <a:r>
              <a:rPr sz="2400" spc="11" dirty="0">
                <a:solidFill>
                  <a:srgbClr val="000000"/>
                </a:solidFill>
                <a:latin typeface="AAVGFJ+Calibri"/>
                <a:cs typeface="AAVGFJ+Calibri"/>
              </a:rPr>
              <a:t> </a:t>
            </a:r>
            <a:r>
              <a:rPr sz="2400" dirty="0">
                <a:solidFill>
                  <a:srgbClr val="000000"/>
                </a:solidFill>
                <a:latin typeface="AAVGFJ+Calibri"/>
                <a:cs typeface="AAVGFJ+Calibri"/>
              </a:rPr>
              <a:t>is performed on a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spc="-15" dirty="0">
                <a:solidFill>
                  <a:srgbClr val="000000"/>
                </a:solidFill>
                <a:latin typeface="AAVGFJ+Calibri"/>
                <a:cs typeface="AAVGFJ+Calibri"/>
              </a:rPr>
              <a:t>constant</a:t>
            </a:r>
            <a:r>
              <a:rPr sz="2400" spc="18" dirty="0">
                <a:solidFill>
                  <a:srgbClr val="000000"/>
                </a:solidFill>
                <a:latin typeface="AAVGFJ+Calibri"/>
                <a:cs typeface="AAVGFJ+Calibri"/>
              </a:rPr>
              <a:t> </a:t>
            </a:r>
            <a:r>
              <a:rPr sz="2400" dirty="0">
                <a:solidFill>
                  <a:srgbClr val="000000"/>
                </a:solidFill>
                <a:latin typeface="AAVGFJ+Calibri"/>
                <a:cs typeface="AAVGFJ+Calibri"/>
              </a:rPr>
              <a:t>or </a:t>
            </a: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dirty="0">
                <a:solidFill>
                  <a:srgbClr val="000000"/>
                </a:solidFill>
                <a:latin typeface="AAVGFJ+Calibri"/>
                <a:cs typeface="AAVGFJ+Calibri"/>
              </a:rPr>
              <a:t>variable,</a:t>
            </a:r>
          </a:p>
          <a:p>
            <a:pPr marL="0" marR="0">
              <a:lnSpc>
                <a:spcPts val="2400"/>
              </a:lnSpc>
              <a:spcBef>
                <a:spcPts val="189"/>
              </a:spcBef>
              <a:spcAft>
                <a:spcPts val="0"/>
              </a:spcAft>
            </a:pPr>
            <a:r>
              <a:rPr sz="2400" dirty="0">
                <a:solidFill>
                  <a:srgbClr val="000000"/>
                </a:solidFill>
                <a:latin typeface="AAVGFJ+Calibri"/>
                <a:cs typeface="AAVGFJ+Calibri"/>
              </a:rPr>
              <a:t>it is automatically </a:t>
            </a:r>
            <a:r>
              <a:rPr sz="2400" spc="-14" dirty="0">
                <a:solidFill>
                  <a:srgbClr val="000000"/>
                </a:solidFill>
                <a:latin typeface="AAVGFJ+Calibri"/>
                <a:cs typeface="AAVGFJ+Calibri"/>
              </a:rPr>
              <a:t>converted</a:t>
            </a:r>
            <a:r>
              <a:rPr sz="2400" spc="16"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its ASCII equivalent</a:t>
            </a:r>
            <a:r>
              <a:rPr sz="2400" spc="11" dirty="0">
                <a:solidFill>
                  <a:srgbClr val="000000"/>
                </a:solidFill>
                <a:latin typeface="AAVGFJ+Calibri"/>
                <a:cs typeface="AAVGFJ+Calibri"/>
              </a:rPr>
              <a:t> </a:t>
            </a: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dirty="0">
                <a:solidFill>
                  <a:srgbClr val="000000"/>
                </a:solidFill>
                <a:latin typeface="AAVGFJ+Calibri"/>
                <a:cs typeface="AAVGFJ+Calibri"/>
              </a:rPr>
              <a:t>value.</a:t>
            </a:r>
          </a:p>
        </p:txBody>
      </p:sp>
      <p:sp>
        <p:nvSpPr>
          <p:cNvPr id="5" name="object 5"/>
          <p:cNvSpPr txBox="1"/>
          <p:nvPr/>
        </p:nvSpPr>
        <p:spPr>
          <a:xfrm>
            <a:off x="277710" y="2277326"/>
            <a:ext cx="11803500" cy="1329689"/>
          </a:xfrm>
          <a:prstGeom prst="rect">
            <a:avLst/>
          </a:prstGeom>
        </p:spPr>
        <p:txBody>
          <a:bodyPr vert="horz" wrap="square" lIns="0" tIns="0" rIns="0" bIns="0" rtlCol="0">
            <a:spAutoFit/>
          </a:bodyPr>
          <a:lstStyle/>
          <a:p>
            <a:pPr marL="0" marR="0">
              <a:lnSpc>
                <a:spcPts val="2400"/>
              </a:lnSpc>
              <a:spcBef>
                <a:spcPts val="0"/>
              </a:spcBef>
              <a:spcAft>
                <a:spcPts val="0"/>
              </a:spcAft>
            </a:pPr>
            <a:r>
              <a:rPr sz="2400" spc="-10" dirty="0">
                <a:solidFill>
                  <a:srgbClr val="000000"/>
                </a:solidFill>
                <a:latin typeface="AAVGFJ+Calibri"/>
                <a:cs typeface="AAVGFJ+Calibri"/>
              </a:rPr>
              <a:t>Character</a:t>
            </a:r>
            <a:r>
              <a:rPr sz="2400" spc="11" dirty="0">
                <a:solidFill>
                  <a:srgbClr val="000000"/>
                </a:solidFill>
                <a:latin typeface="AAVGFJ+Calibri"/>
                <a:cs typeface="AAVGFJ+Calibri"/>
              </a:rPr>
              <a:t> </a:t>
            </a:r>
            <a:r>
              <a:rPr sz="2400" dirty="0">
                <a:solidFill>
                  <a:srgbClr val="000000"/>
                </a:solidFill>
                <a:latin typeface="AAVGFJ+Calibri"/>
                <a:cs typeface="AAVGFJ+Calibri"/>
              </a:rPr>
              <a:t>arithmetic is used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implement arithmetic operations</a:t>
            </a:r>
            <a:r>
              <a:rPr sz="2400" spc="12" dirty="0">
                <a:solidFill>
                  <a:srgbClr val="000000"/>
                </a:solidFill>
                <a:latin typeface="AAVGFJ+Calibri"/>
                <a:cs typeface="AAVGFJ+Calibri"/>
              </a:rPr>
              <a:t> </a:t>
            </a:r>
            <a:r>
              <a:rPr sz="2400" spc="-28" dirty="0">
                <a:solidFill>
                  <a:srgbClr val="000000"/>
                </a:solidFill>
                <a:latin typeface="AAVGFJ+Calibri"/>
                <a:cs typeface="AAVGFJ+Calibri"/>
              </a:rPr>
              <a:t>like</a:t>
            </a:r>
            <a:r>
              <a:rPr sz="2400" spc="31" dirty="0">
                <a:solidFill>
                  <a:srgbClr val="000000"/>
                </a:solidFill>
                <a:latin typeface="AAVGFJ+Calibri"/>
                <a:cs typeface="AAVGFJ+Calibri"/>
              </a:rPr>
              <a:t> </a:t>
            </a:r>
            <a:r>
              <a:rPr sz="2400" dirty="0">
                <a:solidFill>
                  <a:srgbClr val="000000"/>
                </a:solidFill>
                <a:latin typeface="AAVGFJ+Calibri"/>
                <a:cs typeface="AAVGFJ+Calibri"/>
              </a:rPr>
              <a:t>addition and subtraction</a:t>
            </a:r>
          </a:p>
          <a:p>
            <a:pPr marL="0" marR="0">
              <a:lnSpc>
                <a:spcPts val="2400"/>
              </a:lnSpc>
              <a:spcBef>
                <a:spcPts val="189"/>
              </a:spcBef>
              <a:spcAft>
                <a:spcPts val="0"/>
              </a:spcAft>
            </a:pPr>
            <a:r>
              <a:rPr sz="2400" dirty="0">
                <a:solidFill>
                  <a:srgbClr val="000000"/>
                </a:solidFill>
                <a:latin typeface="AAVGFJ+Calibri"/>
                <a:cs typeface="AAVGFJ+Calibri"/>
              </a:rPr>
              <a:t>on </a:t>
            </a:r>
            <a:r>
              <a:rPr sz="2400" spc="-14" dirty="0">
                <a:solidFill>
                  <a:srgbClr val="000000"/>
                </a:solidFill>
                <a:latin typeface="AAVGFJ+Calibri"/>
                <a:cs typeface="AAVGFJ+Calibri"/>
              </a:rPr>
              <a:t>characters</a:t>
            </a:r>
            <a:r>
              <a:rPr sz="2400" spc="18" dirty="0">
                <a:solidFill>
                  <a:srgbClr val="000000"/>
                </a:solidFill>
                <a:latin typeface="AAVGFJ+Calibri"/>
                <a:cs typeface="AAVGFJ+Calibri"/>
              </a:rPr>
              <a:t> </a:t>
            </a:r>
            <a:r>
              <a:rPr sz="2400" dirty="0">
                <a:solidFill>
                  <a:srgbClr val="000000"/>
                </a:solidFill>
                <a:latin typeface="AAVGFJ+Calibri"/>
                <a:cs typeface="AAVGFJ+Calibri"/>
              </a:rPr>
              <a:t>in C language. It is used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manipulate</a:t>
            </a:r>
            <a:r>
              <a:rPr sz="2400" spc="10" dirty="0">
                <a:solidFill>
                  <a:srgbClr val="000000"/>
                </a:solidFill>
                <a:latin typeface="AAVGFJ+Calibri"/>
                <a:cs typeface="AAVGFJ+Calibri"/>
              </a:rPr>
              <a:t> </a:t>
            </a:r>
            <a:r>
              <a:rPr sz="2400" dirty="0">
                <a:solidFill>
                  <a:srgbClr val="000000"/>
                </a:solidFill>
                <a:latin typeface="AAVGFJ+Calibri"/>
                <a:cs typeface="AAVGFJ+Calibri"/>
              </a:rPr>
              <a:t>the strings. When the </a:t>
            </a:r>
            <a:r>
              <a:rPr sz="2400" spc="-14" dirty="0">
                <a:solidFill>
                  <a:srgbClr val="000000"/>
                </a:solidFill>
                <a:latin typeface="AAVGFJ+Calibri"/>
                <a:cs typeface="AAVGFJ+Calibri"/>
              </a:rPr>
              <a:t>characters</a:t>
            </a:r>
            <a:r>
              <a:rPr sz="2400" spc="18" dirty="0">
                <a:solidFill>
                  <a:srgbClr val="000000"/>
                </a:solidFill>
                <a:latin typeface="AAVGFJ+Calibri"/>
                <a:cs typeface="AAVGFJ+Calibri"/>
              </a:rPr>
              <a:t>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dirty="0">
                <a:solidFill>
                  <a:srgbClr val="000000"/>
                </a:solidFill>
                <a:latin typeface="AAVGFJ+Calibri"/>
                <a:cs typeface="AAVGFJ+Calibri"/>
              </a:rPr>
              <a:t>used</a:t>
            </a:r>
          </a:p>
          <a:p>
            <a:pPr marL="0" marR="0">
              <a:lnSpc>
                <a:spcPts val="2400"/>
              </a:lnSpc>
              <a:spcBef>
                <a:spcPts val="190"/>
              </a:spcBef>
              <a:spcAft>
                <a:spcPts val="0"/>
              </a:spcAft>
            </a:pPr>
            <a:r>
              <a:rPr sz="2400" dirty="0">
                <a:solidFill>
                  <a:srgbClr val="000000"/>
                </a:solidFill>
                <a:latin typeface="AAVGFJ+Calibri"/>
                <a:cs typeface="AAVGFJ+Calibri"/>
              </a:rPr>
              <a:t>with the arithmetic operations,</a:t>
            </a:r>
            <a:r>
              <a:rPr sz="2400" spc="11" dirty="0">
                <a:solidFill>
                  <a:srgbClr val="000000"/>
                </a:solidFill>
                <a:latin typeface="AAVGFJ+Calibri"/>
                <a:cs typeface="AAVGFJ+Calibri"/>
              </a:rPr>
              <a:t> </a:t>
            </a:r>
            <a:r>
              <a:rPr sz="2400" dirty="0">
                <a:solidFill>
                  <a:srgbClr val="000000"/>
                </a:solidFill>
                <a:latin typeface="AAVGFJ+Calibri"/>
                <a:cs typeface="AAVGFJ+Calibri"/>
              </a:rPr>
              <a:t>it </a:t>
            </a:r>
            <a:r>
              <a:rPr sz="2400" spc="-12" dirty="0">
                <a:solidFill>
                  <a:srgbClr val="000000"/>
                </a:solidFill>
                <a:latin typeface="AAVGFJ+Calibri"/>
                <a:cs typeface="AAVGFJ+Calibri"/>
              </a:rPr>
              <a:t>converts</a:t>
            </a:r>
            <a:r>
              <a:rPr sz="2400" spc="16" dirty="0">
                <a:solidFill>
                  <a:srgbClr val="000000"/>
                </a:solidFill>
                <a:latin typeface="AAVGFJ+Calibri"/>
                <a:cs typeface="AAVGFJ+Calibri"/>
              </a:rPr>
              <a:t> </a:t>
            </a:r>
            <a:r>
              <a:rPr sz="2400" dirty="0">
                <a:solidFill>
                  <a:srgbClr val="000000"/>
                </a:solidFill>
                <a:latin typeface="AAVGFJ+Calibri"/>
                <a:cs typeface="AAVGFJ+Calibri"/>
              </a:rPr>
              <a:t>them </a:t>
            </a:r>
            <a:r>
              <a:rPr sz="2400" spc="-17" dirty="0">
                <a:solidFill>
                  <a:srgbClr val="000000"/>
                </a:solidFill>
                <a:latin typeface="AAVGFJ+Calibri"/>
                <a:cs typeface="AAVGFJ+Calibri"/>
              </a:rPr>
              <a:t>into</a:t>
            </a:r>
            <a:r>
              <a:rPr sz="2400" spc="19" dirty="0">
                <a:solidFill>
                  <a:srgbClr val="000000"/>
                </a:solidFill>
                <a:latin typeface="AAVGFJ+Calibri"/>
                <a:cs typeface="AAVGFJ+Calibri"/>
              </a:rPr>
              <a:t> </a:t>
            </a: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spc="-10" dirty="0">
                <a:solidFill>
                  <a:srgbClr val="000000"/>
                </a:solidFill>
                <a:latin typeface="AAVGFJ+Calibri"/>
                <a:cs typeface="AAVGFJ+Calibri"/>
              </a:rPr>
              <a:t>value</a:t>
            </a:r>
            <a:r>
              <a:rPr sz="2400" spc="13" dirty="0">
                <a:solidFill>
                  <a:srgbClr val="000000"/>
                </a:solidFill>
                <a:latin typeface="AAVGFJ+Calibri"/>
                <a:cs typeface="AAVGFJ+Calibri"/>
              </a:rPr>
              <a:t> </a:t>
            </a:r>
            <a:r>
              <a:rPr sz="2400" dirty="0">
                <a:solidFill>
                  <a:srgbClr val="000000"/>
                </a:solidFill>
                <a:latin typeface="AAVGFJ+Calibri"/>
                <a:cs typeface="AAVGFJ+Calibri"/>
              </a:rPr>
              <a:t>automatically i.e. ASCII</a:t>
            </a:r>
          </a:p>
          <a:p>
            <a:pPr marL="0" marR="0">
              <a:lnSpc>
                <a:spcPts val="2400"/>
              </a:lnSpc>
              <a:spcBef>
                <a:spcPts val="189"/>
              </a:spcBef>
              <a:spcAft>
                <a:spcPts val="0"/>
              </a:spcAft>
            </a:pPr>
            <a:r>
              <a:rPr sz="2400" spc="-10" dirty="0">
                <a:solidFill>
                  <a:srgbClr val="000000"/>
                </a:solidFill>
                <a:latin typeface="AAVGFJ+Calibri"/>
                <a:cs typeface="AAVGFJ+Calibri"/>
              </a:rPr>
              <a:t>value</a:t>
            </a:r>
            <a:r>
              <a:rPr sz="2400" spc="13" dirty="0">
                <a:solidFill>
                  <a:srgbClr val="000000"/>
                </a:solidFill>
                <a:latin typeface="AAVGFJ+Calibri"/>
                <a:cs typeface="AAVGFJ+Calibri"/>
              </a:rPr>
              <a:t> </a:t>
            </a:r>
            <a:r>
              <a:rPr sz="2400" dirty="0">
                <a:solidFill>
                  <a:srgbClr val="000000"/>
                </a:solidFill>
                <a:latin typeface="AAVGFJ+Calibri"/>
                <a:cs typeface="AAVGFJ+Calibri"/>
              </a:rPr>
              <a:t>of </a:t>
            </a:r>
            <a:r>
              <a:rPr sz="2400" spc="-13" dirty="0">
                <a:solidFill>
                  <a:srgbClr val="000000"/>
                </a:solidFill>
                <a:latin typeface="AAVGFJ+Calibri"/>
                <a:cs typeface="AAVGFJ+Calibri"/>
              </a:rPr>
              <a:t>characters.</a:t>
            </a:r>
          </a:p>
        </p:txBody>
      </p:sp>
      <p:sp>
        <p:nvSpPr>
          <p:cNvPr id="6" name="object 6"/>
          <p:cNvSpPr txBox="1"/>
          <p:nvPr/>
        </p:nvSpPr>
        <p:spPr>
          <a:xfrm>
            <a:off x="277710" y="3720045"/>
            <a:ext cx="120446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Example</a:t>
            </a:r>
          </a:p>
        </p:txBody>
      </p:sp>
      <p:sp>
        <p:nvSpPr>
          <p:cNvPr id="7" name="object 7"/>
          <p:cNvSpPr txBox="1"/>
          <p:nvPr/>
        </p:nvSpPr>
        <p:spPr>
          <a:xfrm>
            <a:off x="277710" y="4175975"/>
            <a:ext cx="2108596" cy="79883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char </a:t>
            </a:r>
            <a:r>
              <a:rPr sz="2400" spc="-57" dirty="0">
                <a:solidFill>
                  <a:srgbClr val="FF0000"/>
                </a:solidFill>
                <a:latin typeface="AAVGFJ+Calibri"/>
                <a:cs typeface="AAVGFJ+Calibri"/>
              </a:rPr>
              <a:t>ch=’A’;</a:t>
            </a:r>
          </a:p>
          <a:p>
            <a:pPr marL="0" marR="0">
              <a:lnSpc>
                <a:spcPts val="2400"/>
              </a:lnSpc>
              <a:spcBef>
                <a:spcPts val="1190"/>
              </a:spcBef>
              <a:spcAft>
                <a:spcPts val="0"/>
              </a:spcAft>
            </a:pPr>
            <a:r>
              <a:rPr sz="2400" spc="-16" dirty="0">
                <a:solidFill>
                  <a:srgbClr val="FF0000"/>
                </a:solidFill>
                <a:latin typeface="AAVGFJ+Calibri"/>
                <a:cs typeface="AAVGFJ+Calibri"/>
              </a:rPr>
              <a:t>printf(“%d”,ch);</a:t>
            </a:r>
          </a:p>
        </p:txBody>
      </p:sp>
      <p:sp>
        <p:nvSpPr>
          <p:cNvPr id="8" name="object 8"/>
          <p:cNvSpPr txBox="1"/>
          <p:nvPr/>
        </p:nvSpPr>
        <p:spPr>
          <a:xfrm>
            <a:off x="277710" y="5087836"/>
            <a:ext cx="11804957" cy="67182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will display 65, the ASCII </a:t>
            </a:r>
            <a:r>
              <a:rPr sz="2400" spc="-10" dirty="0">
                <a:solidFill>
                  <a:srgbClr val="000000"/>
                </a:solidFill>
                <a:latin typeface="AAVGFJ+Calibri"/>
                <a:cs typeface="AAVGFJ+Calibri"/>
              </a:rPr>
              <a:t>value</a:t>
            </a:r>
            <a:r>
              <a:rPr sz="2400" spc="13" dirty="0">
                <a:solidFill>
                  <a:srgbClr val="000000"/>
                </a:solidFill>
                <a:latin typeface="AAVGFJ+Calibri"/>
                <a:cs typeface="AAVGFJ+Calibri"/>
              </a:rPr>
              <a:t> </a:t>
            </a:r>
            <a:r>
              <a:rPr sz="2400" dirty="0">
                <a:solidFill>
                  <a:srgbClr val="000000"/>
                </a:solidFill>
                <a:latin typeface="AAVGFJ+Calibri"/>
                <a:cs typeface="AAVGFJ+Calibri"/>
              </a:rPr>
              <a:t>of A.atoi(</a:t>
            </a:r>
            <a:r>
              <a:rPr sz="2400" spc="11" dirty="0">
                <a:solidFill>
                  <a:srgbClr val="000000"/>
                </a:solidFill>
                <a:latin typeface="AAVGFJ+Calibri"/>
                <a:cs typeface="AAVGFJ+Calibri"/>
              </a:rPr>
              <a:t> </a:t>
            </a:r>
            <a:r>
              <a:rPr sz="2400" dirty="0">
                <a:solidFill>
                  <a:srgbClr val="000000"/>
                </a:solidFill>
                <a:latin typeface="AAVGFJ+Calibri"/>
                <a:cs typeface="AAVGFJ+Calibri"/>
              </a:rPr>
              <a:t>) library function [ASCII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11" dirty="0">
                <a:solidFill>
                  <a:srgbClr val="000000"/>
                </a:solidFill>
                <a:latin typeface="AAVGFJ+Calibri"/>
                <a:cs typeface="AAVGFJ+Calibri"/>
              </a:rPr>
              <a:t>integer]</a:t>
            </a:r>
            <a:r>
              <a:rPr sz="2400" spc="12" dirty="0">
                <a:solidFill>
                  <a:srgbClr val="000000"/>
                </a:solidFill>
                <a:latin typeface="AAVGFJ+Calibri"/>
                <a:cs typeface="AAVGFJ+Calibri"/>
              </a:rPr>
              <a:t> </a:t>
            </a:r>
            <a:r>
              <a:rPr sz="2400" spc="-12" dirty="0">
                <a:solidFill>
                  <a:srgbClr val="000000"/>
                </a:solidFill>
                <a:latin typeface="AAVGFJ+Calibri"/>
                <a:cs typeface="AAVGFJ+Calibri"/>
              </a:rPr>
              <a:t>converts</a:t>
            </a:r>
            <a:r>
              <a:rPr sz="2400" spc="16" dirty="0">
                <a:solidFill>
                  <a:srgbClr val="000000"/>
                </a:solidFill>
                <a:latin typeface="AAVGFJ+Calibri"/>
                <a:cs typeface="AAVGFJ+Calibri"/>
              </a:rPr>
              <a:t> </a:t>
            </a:r>
            <a:r>
              <a:rPr sz="2400" dirty="0">
                <a:solidFill>
                  <a:srgbClr val="000000"/>
                </a:solidFill>
                <a:latin typeface="AAVGFJ+Calibri"/>
                <a:cs typeface="AAVGFJ+Calibri"/>
              </a:rPr>
              <a:t>a string of</a:t>
            </a:r>
          </a:p>
          <a:p>
            <a:pPr marL="0" marR="0">
              <a:lnSpc>
                <a:spcPts val="2400"/>
              </a:lnSpc>
              <a:spcBef>
                <a:spcPts val="189"/>
              </a:spcBef>
              <a:spcAft>
                <a:spcPts val="0"/>
              </a:spcAft>
            </a:pPr>
            <a:r>
              <a:rPr sz="2400" dirty="0">
                <a:solidFill>
                  <a:srgbClr val="000000"/>
                </a:solidFill>
                <a:latin typeface="AAVGFJ+Calibri"/>
                <a:cs typeface="AAVGFJ+Calibri"/>
              </a:rPr>
              <a:t>digits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its equivalent</a:t>
            </a:r>
            <a:r>
              <a:rPr sz="2400" spc="11" dirty="0">
                <a:solidFill>
                  <a:srgbClr val="000000"/>
                </a:solidFill>
                <a:latin typeface="AAVGFJ+Calibri"/>
                <a:cs typeface="AAVGFJ+Calibri"/>
              </a:rPr>
              <a:t> </a:t>
            </a: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dirty="0">
                <a:solidFill>
                  <a:srgbClr val="000000"/>
                </a:solidFill>
                <a:latin typeface="AAVGFJ+Calibri"/>
                <a:cs typeface="AAVGFJ+Calibri"/>
              </a:rPr>
              <a:t>value.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6206309"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Arithmetic</a:t>
            </a:r>
            <a:r>
              <a:rPr sz="3200" spc="24" dirty="0">
                <a:solidFill>
                  <a:srgbClr val="0033CC"/>
                </a:solidFill>
                <a:latin typeface="OJWNPN+Calibri-Bold"/>
                <a:cs typeface="OJWNPN+Calibri-Bold"/>
              </a:rPr>
              <a:t> </a:t>
            </a:r>
            <a:r>
              <a:rPr sz="3200" spc="-12" dirty="0">
                <a:solidFill>
                  <a:srgbClr val="0033CC"/>
                </a:solidFill>
                <a:latin typeface="OJWNPN+Calibri-Bold"/>
                <a:cs typeface="OJWNPN+Calibri-Bold"/>
              </a:rPr>
              <a:t>operations</a:t>
            </a:r>
            <a:r>
              <a:rPr sz="3200" spc="31" dirty="0">
                <a:solidFill>
                  <a:srgbClr val="0033CC"/>
                </a:solidFill>
                <a:latin typeface="OJWNPN+Calibri-Bold"/>
                <a:cs typeface="OJWNPN+Calibri-Bold"/>
              </a:rPr>
              <a:t> </a:t>
            </a:r>
            <a:r>
              <a:rPr sz="3200" dirty="0">
                <a:solidFill>
                  <a:srgbClr val="0033CC"/>
                </a:solidFill>
                <a:latin typeface="OJWNPN+Calibri-Bold"/>
                <a:cs typeface="OJWNPN+Calibri-Bold"/>
              </a:rPr>
              <a:t>on</a:t>
            </a:r>
            <a:r>
              <a:rPr sz="3200" spc="19" dirty="0">
                <a:solidFill>
                  <a:srgbClr val="0033CC"/>
                </a:solidFill>
                <a:latin typeface="OJWNPN+Calibri-Bold"/>
                <a:cs typeface="OJWNPN+Calibri-Bold"/>
              </a:rPr>
              <a:t> </a:t>
            </a:r>
            <a:r>
              <a:rPr sz="3200" spc="-17" dirty="0">
                <a:solidFill>
                  <a:srgbClr val="0033CC"/>
                </a:solidFill>
                <a:latin typeface="OJWNPN+Calibri-Bold"/>
                <a:cs typeface="OJWNPN+Calibri-Bold"/>
              </a:rPr>
              <a:t>characters</a:t>
            </a:r>
          </a:p>
        </p:txBody>
      </p:sp>
      <p:sp>
        <p:nvSpPr>
          <p:cNvPr id="4" name="object 4"/>
          <p:cNvSpPr txBox="1"/>
          <p:nvPr/>
        </p:nvSpPr>
        <p:spPr>
          <a:xfrm>
            <a:off x="277710" y="1495482"/>
            <a:ext cx="2216248"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1" dirty="0">
                <a:solidFill>
                  <a:srgbClr val="000000"/>
                </a:solidFill>
                <a:latin typeface="AAVGFJ+Calibri"/>
                <a:cs typeface="AAVGFJ+Calibri"/>
              </a:rPr>
              <a:t>char</a:t>
            </a:r>
            <a:r>
              <a:rPr sz="2650" dirty="0">
                <a:solidFill>
                  <a:srgbClr val="000000"/>
                </a:solidFill>
                <a:latin typeface="AAVGFJ+Calibri"/>
                <a:cs typeface="AAVGFJ+Calibri"/>
              </a:rPr>
              <a:t> </a:t>
            </a:r>
            <a:r>
              <a:rPr sz="2650" spc="-67" dirty="0">
                <a:solidFill>
                  <a:srgbClr val="000000"/>
                </a:solidFill>
                <a:latin typeface="AAVGFJ+Calibri"/>
                <a:cs typeface="AAVGFJ+Calibri"/>
              </a:rPr>
              <a:t>ch=’A’</a:t>
            </a:r>
            <a:r>
              <a:rPr sz="2650" spc="77" dirty="0">
                <a:solidFill>
                  <a:srgbClr val="000000"/>
                </a:solidFill>
                <a:latin typeface="AAVGFJ+Calibri"/>
                <a:cs typeface="AAVGFJ+Calibri"/>
              </a:rPr>
              <a:t> </a:t>
            </a:r>
            <a:r>
              <a:rPr sz="2650" dirty="0">
                <a:solidFill>
                  <a:srgbClr val="000000"/>
                </a:solidFill>
                <a:latin typeface="AAVGFJ+Calibri"/>
                <a:cs typeface="AAVGFJ+Calibri"/>
              </a:rPr>
              <a:t>+</a:t>
            </a:r>
            <a:r>
              <a:rPr sz="2650" spc="16" dirty="0">
                <a:solidFill>
                  <a:srgbClr val="000000"/>
                </a:solidFill>
                <a:latin typeface="AAVGFJ+Calibri"/>
                <a:cs typeface="AAVGFJ+Calibri"/>
              </a:rPr>
              <a:t> </a:t>
            </a:r>
            <a:r>
              <a:rPr sz="2650" spc="12" dirty="0">
                <a:solidFill>
                  <a:srgbClr val="000000"/>
                </a:solidFill>
                <a:latin typeface="AAVGFJ+Calibri"/>
                <a:cs typeface="AAVGFJ+Calibri"/>
              </a:rPr>
              <a:t>1;</a:t>
            </a:r>
          </a:p>
        </p:txBody>
      </p:sp>
      <p:sp>
        <p:nvSpPr>
          <p:cNvPr id="5" name="object 5"/>
          <p:cNvSpPr txBox="1"/>
          <p:nvPr/>
        </p:nvSpPr>
        <p:spPr>
          <a:xfrm>
            <a:off x="277710" y="1988242"/>
            <a:ext cx="3958054" cy="870584"/>
          </a:xfrm>
          <a:prstGeom prst="rect">
            <a:avLst/>
          </a:prstGeom>
        </p:spPr>
        <p:txBody>
          <a:bodyPr vert="horz" wrap="square" lIns="0" tIns="0" rIns="0" bIns="0" rtlCol="0">
            <a:spAutoFit/>
          </a:bodyPr>
          <a:lstStyle/>
          <a:p>
            <a:pPr marL="0" marR="0">
              <a:lnSpc>
                <a:spcPts val="2675"/>
              </a:lnSpc>
              <a:spcBef>
                <a:spcPts val="0"/>
              </a:spcBef>
              <a:spcAft>
                <a:spcPts val="0"/>
              </a:spcAft>
            </a:pPr>
            <a:r>
              <a:rPr sz="2650" spc="-10" dirty="0">
                <a:solidFill>
                  <a:srgbClr val="000000"/>
                </a:solidFill>
                <a:latin typeface="AAVGFJ+Calibri"/>
                <a:cs typeface="AAVGFJ+Calibri"/>
              </a:rPr>
              <a:t>printf(“%d”,ch);</a:t>
            </a:r>
            <a:r>
              <a:rPr sz="2650" spc="21" dirty="0">
                <a:solidFill>
                  <a:srgbClr val="000000"/>
                </a:solidFill>
                <a:latin typeface="AAVGFJ+Calibri"/>
                <a:cs typeface="AAVGFJ+Calibri"/>
              </a:rPr>
              <a:t> </a:t>
            </a:r>
            <a:r>
              <a:rPr sz="2650" dirty="0">
                <a:solidFill>
                  <a:srgbClr val="000000"/>
                </a:solidFill>
                <a:latin typeface="AAVGFJ+Calibri"/>
                <a:cs typeface="AAVGFJ+Calibri"/>
              </a:rPr>
              <a:t>-</a:t>
            </a:r>
            <a:r>
              <a:rPr sz="2650" spc="10" dirty="0">
                <a:solidFill>
                  <a:srgbClr val="000000"/>
                </a:solidFill>
                <a:latin typeface="AAVGFJ+Calibri"/>
                <a:cs typeface="AAVGFJ+Calibri"/>
              </a:rPr>
              <a:t> </a:t>
            </a:r>
            <a:r>
              <a:rPr sz="2650" dirty="0">
                <a:solidFill>
                  <a:srgbClr val="000000"/>
                </a:solidFill>
                <a:latin typeface="AAVGFJ+Calibri"/>
                <a:cs typeface="AAVGFJ+Calibri"/>
              </a:rPr>
              <a:t>Display</a:t>
            </a:r>
            <a:r>
              <a:rPr sz="2650" spc="15" dirty="0">
                <a:solidFill>
                  <a:srgbClr val="000000"/>
                </a:solidFill>
                <a:latin typeface="AAVGFJ+Calibri"/>
                <a:cs typeface="AAVGFJ+Calibri"/>
              </a:rPr>
              <a:t> </a:t>
            </a:r>
            <a:r>
              <a:rPr sz="2650" spc="12" dirty="0">
                <a:solidFill>
                  <a:srgbClr val="000000"/>
                </a:solidFill>
                <a:latin typeface="AAVGFJ+Calibri"/>
                <a:cs typeface="AAVGFJ+Calibri"/>
              </a:rPr>
              <a:t>66</a:t>
            </a:r>
          </a:p>
          <a:p>
            <a:pPr marL="0" marR="0">
              <a:lnSpc>
                <a:spcPts val="2675"/>
              </a:lnSpc>
              <a:spcBef>
                <a:spcPts val="1204"/>
              </a:spcBef>
              <a:spcAft>
                <a:spcPts val="0"/>
              </a:spcAft>
            </a:pPr>
            <a:r>
              <a:rPr sz="2650" spc="-10" dirty="0">
                <a:solidFill>
                  <a:srgbClr val="000000"/>
                </a:solidFill>
                <a:latin typeface="AAVGFJ+Calibri"/>
                <a:cs typeface="AAVGFJ+Calibri"/>
              </a:rPr>
              <a:t>printf(“%c”,ch);</a:t>
            </a:r>
            <a:r>
              <a:rPr sz="2650" spc="22" dirty="0">
                <a:solidFill>
                  <a:srgbClr val="000000"/>
                </a:solidFill>
                <a:latin typeface="AAVGFJ+Calibri"/>
                <a:cs typeface="AAVGFJ+Calibri"/>
              </a:rPr>
              <a:t> </a:t>
            </a:r>
            <a:r>
              <a:rPr sz="2650" dirty="0">
                <a:solidFill>
                  <a:srgbClr val="000000"/>
                </a:solidFill>
                <a:latin typeface="AAVGFJ+Calibri"/>
                <a:cs typeface="AAVGFJ+Calibri"/>
              </a:rPr>
              <a:t>-</a:t>
            </a:r>
            <a:r>
              <a:rPr sz="2650" spc="10" dirty="0">
                <a:solidFill>
                  <a:srgbClr val="000000"/>
                </a:solidFill>
                <a:latin typeface="AAVGFJ+Calibri"/>
                <a:cs typeface="AAVGFJ+Calibri"/>
              </a:rPr>
              <a:t> </a:t>
            </a:r>
            <a:r>
              <a:rPr sz="2650" dirty="0">
                <a:solidFill>
                  <a:srgbClr val="000000"/>
                </a:solidFill>
                <a:latin typeface="AAVGFJ+Calibri"/>
                <a:cs typeface="AAVGFJ+Calibri"/>
              </a:rPr>
              <a:t>Display</a:t>
            </a:r>
            <a:r>
              <a:rPr sz="2650" spc="15" dirty="0">
                <a:solidFill>
                  <a:srgbClr val="000000"/>
                </a:solidFill>
                <a:latin typeface="AAVGFJ+Calibri"/>
                <a:cs typeface="AAVGFJ+Calibri"/>
              </a:rPr>
              <a:t> </a:t>
            </a:r>
            <a:r>
              <a:rPr sz="2650" dirty="0">
                <a:solidFill>
                  <a:srgbClr val="000000"/>
                </a:solidFill>
                <a:latin typeface="AAVGFJ+Calibri"/>
                <a:cs typeface="AAVGFJ+Calibri"/>
              </a:rPr>
              <a:t>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3710116"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spc="-11" dirty="0">
                <a:solidFill>
                  <a:srgbClr val="0033CC"/>
                </a:solidFill>
                <a:latin typeface="AAVGFJ+Calibri"/>
                <a:cs typeface="AAVGFJ+Calibri"/>
              </a:rPr>
              <a:t>Operations</a:t>
            </a:r>
            <a:r>
              <a:rPr sz="3200" spc="11" dirty="0">
                <a:solidFill>
                  <a:srgbClr val="0033CC"/>
                </a:solidFill>
                <a:latin typeface="AAVGFJ+Calibri"/>
                <a:cs typeface="AAVGFJ+Calibri"/>
              </a:rPr>
              <a:t> </a:t>
            </a:r>
            <a:r>
              <a:rPr sz="3200" dirty="0">
                <a:solidFill>
                  <a:srgbClr val="0033CC"/>
                </a:solidFill>
                <a:latin typeface="AAVGFJ+Calibri"/>
                <a:cs typeface="AAVGFJ+Calibri"/>
              </a:rPr>
              <a:t>on Strings</a:t>
            </a:r>
          </a:p>
        </p:txBody>
      </p:sp>
      <p:sp>
        <p:nvSpPr>
          <p:cNvPr id="4" name="object 4"/>
          <p:cNvSpPr txBox="1"/>
          <p:nvPr/>
        </p:nvSpPr>
        <p:spPr>
          <a:xfrm>
            <a:off x="277710" y="1495482"/>
            <a:ext cx="11763530" cy="32073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String oriented</a:t>
            </a:r>
            <a:r>
              <a:rPr sz="2650" spc="17" dirty="0">
                <a:solidFill>
                  <a:srgbClr val="000000"/>
                </a:solidFill>
                <a:latin typeface="AAVGFJ+Calibri"/>
                <a:cs typeface="AAVGFJ+Calibri"/>
              </a:rPr>
              <a:t> </a:t>
            </a:r>
            <a:r>
              <a:rPr sz="2650" dirty="0">
                <a:solidFill>
                  <a:srgbClr val="000000"/>
                </a:solidFill>
                <a:latin typeface="AAVGFJ+Calibri"/>
                <a:cs typeface="AAVGFJ+Calibri"/>
              </a:rPr>
              <a:t>library</a:t>
            </a:r>
            <a:r>
              <a:rPr sz="2650" spc="16"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dirty="0">
                <a:solidFill>
                  <a:srgbClr val="000000"/>
                </a:solidFill>
                <a:latin typeface="AAVGFJ+Calibri"/>
                <a:cs typeface="AAVGFJ+Calibri"/>
              </a:rPr>
              <a:t>available</a:t>
            </a:r>
            <a:r>
              <a:rPr sz="2650" spc="19"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FF0000"/>
                </a:solidFill>
                <a:latin typeface="AAVGFJ+Calibri"/>
                <a:cs typeface="AAVGFJ+Calibri"/>
              </a:rPr>
              <a:t>&lt;string.h&gt;header file.</a:t>
            </a:r>
            <a:r>
              <a:rPr sz="2650" spc="11" dirty="0">
                <a:solidFill>
                  <a:srgbClr val="000000"/>
                </a:solidFill>
                <a:latin typeface="AAVGFJ+Calibri"/>
                <a:cs typeface="AAVGFJ+Calibri"/>
              </a:rPr>
              <a:t>The</a:t>
            </a:r>
            <a:r>
              <a:rPr sz="2650" dirty="0">
                <a:solidFill>
                  <a:srgbClr val="000000"/>
                </a:solidFill>
                <a:latin typeface="AAVGFJ+Calibri"/>
                <a:cs typeface="AAVGFJ+Calibri"/>
              </a:rPr>
              <a:t> operations</a:t>
            </a:r>
          </a:p>
          <a:p>
            <a:pPr marL="0" marR="0">
              <a:lnSpc>
                <a:spcPts val="2675"/>
              </a:lnSpc>
              <a:spcBef>
                <a:spcPts val="204"/>
              </a:spcBef>
              <a:spcAft>
                <a:spcPts val="0"/>
              </a:spcAft>
            </a:pPr>
            <a:r>
              <a:rPr sz="2650" dirty="0">
                <a:solidFill>
                  <a:srgbClr val="000000"/>
                </a:solidFill>
                <a:latin typeface="AAVGFJ+Calibri"/>
                <a:cs typeface="AAVGFJ+Calibri"/>
              </a:rPr>
              <a:t>that</a:t>
            </a:r>
            <a:r>
              <a:rPr sz="2650" spc="11" dirty="0">
                <a:solidFill>
                  <a:srgbClr val="000000"/>
                </a:solidFill>
                <a:latin typeface="AAVGFJ+Calibri"/>
                <a:cs typeface="AAVGFJ+Calibri"/>
              </a:rPr>
              <a:t> </a:t>
            </a:r>
            <a:r>
              <a:rPr sz="2650" dirty="0">
                <a:solidFill>
                  <a:srgbClr val="000000"/>
                </a:solidFill>
                <a:latin typeface="AAVGFJ+Calibri"/>
                <a:cs typeface="AAVGFJ+Calibri"/>
              </a:rPr>
              <a:t>can</a:t>
            </a:r>
            <a:r>
              <a:rPr sz="2650" spc="2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performed</a:t>
            </a:r>
            <a:r>
              <a:rPr sz="2650" spc="16" dirty="0">
                <a:solidFill>
                  <a:srgbClr val="000000"/>
                </a:solidFill>
                <a:latin typeface="AAVGFJ+Calibri"/>
                <a:cs typeface="AAVGFJ+Calibri"/>
              </a:rPr>
              <a:t> </a:t>
            </a:r>
            <a:r>
              <a:rPr sz="2650" spc="13" dirty="0">
                <a:solidFill>
                  <a:srgbClr val="000000"/>
                </a:solidFill>
                <a:latin typeface="AAVGFJ+Calibri"/>
                <a:cs typeface="AAVGFJ+Calibri"/>
              </a:rPr>
              <a:t>on</a:t>
            </a:r>
            <a:r>
              <a:rPr sz="2650" dirty="0">
                <a:solidFill>
                  <a:srgbClr val="000000"/>
                </a:solidFill>
                <a:latin typeface="AAVGFJ+Calibri"/>
                <a:cs typeface="AAVGFJ+Calibri"/>
              </a:rPr>
              <a:t> string</a:t>
            </a:r>
            <a:r>
              <a:rPr sz="2650" spc="11" dirty="0">
                <a:solidFill>
                  <a:srgbClr val="000000"/>
                </a:solidFill>
                <a:latin typeface="AAVGFJ+Calibri"/>
                <a:cs typeface="AAVGFJ+Calibri"/>
              </a:rPr>
              <a:t> </a:t>
            </a:r>
            <a:r>
              <a:rPr sz="2650" spc="10" dirty="0">
                <a:solidFill>
                  <a:srgbClr val="000000"/>
                </a:solidFill>
                <a:latin typeface="AAVGFJ+Calibri"/>
                <a:cs typeface="AAVGFJ+Calibri"/>
              </a:rPr>
              <a:t>using</a:t>
            </a:r>
            <a:r>
              <a:rPr sz="2650" dirty="0">
                <a:solidFill>
                  <a:srgbClr val="000000"/>
                </a:solidFill>
                <a:latin typeface="AAVGFJ+Calibri"/>
                <a:cs typeface="AAVGFJ+Calibri"/>
              </a:rPr>
              <a:t> string</a:t>
            </a:r>
            <a:r>
              <a:rPr sz="2650" spc="11"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are,</a:t>
            </a:r>
          </a:p>
          <a:p>
            <a:pPr marL="0" marR="0">
              <a:lnSpc>
                <a:spcPts val="2675"/>
              </a:lnSpc>
              <a:spcBef>
                <a:spcPts val="536"/>
              </a:spcBef>
              <a:spcAft>
                <a:spcPts val="0"/>
              </a:spcAft>
            </a:pPr>
            <a:r>
              <a:rPr sz="2650" spc="20" dirty="0">
                <a:solidFill>
                  <a:srgbClr val="000000"/>
                </a:solidFill>
                <a:latin typeface="FJSWKN+SegoeMDL2Assets"/>
                <a:cs typeface="FJSWKN+SegoeMDL2Assets"/>
              </a:rPr>
              <a:t></a:t>
            </a:r>
            <a:r>
              <a:rPr sz="2650" dirty="0">
                <a:solidFill>
                  <a:srgbClr val="000000"/>
                </a:solidFill>
                <a:latin typeface="AAVGFJ+Calibri"/>
                <a:cs typeface="AAVGFJ+Calibri"/>
              </a:rPr>
              <a:t>Length</a:t>
            </a:r>
            <a:r>
              <a:rPr sz="2650" spc="19"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a:t>
            </a:r>
          </a:p>
          <a:p>
            <a:pPr marL="0" marR="0">
              <a:lnSpc>
                <a:spcPts val="2675"/>
              </a:lnSpc>
              <a:spcBef>
                <a:spcPts val="536"/>
              </a:spcBef>
              <a:spcAft>
                <a:spcPts val="0"/>
              </a:spcAft>
            </a:pPr>
            <a:r>
              <a:rPr sz="2650" spc="20" dirty="0">
                <a:solidFill>
                  <a:srgbClr val="000000"/>
                </a:solidFill>
                <a:latin typeface="FJSWKN+SegoeMDL2Assets"/>
                <a:cs typeface="FJSWKN+SegoeMDL2Assets"/>
              </a:rPr>
              <a:t></a:t>
            </a:r>
            <a:r>
              <a:rPr sz="2650" dirty="0">
                <a:solidFill>
                  <a:srgbClr val="000000"/>
                </a:solidFill>
                <a:latin typeface="AAVGFJ+Calibri"/>
                <a:cs typeface="AAVGFJ+Calibri"/>
              </a:rPr>
              <a:t>Concatenation</a:t>
            </a:r>
            <a:r>
              <a:rPr sz="2650" spc="17"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two</a:t>
            </a:r>
            <a:r>
              <a:rPr sz="2650" spc="19" dirty="0">
                <a:solidFill>
                  <a:srgbClr val="000000"/>
                </a:solidFill>
                <a:latin typeface="AAVGFJ+Calibri"/>
                <a:cs typeface="AAVGFJ+Calibri"/>
              </a:rPr>
              <a:t> </a:t>
            </a:r>
            <a:r>
              <a:rPr sz="2650" dirty="0">
                <a:solidFill>
                  <a:srgbClr val="000000"/>
                </a:solidFill>
                <a:latin typeface="AAVGFJ+Calibri"/>
                <a:cs typeface="AAVGFJ+Calibri"/>
              </a:rPr>
              <a:t>strings.</a:t>
            </a:r>
          </a:p>
          <a:p>
            <a:pPr marL="0" marR="0">
              <a:lnSpc>
                <a:spcPts val="2675"/>
              </a:lnSpc>
              <a:spcBef>
                <a:spcPts val="536"/>
              </a:spcBef>
              <a:spcAft>
                <a:spcPts val="0"/>
              </a:spcAft>
            </a:pPr>
            <a:r>
              <a:rPr sz="2650" spc="20" dirty="0">
                <a:solidFill>
                  <a:srgbClr val="000000"/>
                </a:solidFill>
                <a:latin typeface="FJSWKN+SegoeMDL2Assets"/>
                <a:cs typeface="FJSWKN+SegoeMDL2Assets"/>
              </a:rPr>
              <a:t></a:t>
            </a:r>
            <a:r>
              <a:rPr sz="2650" dirty="0">
                <a:solidFill>
                  <a:srgbClr val="000000"/>
                </a:solidFill>
                <a:latin typeface="AAVGFJ+Calibri"/>
                <a:cs typeface="AAVGFJ+Calibri"/>
              </a:rPr>
              <a:t>Copy 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p>
          <a:p>
            <a:pPr marL="0" marR="0">
              <a:lnSpc>
                <a:spcPts val="2675"/>
              </a:lnSpc>
              <a:spcBef>
                <a:spcPts val="536"/>
              </a:spcBef>
              <a:spcAft>
                <a:spcPts val="0"/>
              </a:spcAft>
            </a:pPr>
            <a:r>
              <a:rPr sz="2650" spc="20" dirty="0">
                <a:solidFill>
                  <a:srgbClr val="000000"/>
                </a:solidFill>
                <a:latin typeface="FJSWKN+SegoeMDL2Assets"/>
                <a:cs typeface="FJSWKN+SegoeMDL2Assets"/>
              </a:rPr>
              <a:t></a:t>
            </a:r>
            <a:r>
              <a:rPr sz="2650" spc="11" dirty="0">
                <a:solidFill>
                  <a:srgbClr val="000000"/>
                </a:solidFill>
                <a:latin typeface="AAVGFJ+Calibri"/>
                <a:cs typeface="AAVGFJ+Calibri"/>
              </a:rPr>
              <a:t>Comparison</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two</a:t>
            </a:r>
            <a:r>
              <a:rPr sz="2650" spc="19" dirty="0">
                <a:solidFill>
                  <a:srgbClr val="000000"/>
                </a:solidFill>
                <a:latin typeface="AAVGFJ+Calibri"/>
                <a:cs typeface="AAVGFJ+Calibri"/>
              </a:rPr>
              <a:t> </a:t>
            </a:r>
            <a:r>
              <a:rPr sz="2650" dirty="0">
                <a:solidFill>
                  <a:srgbClr val="000000"/>
                </a:solidFill>
                <a:latin typeface="AAVGFJ+Calibri"/>
                <a:cs typeface="AAVGFJ+Calibri"/>
              </a:rPr>
              <a:t>strings.</a:t>
            </a:r>
          </a:p>
          <a:p>
            <a:pPr marL="0" marR="0">
              <a:lnSpc>
                <a:spcPts val="2675"/>
              </a:lnSpc>
              <a:spcBef>
                <a:spcPts val="536"/>
              </a:spcBef>
              <a:spcAft>
                <a:spcPts val="0"/>
              </a:spcAft>
            </a:pPr>
            <a:r>
              <a:rPr sz="2650" spc="20" dirty="0">
                <a:solidFill>
                  <a:srgbClr val="000000"/>
                </a:solidFill>
                <a:latin typeface="FJSWKN+SegoeMDL2Assets"/>
                <a:cs typeface="FJSWKN+SegoeMDL2Assets"/>
              </a:rPr>
              <a:t></a:t>
            </a:r>
            <a:r>
              <a:rPr sz="2650" dirty="0">
                <a:solidFill>
                  <a:srgbClr val="000000"/>
                </a:solidFill>
                <a:latin typeface="AAVGFJ+Calibri"/>
                <a:cs typeface="AAVGFJ+Calibri"/>
              </a:rPr>
              <a:t>Substring</a:t>
            </a:r>
            <a:r>
              <a:rPr sz="2650" spc="10" dirty="0">
                <a:solidFill>
                  <a:srgbClr val="000000"/>
                </a:solidFill>
                <a:latin typeface="AAVGFJ+Calibri"/>
                <a:cs typeface="AAVGFJ+Calibri"/>
              </a:rPr>
              <a:t> </a:t>
            </a:r>
            <a:r>
              <a:rPr sz="2650" dirty="0">
                <a:solidFill>
                  <a:srgbClr val="000000"/>
                </a:solidFill>
                <a:latin typeface="AAVGFJ+Calibri"/>
                <a:cs typeface="AAVGFJ+Calibri"/>
              </a:rPr>
              <a:t>extraction.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56540" y="1332490"/>
            <a:ext cx="1718452"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2" dirty="0">
                <a:solidFill>
                  <a:srgbClr val="FF0000"/>
                </a:solidFill>
                <a:latin typeface="AAVGFJ+Calibri"/>
                <a:cs typeface="AAVGFJ+Calibri"/>
              </a:rPr>
              <a:t>1.</a:t>
            </a:r>
            <a:r>
              <a:rPr sz="2650" dirty="0">
                <a:solidFill>
                  <a:srgbClr val="FF0000"/>
                </a:solidFill>
                <a:latin typeface="AAVGFJ+Calibri"/>
                <a:cs typeface="AAVGFJ+Calibri"/>
              </a:rPr>
              <a:t> strcmp(</a:t>
            </a:r>
            <a:r>
              <a:rPr sz="2650" spc="14" dirty="0">
                <a:solidFill>
                  <a:srgbClr val="FF0000"/>
                </a:solidFill>
                <a:latin typeface="AAVGFJ+Calibri"/>
                <a:cs typeface="AAVGFJ+Calibri"/>
              </a:rPr>
              <a:t> </a:t>
            </a:r>
            <a:r>
              <a:rPr sz="2650" dirty="0">
                <a:solidFill>
                  <a:srgbClr val="FF0000"/>
                </a:solidFill>
                <a:latin typeface="AAVGFJ+Calibri"/>
                <a:cs typeface="AAVGFJ+Calibri"/>
              </a:rPr>
              <a:t>)</a:t>
            </a:r>
          </a:p>
        </p:txBody>
      </p:sp>
      <p:sp>
        <p:nvSpPr>
          <p:cNvPr id="5" name="object 5"/>
          <p:cNvSpPr txBox="1"/>
          <p:nvPr/>
        </p:nvSpPr>
        <p:spPr>
          <a:xfrm>
            <a:off x="256540" y="1825250"/>
            <a:ext cx="6048516"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strcmp(string1,string2)</a:t>
            </a:r>
          </a:p>
        </p:txBody>
      </p:sp>
      <p:sp>
        <p:nvSpPr>
          <p:cNvPr id="6" name="object 6"/>
          <p:cNvSpPr txBox="1"/>
          <p:nvPr/>
        </p:nvSpPr>
        <p:spPr>
          <a:xfrm>
            <a:off x="256540" y="2318010"/>
            <a:ext cx="10637007" cy="743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This </a:t>
            </a:r>
            <a:r>
              <a:rPr sz="2650" spc="10" dirty="0">
                <a:solidFill>
                  <a:srgbClr val="000000"/>
                </a:solidFill>
                <a:latin typeface="AAVGFJ+Calibri"/>
                <a:cs typeface="AAVGFJ+Calibri"/>
              </a:rPr>
              <a:t>function</a:t>
            </a:r>
            <a:r>
              <a:rPr sz="2650" dirty="0">
                <a:solidFill>
                  <a:srgbClr val="000000"/>
                </a:solidFill>
                <a:latin typeface="AAVGFJ+Calibri"/>
                <a:cs typeface="AAVGFJ+Calibri"/>
              </a:rPr>
              <a:t> compares</a:t>
            </a:r>
            <a:r>
              <a:rPr sz="2650" spc="12"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two</a:t>
            </a:r>
            <a:r>
              <a:rPr sz="2650" spc="19" dirty="0">
                <a:solidFill>
                  <a:srgbClr val="000000"/>
                </a:solidFill>
                <a:latin typeface="AAVGFJ+Calibri"/>
                <a:cs typeface="AAVGFJ+Calibri"/>
              </a:rPr>
              <a:t> </a:t>
            </a:r>
            <a:r>
              <a:rPr sz="2650" dirty="0">
                <a:solidFill>
                  <a:srgbClr val="000000"/>
                </a:solidFill>
                <a:latin typeface="AAVGFJ+Calibri"/>
                <a:cs typeface="AAVGFJ+Calibri"/>
              </a:rPr>
              <a:t>strings.If </a:t>
            </a:r>
            <a:r>
              <a:rPr sz="2650" spc="11" dirty="0">
                <a:solidFill>
                  <a:srgbClr val="000000"/>
                </a:solidFill>
                <a:latin typeface="AAVGFJ+Calibri"/>
                <a:cs typeface="AAVGFJ+Calibri"/>
              </a:rPr>
              <a:t>both</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strings</a:t>
            </a:r>
            <a:r>
              <a:rPr sz="2650" spc="11"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spc="12" dirty="0">
                <a:solidFill>
                  <a:srgbClr val="000000"/>
                </a:solidFill>
                <a:latin typeface="AAVGFJ+Calibri"/>
                <a:cs typeface="AAVGFJ+Calibri"/>
              </a:rPr>
              <a:t>equal</a:t>
            </a:r>
            <a:r>
              <a:rPr sz="2650" dirty="0">
                <a:solidFill>
                  <a:srgbClr val="000000"/>
                </a:solidFill>
                <a:latin typeface="AAVGFJ+Calibri"/>
                <a:cs typeface="AAVGFJ+Calibri"/>
              </a:rPr>
              <a:t> </a:t>
            </a:r>
            <a:r>
              <a:rPr sz="2650" spc="11" dirty="0">
                <a:solidFill>
                  <a:srgbClr val="000000"/>
                </a:solidFill>
                <a:latin typeface="AAVGFJ+Calibri"/>
                <a:cs typeface="AAVGFJ+Calibri"/>
              </a:rPr>
              <a:t>then</a:t>
            </a:r>
            <a:r>
              <a:rPr sz="2650" dirty="0">
                <a:solidFill>
                  <a:srgbClr val="000000"/>
                </a:solidFill>
                <a:latin typeface="AAVGFJ+Calibri"/>
                <a:cs typeface="AAVGFJ+Calibri"/>
              </a:rPr>
              <a:t> </a:t>
            </a:r>
            <a:r>
              <a:rPr sz="2650" spc="10" dirty="0">
                <a:solidFill>
                  <a:srgbClr val="000000"/>
                </a:solidFill>
                <a:latin typeface="AAVGFJ+Calibri"/>
                <a:cs typeface="AAVGFJ+Calibri"/>
              </a:rPr>
              <a:t>the</a:t>
            </a:r>
          </a:p>
          <a:p>
            <a:pPr marL="0" marR="0">
              <a:lnSpc>
                <a:spcPts val="2675"/>
              </a:lnSpc>
              <a:spcBef>
                <a:spcPts val="204"/>
              </a:spcBef>
              <a:spcAft>
                <a:spcPts val="0"/>
              </a:spcAft>
            </a:pPr>
            <a:r>
              <a:rPr sz="2650" spc="10" dirty="0">
                <a:solidFill>
                  <a:srgbClr val="000000"/>
                </a:solidFill>
                <a:latin typeface="AAVGFJ+Calibri"/>
                <a:cs typeface="AAVGFJ+Calibri"/>
              </a:rPr>
              <a:t>function</a:t>
            </a:r>
            <a:r>
              <a:rPr sz="2650" dirty="0">
                <a:solidFill>
                  <a:srgbClr val="000000"/>
                </a:solidFill>
                <a:latin typeface="AAVGFJ+Calibri"/>
                <a:cs typeface="AAVGFJ+Calibri"/>
              </a:rPr>
              <a:t> returns</a:t>
            </a:r>
            <a:r>
              <a:rPr sz="2650" spc="14" dirty="0">
                <a:solidFill>
                  <a:srgbClr val="000000"/>
                </a:solidFill>
                <a:latin typeface="AAVGFJ+Calibri"/>
                <a:cs typeface="AAVGFJ+Calibri"/>
              </a:rPr>
              <a:t> </a:t>
            </a:r>
            <a:r>
              <a:rPr sz="2650" dirty="0">
                <a:solidFill>
                  <a:srgbClr val="000000"/>
                </a:solidFill>
                <a:latin typeface="AAVGFJ+Calibri"/>
                <a:cs typeface="AAVGFJ+Calibri"/>
              </a:rPr>
              <a:t>0</a:t>
            </a:r>
            <a:r>
              <a:rPr sz="2650" spc="18" dirty="0">
                <a:solidFill>
                  <a:srgbClr val="000000"/>
                </a:solidFill>
                <a:latin typeface="AAVGFJ+Calibri"/>
                <a:cs typeface="AAVGFJ+Calibri"/>
              </a:rPr>
              <a:t> </a:t>
            </a:r>
            <a:r>
              <a:rPr sz="2650" dirty="0">
                <a:solidFill>
                  <a:srgbClr val="000000"/>
                </a:solidFill>
                <a:latin typeface="AAVGFJ+Calibri"/>
                <a:cs typeface="AAVGFJ+Calibri"/>
              </a:rPr>
              <a:t>else it returns</a:t>
            </a:r>
            <a:r>
              <a:rPr sz="2650" spc="14" dirty="0">
                <a:solidFill>
                  <a:srgbClr val="000000"/>
                </a:solidFill>
                <a:latin typeface="AAVGFJ+Calibri"/>
                <a:cs typeface="AAVGFJ+Calibri"/>
              </a:rPr>
              <a:t> </a:t>
            </a:r>
            <a:r>
              <a:rPr sz="2650" dirty="0">
                <a:solidFill>
                  <a:srgbClr val="000000"/>
                </a:solidFill>
                <a:latin typeface="AAVGFJ+Calibri"/>
                <a:cs typeface="AAVGFJ+Calibri"/>
              </a:rPr>
              <a:t>–ve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r>
              <a:rPr sz="2650" spc="18" dirty="0">
                <a:solidFill>
                  <a:srgbClr val="000000"/>
                </a:solidFill>
                <a:latin typeface="AAVGFJ+Calibri"/>
                <a:cs typeface="AAVGFJ+Calibri"/>
              </a:rPr>
              <a:t> </a:t>
            </a:r>
            <a:r>
              <a:rPr sz="2650" spc="13" dirty="0">
                <a:solidFill>
                  <a:srgbClr val="000000"/>
                </a:solidFill>
                <a:latin typeface="AAVGFJ+Calibri"/>
                <a:cs typeface="AAVGFJ+Calibri"/>
              </a:rPr>
              <a:t>or</a:t>
            </a:r>
            <a:r>
              <a:rPr sz="2650" dirty="0">
                <a:solidFill>
                  <a:srgbClr val="000000"/>
                </a:solidFill>
                <a:latin typeface="AAVGFJ+Calibri"/>
                <a:cs typeface="AAVGFJ+Calibri"/>
              </a:rPr>
              <a:t> +ve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p>
        </p:txBody>
      </p:sp>
      <p:sp>
        <p:nvSpPr>
          <p:cNvPr id="7" name="object 7"/>
          <p:cNvSpPr txBox="1"/>
          <p:nvPr/>
        </p:nvSpPr>
        <p:spPr>
          <a:xfrm>
            <a:off x="256540" y="3176530"/>
            <a:ext cx="1325015"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Example</a:t>
            </a:r>
          </a:p>
        </p:txBody>
      </p:sp>
      <p:sp>
        <p:nvSpPr>
          <p:cNvPr id="8" name="object 8"/>
          <p:cNvSpPr txBox="1"/>
          <p:nvPr/>
        </p:nvSpPr>
        <p:spPr>
          <a:xfrm>
            <a:off x="256540" y="3669290"/>
            <a:ext cx="8653812"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9" dirty="0">
                <a:solidFill>
                  <a:srgbClr val="000000"/>
                </a:solidFill>
                <a:latin typeface="AAVGFJ+Calibri"/>
                <a:cs typeface="AAVGFJ+Calibri"/>
              </a:rPr>
              <a:t>strcmp(“value”,”value”)</a:t>
            </a:r>
            <a:r>
              <a:rPr sz="2650" spc="1241" dirty="0">
                <a:solidFill>
                  <a:srgbClr val="000000"/>
                </a:solidFill>
                <a:latin typeface="AAVGFJ+Calibri"/>
                <a:cs typeface="AAVGFJ+Calibri"/>
              </a:rPr>
              <a:t> </a:t>
            </a:r>
            <a:r>
              <a:rPr sz="2650" spc="10" dirty="0">
                <a:solidFill>
                  <a:srgbClr val="000000"/>
                </a:solidFill>
                <a:latin typeface="AAVGFJ+Calibri"/>
                <a:cs typeface="AAVGFJ+Calibri"/>
              </a:rPr>
              <a:t>will</a:t>
            </a:r>
            <a:r>
              <a:rPr sz="2650" dirty="0">
                <a:solidFill>
                  <a:srgbClr val="000000"/>
                </a:solidFill>
                <a:latin typeface="AAVGFJ+Calibri"/>
                <a:cs typeface="AAVGFJ+Calibri"/>
              </a:rPr>
              <a:t> return</a:t>
            </a:r>
            <a:r>
              <a:rPr sz="2650" spc="21" dirty="0">
                <a:solidFill>
                  <a:srgbClr val="000000"/>
                </a:solidFill>
                <a:latin typeface="AAVGFJ+Calibri"/>
                <a:cs typeface="AAVGFJ+Calibri"/>
              </a:rPr>
              <a:t> </a:t>
            </a:r>
            <a:r>
              <a:rPr sz="2650" dirty="0">
                <a:solidFill>
                  <a:srgbClr val="000000"/>
                </a:solidFill>
                <a:latin typeface="AAVGFJ+Calibri"/>
                <a:cs typeface="AAVGFJ+Calibri"/>
              </a:rPr>
              <a:t>0</a:t>
            </a:r>
            <a:r>
              <a:rPr sz="2650" spc="18" dirty="0">
                <a:solidFill>
                  <a:srgbClr val="000000"/>
                </a:solidFill>
                <a:latin typeface="AAVGFJ+Calibri"/>
                <a:cs typeface="AAVGFJ+Calibri"/>
              </a:rPr>
              <a:t> </a:t>
            </a:r>
            <a:r>
              <a:rPr sz="2650" dirty="0">
                <a:solidFill>
                  <a:srgbClr val="000000"/>
                </a:solidFill>
                <a:latin typeface="AAVGFJ+Calibri"/>
                <a:cs typeface="AAVGFJ+Calibri"/>
              </a:rPr>
              <a:t>because</a:t>
            </a:r>
            <a:r>
              <a:rPr sz="2650" spc="11" dirty="0">
                <a:solidFill>
                  <a:srgbClr val="000000"/>
                </a:solidFill>
                <a:latin typeface="AAVGFJ+Calibri"/>
                <a:cs typeface="AAVGFJ+Calibri"/>
              </a:rPr>
              <a:t> both</a:t>
            </a:r>
            <a:r>
              <a:rPr sz="2650"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spc="11" dirty="0">
                <a:solidFill>
                  <a:srgbClr val="000000"/>
                </a:solidFill>
                <a:latin typeface="AAVGFJ+Calibri"/>
                <a:cs typeface="AAVGFJ+Calibri"/>
              </a:rPr>
              <a:t>equal.</a:t>
            </a:r>
          </a:p>
        </p:txBody>
      </p:sp>
      <p:sp>
        <p:nvSpPr>
          <p:cNvPr id="9" name="object 9"/>
          <p:cNvSpPr txBox="1"/>
          <p:nvPr/>
        </p:nvSpPr>
        <p:spPr>
          <a:xfrm>
            <a:off x="256540" y="4162050"/>
            <a:ext cx="11583153" cy="743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strcmp(“</a:t>
            </a:r>
            <a:r>
              <a:rPr sz="2650" spc="-523" dirty="0">
                <a:solidFill>
                  <a:srgbClr val="000000"/>
                </a:solidFill>
                <a:latin typeface="AAVGFJ+Calibri"/>
                <a:cs typeface="AAVGFJ+Calibri"/>
              </a:rPr>
              <a:t> </a:t>
            </a:r>
            <a:r>
              <a:rPr sz="2650" spc="-39" dirty="0">
                <a:solidFill>
                  <a:srgbClr val="000000"/>
                </a:solidFill>
                <a:latin typeface="AAVGFJ+Calibri"/>
                <a:cs typeface="AAVGFJ+Calibri"/>
              </a:rPr>
              <a:t>VALUE”,”value”)</a:t>
            </a:r>
            <a:r>
              <a:rPr sz="2650" spc="1262" dirty="0">
                <a:solidFill>
                  <a:srgbClr val="000000"/>
                </a:solidFill>
                <a:latin typeface="AAVGFJ+Calibri"/>
                <a:cs typeface="AAVGFJ+Calibri"/>
              </a:rPr>
              <a:t> </a:t>
            </a:r>
            <a:r>
              <a:rPr sz="2650" spc="10" dirty="0">
                <a:solidFill>
                  <a:srgbClr val="000000"/>
                </a:solidFill>
                <a:latin typeface="AAVGFJ+Calibri"/>
                <a:cs typeface="AAVGFJ+Calibri"/>
              </a:rPr>
              <a:t>will</a:t>
            </a:r>
            <a:r>
              <a:rPr sz="2650" dirty="0">
                <a:solidFill>
                  <a:srgbClr val="000000"/>
                </a:solidFill>
                <a:latin typeface="AAVGFJ+Calibri"/>
                <a:cs typeface="AAVGFJ+Calibri"/>
              </a:rPr>
              <a:t> return</a:t>
            </a:r>
            <a:r>
              <a:rPr sz="2650" spc="21" dirty="0">
                <a:solidFill>
                  <a:srgbClr val="000000"/>
                </a:solidFill>
                <a:latin typeface="AAVGFJ+Calibri"/>
                <a:cs typeface="AAVGFJ+Calibri"/>
              </a:rPr>
              <a:t> </a:t>
            </a:r>
            <a:r>
              <a:rPr sz="2650" dirty="0">
                <a:solidFill>
                  <a:srgbClr val="000000"/>
                </a:solidFill>
                <a:latin typeface="AAVGFJ+Calibri"/>
                <a:cs typeface="AAVGFJ+Calibri"/>
              </a:rPr>
              <a:t>–ve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r>
              <a:rPr sz="2650" spc="18" dirty="0">
                <a:solidFill>
                  <a:srgbClr val="000000"/>
                </a:solidFill>
                <a:latin typeface="AAVGFJ+Calibri"/>
                <a:cs typeface="AAVGFJ+Calibri"/>
              </a:rPr>
              <a:t> </a:t>
            </a:r>
            <a:r>
              <a:rPr sz="2650" spc="11" dirty="0">
                <a:solidFill>
                  <a:srgbClr val="000000"/>
                </a:solidFill>
                <a:latin typeface="AAVGFJ+Calibri"/>
                <a:cs typeface="AAVGFJ+Calibri"/>
              </a:rPr>
              <a:t>which</a:t>
            </a:r>
            <a:r>
              <a:rPr sz="2650" dirty="0">
                <a:solidFill>
                  <a:srgbClr val="000000"/>
                </a:solidFill>
                <a:latin typeface="AAVGFJ+Calibri"/>
                <a:cs typeface="AAVGFJ+Calibri"/>
              </a:rPr>
              <a:t> is </a:t>
            </a:r>
            <a:r>
              <a:rPr sz="2650" spc="10" dirty="0">
                <a:solidFill>
                  <a:srgbClr val="000000"/>
                </a:solidFill>
                <a:latin typeface="AAVGFJ+Calibri"/>
                <a:cs typeface="AAVGFJ+Calibri"/>
              </a:rPr>
              <a:t>the</a:t>
            </a:r>
            <a:r>
              <a:rPr sz="2650" dirty="0">
                <a:solidFill>
                  <a:srgbClr val="000000"/>
                </a:solidFill>
                <a:latin typeface="AAVGFJ+Calibri"/>
                <a:cs typeface="AAVGFJ+Calibri"/>
              </a:rPr>
              <a:t> difference</a:t>
            </a:r>
            <a:r>
              <a:rPr sz="2650" spc="24" dirty="0">
                <a:solidFill>
                  <a:srgbClr val="000000"/>
                </a:solidFill>
                <a:latin typeface="AAVGFJ+Calibri"/>
                <a:cs typeface="AAVGFJ+Calibri"/>
              </a:rPr>
              <a:t> </a:t>
            </a:r>
            <a:r>
              <a:rPr sz="2650" dirty="0">
                <a:solidFill>
                  <a:srgbClr val="000000"/>
                </a:solidFill>
                <a:latin typeface="AAVGFJ+Calibri"/>
                <a:cs typeface="AAVGFJ+Calibri"/>
              </a:rPr>
              <a:t>between</a:t>
            </a:r>
            <a:r>
              <a:rPr sz="2650" spc="14" dirty="0">
                <a:solidFill>
                  <a:srgbClr val="000000"/>
                </a:solidFill>
                <a:latin typeface="AAVGFJ+Calibri"/>
                <a:cs typeface="AAVGFJ+Calibri"/>
              </a:rPr>
              <a:t> </a:t>
            </a:r>
            <a:r>
              <a:rPr sz="2650" spc="10" dirty="0">
                <a:solidFill>
                  <a:srgbClr val="000000"/>
                </a:solidFill>
                <a:latin typeface="AAVGFJ+Calibri"/>
                <a:cs typeface="AAVGFJ+Calibri"/>
              </a:rPr>
              <a:t>the</a:t>
            </a:r>
          </a:p>
          <a:p>
            <a:pPr marL="0" marR="0">
              <a:lnSpc>
                <a:spcPts val="2675"/>
              </a:lnSpc>
              <a:spcBef>
                <a:spcPts val="205"/>
              </a:spcBef>
              <a:spcAft>
                <a:spcPts val="0"/>
              </a:spcAft>
            </a:pPr>
            <a:r>
              <a:rPr sz="2650" spc="10" dirty="0">
                <a:solidFill>
                  <a:srgbClr val="000000"/>
                </a:solidFill>
                <a:latin typeface="AAVGFJ+Calibri"/>
                <a:cs typeface="AAVGFJ+Calibri"/>
              </a:rPr>
              <a:t>ASCII</a:t>
            </a:r>
            <a:r>
              <a:rPr sz="2650" dirty="0">
                <a:solidFill>
                  <a:srgbClr val="000000"/>
                </a:solidFill>
                <a:latin typeface="AAVGFJ+Calibri"/>
                <a:cs typeface="AAVGFJ+Calibri"/>
              </a:rPr>
              <a:t> </a:t>
            </a:r>
            <a:r>
              <a:rPr sz="2650" spc="40" dirty="0">
                <a:solidFill>
                  <a:srgbClr val="000000"/>
                </a:solidFill>
                <a:latin typeface="AAVGFJ+Calibri"/>
                <a:cs typeface="AAVGFJ+Calibri"/>
              </a:rPr>
              <a:t>’V’</a:t>
            </a:r>
            <a:r>
              <a:rPr sz="2650" spc="-30" dirty="0">
                <a:solidFill>
                  <a:srgbClr val="000000"/>
                </a:solidFill>
                <a:latin typeface="AAVGFJ+Calibri"/>
                <a:cs typeface="AAVGFJ+Calibri"/>
              </a:rPr>
              <a:t> </a:t>
            </a:r>
            <a:r>
              <a:rPr sz="2650" spc="12" dirty="0">
                <a:solidFill>
                  <a:srgbClr val="000000"/>
                </a:solidFill>
                <a:latin typeface="AAVGFJ+Calibri"/>
                <a:cs typeface="AAVGFJ+Calibri"/>
              </a:rPr>
              <a:t>and</a:t>
            </a:r>
            <a:r>
              <a:rPr sz="2650" dirty="0">
                <a:solidFill>
                  <a:srgbClr val="000000"/>
                </a:solidFill>
                <a:latin typeface="AAVGFJ+Calibri"/>
                <a:cs typeface="AAVGFJ+Calibri"/>
              </a:rPr>
              <a:t> </a:t>
            </a:r>
            <a:r>
              <a:rPr sz="2650" spc="10" dirty="0">
                <a:solidFill>
                  <a:srgbClr val="000000"/>
                </a:solidFill>
                <a:latin typeface="AAVGFJ+Calibri"/>
                <a:cs typeface="AAVGFJ+Calibri"/>
              </a:rPr>
              <a:t>ASCII</a:t>
            </a:r>
            <a:r>
              <a:rPr sz="2650" dirty="0">
                <a:solidFill>
                  <a:srgbClr val="000000"/>
                </a:solidFill>
                <a:latin typeface="AAVGFJ+Calibri"/>
                <a:cs typeface="AAVGFJ+Calibri"/>
              </a:rPr>
              <a:t> </a:t>
            </a:r>
            <a:r>
              <a:rPr sz="2650" spc="-18" dirty="0">
                <a:solidFill>
                  <a:srgbClr val="000000"/>
                </a:solidFill>
                <a:latin typeface="AAVGFJ+Calibri"/>
                <a:cs typeface="AAVGFJ+Calibri"/>
              </a:rPr>
              <a:t>’v</a:t>
            </a:r>
            <a:r>
              <a:rPr sz="2650" spc="-516" dirty="0">
                <a:solidFill>
                  <a:srgbClr val="000000"/>
                </a:solidFill>
                <a:latin typeface="AAVGFJ+Calibri"/>
                <a:cs typeface="AAVGFJ+Calibri"/>
              </a:rPr>
              <a:t> </a:t>
            </a:r>
            <a:r>
              <a:rPr sz="2650" spc="-126" dirty="0">
                <a:solidFill>
                  <a:srgbClr val="000000"/>
                </a:solidFill>
                <a:latin typeface="AAVGFJ+Calibri"/>
                <a:cs typeface="AAVGFJ+Calibri"/>
              </a:rPr>
              <a:t>’.</a:t>
            </a:r>
          </a:p>
        </p:txBody>
      </p:sp>
      <p:sp>
        <p:nvSpPr>
          <p:cNvPr id="10" name="object 10"/>
          <p:cNvSpPr txBox="1"/>
          <p:nvPr/>
        </p:nvSpPr>
        <p:spPr>
          <a:xfrm>
            <a:off x="256540" y="5020570"/>
            <a:ext cx="11764511" cy="743585"/>
          </a:xfrm>
          <a:prstGeom prst="rect">
            <a:avLst/>
          </a:prstGeom>
        </p:spPr>
        <p:txBody>
          <a:bodyPr vert="horz" wrap="square" lIns="0" tIns="0" rIns="0" bIns="0" rtlCol="0">
            <a:spAutoFit/>
          </a:bodyPr>
          <a:lstStyle/>
          <a:p>
            <a:pPr marL="0" marR="0">
              <a:lnSpc>
                <a:spcPts val="2675"/>
              </a:lnSpc>
              <a:spcBef>
                <a:spcPts val="0"/>
              </a:spcBef>
              <a:spcAft>
                <a:spcPts val="0"/>
              </a:spcAft>
            </a:pPr>
            <a:r>
              <a:rPr sz="2650" spc="-18" dirty="0">
                <a:solidFill>
                  <a:srgbClr val="000000"/>
                </a:solidFill>
                <a:latin typeface="AAVGFJ+Calibri"/>
                <a:cs typeface="AAVGFJ+Calibri"/>
              </a:rPr>
              <a:t>strcmp(“there”,”their</a:t>
            </a:r>
            <a:r>
              <a:rPr sz="2650" spc="-478" dirty="0">
                <a:solidFill>
                  <a:srgbClr val="000000"/>
                </a:solidFill>
                <a:latin typeface="AAVGFJ+Calibri"/>
                <a:cs typeface="AAVGFJ+Calibri"/>
              </a:rPr>
              <a:t> </a:t>
            </a:r>
            <a:r>
              <a:rPr sz="2650" dirty="0">
                <a:solidFill>
                  <a:srgbClr val="000000"/>
                </a:solidFill>
                <a:latin typeface="AAVGFJ+Calibri"/>
                <a:cs typeface="AAVGFJ+Calibri"/>
              </a:rPr>
              <a:t>”)</a:t>
            </a:r>
            <a:r>
              <a:rPr sz="2650" spc="1824" dirty="0">
                <a:solidFill>
                  <a:srgbClr val="000000"/>
                </a:solidFill>
                <a:latin typeface="AAVGFJ+Calibri"/>
                <a:cs typeface="AAVGFJ+Calibri"/>
              </a:rPr>
              <a:t> </a:t>
            </a:r>
            <a:r>
              <a:rPr sz="2650" spc="10" dirty="0">
                <a:solidFill>
                  <a:srgbClr val="000000"/>
                </a:solidFill>
                <a:latin typeface="AAVGFJ+Calibri"/>
                <a:cs typeface="AAVGFJ+Calibri"/>
              </a:rPr>
              <a:t>will</a:t>
            </a:r>
            <a:r>
              <a:rPr sz="2650" dirty="0">
                <a:solidFill>
                  <a:srgbClr val="000000"/>
                </a:solidFill>
                <a:latin typeface="AAVGFJ+Calibri"/>
                <a:cs typeface="AAVGFJ+Calibri"/>
              </a:rPr>
              <a:t> return</a:t>
            </a:r>
            <a:r>
              <a:rPr sz="2650" spc="626" dirty="0">
                <a:solidFill>
                  <a:srgbClr val="000000"/>
                </a:solidFill>
                <a:latin typeface="AAVGFJ+Calibri"/>
                <a:cs typeface="AAVGFJ+Calibri"/>
              </a:rPr>
              <a:t> </a:t>
            </a:r>
            <a:r>
              <a:rPr sz="2650" dirty="0">
                <a:solidFill>
                  <a:srgbClr val="000000"/>
                </a:solidFill>
                <a:latin typeface="AAVGFJ+Calibri"/>
                <a:cs typeface="AAVGFJ+Calibri"/>
              </a:rPr>
              <a:t>+ve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r>
              <a:rPr sz="2650" spc="18" dirty="0">
                <a:solidFill>
                  <a:srgbClr val="000000"/>
                </a:solidFill>
                <a:latin typeface="AAVGFJ+Calibri"/>
                <a:cs typeface="AAVGFJ+Calibri"/>
              </a:rPr>
              <a:t> </a:t>
            </a:r>
            <a:r>
              <a:rPr sz="2650" spc="11" dirty="0">
                <a:solidFill>
                  <a:srgbClr val="000000"/>
                </a:solidFill>
                <a:latin typeface="AAVGFJ+Calibri"/>
                <a:cs typeface="AAVGFJ+Calibri"/>
              </a:rPr>
              <a:t>which</a:t>
            </a:r>
            <a:r>
              <a:rPr sz="2650" dirty="0">
                <a:solidFill>
                  <a:srgbClr val="000000"/>
                </a:solidFill>
                <a:latin typeface="AAVGFJ+Calibri"/>
                <a:cs typeface="AAVGFJ+Calibri"/>
              </a:rPr>
              <a:t> is </a:t>
            </a:r>
            <a:r>
              <a:rPr sz="2650" spc="10" dirty="0">
                <a:solidFill>
                  <a:srgbClr val="000000"/>
                </a:solidFill>
                <a:latin typeface="AAVGFJ+Calibri"/>
                <a:cs typeface="AAVGFJ+Calibri"/>
              </a:rPr>
              <a:t>the</a:t>
            </a:r>
            <a:r>
              <a:rPr sz="2650" dirty="0">
                <a:solidFill>
                  <a:srgbClr val="000000"/>
                </a:solidFill>
                <a:latin typeface="AAVGFJ+Calibri"/>
                <a:cs typeface="AAVGFJ+Calibri"/>
              </a:rPr>
              <a:t> difference</a:t>
            </a:r>
            <a:r>
              <a:rPr sz="2650" spc="24" dirty="0">
                <a:solidFill>
                  <a:srgbClr val="000000"/>
                </a:solidFill>
                <a:latin typeface="AAVGFJ+Calibri"/>
                <a:cs typeface="AAVGFJ+Calibri"/>
              </a:rPr>
              <a:t> </a:t>
            </a:r>
            <a:r>
              <a:rPr sz="2650" dirty="0">
                <a:solidFill>
                  <a:srgbClr val="000000"/>
                </a:solidFill>
                <a:latin typeface="AAVGFJ+Calibri"/>
                <a:cs typeface="AAVGFJ+Calibri"/>
              </a:rPr>
              <a:t>between</a:t>
            </a:r>
            <a:r>
              <a:rPr sz="2650" spc="14" dirty="0">
                <a:solidFill>
                  <a:srgbClr val="000000"/>
                </a:solidFill>
                <a:latin typeface="AAVGFJ+Calibri"/>
                <a:cs typeface="AAVGFJ+Calibri"/>
              </a:rPr>
              <a:t> </a:t>
            </a:r>
            <a:r>
              <a:rPr sz="2650" spc="10" dirty="0">
                <a:solidFill>
                  <a:srgbClr val="000000"/>
                </a:solidFill>
                <a:latin typeface="AAVGFJ+Calibri"/>
                <a:cs typeface="AAVGFJ+Calibri"/>
              </a:rPr>
              <a:t>ASCII</a:t>
            </a:r>
          </a:p>
          <a:p>
            <a:pPr marL="0" marR="0">
              <a:lnSpc>
                <a:spcPts val="2675"/>
              </a:lnSpc>
              <a:spcBef>
                <a:spcPts val="205"/>
              </a:spcBef>
              <a:spcAft>
                <a:spcPts val="0"/>
              </a:spcAft>
            </a:pPr>
            <a:r>
              <a:rPr sz="2650" dirty="0">
                <a:solidFill>
                  <a:srgbClr val="000000"/>
                </a:solidFill>
                <a:latin typeface="AAVGFJ+Calibri"/>
                <a:cs typeface="AAVGFJ+Calibri"/>
              </a:rPr>
              <a:t>‘r</a:t>
            </a:r>
            <a:r>
              <a:rPr sz="2650" spc="-478" dirty="0">
                <a:solidFill>
                  <a:srgbClr val="000000"/>
                </a:solidFill>
                <a:latin typeface="AAVGFJ+Calibri"/>
                <a:cs typeface="AAVGFJ+Calibri"/>
              </a:rPr>
              <a:t> </a:t>
            </a:r>
            <a:r>
              <a:rPr sz="2650" spc="-42" dirty="0">
                <a:solidFill>
                  <a:srgbClr val="000000"/>
                </a:solidFill>
                <a:latin typeface="AAVGFJ+Calibri"/>
                <a:cs typeface="AAVGFJ+Calibri"/>
              </a:rPr>
              <a:t>’and</a:t>
            </a:r>
            <a:r>
              <a:rPr sz="2650" spc="61" dirty="0">
                <a:solidFill>
                  <a:srgbClr val="000000"/>
                </a:solidFill>
                <a:latin typeface="AAVGFJ+Calibri"/>
                <a:cs typeface="AAVGFJ+Calibri"/>
              </a:rPr>
              <a:t> </a:t>
            </a:r>
            <a:r>
              <a:rPr sz="2650" spc="10" dirty="0">
                <a:solidFill>
                  <a:srgbClr val="000000"/>
                </a:solidFill>
                <a:latin typeface="AAVGFJ+Calibri"/>
                <a:cs typeface="AAVGFJ+Calibri"/>
              </a:rPr>
              <a:t>ASCII</a:t>
            </a:r>
            <a:r>
              <a:rPr sz="2650" dirty="0">
                <a:solidFill>
                  <a:srgbClr val="000000"/>
                </a:solidFill>
                <a:latin typeface="AAVGFJ+Calibri"/>
                <a:cs typeface="AAVGFJ+Calibri"/>
              </a:rPr>
              <a:t> </a:t>
            </a:r>
            <a:r>
              <a:rPr sz="2650" spc="18" dirty="0">
                <a:solidFill>
                  <a:srgbClr val="000000"/>
                </a:solidFill>
                <a:latin typeface="AAVGFJ+Calibri"/>
                <a:cs typeface="AAVGFJ+Calibri"/>
              </a:rPr>
              <a:t>‘i’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1495482"/>
            <a:ext cx="3040478"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FF0000"/>
                </a:solidFill>
                <a:latin typeface="AAVGFJ+Calibri"/>
                <a:cs typeface="AAVGFJ+Calibri"/>
              </a:rPr>
              <a:t>2.strcmpi(</a:t>
            </a:r>
            <a:r>
              <a:rPr sz="2650" spc="10" dirty="0">
                <a:solidFill>
                  <a:srgbClr val="FF0000"/>
                </a:solidFill>
                <a:latin typeface="AAVGFJ+Calibri"/>
                <a:cs typeface="AAVGFJ+Calibri"/>
              </a:rPr>
              <a:t> </a:t>
            </a:r>
            <a:r>
              <a:rPr sz="2650" dirty="0">
                <a:solidFill>
                  <a:srgbClr val="FF0000"/>
                </a:solidFill>
                <a:latin typeface="AAVGFJ+Calibri"/>
                <a:cs typeface="AAVGFJ+Calibri"/>
              </a:rPr>
              <a:t>)</a:t>
            </a:r>
            <a:r>
              <a:rPr sz="2650" spc="12"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5" name="object 5"/>
          <p:cNvSpPr txBox="1"/>
          <p:nvPr/>
        </p:nvSpPr>
        <p:spPr>
          <a:xfrm>
            <a:off x="277710" y="1988242"/>
            <a:ext cx="11332943" cy="110934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This </a:t>
            </a:r>
            <a:r>
              <a:rPr sz="2650" spc="10" dirty="0">
                <a:solidFill>
                  <a:srgbClr val="000000"/>
                </a:solidFill>
                <a:latin typeface="AAVGFJ+Calibri"/>
                <a:cs typeface="AAVGFJ+Calibri"/>
              </a:rPr>
              <a:t>function</a:t>
            </a:r>
            <a:r>
              <a:rPr sz="2650" dirty="0">
                <a:solidFill>
                  <a:srgbClr val="000000"/>
                </a:solidFill>
                <a:latin typeface="AAVGFJ+Calibri"/>
                <a:cs typeface="AAVGFJ+Calibri"/>
              </a:rPr>
              <a:t> also</a:t>
            </a:r>
            <a:r>
              <a:rPr sz="2650" spc="10" dirty="0">
                <a:solidFill>
                  <a:srgbClr val="000000"/>
                </a:solidFill>
                <a:latin typeface="AAVGFJ+Calibri"/>
                <a:cs typeface="AAVGFJ+Calibri"/>
              </a:rPr>
              <a:t> </a:t>
            </a:r>
            <a:r>
              <a:rPr sz="2650" dirty="0">
                <a:solidFill>
                  <a:srgbClr val="000000"/>
                </a:solidFill>
                <a:latin typeface="AAVGFJ+Calibri"/>
                <a:cs typeface="AAVGFJ+Calibri"/>
              </a:rPr>
              <a:t>compares</a:t>
            </a:r>
            <a:r>
              <a:rPr sz="2650" spc="12" dirty="0">
                <a:solidFill>
                  <a:srgbClr val="000000"/>
                </a:solidFill>
                <a:latin typeface="AAVGFJ+Calibri"/>
                <a:cs typeface="AAVGFJ+Calibri"/>
              </a:rPr>
              <a:t> </a:t>
            </a:r>
            <a:r>
              <a:rPr sz="2650" dirty="0">
                <a:solidFill>
                  <a:srgbClr val="000000"/>
                </a:solidFill>
                <a:latin typeface="AAVGFJ+Calibri"/>
                <a:cs typeface="AAVGFJ+Calibri"/>
              </a:rPr>
              <a:t>two</a:t>
            </a:r>
            <a:r>
              <a:rPr sz="2650" spc="19" dirty="0">
                <a:solidFill>
                  <a:srgbClr val="000000"/>
                </a:solidFill>
                <a:latin typeface="AAVGFJ+Calibri"/>
                <a:cs typeface="AAVGFJ+Calibri"/>
              </a:rPr>
              <a:t> </a:t>
            </a:r>
            <a:r>
              <a:rPr sz="2650" dirty="0">
                <a:solidFill>
                  <a:srgbClr val="000000"/>
                </a:solidFill>
                <a:latin typeface="AAVGFJ+Calibri"/>
                <a:cs typeface="AAVGFJ+Calibri"/>
              </a:rPr>
              <a:t>strings</a:t>
            </a:r>
            <a:r>
              <a:rPr sz="2650" spc="11" dirty="0">
                <a:solidFill>
                  <a:srgbClr val="000000"/>
                </a:solidFill>
                <a:latin typeface="AAVGFJ+Calibri"/>
                <a:cs typeface="AAVGFJ+Calibri"/>
              </a:rPr>
              <a:t> </a:t>
            </a:r>
            <a:r>
              <a:rPr sz="2650" spc="13" dirty="0">
                <a:solidFill>
                  <a:srgbClr val="000000"/>
                </a:solidFill>
                <a:latin typeface="AAVGFJ+Calibri"/>
                <a:cs typeface="AAVGFJ+Calibri"/>
              </a:rPr>
              <a:t>but</a:t>
            </a:r>
            <a:r>
              <a:rPr sz="2650" dirty="0">
                <a:solidFill>
                  <a:srgbClr val="000000"/>
                </a:solidFill>
                <a:latin typeface="AAVGFJ+Calibri"/>
                <a:cs typeface="AAVGFJ+Calibri"/>
              </a:rPr>
              <a:t> </a:t>
            </a:r>
            <a:r>
              <a:rPr sz="2650" spc="13" dirty="0">
                <a:solidFill>
                  <a:srgbClr val="000000"/>
                </a:solidFill>
                <a:latin typeface="AAVGFJ+Calibri"/>
                <a:cs typeface="AAVGFJ+Calibri"/>
              </a:rPr>
              <a:t>not</a:t>
            </a:r>
            <a:r>
              <a:rPr sz="2650" dirty="0">
                <a:solidFill>
                  <a:srgbClr val="000000"/>
                </a:solidFill>
                <a:latin typeface="AAVGFJ+Calibri"/>
                <a:cs typeface="AAVGFJ+Calibri"/>
              </a:rPr>
              <a:t> case</a:t>
            </a:r>
            <a:r>
              <a:rPr sz="2650" spc="16" dirty="0">
                <a:solidFill>
                  <a:srgbClr val="000000"/>
                </a:solidFill>
                <a:latin typeface="AAVGFJ+Calibri"/>
                <a:cs typeface="AAVGFJ+Calibri"/>
              </a:rPr>
              <a:t> </a:t>
            </a:r>
            <a:r>
              <a:rPr sz="2650" dirty="0">
                <a:solidFill>
                  <a:srgbClr val="000000"/>
                </a:solidFill>
                <a:latin typeface="AAVGFJ+Calibri"/>
                <a:cs typeface="AAVGFJ+Calibri"/>
              </a:rPr>
              <a:t>sensitive. This </a:t>
            </a:r>
            <a:r>
              <a:rPr sz="2650" spc="10" dirty="0">
                <a:solidFill>
                  <a:srgbClr val="000000"/>
                </a:solidFill>
                <a:latin typeface="AAVGFJ+Calibri"/>
                <a:cs typeface="AAVGFJ+Calibri"/>
              </a:rPr>
              <a:t>function</a:t>
            </a:r>
          </a:p>
          <a:p>
            <a:pPr marL="0" marR="0">
              <a:lnSpc>
                <a:spcPts val="2675"/>
              </a:lnSpc>
              <a:spcBef>
                <a:spcPts val="204"/>
              </a:spcBef>
              <a:spcAft>
                <a:spcPts val="0"/>
              </a:spcAft>
            </a:pPr>
            <a:r>
              <a:rPr sz="2650" dirty="0">
                <a:solidFill>
                  <a:srgbClr val="000000"/>
                </a:solidFill>
                <a:latin typeface="AAVGFJ+Calibri"/>
                <a:cs typeface="AAVGFJ+Calibri"/>
              </a:rPr>
              <a:t>compares</a:t>
            </a:r>
            <a:r>
              <a:rPr sz="2650" spc="12"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two</a:t>
            </a:r>
            <a:r>
              <a:rPr sz="2650" spc="19" dirty="0">
                <a:solidFill>
                  <a:srgbClr val="000000"/>
                </a:solidFill>
                <a:latin typeface="AAVGFJ+Calibri"/>
                <a:cs typeface="AAVGFJ+Calibri"/>
              </a:rPr>
              <a:t> </a:t>
            </a:r>
            <a:r>
              <a:rPr sz="2650" dirty="0">
                <a:solidFill>
                  <a:srgbClr val="000000"/>
                </a:solidFill>
                <a:latin typeface="AAVGFJ+Calibri"/>
                <a:cs typeface="AAVGFJ+Calibri"/>
              </a:rPr>
              <a:t>strings.If </a:t>
            </a:r>
            <a:r>
              <a:rPr sz="2650" spc="11" dirty="0">
                <a:solidFill>
                  <a:srgbClr val="000000"/>
                </a:solidFill>
                <a:latin typeface="AAVGFJ+Calibri"/>
                <a:cs typeface="AAVGFJ+Calibri"/>
              </a:rPr>
              <a:t>both</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strings</a:t>
            </a:r>
            <a:r>
              <a:rPr sz="2650" spc="11"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spc="12" dirty="0">
                <a:solidFill>
                  <a:srgbClr val="000000"/>
                </a:solidFill>
                <a:latin typeface="AAVGFJ+Calibri"/>
                <a:cs typeface="AAVGFJ+Calibri"/>
              </a:rPr>
              <a:t>equal</a:t>
            </a:r>
            <a:r>
              <a:rPr sz="2650" dirty="0">
                <a:solidFill>
                  <a:srgbClr val="000000"/>
                </a:solidFill>
                <a:latin typeface="AAVGFJ+Calibri"/>
                <a:cs typeface="AAVGFJ+Calibri"/>
              </a:rPr>
              <a:t> </a:t>
            </a:r>
            <a:r>
              <a:rPr sz="2650" spc="11" dirty="0">
                <a:solidFill>
                  <a:srgbClr val="000000"/>
                </a:solidFill>
                <a:latin typeface="AAVGFJ+Calibri"/>
                <a:cs typeface="AAVGFJ+Calibri"/>
              </a:rPr>
              <a:t>then</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0" dirty="0">
                <a:solidFill>
                  <a:srgbClr val="000000"/>
                </a:solidFill>
                <a:latin typeface="AAVGFJ+Calibri"/>
                <a:cs typeface="AAVGFJ+Calibri"/>
              </a:rPr>
              <a:t>function</a:t>
            </a:r>
            <a:r>
              <a:rPr sz="2650" dirty="0">
                <a:solidFill>
                  <a:srgbClr val="000000"/>
                </a:solidFill>
                <a:latin typeface="AAVGFJ+Calibri"/>
                <a:cs typeface="AAVGFJ+Calibri"/>
              </a:rPr>
              <a:t> returns</a:t>
            </a:r>
            <a:r>
              <a:rPr sz="2650" spc="14" dirty="0">
                <a:solidFill>
                  <a:srgbClr val="000000"/>
                </a:solidFill>
                <a:latin typeface="AAVGFJ+Calibri"/>
                <a:cs typeface="AAVGFJ+Calibri"/>
              </a:rPr>
              <a:t> </a:t>
            </a:r>
            <a:r>
              <a:rPr sz="2650" dirty="0">
                <a:solidFill>
                  <a:srgbClr val="000000"/>
                </a:solidFill>
                <a:latin typeface="AAVGFJ+Calibri"/>
                <a:cs typeface="AAVGFJ+Calibri"/>
              </a:rPr>
              <a:t>0</a:t>
            </a:r>
          </a:p>
          <a:p>
            <a:pPr marL="0" marR="0">
              <a:lnSpc>
                <a:spcPts val="2675"/>
              </a:lnSpc>
              <a:spcBef>
                <a:spcPts val="154"/>
              </a:spcBef>
              <a:spcAft>
                <a:spcPts val="0"/>
              </a:spcAft>
            </a:pPr>
            <a:r>
              <a:rPr sz="2650" dirty="0">
                <a:solidFill>
                  <a:srgbClr val="000000"/>
                </a:solidFill>
                <a:latin typeface="AAVGFJ+Calibri"/>
                <a:cs typeface="AAVGFJ+Calibri"/>
              </a:rPr>
              <a:t>else it returns</a:t>
            </a:r>
            <a:r>
              <a:rPr sz="2650" spc="14" dirty="0">
                <a:solidFill>
                  <a:srgbClr val="000000"/>
                </a:solidFill>
                <a:latin typeface="AAVGFJ+Calibri"/>
                <a:cs typeface="AAVGFJ+Calibri"/>
              </a:rPr>
              <a:t> </a:t>
            </a:r>
            <a:r>
              <a:rPr sz="2650" dirty="0">
                <a:solidFill>
                  <a:srgbClr val="000000"/>
                </a:solidFill>
                <a:latin typeface="AAVGFJ+Calibri"/>
                <a:cs typeface="AAVGFJ+Calibri"/>
              </a:rPr>
              <a:t>–ve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r>
              <a:rPr sz="2650" spc="18" dirty="0">
                <a:solidFill>
                  <a:srgbClr val="000000"/>
                </a:solidFill>
                <a:latin typeface="AAVGFJ+Calibri"/>
                <a:cs typeface="AAVGFJ+Calibri"/>
              </a:rPr>
              <a:t> </a:t>
            </a:r>
            <a:r>
              <a:rPr sz="2650" spc="13" dirty="0">
                <a:solidFill>
                  <a:srgbClr val="000000"/>
                </a:solidFill>
                <a:latin typeface="AAVGFJ+Calibri"/>
                <a:cs typeface="AAVGFJ+Calibri"/>
              </a:rPr>
              <a:t>or</a:t>
            </a:r>
            <a:r>
              <a:rPr sz="2650" dirty="0">
                <a:solidFill>
                  <a:srgbClr val="000000"/>
                </a:solidFill>
                <a:latin typeface="AAVGFJ+Calibri"/>
                <a:cs typeface="AAVGFJ+Calibri"/>
              </a:rPr>
              <a:t> +ve</a:t>
            </a:r>
            <a:r>
              <a:rPr sz="2650" spc="23" dirty="0">
                <a:solidFill>
                  <a:srgbClr val="000000"/>
                </a:solidFill>
                <a:latin typeface="AAVGFJ+Calibri"/>
                <a:cs typeface="AAVGFJ+Calibri"/>
              </a:rPr>
              <a:t> </a:t>
            </a:r>
            <a:r>
              <a:rPr sz="2650" dirty="0">
                <a:solidFill>
                  <a:srgbClr val="000000"/>
                </a:solidFill>
                <a:latin typeface="AAVGFJ+Calibri"/>
                <a:cs typeface="AAVGFJ+Calibri"/>
              </a:rPr>
              <a:t>value.</a:t>
            </a:r>
          </a:p>
        </p:txBody>
      </p:sp>
      <p:sp>
        <p:nvSpPr>
          <p:cNvPr id="6" name="object 6"/>
          <p:cNvSpPr txBox="1"/>
          <p:nvPr/>
        </p:nvSpPr>
        <p:spPr>
          <a:xfrm>
            <a:off x="277710" y="3212522"/>
            <a:ext cx="7590825" cy="870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strcmpi(“</a:t>
            </a:r>
            <a:r>
              <a:rPr sz="2650" spc="-478" dirty="0">
                <a:solidFill>
                  <a:srgbClr val="000000"/>
                </a:solidFill>
                <a:latin typeface="AAVGFJ+Calibri"/>
                <a:cs typeface="AAVGFJ+Calibri"/>
              </a:rPr>
              <a:t> </a:t>
            </a:r>
            <a:r>
              <a:rPr sz="2650" spc="-33" dirty="0">
                <a:solidFill>
                  <a:srgbClr val="000000"/>
                </a:solidFill>
                <a:latin typeface="AAVGFJ+Calibri"/>
                <a:cs typeface="AAVGFJ+Calibri"/>
              </a:rPr>
              <a:t>THE”,”the”)</a:t>
            </a:r>
            <a:r>
              <a:rPr sz="2650" spc="45" dirty="0">
                <a:solidFill>
                  <a:srgbClr val="000000"/>
                </a:solidFill>
                <a:latin typeface="AAVGFJ+Calibri"/>
                <a:cs typeface="AAVGFJ+Calibri"/>
              </a:rPr>
              <a:t> </a:t>
            </a:r>
            <a:r>
              <a:rPr sz="2650" spc="10" dirty="0">
                <a:solidFill>
                  <a:srgbClr val="000000"/>
                </a:solidFill>
                <a:latin typeface="AAVGFJ+Calibri"/>
                <a:cs typeface="AAVGFJ+Calibri"/>
              </a:rPr>
              <a:t>will</a:t>
            </a:r>
            <a:r>
              <a:rPr sz="2650" dirty="0">
                <a:solidFill>
                  <a:srgbClr val="000000"/>
                </a:solidFill>
                <a:latin typeface="AAVGFJ+Calibri"/>
                <a:cs typeface="AAVGFJ+Calibri"/>
              </a:rPr>
              <a:t> return</a:t>
            </a:r>
            <a:r>
              <a:rPr sz="2650" spc="21" dirty="0">
                <a:solidFill>
                  <a:srgbClr val="000000"/>
                </a:solidFill>
                <a:latin typeface="AAVGFJ+Calibri"/>
                <a:cs typeface="AAVGFJ+Calibri"/>
              </a:rPr>
              <a:t> </a:t>
            </a:r>
            <a:r>
              <a:rPr sz="2650" spc="12" dirty="0">
                <a:solidFill>
                  <a:srgbClr val="000000"/>
                </a:solidFill>
                <a:latin typeface="AAVGFJ+Calibri"/>
                <a:cs typeface="AAVGFJ+Calibri"/>
              </a:rPr>
              <a:t>0.</a:t>
            </a:r>
          </a:p>
          <a:p>
            <a:pPr marL="0" marR="0">
              <a:lnSpc>
                <a:spcPts val="2675"/>
              </a:lnSpc>
              <a:spcBef>
                <a:spcPts val="1204"/>
              </a:spcBef>
              <a:spcAft>
                <a:spcPts val="0"/>
              </a:spcAft>
            </a:pPr>
            <a:r>
              <a:rPr sz="2650" dirty="0">
                <a:solidFill>
                  <a:srgbClr val="FF0000"/>
                </a:solidFill>
                <a:latin typeface="AAVGFJ+Calibri"/>
                <a:cs typeface="AAVGFJ+Calibri"/>
              </a:rPr>
              <a:t>3.strcpy(</a:t>
            </a:r>
            <a:r>
              <a:rPr sz="2650" spc="14" dirty="0">
                <a:solidFill>
                  <a:srgbClr val="FF0000"/>
                </a:solidFill>
                <a:latin typeface="AAVGFJ+Calibri"/>
                <a:cs typeface="AAVGFJ+Calibri"/>
              </a:rPr>
              <a:t> </a:t>
            </a:r>
            <a:r>
              <a:rPr sz="2650" dirty="0">
                <a:solidFill>
                  <a:srgbClr val="FF0000"/>
                </a:solidFill>
                <a:latin typeface="AAVGFJ+Calibri"/>
                <a:cs typeface="AAVGFJ+Calibri"/>
              </a:rPr>
              <a:t>)</a:t>
            </a:r>
            <a:r>
              <a:rPr sz="2650" spc="12"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7" name="object 7"/>
          <p:cNvSpPr txBox="1"/>
          <p:nvPr/>
        </p:nvSpPr>
        <p:spPr>
          <a:xfrm>
            <a:off x="277710" y="4198042"/>
            <a:ext cx="6395754" cy="136334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This is </a:t>
            </a:r>
            <a:r>
              <a:rPr sz="2650" spc="11" dirty="0">
                <a:solidFill>
                  <a:srgbClr val="000000"/>
                </a:solidFill>
                <a:latin typeface="AAVGFJ+Calibri"/>
                <a:cs typeface="AAVGFJ+Calibri"/>
              </a:rPr>
              <a:t>used</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copy</a:t>
            </a:r>
            <a:r>
              <a:rPr sz="2650" spc="18"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1" dirty="0">
                <a:solidFill>
                  <a:srgbClr val="000000"/>
                </a:solidFill>
                <a:latin typeface="AAVGFJ+Calibri"/>
                <a:cs typeface="AAVGFJ+Calibri"/>
              </a:rPr>
              <a:t>another</a:t>
            </a:r>
            <a:r>
              <a:rPr sz="2650" dirty="0">
                <a:solidFill>
                  <a:srgbClr val="000000"/>
                </a:solidFill>
                <a:latin typeface="AAVGFJ+Calibri"/>
                <a:cs typeface="AAVGFJ+Calibri"/>
              </a:rPr>
              <a:t> string.</a:t>
            </a:r>
          </a:p>
          <a:p>
            <a:pPr marL="0" marR="0">
              <a:lnSpc>
                <a:spcPts val="2675"/>
              </a:lnSpc>
              <a:spcBef>
                <a:spcPts val="1204"/>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strcpy(str1,str2);</a:t>
            </a:r>
          </a:p>
          <a:p>
            <a:pPr marL="0" marR="0">
              <a:lnSpc>
                <a:spcPts val="2675"/>
              </a:lnSpc>
              <a:spcBef>
                <a:spcPts val="1155"/>
              </a:spcBef>
              <a:spcAft>
                <a:spcPts val="0"/>
              </a:spcAft>
            </a:pPr>
            <a:r>
              <a:rPr sz="2650" spc="10" dirty="0">
                <a:solidFill>
                  <a:srgbClr val="000000"/>
                </a:solidFill>
                <a:latin typeface="AAVGFJ+Calibri"/>
                <a:cs typeface="AAVGFJ+Calibri"/>
              </a:rPr>
              <a:t>will</a:t>
            </a:r>
            <a:r>
              <a:rPr sz="2650" dirty="0">
                <a:solidFill>
                  <a:srgbClr val="000000"/>
                </a:solidFill>
                <a:latin typeface="AAVGFJ+Calibri"/>
                <a:cs typeface="AAVGFJ+Calibri"/>
              </a:rPr>
              <a:t> copy</a:t>
            </a:r>
            <a:r>
              <a:rPr sz="2650" spc="18" dirty="0">
                <a:solidFill>
                  <a:srgbClr val="000000"/>
                </a:solidFill>
                <a:latin typeface="AAVGFJ+Calibri"/>
                <a:cs typeface="AAVGFJ+Calibri"/>
              </a:rPr>
              <a:t> </a:t>
            </a:r>
            <a:r>
              <a:rPr sz="2650" dirty="0">
                <a:solidFill>
                  <a:srgbClr val="000000"/>
                </a:solidFill>
                <a:latin typeface="AAVGFJ+Calibri"/>
                <a:cs typeface="AAVGFJ+Calibri"/>
              </a:rPr>
              <a:t>contents</a:t>
            </a:r>
            <a:r>
              <a:rPr sz="2650" spc="19"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str2</a:t>
            </a:r>
            <a:r>
              <a:rPr sz="2650" spc="2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str1.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1495482"/>
            <a:ext cx="2614983"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FF0000"/>
                </a:solidFill>
                <a:latin typeface="AAVGFJ+Calibri"/>
                <a:cs typeface="AAVGFJ+Calibri"/>
              </a:rPr>
              <a:t>4.strcat()</a:t>
            </a:r>
            <a:r>
              <a:rPr sz="2650" spc="17"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5" name="object 5"/>
          <p:cNvSpPr txBox="1"/>
          <p:nvPr/>
        </p:nvSpPr>
        <p:spPr>
          <a:xfrm>
            <a:off x="277710" y="1988242"/>
            <a:ext cx="6779930" cy="870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This is </a:t>
            </a:r>
            <a:r>
              <a:rPr sz="2650" spc="11" dirty="0">
                <a:solidFill>
                  <a:srgbClr val="000000"/>
                </a:solidFill>
                <a:latin typeface="AAVGFJ+Calibri"/>
                <a:cs typeface="AAVGFJ+Calibri"/>
              </a:rPr>
              <a:t>used</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concatenate</a:t>
            </a:r>
            <a:r>
              <a:rPr sz="2650" spc="23" dirty="0">
                <a:solidFill>
                  <a:srgbClr val="000000"/>
                </a:solidFill>
                <a:latin typeface="AAVGFJ+Calibri"/>
                <a:cs typeface="AAVGFJ+Calibri"/>
              </a:rPr>
              <a:t> </a:t>
            </a:r>
            <a:r>
              <a:rPr sz="2650" dirty="0">
                <a:solidFill>
                  <a:srgbClr val="000000"/>
                </a:solidFill>
                <a:latin typeface="AAVGFJ+Calibri"/>
                <a:cs typeface="AAVGFJ+Calibri"/>
              </a:rPr>
              <a:t>two</a:t>
            </a:r>
            <a:r>
              <a:rPr sz="2650" spc="19" dirty="0">
                <a:solidFill>
                  <a:srgbClr val="000000"/>
                </a:solidFill>
                <a:latin typeface="AAVGFJ+Calibri"/>
                <a:cs typeface="AAVGFJ+Calibri"/>
              </a:rPr>
              <a:t> </a:t>
            </a:r>
            <a:r>
              <a:rPr sz="2650" dirty="0">
                <a:solidFill>
                  <a:srgbClr val="000000"/>
                </a:solidFill>
                <a:latin typeface="AAVGFJ+Calibri"/>
                <a:cs typeface="AAVGFJ+Calibri"/>
              </a:rPr>
              <a:t>strings</a:t>
            </a:r>
            <a:r>
              <a:rPr sz="2650" spc="11" dirty="0">
                <a:solidFill>
                  <a:srgbClr val="000000"/>
                </a:solidFill>
                <a:latin typeface="AAVGFJ+Calibri"/>
                <a:cs typeface="AAVGFJ+Calibri"/>
              </a:rPr>
              <a:t> </a:t>
            </a:r>
            <a:r>
              <a:rPr sz="2650" spc="-29" dirty="0">
                <a:solidFill>
                  <a:srgbClr val="000000"/>
                </a:solidFill>
                <a:latin typeface="AAVGFJ+Calibri"/>
                <a:cs typeface="AAVGFJ+Calibri"/>
              </a:rPr>
              <a:t>together.</a:t>
            </a:r>
          </a:p>
          <a:p>
            <a:pPr marL="0" marR="0">
              <a:lnSpc>
                <a:spcPts val="2675"/>
              </a:lnSpc>
              <a:spcBef>
                <a:spcPts val="1204"/>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strcat(str1,str2);</a:t>
            </a:r>
          </a:p>
        </p:txBody>
      </p:sp>
      <p:sp>
        <p:nvSpPr>
          <p:cNvPr id="6" name="object 6"/>
          <p:cNvSpPr txBox="1"/>
          <p:nvPr/>
        </p:nvSpPr>
        <p:spPr>
          <a:xfrm>
            <a:off x="277710" y="2973762"/>
            <a:ext cx="9953659" cy="870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concats</a:t>
            </a:r>
            <a:r>
              <a:rPr sz="2650" spc="17" dirty="0">
                <a:solidFill>
                  <a:srgbClr val="000000"/>
                </a:solidFill>
                <a:latin typeface="AAVGFJ+Calibri"/>
                <a:cs typeface="AAVGFJ+Calibri"/>
              </a:rPr>
              <a:t> </a:t>
            </a:r>
            <a:r>
              <a:rPr sz="2650" spc="13" dirty="0">
                <a:solidFill>
                  <a:srgbClr val="000000"/>
                </a:solidFill>
                <a:latin typeface="AAVGFJ+Calibri"/>
                <a:cs typeface="AAVGFJ+Calibri"/>
              </a:rPr>
              <a:t>or</a:t>
            </a:r>
            <a:r>
              <a:rPr sz="2650" dirty="0">
                <a:solidFill>
                  <a:srgbClr val="000000"/>
                </a:solidFill>
                <a:latin typeface="AAVGFJ+Calibri"/>
                <a:cs typeface="AAVGFJ+Calibri"/>
              </a:rPr>
              <a:t> </a:t>
            </a:r>
            <a:r>
              <a:rPr sz="2650" spc="10" dirty="0">
                <a:solidFill>
                  <a:srgbClr val="000000"/>
                </a:solidFill>
                <a:latin typeface="AAVGFJ+Calibri"/>
                <a:cs typeface="AAVGFJ+Calibri"/>
              </a:rPr>
              <a:t>joins</a:t>
            </a:r>
            <a:r>
              <a:rPr sz="2650" dirty="0">
                <a:solidFill>
                  <a:srgbClr val="000000"/>
                </a:solidFill>
                <a:latin typeface="AAVGFJ+Calibri"/>
                <a:cs typeface="AAVGFJ+Calibri"/>
              </a:rPr>
              <a:t> str2</a:t>
            </a:r>
            <a:r>
              <a:rPr sz="2650" spc="20" dirty="0">
                <a:solidFill>
                  <a:srgbClr val="000000"/>
                </a:solidFill>
                <a:latin typeface="AAVGFJ+Calibri"/>
                <a:cs typeface="AAVGFJ+Calibri"/>
              </a:rPr>
              <a:t> </a:t>
            </a:r>
            <a:r>
              <a:rPr sz="2650" spc="10" dirty="0">
                <a:solidFill>
                  <a:srgbClr val="000000"/>
                </a:solidFill>
                <a:latin typeface="AAVGFJ+Calibri"/>
                <a:cs typeface="AAVGFJ+Calibri"/>
              </a:rPr>
              <a:t>with</a:t>
            </a:r>
            <a:r>
              <a:rPr sz="2650" dirty="0">
                <a:solidFill>
                  <a:srgbClr val="000000"/>
                </a:solidFill>
                <a:latin typeface="AAVGFJ+Calibri"/>
                <a:cs typeface="AAVGFJ+Calibri"/>
              </a:rPr>
              <a:t> str1.</a:t>
            </a:r>
            <a:r>
              <a:rPr sz="2650" spc="11" dirty="0">
                <a:solidFill>
                  <a:srgbClr val="000000"/>
                </a:solidFill>
                <a:latin typeface="AAVGFJ+Calibri"/>
                <a:cs typeface="AAVGFJ+Calibri"/>
              </a:rPr>
              <a:t> The</a:t>
            </a:r>
            <a:r>
              <a:rPr sz="2650" dirty="0">
                <a:solidFill>
                  <a:srgbClr val="000000"/>
                </a:solidFill>
                <a:latin typeface="AAVGFJ+Calibri"/>
                <a:cs typeface="AAVGFJ+Calibri"/>
              </a:rPr>
              <a:t> concatenated</a:t>
            </a:r>
            <a:r>
              <a:rPr sz="2650" spc="23"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dirty="0">
                <a:solidFill>
                  <a:srgbClr val="000000"/>
                </a:solidFill>
                <a:latin typeface="AAVGFJ+Calibri"/>
                <a:cs typeface="AAVGFJ+Calibri"/>
              </a:rPr>
              <a:t>is </a:t>
            </a:r>
            <a:r>
              <a:rPr sz="2650" spc="-11" dirty="0">
                <a:solidFill>
                  <a:srgbClr val="000000"/>
                </a:solidFill>
                <a:latin typeface="AAVGFJ+Calibri"/>
                <a:cs typeface="AAVGFJ+Calibri"/>
              </a:rPr>
              <a:t>stored</a:t>
            </a:r>
            <a:r>
              <a:rPr sz="2650" spc="29"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000000"/>
                </a:solidFill>
                <a:latin typeface="AAVGFJ+Calibri"/>
                <a:cs typeface="AAVGFJ+Calibri"/>
              </a:rPr>
              <a:t>str1.</a:t>
            </a:r>
          </a:p>
          <a:p>
            <a:pPr marL="0" marR="0">
              <a:lnSpc>
                <a:spcPts val="2675"/>
              </a:lnSpc>
              <a:spcBef>
                <a:spcPts val="1205"/>
              </a:spcBef>
              <a:spcAft>
                <a:spcPts val="0"/>
              </a:spcAft>
            </a:pPr>
            <a:r>
              <a:rPr sz="2650" dirty="0">
                <a:solidFill>
                  <a:srgbClr val="FF0000"/>
                </a:solidFill>
                <a:latin typeface="AAVGFJ+Calibri"/>
                <a:cs typeface="AAVGFJ+Calibri"/>
              </a:rPr>
              <a:t>5.strlen( )</a:t>
            </a:r>
            <a:r>
              <a:rPr sz="2650" spc="12"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7" name="object 7"/>
          <p:cNvSpPr txBox="1"/>
          <p:nvPr/>
        </p:nvSpPr>
        <p:spPr>
          <a:xfrm>
            <a:off x="277710" y="3959282"/>
            <a:ext cx="6809774" cy="870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It returns</a:t>
            </a:r>
            <a:r>
              <a:rPr sz="2650" spc="14"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4" dirty="0">
                <a:solidFill>
                  <a:srgbClr val="000000"/>
                </a:solidFill>
                <a:latin typeface="AAVGFJ+Calibri"/>
                <a:cs typeface="AAVGFJ+Calibri"/>
              </a:rPr>
              <a:t>number</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characters</a:t>
            </a:r>
            <a:r>
              <a:rPr sz="2650" spc="20"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string.</a:t>
            </a:r>
          </a:p>
          <a:p>
            <a:pPr marL="0" marR="0">
              <a:lnSpc>
                <a:spcPts val="2675"/>
              </a:lnSpc>
              <a:spcBef>
                <a:spcPts val="1205"/>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strlen(str)</a:t>
            </a:r>
          </a:p>
        </p:txBody>
      </p:sp>
      <p:sp>
        <p:nvSpPr>
          <p:cNvPr id="8" name="object 8"/>
          <p:cNvSpPr txBox="1"/>
          <p:nvPr/>
        </p:nvSpPr>
        <p:spPr>
          <a:xfrm>
            <a:off x="277710" y="4944802"/>
            <a:ext cx="6819933"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0" dirty="0">
                <a:solidFill>
                  <a:srgbClr val="000000"/>
                </a:solidFill>
                <a:latin typeface="AAVGFJ+Calibri"/>
                <a:cs typeface="AAVGFJ+Calibri"/>
              </a:rPr>
              <a:t>will</a:t>
            </a:r>
            <a:r>
              <a:rPr sz="2650" dirty="0">
                <a:solidFill>
                  <a:srgbClr val="000000"/>
                </a:solidFill>
                <a:latin typeface="AAVGFJ+Calibri"/>
                <a:cs typeface="AAVGFJ+Calibri"/>
              </a:rPr>
              <a:t> return</a:t>
            </a:r>
            <a:r>
              <a:rPr sz="2650" spc="21"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4" dirty="0">
                <a:solidFill>
                  <a:srgbClr val="000000"/>
                </a:solidFill>
                <a:latin typeface="AAVGFJ+Calibri"/>
                <a:cs typeface="AAVGFJ+Calibri"/>
              </a:rPr>
              <a:t>number</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characters</a:t>
            </a:r>
            <a:r>
              <a:rPr sz="2650" spc="20"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spc="-69" dirty="0">
                <a:solidFill>
                  <a:srgbClr val="000000"/>
                </a:solidFill>
                <a:latin typeface="AAVGFJ+Calibri"/>
                <a:cs typeface="AAVGFJ+Calibri"/>
              </a:rPr>
              <a:t>str.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1495482"/>
            <a:ext cx="2813148"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spc="12" dirty="0">
                <a:solidFill>
                  <a:srgbClr val="FF0000"/>
                </a:solidFill>
                <a:latin typeface="AAVGFJ+Calibri"/>
                <a:cs typeface="AAVGFJ+Calibri"/>
              </a:rPr>
              <a:t>6.</a:t>
            </a:r>
            <a:r>
              <a:rPr sz="2650" dirty="0">
                <a:solidFill>
                  <a:srgbClr val="FF0000"/>
                </a:solidFill>
                <a:latin typeface="AAVGFJ+Calibri"/>
                <a:cs typeface="AAVGFJ+Calibri"/>
              </a:rPr>
              <a:t> strlwr( </a:t>
            </a:r>
            <a:r>
              <a:rPr sz="2650" spc="10" dirty="0">
                <a:solidFill>
                  <a:srgbClr val="FF0000"/>
                </a:solidFill>
                <a:latin typeface="AAVGFJ+Calibri"/>
                <a:cs typeface="AAVGFJ+Calibri"/>
              </a:rPr>
              <a:t>)function:</a:t>
            </a:r>
          </a:p>
        </p:txBody>
      </p:sp>
      <p:sp>
        <p:nvSpPr>
          <p:cNvPr id="5" name="object 5"/>
          <p:cNvSpPr txBox="1"/>
          <p:nvPr/>
        </p:nvSpPr>
        <p:spPr>
          <a:xfrm>
            <a:off x="277710" y="1988242"/>
            <a:ext cx="7456202" cy="136334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It converts</a:t>
            </a:r>
            <a:r>
              <a:rPr sz="2650" spc="19" dirty="0">
                <a:solidFill>
                  <a:srgbClr val="000000"/>
                </a:solidFill>
                <a:latin typeface="AAVGFJ+Calibri"/>
                <a:cs typeface="AAVGFJ+Calibri"/>
              </a:rPr>
              <a:t> </a:t>
            </a:r>
            <a:r>
              <a:rPr sz="2650" dirty="0">
                <a:solidFill>
                  <a:srgbClr val="000000"/>
                </a:solidFill>
                <a:latin typeface="AAVGFJ+Calibri"/>
                <a:cs typeface="AAVGFJ+Calibri"/>
              </a:rPr>
              <a:t>all </a:t>
            </a:r>
            <a:r>
              <a:rPr sz="2650" spc="10" dirty="0">
                <a:solidFill>
                  <a:srgbClr val="000000"/>
                </a:solidFill>
                <a:latin typeface="AAVGFJ+Calibri"/>
                <a:cs typeface="AAVGFJ+Calibri"/>
              </a:rPr>
              <a:t>the</a:t>
            </a:r>
            <a:r>
              <a:rPr sz="2650" dirty="0">
                <a:solidFill>
                  <a:srgbClr val="000000"/>
                </a:solidFill>
                <a:latin typeface="AAVGFJ+Calibri"/>
                <a:cs typeface="AAVGFJ+Calibri"/>
              </a:rPr>
              <a:t> characters</a:t>
            </a:r>
            <a:r>
              <a:rPr sz="2650" spc="20"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lower</a:t>
            </a:r>
            <a:r>
              <a:rPr sz="2650" spc="10" dirty="0">
                <a:solidFill>
                  <a:srgbClr val="000000"/>
                </a:solidFill>
                <a:latin typeface="AAVGFJ+Calibri"/>
                <a:cs typeface="AAVGFJ+Calibri"/>
              </a:rPr>
              <a:t> </a:t>
            </a:r>
            <a:r>
              <a:rPr sz="2650" dirty="0">
                <a:solidFill>
                  <a:srgbClr val="000000"/>
                </a:solidFill>
                <a:latin typeface="AAVGFJ+Calibri"/>
                <a:cs typeface="AAVGFJ+Calibri"/>
              </a:rPr>
              <a:t>case.</a:t>
            </a:r>
          </a:p>
          <a:p>
            <a:pPr marL="0" marR="0">
              <a:lnSpc>
                <a:spcPts val="2675"/>
              </a:lnSpc>
              <a:spcBef>
                <a:spcPts val="1204"/>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spc="-11" dirty="0">
                <a:solidFill>
                  <a:srgbClr val="000000"/>
                </a:solidFill>
                <a:latin typeface="AAVGFJ+Calibri"/>
                <a:cs typeface="AAVGFJ+Calibri"/>
              </a:rPr>
              <a:t>Syntax:</a:t>
            </a:r>
            <a:r>
              <a:rPr sz="2650" spc="4258" dirty="0">
                <a:solidFill>
                  <a:srgbClr val="000000"/>
                </a:solidFill>
                <a:latin typeface="AAVGFJ+Calibri"/>
                <a:cs typeface="AAVGFJ+Calibri"/>
              </a:rPr>
              <a:t> </a:t>
            </a:r>
            <a:r>
              <a:rPr sz="2650" dirty="0">
                <a:solidFill>
                  <a:srgbClr val="000000"/>
                </a:solidFill>
                <a:latin typeface="AAVGFJ+Calibri"/>
                <a:cs typeface="AAVGFJ+Calibri"/>
              </a:rPr>
              <a:t>strlwr(str);</a:t>
            </a:r>
          </a:p>
          <a:p>
            <a:pPr marL="0" marR="0">
              <a:lnSpc>
                <a:spcPts val="2675"/>
              </a:lnSpc>
              <a:spcBef>
                <a:spcPts val="1154"/>
              </a:spcBef>
              <a:spcAft>
                <a:spcPts val="0"/>
              </a:spcAft>
            </a:pPr>
            <a:r>
              <a:rPr sz="2650" spc="12" dirty="0">
                <a:solidFill>
                  <a:srgbClr val="FF0000"/>
                </a:solidFill>
                <a:latin typeface="AAVGFJ+Calibri"/>
                <a:cs typeface="AAVGFJ+Calibri"/>
              </a:rPr>
              <a:t>7.</a:t>
            </a:r>
            <a:r>
              <a:rPr sz="2650" dirty="0">
                <a:solidFill>
                  <a:srgbClr val="FF0000"/>
                </a:solidFill>
                <a:latin typeface="AAVGFJ+Calibri"/>
                <a:cs typeface="AAVGFJ+Calibri"/>
              </a:rPr>
              <a:t> strupr( )</a:t>
            </a:r>
            <a:r>
              <a:rPr sz="2650" spc="12"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6" name="object 6"/>
          <p:cNvSpPr txBox="1"/>
          <p:nvPr/>
        </p:nvSpPr>
        <p:spPr>
          <a:xfrm>
            <a:off x="277710" y="3466522"/>
            <a:ext cx="7573678" cy="870584"/>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It</a:t>
            </a:r>
            <a:r>
              <a:rPr sz="2650" spc="611" dirty="0">
                <a:solidFill>
                  <a:srgbClr val="000000"/>
                </a:solidFill>
                <a:latin typeface="AAVGFJ+Calibri"/>
                <a:cs typeface="AAVGFJ+Calibri"/>
              </a:rPr>
              <a:t> </a:t>
            </a:r>
            <a:r>
              <a:rPr sz="2650" dirty="0">
                <a:solidFill>
                  <a:srgbClr val="000000"/>
                </a:solidFill>
                <a:latin typeface="AAVGFJ+Calibri"/>
                <a:cs typeface="AAVGFJ+Calibri"/>
              </a:rPr>
              <a:t>converts</a:t>
            </a:r>
            <a:r>
              <a:rPr sz="2650" spc="19" dirty="0">
                <a:solidFill>
                  <a:srgbClr val="000000"/>
                </a:solidFill>
                <a:latin typeface="AAVGFJ+Calibri"/>
                <a:cs typeface="AAVGFJ+Calibri"/>
              </a:rPr>
              <a:t> </a:t>
            </a:r>
            <a:r>
              <a:rPr sz="2650" dirty="0">
                <a:solidFill>
                  <a:srgbClr val="000000"/>
                </a:solidFill>
                <a:latin typeface="AAVGFJ+Calibri"/>
                <a:cs typeface="AAVGFJ+Calibri"/>
              </a:rPr>
              <a:t>all </a:t>
            </a:r>
            <a:r>
              <a:rPr sz="2650" spc="10" dirty="0">
                <a:solidFill>
                  <a:srgbClr val="000000"/>
                </a:solidFill>
                <a:latin typeface="AAVGFJ+Calibri"/>
                <a:cs typeface="AAVGFJ+Calibri"/>
              </a:rPr>
              <a:t>the</a:t>
            </a:r>
            <a:r>
              <a:rPr sz="2650" dirty="0">
                <a:solidFill>
                  <a:srgbClr val="000000"/>
                </a:solidFill>
                <a:latin typeface="AAVGFJ+Calibri"/>
                <a:cs typeface="AAVGFJ+Calibri"/>
              </a:rPr>
              <a:t> characters</a:t>
            </a:r>
            <a:r>
              <a:rPr sz="2650" spc="20"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r>
              <a:rPr sz="2650" spc="11"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2" dirty="0">
                <a:solidFill>
                  <a:srgbClr val="000000"/>
                </a:solidFill>
                <a:latin typeface="AAVGFJ+Calibri"/>
                <a:cs typeface="AAVGFJ+Calibri"/>
              </a:rPr>
              <a:t>upper</a:t>
            </a:r>
            <a:r>
              <a:rPr sz="2650" dirty="0">
                <a:solidFill>
                  <a:srgbClr val="000000"/>
                </a:solidFill>
                <a:latin typeface="AAVGFJ+Calibri"/>
                <a:cs typeface="AAVGFJ+Calibri"/>
              </a:rPr>
              <a:t> case.</a:t>
            </a:r>
          </a:p>
          <a:p>
            <a:pPr marL="0" marR="0">
              <a:lnSpc>
                <a:spcPts val="2675"/>
              </a:lnSpc>
              <a:spcBef>
                <a:spcPts val="1204"/>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dirty="0">
                <a:solidFill>
                  <a:srgbClr val="000000"/>
                </a:solidFill>
                <a:latin typeface="AAVGFJ+Calibri"/>
                <a:cs typeface="AAVGFJ+Calibri"/>
              </a:rPr>
              <a:t>Syntax:strupr(str);</a:t>
            </a:r>
          </a:p>
        </p:txBody>
      </p:sp>
      <p:sp>
        <p:nvSpPr>
          <p:cNvPr id="7" name="object 7"/>
          <p:cNvSpPr txBox="1"/>
          <p:nvPr/>
        </p:nvSpPr>
        <p:spPr>
          <a:xfrm>
            <a:off x="277710" y="4452042"/>
            <a:ext cx="2807433" cy="37782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FF0000"/>
                </a:solidFill>
                <a:latin typeface="AAVGFJ+Calibri"/>
                <a:cs typeface="AAVGFJ+Calibri"/>
              </a:rPr>
              <a:t>8.strrev(</a:t>
            </a:r>
            <a:r>
              <a:rPr sz="2650" spc="15" dirty="0">
                <a:solidFill>
                  <a:srgbClr val="FF0000"/>
                </a:solidFill>
                <a:latin typeface="AAVGFJ+Calibri"/>
                <a:cs typeface="AAVGFJ+Calibri"/>
              </a:rPr>
              <a:t> </a:t>
            </a:r>
            <a:r>
              <a:rPr sz="2650" dirty="0">
                <a:solidFill>
                  <a:srgbClr val="FF0000"/>
                </a:solidFill>
                <a:latin typeface="AAVGFJ+Calibri"/>
                <a:cs typeface="AAVGFJ+Calibri"/>
              </a:rPr>
              <a:t>)</a:t>
            </a:r>
            <a:r>
              <a:rPr sz="2650" spc="12" dirty="0">
                <a:solidFill>
                  <a:srgbClr val="FF0000"/>
                </a:solidFill>
                <a:latin typeface="AAVGFJ+Calibri"/>
                <a:cs typeface="AAVGFJ+Calibri"/>
              </a:rPr>
              <a:t> </a:t>
            </a:r>
            <a:r>
              <a:rPr sz="2650" spc="10" dirty="0">
                <a:solidFill>
                  <a:srgbClr val="FF0000"/>
                </a:solidFill>
                <a:latin typeface="AAVGFJ+Calibri"/>
                <a:cs typeface="AAVGFJ+Calibri"/>
              </a:rPr>
              <a:t>function:</a:t>
            </a:r>
          </a:p>
        </p:txBody>
      </p:sp>
      <p:sp>
        <p:nvSpPr>
          <p:cNvPr id="8" name="object 8"/>
          <p:cNvSpPr txBox="1"/>
          <p:nvPr/>
        </p:nvSpPr>
        <p:spPr>
          <a:xfrm>
            <a:off x="277710" y="4944802"/>
            <a:ext cx="5124484" cy="870585"/>
          </a:xfrm>
          <a:prstGeom prst="rect">
            <a:avLst/>
          </a:prstGeom>
        </p:spPr>
        <p:txBody>
          <a:bodyPr vert="horz" wrap="square" lIns="0" tIns="0" rIns="0" bIns="0" rtlCol="0">
            <a:spAutoFit/>
          </a:bodyPr>
          <a:lstStyle/>
          <a:p>
            <a:pPr marL="0" marR="0">
              <a:lnSpc>
                <a:spcPts val="2675"/>
              </a:lnSpc>
              <a:spcBef>
                <a:spcPts val="0"/>
              </a:spcBef>
              <a:spcAft>
                <a:spcPts val="0"/>
              </a:spcAft>
            </a:pPr>
            <a:r>
              <a:rPr sz="2650" dirty="0">
                <a:solidFill>
                  <a:srgbClr val="000000"/>
                </a:solidFill>
                <a:latin typeface="AAVGFJ+Calibri"/>
                <a:cs typeface="AAVGFJ+Calibri"/>
              </a:rPr>
              <a:t>It </a:t>
            </a:r>
            <a:r>
              <a:rPr sz="2650" spc="-10" dirty="0">
                <a:solidFill>
                  <a:srgbClr val="000000"/>
                </a:solidFill>
                <a:latin typeface="AAVGFJ+Calibri"/>
                <a:cs typeface="AAVGFJ+Calibri"/>
              </a:rPr>
              <a:t>reverses</a:t>
            </a:r>
            <a:r>
              <a:rPr sz="2650" spc="25"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characters</a:t>
            </a:r>
            <a:r>
              <a:rPr sz="2650" spc="20" dirty="0">
                <a:solidFill>
                  <a:srgbClr val="000000"/>
                </a:solidFill>
                <a:latin typeface="AAVGFJ+Calibri"/>
                <a:cs typeface="AAVGFJ+Calibri"/>
              </a:rPr>
              <a:t> </a:t>
            </a:r>
            <a:r>
              <a:rPr sz="2650" dirty="0">
                <a:solidFill>
                  <a:srgbClr val="000000"/>
                </a:solidFill>
                <a:latin typeface="AAVGFJ+Calibri"/>
                <a:cs typeface="AAVGFJ+Calibri"/>
              </a:rPr>
              <a:t>in</a:t>
            </a:r>
            <a:r>
              <a:rPr sz="2650" spc="12"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string.</a:t>
            </a:r>
          </a:p>
          <a:p>
            <a:pPr marL="0" marR="0">
              <a:lnSpc>
                <a:spcPts val="2675"/>
              </a:lnSpc>
              <a:spcBef>
                <a:spcPts val="1205"/>
              </a:spcBef>
              <a:spcAft>
                <a:spcPts val="0"/>
              </a:spcAft>
            </a:pPr>
            <a:r>
              <a:rPr sz="2650" dirty="0">
                <a:solidFill>
                  <a:srgbClr val="000000"/>
                </a:solidFill>
                <a:latin typeface="AAVGFJ+Calibri"/>
                <a:cs typeface="AAVGFJ+Calibri"/>
              </a:rPr>
              <a:t>General</a:t>
            </a:r>
            <a:r>
              <a:rPr sz="2650" spc="11" dirty="0">
                <a:solidFill>
                  <a:srgbClr val="000000"/>
                </a:solidFill>
                <a:latin typeface="AAVGFJ+Calibri"/>
                <a:cs typeface="AAVGFJ+Calibri"/>
              </a:rPr>
              <a:t> </a:t>
            </a:r>
            <a:r>
              <a:rPr sz="2650" dirty="0">
                <a:solidFill>
                  <a:srgbClr val="000000"/>
                </a:solidFill>
                <a:latin typeface="AAVGFJ+Calibri"/>
                <a:cs typeface="AAVGFJ+Calibri"/>
              </a:rPr>
              <a:t>Syntax:strrev(str);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198711" y="500119"/>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1434522"/>
            <a:ext cx="7422868"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spc="-12" dirty="0">
                <a:solidFill>
                  <a:srgbClr val="000000"/>
                </a:solidFill>
                <a:latin typeface="AAVGFJ+Calibri"/>
                <a:cs typeface="AAVGFJ+Calibri"/>
              </a:rPr>
              <a:t>/*Program</a:t>
            </a:r>
            <a:r>
              <a:rPr sz="2200" dirty="0">
                <a:solidFill>
                  <a:srgbClr val="000000"/>
                </a:solidFill>
                <a:latin typeface="AAVGFJ+Calibri"/>
                <a:cs typeface="AAVGFJ+Calibri"/>
              </a:rPr>
              <a:t> </a:t>
            </a:r>
            <a:r>
              <a:rPr sz="2200" spc="-27" dirty="0">
                <a:solidFill>
                  <a:srgbClr val="000000"/>
                </a:solidFill>
                <a:latin typeface="AAVGFJ+Calibri"/>
                <a:cs typeface="AAVGFJ+Calibri"/>
              </a:rPr>
              <a:t>to</a:t>
            </a:r>
            <a:r>
              <a:rPr sz="2200" spc="24" dirty="0">
                <a:solidFill>
                  <a:srgbClr val="000000"/>
                </a:solidFill>
                <a:latin typeface="AAVGFJ+Calibri"/>
                <a:cs typeface="AAVGFJ+Calibri"/>
              </a:rPr>
              <a:t> </a:t>
            </a:r>
            <a:r>
              <a:rPr sz="2200" dirty="0">
                <a:solidFill>
                  <a:srgbClr val="000000"/>
                </a:solidFill>
                <a:latin typeface="AAVGFJ+Calibri"/>
                <a:cs typeface="AAVGFJ+Calibri"/>
              </a:rPr>
              <a:t>find length of a string using the library function. */</a:t>
            </a:r>
          </a:p>
        </p:txBody>
      </p:sp>
      <p:sp>
        <p:nvSpPr>
          <p:cNvPr id="5" name="object 5"/>
          <p:cNvSpPr txBox="1"/>
          <p:nvPr/>
        </p:nvSpPr>
        <p:spPr>
          <a:xfrm>
            <a:off x="277710" y="1795837"/>
            <a:ext cx="2250896" cy="1039494"/>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#include&lt;stdio.h&gt;</a:t>
            </a:r>
          </a:p>
          <a:p>
            <a:pPr marL="0" marR="0">
              <a:lnSpc>
                <a:spcPts val="2195"/>
              </a:lnSpc>
              <a:spcBef>
                <a:spcPts val="600"/>
              </a:spcBef>
              <a:spcAft>
                <a:spcPts val="0"/>
              </a:spcAft>
            </a:pPr>
            <a:r>
              <a:rPr sz="2200" dirty="0">
                <a:solidFill>
                  <a:srgbClr val="000000"/>
                </a:solidFill>
                <a:latin typeface="AAVGFJ+Calibri"/>
                <a:cs typeface="AAVGFJ+Calibri"/>
              </a:rPr>
              <a:t>#include&lt;string.h&gt;</a:t>
            </a:r>
          </a:p>
          <a:p>
            <a:pPr marL="0" marR="0">
              <a:lnSpc>
                <a:spcPts val="2195"/>
              </a:lnSpc>
              <a:spcBef>
                <a:spcPts val="699"/>
              </a:spcBef>
              <a:spcAft>
                <a:spcPts val="0"/>
              </a:spcAft>
            </a:pPr>
            <a:r>
              <a:rPr sz="2200" dirty="0">
                <a:solidFill>
                  <a:srgbClr val="000000"/>
                </a:solidFill>
                <a:latin typeface="AAVGFJ+Calibri"/>
                <a:cs typeface="AAVGFJ+Calibri"/>
              </a:rPr>
              <a:t>void main()</a:t>
            </a:r>
          </a:p>
        </p:txBody>
      </p:sp>
      <p:sp>
        <p:nvSpPr>
          <p:cNvPr id="6" name="object 6"/>
          <p:cNvSpPr txBox="1"/>
          <p:nvPr/>
        </p:nvSpPr>
        <p:spPr>
          <a:xfrm>
            <a:off x="277710" y="2879782"/>
            <a:ext cx="240058"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a:t>
            </a:r>
          </a:p>
        </p:txBody>
      </p:sp>
      <p:sp>
        <p:nvSpPr>
          <p:cNvPr id="7" name="object 7"/>
          <p:cNvSpPr txBox="1"/>
          <p:nvPr/>
        </p:nvSpPr>
        <p:spPr>
          <a:xfrm>
            <a:off x="1192110" y="3241097"/>
            <a:ext cx="3008926" cy="103949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char</a:t>
            </a:r>
            <a:r>
              <a:rPr sz="2200" spc="1976" dirty="0">
                <a:solidFill>
                  <a:srgbClr val="000000"/>
                </a:solidFill>
                <a:latin typeface="AAVGFJ+Calibri"/>
                <a:cs typeface="AAVGFJ+Calibri"/>
              </a:rPr>
              <a:t> </a:t>
            </a:r>
            <a:r>
              <a:rPr sz="2200" dirty="0">
                <a:solidFill>
                  <a:srgbClr val="000000"/>
                </a:solidFill>
                <a:latin typeface="AAVGFJ+Calibri"/>
                <a:cs typeface="AAVGFJ+Calibri"/>
              </a:rPr>
              <a:t>str[100];</a:t>
            </a:r>
          </a:p>
          <a:p>
            <a:pPr marL="0" marR="0">
              <a:lnSpc>
                <a:spcPts val="2195"/>
              </a:lnSpc>
              <a:spcBef>
                <a:spcPts val="600"/>
              </a:spcBef>
              <a:spcAft>
                <a:spcPts val="0"/>
              </a:spcAft>
            </a:pPr>
            <a:r>
              <a:rPr sz="2200" spc="-13" dirty="0">
                <a:solidFill>
                  <a:srgbClr val="000000"/>
                </a:solidFill>
                <a:latin typeface="AAVGFJ+Calibri"/>
                <a:cs typeface="AAVGFJ+Calibri"/>
              </a:rPr>
              <a:t>int</a:t>
            </a:r>
            <a:r>
              <a:rPr sz="2200" spc="3474" dirty="0">
                <a:solidFill>
                  <a:srgbClr val="000000"/>
                </a:solidFill>
                <a:latin typeface="AAVGFJ+Calibri"/>
                <a:cs typeface="AAVGFJ+Calibri"/>
              </a:rPr>
              <a:t> </a:t>
            </a:r>
            <a:r>
              <a:rPr sz="2200" dirty="0">
                <a:solidFill>
                  <a:srgbClr val="000000"/>
                </a:solidFill>
                <a:latin typeface="AAVGFJ+Calibri"/>
                <a:cs typeface="AAVGFJ+Calibri"/>
              </a:rPr>
              <a:t>length;</a:t>
            </a:r>
          </a:p>
          <a:p>
            <a:pPr marL="0" marR="0">
              <a:lnSpc>
                <a:spcPts val="2195"/>
              </a:lnSpc>
              <a:spcBef>
                <a:spcPts val="699"/>
              </a:spcBef>
              <a:spcAft>
                <a:spcPts val="0"/>
              </a:spcAft>
            </a:pPr>
            <a:r>
              <a:rPr sz="2200" dirty="0">
                <a:solidFill>
                  <a:srgbClr val="000000"/>
                </a:solidFill>
                <a:latin typeface="AAVGFJ+Calibri"/>
                <a:cs typeface="AAVGFJ+Calibri"/>
              </a:rPr>
              <a:t>printf("Enter a string\n");</a:t>
            </a:r>
          </a:p>
        </p:txBody>
      </p:sp>
      <p:sp>
        <p:nvSpPr>
          <p:cNvPr id="8" name="object 8"/>
          <p:cNvSpPr txBox="1"/>
          <p:nvPr/>
        </p:nvSpPr>
        <p:spPr>
          <a:xfrm>
            <a:off x="1192110" y="4325042"/>
            <a:ext cx="6817021" cy="103949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gets(str);</a:t>
            </a:r>
          </a:p>
          <a:p>
            <a:pPr marL="0" marR="0">
              <a:lnSpc>
                <a:spcPts val="2195"/>
              </a:lnSpc>
              <a:spcBef>
                <a:spcPts val="600"/>
              </a:spcBef>
              <a:spcAft>
                <a:spcPts val="0"/>
              </a:spcAft>
            </a:pPr>
            <a:r>
              <a:rPr sz="2200" dirty="0">
                <a:solidFill>
                  <a:srgbClr val="000000"/>
                </a:solidFill>
                <a:latin typeface="AAVGFJ+Calibri"/>
                <a:cs typeface="AAVGFJ+Calibri"/>
              </a:rPr>
              <a:t>length=strlen(str);</a:t>
            </a:r>
          </a:p>
          <a:p>
            <a:pPr marL="0" marR="0">
              <a:lnSpc>
                <a:spcPts val="2195"/>
              </a:lnSpc>
              <a:spcBef>
                <a:spcPts val="699"/>
              </a:spcBef>
              <a:spcAft>
                <a:spcPts val="0"/>
              </a:spcAft>
            </a:pPr>
            <a:r>
              <a:rPr sz="2200" dirty="0">
                <a:solidFill>
                  <a:srgbClr val="000000"/>
                </a:solidFill>
                <a:latin typeface="AAVGFJ+Calibri"/>
                <a:cs typeface="AAVGFJ+Calibri"/>
              </a:rPr>
              <a:t>printf("\nNumber of </a:t>
            </a:r>
            <a:r>
              <a:rPr sz="2200" spc="-13" dirty="0">
                <a:solidFill>
                  <a:srgbClr val="000000"/>
                </a:solidFill>
                <a:latin typeface="AAVGFJ+Calibri"/>
                <a:cs typeface="AAVGFJ+Calibri"/>
              </a:rPr>
              <a:t>characters</a:t>
            </a:r>
            <a:r>
              <a:rPr sz="2200" spc="10" dirty="0">
                <a:solidFill>
                  <a:srgbClr val="000000"/>
                </a:solidFill>
                <a:latin typeface="AAVGFJ+Calibri"/>
                <a:cs typeface="AAVGFJ+Calibri"/>
              </a:rPr>
              <a:t> </a:t>
            </a:r>
            <a:r>
              <a:rPr sz="2200" dirty="0">
                <a:solidFill>
                  <a:srgbClr val="000000"/>
                </a:solidFill>
                <a:latin typeface="AAVGFJ+Calibri"/>
                <a:cs typeface="AAVGFJ+Calibri"/>
              </a:rPr>
              <a:t>in the string is %d",length);</a:t>
            </a:r>
          </a:p>
        </p:txBody>
      </p:sp>
      <p:sp>
        <p:nvSpPr>
          <p:cNvPr id="9" name="object 9"/>
          <p:cNvSpPr txBox="1"/>
          <p:nvPr/>
        </p:nvSpPr>
        <p:spPr>
          <a:xfrm>
            <a:off x="277710" y="5408987"/>
            <a:ext cx="240058" cy="316865"/>
          </a:xfrm>
          <a:prstGeom prst="rect">
            <a:avLst/>
          </a:prstGeom>
        </p:spPr>
        <p:txBody>
          <a:bodyPr vert="horz" wrap="square" lIns="0" tIns="0" rIns="0" bIns="0" rtlCol="0">
            <a:spAutoFit/>
          </a:bodyPr>
          <a:lstStyle/>
          <a:p>
            <a:pPr marL="0" marR="0">
              <a:lnSpc>
                <a:spcPts val="2195"/>
              </a:lnSpc>
              <a:spcBef>
                <a:spcPts val="0"/>
              </a:spcBef>
              <a:spcAft>
                <a:spcPts val="0"/>
              </a:spcAft>
            </a:pPr>
            <a:r>
              <a:rPr sz="2200" dirty="0">
                <a:solidFill>
                  <a:srgbClr val="000000"/>
                </a:solidFill>
                <a:latin typeface="AAVGFJ+Calibri"/>
                <a:cs typeface="AAVGFJ+Calibri"/>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60090" y="216477"/>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821690"/>
            <a:ext cx="6025542" cy="266700"/>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/*Program </a:t>
            </a:r>
            <a:r>
              <a:rPr sz="1800" spc="-18" dirty="0">
                <a:solidFill>
                  <a:srgbClr val="000000"/>
                </a:solidFill>
                <a:latin typeface="AAVGFJ+Calibri"/>
                <a:cs typeface="AAVGFJ+Calibri"/>
              </a:rPr>
              <a:t>to</a:t>
            </a:r>
            <a:r>
              <a:rPr sz="1800" spc="17" dirty="0">
                <a:solidFill>
                  <a:srgbClr val="000000"/>
                </a:solidFill>
                <a:latin typeface="AAVGFJ+Calibri"/>
                <a:cs typeface="AAVGFJ+Calibri"/>
              </a:rPr>
              <a:t> </a:t>
            </a:r>
            <a:r>
              <a:rPr sz="1800" dirty="0">
                <a:solidFill>
                  <a:srgbClr val="000000"/>
                </a:solidFill>
                <a:latin typeface="AAVGFJ+Calibri"/>
                <a:cs typeface="AAVGFJ+Calibri"/>
              </a:rPr>
              <a:t>find the length of a string without using strlen()*/</a:t>
            </a:r>
          </a:p>
        </p:txBody>
      </p:sp>
      <p:sp>
        <p:nvSpPr>
          <p:cNvPr id="5" name="object 5"/>
          <p:cNvSpPr txBox="1"/>
          <p:nvPr/>
        </p:nvSpPr>
        <p:spPr>
          <a:xfrm>
            <a:off x="277710" y="1140459"/>
            <a:ext cx="1857747" cy="904240"/>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#include&lt;stdio.h&gt;</a:t>
            </a:r>
          </a:p>
          <a:p>
            <a:pPr marL="0" marR="0">
              <a:lnSpc>
                <a:spcPts val="1800"/>
              </a:lnSpc>
              <a:spcBef>
                <a:spcPts val="710"/>
              </a:spcBef>
              <a:spcAft>
                <a:spcPts val="0"/>
              </a:spcAft>
            </a:pPr>
            <a:r>
              <a:rPr sz="1800" dirty="0">
                <a:solidFill>
                  <a:srgbClr val="000000"/>
                </a:solidFill>
                <a:latin typeface="AAVGFJ+Calibri"/>
                <a:cs typeface="AAVGFJ+Calibri"/>
              </a:rPr>
              <a:t>#include&lt;conio.h&gt;</a:t>
            </a:r>
          </a:p>
          <a:p>
            <a:pPr marL="0" marR="0">
              <a:lnSpc>
                <a:spcPts val="1800"/>
              </a:lnSpc>
              <a:spcBef>
                <a:spcPts val="710"/>
              </a:spcBef>
              <a:spcAft>
                <a:spcPts val="0"/>
              </a:spcAft>
            </a:pPr>
            <a:r>
              <a:rPr sz="1800" dirty="0">
                <a:solidFill>
                  <a:srgbClr val="000000"/>
                </a:solidFill>
                <a:latin typeface="AAVGFJ+Calibri"/>
                <a:cs typeface="AAVGFJ+Calibri"/>
              </a:rPr>
              <a:t>void main()</a:t>
            </a:r>
          </a:p>
        </p:txBody>
      </p:sp>
      <p:sp>
        <p:nvSpPr>
          <p:cNvPr id="6" name="object 6"/>
          <p:cNvSpPr txBox="1"/>
          <p:nvPr/>
        </p:nvSpPr>
        <p:spPr>
          <a:xfrm>
            <a:off x="277710" y="2096770"/>
            <a:ext cx="224283" cy="266700"/>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a:t>
            </a:r>
          </a:p>
        </p:txBody>
      </p:sp>
      <p:sp>
        <p:nvSpPr>
          <p:cNvPr id="7" name="object 7"/>
          <p:cNvSpPr txBox="1"/>
          <p:nvPr/>
        </p:nvSpPr>
        <p:spPr>
          <a:xfrm>
            <a:off x="734910" y="2352040"/>
            <a:ext cx="2443053" cy="2053589"/>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char name[20];</a:t>
            </a:r>
          </a:p>
          <a:p>
            <a:pPr marL="0" marR="0">
              <a:lnSpc>
                <a:spcPts val="1800"/>
              </a:lnSpc>
              <a:spcBef>
                <a:spcPts val="209"/>
              </a:spcBef>
              <a:spcAft>
                <a:spcPts val="0"/>
              </a:spcAft>
            </a:pPr>
            <a:r>
              <a:rPr sz="1800" dirty="0">
                <a:solidFill>
                  <a:srgbClr val="000000"/>
                </a:solidFill>
                <a:latin typeface="AAVGFJ+Calibri"/>
                <a:cs typeface="AAVGFJ+Calibri"/>
              </a:rPr>
              <a:t>int</a:t>
            </a:r>
            <a:r>
              <a:rPr sz="1800" spc="10" dirty="0">
                <a:solidFill>
                  <a:srgbClr val="000000"/>
                </a:solidFill>
                <a:latin typeface="AAVGFJ+Calibri"/>
                <a:cs typeface="AAVGFJ+Calibri"/>
              </a:rPr>
              <a:t> </a:t>
            </a:r>
            <a:r>
              <a:rPr sz="1800" dirty="0">
                <a:solidFill>
                  <a:srgbClr val="000000"/>
                </a:solidFill>
                <a:latin typeface="AAVGFJ+Calibri"/>
                <a:cs typeface="AAVGFJ+Calibri"/>
              </a:rPr>
              <a:t>i=0,len;</a:t>
            </a:r>
          </a:p>
          <a:p>
            <a:pPr marL="0" marR="0">
              <a:lnSpc>
                <a:spcPts val="1800"/>
              </a:lnSpc>
              <a:spcBef>
                <a:spcPts val="210"/>
              </a:spcBef>
              <a:spcAft>
                <a:spcPts val="0"/>
              </a:spcAft>
            </a:pPr>
            <a:r>
              <a:rPr sz="1800" dirty="0">
                <a:solidFill>
                  <a:srgbClr val="000000"/>
                </a:solidFill>
                <a:latin typeface="AAVGFJ+Calibri"/>
                <a:cs typeface="AAVGFJ+Calibri"/>
              </a:rPr>
              <a:t>clrscr();</a:t>
            </a:r>
          </a:p>
          <a:p>
            <a:pPr marL="0" marR="0">
              <a:lnSpc>
                <a:spcPts val="1800"/>
              </a:lnSpc>
              <a:spcBef>
                <a:spcPts val="210"/>
              </a:spcBef>
              <a:spcAft>
                <a:spcPts val="0"/>
              </a:spcAft>
            </a:pPr>
            <a:r>
              <a:rPr sz="1800" dirty="0">
                <a:solidFill>
                  <a:srgbClr val="000000"/>
                </a:solidFill>
                <a:latin typeface="AAVGFJ+Calibri"/>
                <a:cs typeface="AAVGFJ+Calibri"/>
              </a:rPr>
              <a:t>printf("enter astring\n");</a:t>
            </a:r>
          </a:p>
          <a:p>
            <a:pPr marL="0" marR="0">
              <a:lnSpc>
                <a:spcPts val="1800"/>
              </a:lnSpc>
              <a:spcBef>
                <a:spcPts val="210"/>
              </a:spcBef>
              <a:spcAft>
                <a:spcPts val="0"/>
              </a:spcAft>
            </a:pPr>
            <a:r>
              <a:rPr sz="1800" dirty="0">
                <a:solidFill>
                  <a:srgbClr val="000000"/>
                </a:solidFill>
                <a:latin typeface="AAVGFJ+Calibri"/>
                <a:cs typeface="AAVGFJ+Calibri"/>
              </a:rPr>
              <a:t>gets(name);</a:t>
            </a:r>
          </a:p>
          <a:p>
            <a:pPr marL="0" marR="0">
              <a:lnSpc>
                <a:spcPts val="1800"/>
              </a:lnSpc>
              <a:spcBef>
                <a:spcPts val="260"/>
              </a:spcBef>
              <a:spcAft>
                <a:spcPts val="0"/>
              </a:spcAft>
            </a:pPr>
            <a:r>
              <a:rPr sz="1800" dirty="0">
                <a:solidFill>
                  <a:srgbClr val="000000"/>
                </a:solidFill>
                <a:latin typeface="AAVGFJ+Calibri"/>
                <a:cs typeface="AAVGFJ+Calibri"/>
              </a:rPr>
              <a:t>while(name[i]!='\0')</a:t>
            </a:r>
          </a:p>
          <a:p>
            <a:pPr marL="0" marR="0">
              <a:lnSpc>
                <a:spcPts val="1800"/>
              </a:lnSpc>
              <a:spcBef>
                <a:spcPts val="209"/>
              </a:spcBef>
              <a:spcAft>
                <a:spcPts val="0"/>
              </a:spcAft>
            </a:pPr>
            <a:r>
              <a:rPr sz="1800" dirty="0">
                <a:solidFill>
                  <a:srgbClr val="000000"/>
                </a:solidFill>
                <a:latin typeface="AAVGFJ+Calibri"/>
                <a:cs typeface="AAVGFJ+Calibri"/>
              </a:rPr>
              <a:t>i++;</a:t>
            </a:r>
          </a:p>
          <a:p>
            <a:pPr marL="0" marR="0">
              <a:lnSpc>
                <a:spcPts val="1800"/>
              </a:lnSpc>
              <a:spcBef>
                <a:spcPts val="210"/>
              </a:spcBef>
              <a:spcAft>
                <a:spcPts val="0"/>
              </a:spcAft>
            </a:pPr>
            <a:r>
              <a:rPr sz="1800" dirty="0">
                <a:solidFill>
                  <a:srgbClr val="000000"/>
                </a:solidFill>
                <a:latin typeface="AAVGFJ+Calibri"/>
                <a:cs typeface="AAVGFJ+Calibri"/>
              </a:rPr>
              <a:t>len=i;</a:t>
            </a:r>
          </a:p>
        </p:txBody>
      </p:sp>
      <p:sp>
        <p:nvSpPr>
          <p:cNvPr id="8" name="object 8"/>
          <p:cNvSpPr txBox="1"/>
          <p:nvPr/>
        </p:nvSpPr>
        <p:spPr>
          <a:xfrm>
            <a:off x="734910" y="4394200"/>
            <a:ext cx="3446988" cy="521970"/>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printf("Length of string=%d\n",len);</a:t>
            </a:r>
          </a:p>
          <a:p>
            <a:pPr marL="0" marR="0">
              <a:lnSpc>
                <a:spcPts val="1800"/>
              </a:lnSpc>
              <a:spcBef>
                <a:spcPts val="210"/>
              </a:spcBef>
              <a:spcAft>
                <a:spcPts val="0"/>
              </a:spcAft>
            </a:pPr>
            <a:r>
              <a:rPr sz="1800" dirty="0">
                <a:solidFill>
                  <a:srgbClr val="000000"/>
                </a:solidFill>
                <a:latin typeface="AAVGFJ+Calibri"/>
                <a:cs typeface="AAVGFJ+Calibri"/>
              </a:rPr>
              <a:t>getch();</a:t>
            </a:r>
          </a:p>
        </p:txBody>
      </p:sp>
      <p:sp>
        <p:nvSpPr>
          <p:cNvPr id="9" name="object 9"/>
          <p:cNvSpPr txBox="1"/>
          <p:nvPr/>
        </p:nvSpPr>
        <p:spPr>
          <a:xfrm>
            <a:off x="277710" y="4968240"/>
            <a:ext cx="224283" cy="266700"/>
          </a:xfrm>
          <a:prstGeom prst="rect">
            <a:avLst/>
          </a:prstGeom>
        </p:spPr>
        <p:txBody>
          <a:bodyPr vert="horz" wrap="square" lIns="0" tIns="0" rIns="0" bIns="0" rtlCol="0">
            <a:spAutoFit/>
          </a:bodyPr>
          <a:lstStyle/>
          <a:p>
            <a:pPr marL="0" marR="0">
              <a:lnSpc>
                <a:spcPts val="1800"/>
              </a:lnSpc>
              <a:spcBef>
                <a:spcPts val="0"/>
              </a:spcBef>
              <a:spcAft>
                <a:spcPts val="0"/>
              </a:spcAft>
            </a:pPr>
            <a:r>
              <a:rPr sz="1800" dirty="0">
                <a:solidFill>
                  <a:srgbClr val="000000"/>
                </a:solidFill>
                <a:latin typeface="AAVGFJ+Calibri"/>
                <a:cs typeface="AAVGFJ+Calibri"/>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60090" y="216477"/>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844708"/>
            <a:ext cx="11455243" cy="841375"/>
          </a:xfrm>
          <a:prstGeom prst="rect">
            <a:avLst/>
          </a:prstGeom>
        </p:spPr>
        <p:txBody>
          <a:bodyPr vert="horz" wrap="square" lIns="0" tIns="0" rIns="0" bIns="0" rtlCol="0">
            <a:spAutoFit/>
          </a:bodyPr>
          <a:lstStyle/>
          <a:p>
            <a:pPr marL="0" marR="0">
              <a:lnSpc>
                <a:spcPts val="2005"/>
              </a:lnSpc>
              <a:spcBef>
                <a:spcPts val="0"/>
              </a:spcBef>
              <a:spcAft>
                <a:spcPts val="0"/>
              </a:spcAft>
            </a:pPr>
            <a:r>
              <a:rPr sz="2000" spc="-11" dirty="0">
                <a:solidFill>
                  <a:srgbClr val="000000"/>
                </a:solidFill>
                <a:latin typeface="AAVGFJ+Calibri"/>
                <a:cs typeface="AAVGFJ+Calibri"/>
              </a:rPr>
              <a:t>/*Program</a:t>
            </a:r>
            <a:r>
              <a:rPr sz="2000" spc="11" dirty="0">
                <a:solidFill>
                  <a:srgbClr val="000000"/>
                </a:solidFill>
                <a:latin typeface="AAVGFJ+Calibri"/>
                <a:cs typeface="AAVGFJ+Calibri"/>
              </a:rPr>
              <a:t> </a:t>
            </a:r>
            <a:r>
              <a:rPr sz="2000" spc="-20" dirty="0">
                <a:solidFill>
                  <a:srgbClr val="000000"/>
                </a:solidFill>
                <a:latin typeface="AAVGFJ+Calibri"/>
                <a:cs typeface="AAVGFJ+Calibri"/>
              </a:rPr>
              <a:t>to</a:t>
            </a:r>
            <a:r>
              <a:rPr sz="2000" spc="18" dirty="0">
                <a:solidFill>
                  <a:srgbClr val="000000"/>
                </a:solidFill>
                <a:latin typeface="AAVGFJ+Calibri"/>
                <a:cs typeface="AAVGFJ+Calibri"/>
              </a:rPr>
              <a:t> </a:t>
            </a:r>
            <a:r>
              <a:rPr sz="2000" dirty="0">
                <a:solidFill>
                  <a:srgbClr val="000000"/>
                </a:solidFill>
                <a:latin typeface="AAVGFJ+Calibri"/>
                <a:cs typeface="AAVGFJ+Calibri"/>
              </a:rPr>
              <a:t>accept a string and </a:t>
            </a:r>
            <a:r>
              <a:rPr sz="2000" spc="-11" dirty="0">
                <a:solidFill>
                  <a:srgbClr val="000000"/>
                </a:solidFill>
                <a:latin typeface="AAVGFJ+Calibri"/>
                <a:cs typeface="AAVGFJ+Calibri"/>
              </a:rPr>
              <a:t>converts</a:t>
            </a:r>
            <a:r>
              <a:rPr sz="2000" dirty="0">
                <a:solidFill>
                  <a:srgbClr val="000000"/>
                </a:solidFill>
                <a:latin typeface="AAVGFJ+Calibri"/>
                <a:cs typeface="AAVGFJ+Calibri"/>
              </a:rPr>
              <a:t> all </a:t>
            </a:r>
            <a:r>
              <a:rPr sz="2000" spc="-12" dirty="0">
                <a:solidFill>
                  <a:srgbClr val="000000"/>
                </a:solidFill>
                <a:latin typeface="AAVGFJ+Calibri"/>
                <a:cs typeface="AAVGFJ+Calibri"/>
              </a:rPr>
              <a:t>characters</a:t>
            </a:r>
            <a:r>
              <a:rPr sz="2000" dirty="0">
                <a:solidFill>
                  <a:srgbClr val="000000"/>
                </a:solidFill>
                <a:latin typeface="AAVGFJ+Calibri"/>
                <a:cs typeface="AAVGFJ+Calibri"/>
              </a:rPr>
              <a:t> in a string </a:t>
            </a:r>
            <a:r>
              <a:rPr sz="2000" spc="-12" dirty="0">
                <a:solidFill>
                  <a:srgbClr val="000000"/>
                </a:solidFill>
                <a:latin typeface="AAVGFJ+Calibri"/>
                <a:cs typeface="AAVGFJ+Calibri"/>
              </a:rPr>
              <a:t>from</a:t>
            </a:r>
            <a:r>
              <a:rPr sz="2000" spc="13" dirty="0">
                <a:solidFill>
                  <a:srgbClr val="000000"/>
                </a:solidFill>
                <a:latin typeface="AAVGFJ+Calibri"/>
                <a:cs typeface="AAVGFJ+Calibri"/>
              </a:rPr>
              <a:t> </a:t>
            </a:r>
            <a:r>
              <a:rPr sz="2000" dirty="0">
                <a:solidFill>
                  <a:srgbClr val="000000"/>
                </a:solidFill>
                <a:latin typeface="AAVGFJ+Calibri"/>
                <a:cs typeface="AAVGFJ+Calibri"/>
              </a:rPr>
              <a:t>uppercase </a:t>
            </a:r>
            <a:r>
              <a:rPr sz="2000" spc="-20" dirty="0">
                <a:solidFill>
                  <a:srgbClr val="000000"/>
                </a:solidFill>
                <a:latin typeface="AAVGFJ+Calibri"/>
                <a:cs typeface="AAVGFJ+Calibri"/>
              </a:rPr>
              <a:t>to</a:t>
            </a:r>
            <a:r>
              <a:rPr sz="2000" spc="18" dirty="0">
                <a:solidFill>
                  <a:srgbClr val="000000"/>
                </a:solidFill>
                <a:latin typeface="AAVGFJ+Calibri"/>
                <a:cs typeface="AAVGFJ+Calibri"/>
              </a:rPr>
              <a:t> </a:t>
            </a:r>
            <a:r>
              <a:rPr sz="2000" spc="-10" dirty="0">
                <a:solidFill>
                  <a:srgbClr val="000000"/>
                </a:solidFill>
                <a:latin typeface="AAVGFJ+Calibri"/>
                <a:cs typeface="AAVGFJ+Calibri"/>
              </a:rPr>
              <a:t>lowercase</a:t>
            </a:r>
            <a:r>
              <a:rPr sz="2000" dirty="0">
                <a:solidFill>
                  <a:srgbClr val="000000"/>
                </a:solidFill>
                <a:latin typeface="AAVGFJ+Calibri"/>
                <a:cs typeface="AAVGFJ+Calibri"/>
              </a:rPr>
              <a:t> without using</a:t>
            </a:r>
          </a:p>
          <a:p>
            <a:pPr marL="0" marR="0">
              <a:lnSpc>
                <a:spcPts val="1920"/>
              </a:lnSpc>
              <a:spcBef>
                <a:spcPts val="0"/>
              </a:spcBef>
              <a:spcAft>
                <a:spcPts val="0"/>
              </a:spcAft>
            </a:pPr>
            <a:r>
              <a:rPr sz="2000" dirty="0">
                <a:solidFill>
                  <a:srgbClr val="000000"/>
                </a:solidFill>
                <a:latin typeface="AAVGFJ+Calibri"/>
                <a:cs typeface="AAVGFJ+Calibri"/>
              </a:rPr>
              <a:t>library function.*/</a:t>
            </a:r>
          </a:p>
          <a:p>
            <a:pPr marL="0" marR="0">
              <a:lnSpc>
                <a:spcPts val="2005"/>
              </a:lnSpc>
              <a:spcBef>
                <a:spcPts val="394"/>
              </a:spcBef>
              <a:spcAft>
                <a:spcPts val="0"/>
              </a:spcAft>
            </a:pPr>
            <a:r>
              <a:rPr sz="2000" dirty="0">
                <a:solidFill>
                  <a:srgbClr val="000000"/>
                </a:solidFill>
                <a:latin typeface="AAVGFJ+Calibri"/>
                <a:cs typeface="AAVGFJ+Calibri"/>
              </a:rPr>
              <a:t>#include &lt;stdio.h&gt; main()</a:t>
            </a:r>
          </a:p>
        </p:txBody>
      </p:sp>
      <p:sp>
        <p:nvSpPr>
          <p:cNvPr id="5" name="object 5"/>
          <p:cNvSpPr txBox="1"/>
          <p:nvPr/>
        </p:nvSpPr>
        <p:spPr>
          <a:xfrm>
            <a:off x="277710" y="1698148"/>
            <a:ext cx="23247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a:t>
            </a:r>
          </a:p>
        </p:txBody>
      </p:sp>
      <p:sp>
        <p:nvSpPr>
          <p:cNvPr id="6" name="object 6"/>
          <p:cNvSpPr txBox="1"/>
          <p:nvPr/>
        </p:nvSpPr>
        <p:spPr>
          <a:xfrm>
            <a:off x="734910" y="1995487"/>
            <a:ext cx="2374679" cy="1060450"/>
          </a:xfrm>
          <a:prstGeom prst="rect">
            <a:avLst/>
          </a:prstGeom>
        </p:spPr>
        <p:txBody>
          <a:bodyPr vert="horz" wrap="square" lIns="0" tIns="0" rIns="0" bIns="0" rtlCol="0">
            <a:spAutoFit/>
          </a:bodyPr>
          <a:lstStyle/>
          <a:p>
            <a:pPr marL="0" marR="0">
              <a:lnSpc>
                <a:spcPts val="1750"/>
              </a:lnSpc>
              <a:spcBef>
                <a:spcPts val="0"/>
              </a:spcBef>
              <a:spcAft>
                <a:spcPts val="0"/>
              </a:spcAft>
            </a:pPr>
            <a:r>
              <a:rPr sz="1750" dirty="0">
                <a:solidFill>
                  <a:srgbClr val="000000"/>
                </a:solidFill>
                <a:latin typeface="AAVGFJ+Calibri"/>
                <a:cs typeface="AAVGFJ+Calibri"/>
              </a:rPr>
              <a:t>char</a:t>
            </a:r>
            <a:r>
              <a:rPr sz="1750" spc="1578" dirty="0">
                <a:solidFill>
                  <a:srgbClr val="000000"/>
                </a:solidFill>
                <a:latin typeface="AAVGFJ+Calibri"/>
                <a:cs typeface="AAVGFJ+Calibri"/>
              </a:rPr>
              <a:t> </a:t>
            </a:r>
            <a:r>
              <a:rPr sz="1750" dirty="0">
                <a:solidFill>
                  <a:srgbClr val="000000"/>
                </a:solidFill>
                <a:latin typeface="AAVGFJ+Calibri"/>
                <a:cs typeface="AAVGFJ+Calibri"/>
              </a:rPr>
              <a:t>str[100];</a:t>
            </a:r>
          </a:p>
          <a:p>
            <a:pPr marL="0" marR="0">
              <a:lnSpc>
                <a:spcPts val="1750"/>
              </a:lnSpc>
              <a:spcBef>
                <a:spcPts val="300"/>
              </a:spcBef>
              <a:spcAft>
                <a:spcPts val="0"/>
              </a:spcAft>
            </a:pPr>
            <a:r>
              <a:rPr sz="1750" spc="-11" dirty="0">
                <a:solidFill>
                  <a:srgbClr val="000000"/>
                </a:solidFill>
                <a:latin typeface="AAVGFJ+Calibri"/>
                <a:cs typeface="AAVGFJ+Calibri"/>
              </a:rPr>
              <a:t>int</a:t>
            </a:r>
            <a:r>
              <a:rPr sz="1750" dirty="0">
                <a:solidFill>
                  <a:srgbClr val="000000"/>
                </a:solidFill>
                <a:latin typeface="AAVGFJ+Calibri"/>
                <a:cs typeface="AAVGFJ+Calibri"/>
              </a:rPr>
              <a:t> i=0;</a:t>
            </a:r>
          </a:p>
          <a:p>
            <a:pPr marL="0" marR="0">
              <a:lnSpc>
                <a:spcPts val="1750"/>
              </a:lnSpc>
              <a:spcBef>
                <a:spcPts val="300"/>
              </a:spcBef>
              <a:spcAft>
                <a:spcPts val="0"/>
              </a:spcAft>
            </a:pPr>
            <a:r>
              <a:rPr sz="1750" dirty="0">
                <a:solidFill>
                  <a:srgbClr val="000000"/>
                </a:solidFill>
                <a:latin typeface="AAVGFJ+Calibri"/>
                <a:cs typeface="AAVGFJ+Calibri"/>
              </a:rPr>
              <a:t>printf ("Enter a string</a:t>
            </a:r>
            <a:r>
              <a:rPr sz="1750" spc="400" dirty="0">
                <a:solidFill>
                  <a:srgbClr val="000000"/>
                </a:solidFill>
                <a:latin typeface="AAVGFJ+Calibri"/>
                <a:cs typeface="AAVGFJ+Calibri"/>
              </a:rPr>
              <a:t> </a:t>
            </a:r>
            <a:r>
              <a:rPr sz="1750" dirty="0">
                <a:solidFill>
                  <a:srgbClr val="000000"/>
                </a:solidFill>
                <a:latin typeface="AAVGFJ+Calibri"/>
                <a:cs typeface="AAVGFJ+Calibri"/>
              </a:rPr>
              <a:t>");</a:t>
            </a:r>
          </a:p>
          <a:p>
            <a:pPr marL="50165" marR="0">
              <a:lnSpc>
                <a:spcPts val="1750"/>
              </a:lnSpc>
              <a:spcBef>
                <a:spcPts val="300"/>
              </a:spcBef>
              <a:spcAft>
                <a:spcPts val="0"/>
              </a:spcAft>
            </a:pPr>
            <a:r>
              <a:rPr sz="1750" dirty="0">
                <a:solidFill>
                  <a:srgbClr val="000000"/>
                </a:solidFill>
                <a:latin typeface="AAVGFJ+Calibri"/>
                <a:cs typeface="AAVGFJ+Calibri"/>
              </a:rPr>
              <a:t>gets(str);</a:t>
            </a:r>
          </a:p>
        </p:txBody>
      </p:sp>
      <p:sp>
        <p:nvSpPr>
          <p:cNvPr id="7" name="object 7"/>
          <p:cNvSpPr txBox="1"/>
          <p:nvPr/>
        </p:nvSpPr>
        <p:spPr>
          <a:xfrm>
            <a:off x="906360" y="3069748"/>
            <a:ext cx="1904010" cy="5975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while(str[i]!='\0')</a:t>
            </a:r>
          </a:p>
          <a:p>
            <a:pPr marL="0" marR="0">
              <a:lnSpc>
                <a:spcPts val="2005"/>
              </a:lnSpc>
              <a:spcBef>
                <a:spcPts val="395"/>
              </a:spcBef>
              <a:spcAft>
                <a:spcPts val="0"/>
              </a:spcAft>
            </a:pPr>
            <a:r>
              <a:rPr sz="2000" dirty="0">
                <a:solidFill>
                  <a:srgbClr val="000000"/>
                </a:solidFill>
                <a:latin typeface="AAVGFJ+Calibri"/>
                <a:cs typeface="AAVGFJ+Calibri"/>
              </a:rPr>
              <a:t>{</a:t>
            </a:r>
          </a:p>
        </p:txBody>
      </p:sp>
      <p:sp>
        <p:nvSpPr>
          <p:cNvPr id="8" name="object 8"/>
          <p:cNvSpPr txBox="1"/>
          <p:nvPr/>
        </p:nvSpPr>
        <p:spPr>
          <a:xfrm>
            <a:off x="1192110" y="3679348"/>
            <a:ext cx="3229986" cy="5975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if((str[i]&gt;='A') &amp;&amp; (str[i] &lt;='Z'))</a:t>
            </a:r>
          </a:p>
          <a:p>
            <a:pPr marL="0" marR="0">
              <a:lnSpc>
                <a:spcPts val="2005"/>
              </a:lnSpc>
              <a:spcBef>
                <a:spcPts val="395"/>
              </a:spcBef>
              <a:spcAft>
                <a:spcPts val="0"/>
              </a:spcAft>
            </a:pPr>
            <a:r>
              <a:rPr sz="2000" dirty="0">
                <a:solidFill>
                  <a:srgbClr val="000000"/>
                </a:solidFill>
                <a:latin typeface="AAVGFJ+Calibri"/>
                <a:cs typeface="AAVGFJ+Calibri"/>
              </a:rPr>
              <a:t>str[i]=str[i]+32; i++;</a:t>
            </a:r>
          </a:p>
        </p:txBody>
      </p:sp>
      <p:sp>
        <p:nvSpPr>
          <p:cNvPr id="9" name="object 9"/>
          <p:cNvSpPr txBox="1"/>
          <p:nvPr/>
        </p:nvSpPr>
        <p:spPr>
          <a:xfrm>
            <a:off x="1020660" y="4288948"/>
            <a:ext cx="23247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a:t>
            </a:r>
          </a:p>
        </p:txBody>
      </p:sp>
      <p:sp>
        <p:nvSpPr>
          <p:cNvPr id="10" name="object 10"/>
          <p:cNvSpPr txBox="1"/>
          <p:nvPr/>
        </p:nvSpPr>
        <p:spPr>
          <a:xfrm>
            <a:off x="277710" y="4593748"/>
            <a:ext cx="5310694" cy="5975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printf("\nConverted string in </a:t>
            </a:r>
            <a:r>
              <a:rPr sz="2000" spc="-10" dirty="0">
                <a:solidFill>
                  <a:srgbClr val="000000"/>
                </a:solidFill>
                <a:latin typeface="AAVGFJ+Calibri"/>
                <a:cs typeface="AAVGFJ+Calibri"/>
              </a:rPr>
              <a:t>lowercase</a:t>
            </a:r>
            <a:r>
              <a:rPr sz="2000" dirty="0">
                <a:solidFill>
                  <a:srgbClr val="000000"/>
                </a:solidFill>
                <a:latin typeface="AAVGFJ+Calibri"/>
                <a:cs typeface="AAVGFJ+Calibri"/>
              </a:rPr>
              <a:t> is %s",str);</a:t>
            </a:r>
          </a:p>
          <a:p>
            <a:pPr marL="0" marR="0">
              <a:lnSpc>
                <a:spcPts val="2005"/>
              </a:lnSpc>
              <a:spcBef>
                <a:spcPts val="395"/>
              </a:spcBef>
              <a:spcAft>
                <a:spcPts val="0"/>
              </a:spcAft>
            </a:pPr>
            <a:r>
              <a:rPr sz="2000" dirty="0">
                <a:solidFill>
                  <a:srgbClr val="000000"/>
                </a:solidFill>
                <a:latin typeface="AAVGFJ+Calibri"/>
                <a:cs typeface="AAVGFJ+Calibri"/>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60090" y="216477"/>
            <a:ext cx="5407005" cy="445135"/>
          </a:xfrm>
          <a:prstGeom prst="rect">
            <a:avLst/>
          </a:prstGeom>
        </p:spPr>
        <p:txBody>
          <a:bodyPr vert="horz" wrap="square" lIns="0" tIns="0" rIns="0" bIns="0" rtlCol="0">
            <a:spAutoFit/>
          </a:bodyPr>
          <a:lstStyle/>
          <a:p>
            <a:pPr marL="0" marR="0">
              <a:lnSpc>
                <a:spcPts val="3205"/>
              </a:lnSpc>
              <a:spcBef>
                <a:spcPts val="0"/>
              </a:spcBef>
              <a:spcAft>
                <a:spcPts val="0"/>
              </a:spcAft>
            </a:pPr>
            <a:r>
              <a:rPr sz="3200" dirty="0">
                <a:solidFill>
                  <a:srgbClr val="0033CC"/>
                </a:solidFill>
                <a:latin typeface="OJWNPN+Calibri-Bold"/>
                <a:cs typeface="OJWNPN+Calibri-Bold"/>
              </a:rPr>
              <a:t>STRING</a:t>
            </a:r>
            <a:r>
              <a:rPr sz="3200" spc="27" dirty="0">
                <a:solidFill>
                  <a:srgbClr val="0033CC"/>
                </a:solidFill>
                <a:latin typeface="OJWNPN+Calibri-Bold"/>
                <a:cs typeface="OJWNPN+Calibri-Bold"/>
              </a:rPr>
              <a:t> </a:t>
            </a:r>
            <a:r>
              <a:rPr sz="3200" dirty="0">
                <a:solidFill>
                  <a:srgbClr val="0033CC"/>
                </a:solidFill>
                <a:latin typeface="OJWNPN+Calibri-Bold"/>
                <a:cs typeface="OJWNPN+Calibri-Bold"/>
              </a:rPr>
              <a:t>HANDLING</a:t>
            </a:r>
            <a:r>
              <a:rPr sz="3200" spc="20" dirty="0">
                <a:solidFill>
                  <a:srgbClr val="0033CC"/>
                </a:solidFill>
                <a:latin typeface="OJWNPN+Calibri-Bold"/>
                <a:cs typeface="OJWNPN+Calibri-Bold"/>
              </a:rPr>
              <a:t> </a:t>
            </a:r>
            <a:r>
              <a:rPr sz="3200" dirty="0">
                <a:solidFill>
                  <a:srgbClr val="0033CC"/>
                </a:solidFill>
                <a:latin typeface="OJWNPN+Calibri-Bold"/>
                <a:cs typeface="OJWNPN+Calibri-Bold"/>
              </a:rPr>
              <a:t>FUNCTIONS</a:t>
            </a:r>
          </a:p>
        </p:txBody>
      </p:sp>
      <p:sp>
        <p:nvSpPr>
          <p:cNvPr id="4" name="object 4"/>
          <p:cNvSpPr txBox="1"/>
          <p:nvPr/>
        </p:nvSpPr>
        <p:spPr>
          <a:xfrm>
            <a:off x="277710" y="887253"/>
            <a:ext cx="4708338"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/*Program</a:t>
            </a:r>
            <a:r>
              <a:rPr sz="1700" spc="11" dirty="0">
                <a:solidFill>
                  <a:srgbClr val="000000"/>
                </a:solidFill>
                <a:latin typeface="AAVGFJ+Calibri"/>
                <a:cs typeface="AAVGFJ+Calibri"/>
              </a:rPr>
              <a:t> </a:t>
            </a:r>
            <a:r>
              <a:rPr sz="1700" spc="-19" dirty="0">
                <a:solidFill>
                  <a:srgbClr val="000000"/>
                </a:solidFill>
                <a:latin typeface="AAVGFJ+Calibri"/>
                <a:cs typeface="AAVGFJ+Calibri"/>
              </a:rPr>
              <a:t>to</a:t>
            </a:r>
            <a:r>
              <a:rPr sz="1700" spc="19" dirty="0">
                <a:solidFill>
                  <a:srgbClr val="000000"/>
                </a:solidFill>
                <a:latin typeface="AAVGFJ+Calibri"/>
                <a:cs typeface="AAVGFJ+Calibri"/>
              </a:rPr>
              <a:t> </a:t>
            </a:r>
            <a:r>
              <a:rPr sz="1700" dirty="0">
                <a:solidFill>
                  <a:srgbClr val="000000"/>
                </a:solidFill>
                <a:latin typeface="AAVGFJ+Calibri"/>
                <a:cs typeface="AAVGFJ+Calibri"/>
              </a:rPr>
              <a:t>check if a </a:t>
            </a:r>
            <a:r>
              <a:rPr sz="1700" spc="-15" dirty="0">
                <a:solidFill>
                  <a:srgbClr val="000000"/>
                </a:solidFill>
                <a:latin typeface="AAVGFJ+Calibri"/>
                <a:cs typeface="AAVGFJ+Calibri"/>
              </a:rPr>
              <a:t>word</a:t>
            </a:r>
            <a:r>
              <a:rPr sz="1700" spc="17" dirty="0">
                <a:solidFill>
                  <a:srgbClr val="000000"/>
                </a:solidFill>
                <a:latin typeface="AAVGFJ+Calibri"/>
                <a:cs typeface="AAVGFJ+Calibri"/>
              </a:rPr>
              <a:t> </a:t>
            </a:r>
            <a:r>
              <a:rPr sz="1700" dirty="0">
                <a:solidFill>
                  <a:srgbClr val="000000"/>
                </a:solidFill>
                <a:latin typeface="AAVGFJ+Calibri"/>
                <a:cs typeface="AAVGFJ+Calibri"/>
              </a:rPr>
              <a:t>is palindrome or not*/</a:t>
            </a:r>
          </a:p>
        </p:txBody>
      </p:sp>
      <p:sp>
        <p:nvSpPr>
          <p:cNvPr id="5" name="object 5"/>
          <p:cNvSpPr txBox="1"/>
          <p:nvPr/>
        </p:nvSpPr>
        <p:spPr>
          <a:xfrm>
            <a:off x="277710" y="1197768"/>
            <a:ext cx="1767742" cy="1186180"/>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#include&lt;stdio.h&gt;</a:t>
            </a:r>
          </a:p>
          <a:p>
            <a:pPr marL="0" marR="0">
              <a:lnSpc>
                <a:spcPts val="1705"/>
              </a:lnSpc>
              <a:spcBef>
                <a:spcPts val="739"/>
              </a:spcBef>
              <a:spcAft>
                <a:spcPts val="0"/>
              </a:spcAft>
            </a:pPr>
            <a:r>
              <a:rPr sz="1700" dirty="0">
                <a:solidFill>
                  <a:srgbClr val="000000"/>
                </a:solidFill>
                <a:latin typeface="AAVGFJ+Calibri"/>
                <a:cs typeface="AAVGFJ+Calibri"/>
              </a:rPr>
              <a:t>#include&lt;conio.h&gt;</a:t>
            </a:r>
          </a:p>
          <a:p>
            <a:pPr marL="0" marR="0">
              <a:lnSpc>
                <a:spcPts val="1705"/>
              </a:lnSpc>
              <a:spcBef>
                <a:spcPts val="790"/>
              </a:spcBef>
              <a:spcAft>
                <a:spcPts val="0"/>
              </a:spcAft>
            </a:pPr>
            <a:r>
              <a:rPr sz="1700" dirty="0">
                <a:solidFill>
                  <a:srgbClr val="000000"/>
                </a:solidFill>
                <a:latin typeface="AAVGFJ+Calibri"/>
                <a:cs typeface="AAVGFJ+Calibri"/>
              </a:rPr>
              <a:t>void main()</a:t>
            </a:r>
          </a:p>
          <a:p>
            <a:pPr marL="0" marR="0">
              <a:lnSpc>
                <a:spcPts val="1705"/>
              </a:lnSpc>
              <a:spcBef>
                <a:spcPts val="740"/>
              </a:spcBef>
              <a:spcAft>
                <a:spcPts val="0"/>
              </a:spcAft>
            </a:pPr>
            <a:r>
              <a:rPr sz="1700" dirty="0">
                <a:solidFill>
                  <a:srgbClr val="000000"/>
                </a:solidFill>
                <a:latin typeface="AAVGFJ+Calibri"/>
                <a:cs typeface="AAVGFJ+Calibri"/>
              </a:rPr>
              <a:t>{</a:t>
            </a:r>
          </a:p>
        </p:txBody>
      </p:sp>
      <p:sp>
        <p:nvSpPr>
          <p:cNvPr id="6" name="object 6"/>
          <p:cNvSpPr txBox="1"/>
          <p:nvPr/>
        </p:nvSpPr>
        <p:spPr>
          <a:xfrm>
            <a:off x="734910" y="2439828"/>
            <a:ext cx="2076604"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char str1[10],str2[10];</a:t>
            </a:r>
          </a:p>
        </p:txBody>
      </p:sp>
      <p:sp>
        <p:nvSpPr>
          <p:cNvPr id="7" name="object 7"/>
          <p:cNvSpPr txBox="1"/>
          <p:nvPr/>
        </p:nvSpPr>
        <p:spPr>
          <a:xfrm>
            <a:off x="734910" y="2750343"/>
            <a:ext cx="810146"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clrscr();</a:t>
            </a:r>
          </a:p>
        </p:txBody>
      </p:sp>
      <p:sp>
        <p:nvSpPr>
          <p:cNvPr id="8" name="object 8"/>
          <p:cNvSpPr txBox="1"/>
          <p:nvPr/>
        </p:nvSpPr>
        <p:spPr>
          <a:xfrm>
            <a:off x="734910" y="3060858"/>
            <a:ext cx="2364259" cy="1186179"/>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printf("Enter a string\n");</a:t>
            </a:r>
          </a:p>
          <a:p>
            <a:pPr marL="0" marR="0">
              <a:lnSpc>
                <a:spcPts val="1705"/>
              </a:lnSpc>
              <a:spcBef>
                <a:spcPts val="790"/>
              </a:spcBef>
              <a:spcAft>
                <a:spcPts val="0"/>
              </a:spcAft>
            </a:pPr>
            <a:r>
              <a:rPr sz="1700" dirty="0">
                <a:solidFill>
                  <a:srgbClr val="000000"/>
                </a:solidFill>
                <a:latin typeface="AAVGFJ+Calibri"/>
                <a:cs typeface="AAVGFJ+Calibri"/>
              </a:rPr>
              <a:t>scanf("%s",str1);</a:t>
            </a:r>
          </a:p>
          <a:p>
            <a:pPr marL="0" marR="0">
              <a:lnSpc>
                <a:spcPts val="1705"/>
              </a:lnSpc>
              <a:spcBef>
                <a:spcPts val="740"/>
              </a:spcBef>
              <a:spcAft>
                <a:spcPts val="0"/>
              </a:spcAft>
            </a:pPr>
            <a:r>
              <a:rPr sz="1700" dirty="0">
                <a:solidFill>
                  <a:srgbClr val="000000"/>
                </a:solidFill>
                <a:latin typeface="AAVGFJ+Calibri"/>
                <a:cs typeface="AAVGFJ+Calibri"/>
              </a:rPr>
              <a:t>strcpy(str2,str1);</a:t>
            </a:r>
          </a:p>
          <a:p>
            <a:pPr marL="0" marR="0">
              <a:lnSpc>
                <a:spcPts val="1705"/>
              </a:lnSpc>
              <a:spcBef>
                <a:spcPts val="739"/>
              </a:spcBef>
              <a:spcAft>
                <a:spcPts val="0"/>
              </a:spcAft>
            </a:pPr>
            <a:r>
              <a:rPr sz="1700" dirty="0">
                <a:solidFill>
                  <a:srgbClr val="000000"/>
                </a:solidFill>
                <a:latin typeface="AAVGFJ+Calibri"/>
                <a:cs typeface="AAVGFJ+Calibri"/>
              </a:rPr>
              <a:t>strrev(str2);</a:t>
            </a:r>
          </a:p>
        </p:txBody>
      </p:sp>
      <p:sp>
        <p:nvSpPr>
          <p:cNvPr id="9" name="object 9"/>
          <p:cNvSpPr txBox="1"/>
          <p:nvPr/>
        </p:nvSpPr>
        <p:spPr>
          <a:xfrm>
            <a:off x="1192110" y="4302919"/>
            <a:ext cx="2206205"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if(strcmp(str1,str2)==0)</a:t>
            </a:r>
          </a:p>
        </p:txBody>
      </p:sp>
      <p:sp>
        <p:nvSpPr>
          <p:cNvPr id="10" name="object 10"/>
          <p:cNvSpPr txBox="1"/>
          <p:nvPr/>
        </p:nvSpPr>
        <p:spPr>
          <a:xfrm>
            <a:off x="2106511" y="4613433"/>
            <a:ext cx="3224050"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printf("%s is a palindrome\n",str1);</a:t>
            </a:r>
          </a:p>
        </p:txBody>
      </p:sp>
      <p:sp>
        <p:nvSpPr>
          <p:cNvPr id="11" name="object 11"/>
          <p:cNvSpPr txBox="1"/>
          <p:nvPr/>
        </p:nvSpPr>
        <p:spPr>
          <a:xfrm>
            <a:off x="1192110" y="4923948"/>
            <a:ext cx="502260"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else</a:t>
            </a:r>
          </a:p>
        </p:txBody>
      </p:sp>
      <p:sp>
        <p:nvSpPr>
          <p:cNvPr id="12" name="object 12"/>
          <p:cNvSpPr txBox="1"/>
          <p:nvPr/>
        </p:nvSpPr>
        <p:spPr>
          <a:xfrm>
            <a:off x="1192110" y="5234464"/>
            <a:ext cx="3572664" cy="254635"/>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printf("%s is not a palindrome\n",str1);</a:t>
            </a:r>
          </a:p>
        </p:txBody>
      </p:sp>
      <p:sp>
        <p:nvSpPr>
          <p:cNvPr id="13" name="object 13"/>
          <p:cNvSpPr txBox="1"/>
          <p:nvPr/>
        </p:nvSpPr>
        <p:spPr>
          <a:xfrm>
            <a:off x="277710" y="5544978"/>
            <a:ext cx="829177" cy="565150"/>
          </a:xfrm>
          <a:prstGeom prst="rect">
            <a:avLst/>
          </a:prstGeom>
        </p:spPr>
        <p:txBody>
          <a:bodyPr vert="horz" wrap="square" lIns="0" tIns="0" rIns="0" bIns="0" rtlCol="0">
            <a:spAutoFit/>
          </a:bodyPr>
          <a:lstStyle/>
          <a:p>
            <a:pPr marL="0" marR="0">
              <a:lnSpc>
                <a:spcPts val="1705"/>
              </a:lnSpc>
              <a:spcBef>
                <a:spcPts val="0"/>
              </a:spcBef>
              <a:spcAft>
                <a:spcPts val="0"/>
              </a:spcAft>
            </a:pPr>
            <a:r>
              <a:rPr sz="1700" dirty="0">
                <a:solidFill>
                  <a:srgbClr val="000000"/>
                </a:solidFill>
                <a:latin typeface="AAVGFJ+Calibri"/>
                <a:cs typeface="AAVGFJ+Calibri"/>
              </a:rPr>
              <a:t>getch();</a:t>
            </a:r>
          </a:p>
          <a:p>
            <a:pPr marL="0" marR="0">
              <a:lnSpc>
                <a:spcPts val="1705"/>
              </a:lnSpc>
              <a:spcBef>
                <a:spcPts val="790"/>
              </a:spcBef>
              <a:spcAft>
                <a:spcPts val="0"/>
              </a:spcAft>
            </a:pPr>
            <a:r>
              <a:rPr sz="1700" dirty="0">
                <a:solidFill>
                  <a:srgbClr val="000000"/>
                </a:solidFill>
                <a:latin typeface="AAVGFJ+Calibri"/>
                <a:cs typeface="AAVGFJ+Calibri"/>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01040" y="466147"/>
            <a:ext cx="2134863"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Functions</a:t>
            </a:r>
          </a:p>
        </p:txBody>
      </p:sp>
      <p:sp>
        <p:nvSpPr>
          <p:cNvPr id="4" name="object 4"/>
          <p:cNvSpPr txBox="1"/>
          <p:nvPr/>
        </p:nvSpPr>
        <p:spPr>
          <a:xfrm>
            <a:off x="370840" y="1331537"/>
            <a:ext cx="10123998" cy="1108074"/>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000000"/>
                </a:solidFill>
                <a:latin typeface="AAVGFJ+Calibri"/>
                <a:cs typeface="AAVGFJ+Calibri"/>
              </a:rPr>
              <a:t>A</a:t>
            </a:r>
            <a:r>
              <a:rPr sz="2650" spc="18" dirty="0">
                <a:solidFill>
                  <a:srgbClr val="000000"/>
                </a:solidFill>
                <a:latin typeface="AAVGFJ+Calibri"/>
                <a:cs typeface="AAVGFJ+Calibri"/>
              </a:rPr>
              <a:t> </a:t>
            </a:r>
            <a:r>
              <a:rPr sz="2650" spc="10" dirty="0">
                <a:solidFill>
                  <a:srgbClr val="000000"/>
                </a:solidFill>
                <a:latin typeface="AAVGFJ+Calibri"/>
                <a:cs typeface="AAVGFJ+Calibri"/>
              </a:rPr>
              <a:t>function</a:t>
            </a:r>
            <a:r>
              <a:rPr sz="2650" dirty="0">
                <a:solidFill>
                  <a:srgbClr val="000000"/>
                </a:solidFill>
                <a:latin typeface="AAVGFJ+Calibri"/>
                <a:cs typeface="AAVGFJ+Calibri"/>
              </a:rPr>
              <a:t> is a</a:t>
            </a:r>
            <a:r>
              <a:rPr sz="2650" spc="17" dirty="0">
                <a:solidFill>
                  <a:srgbClr val="000000"/>
                </a:solidFill>
                <a:latin typeface="AAVGFJ+Calibri"/>
                <a:cs typeface="AAVGFJ+Calibri"/>
              </a:rPr>
              <a:t> </a:t>
            </a:r>
            <a:r>
              <a:rPr sz="2650" spc="13" dirty="0">
                <a:solidFill>
                  <a:srgbClr val="000000"/>
                </a:solidFill>
                <a:latin typeface="AAVGFJ+Calibri"/>
                <a:cs typeface="AAVGFJ+Calibri"/>
              </a:rPr>
              <a:t>named</a:t>
            </a:r>
            <a:r>
              <a:rPr sz="2650" dirty="0">
                <a:solidFill>
                  <a:srgbClr val="000000"/>
                </a:solidFill>
                <a:latin typeface="AAVGFJ+Calibri"/>
                <a:cs typeface="AAVGFJ+Calibri"/>
              </a:rPr>
              <a:t> </a:t>
            </a:r>
            <a:r>
              <a:rPr sz="2650" spc="11" dirty="0">
                <a:solidFill>
                  <a:srgbClr val="000000"/>
                </a:solidFill>
                <a:latin typeface="AAVGFJ+Calibri"/>
                <a:cs typeface="AAVGFJ+Calibri"/>
              </a:rPr>
              <a:t>unit</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program</a:t>
            </a:r>
            <a:r>
              <a:rPr sz="2650" spc="31" dirty="0">
                <a:solidFill>
                  <a:srgbClr val="000000"/>
                </a:solidFill>
                <a:latin typeface="AAVGFJ+Calibri"/>
                <a:cs typeface="AAVGFJ+Calibri"/>
              </a:rPr>
              <a:t> </a:t>
            </a:r>
            <a:r>
              <a:rPr sz="2650" dirty="0">
                <a:solidFill>
                  <a:srgbClr val="000000"/>
                </a:solidFill>
                <a:latin typeface="AAVGFJ+Calibri"/>
                <a:cs typeface="AAVGFJ+Calibri"/>
              </a:rPr>
              <a:t>statements</a:t>
            </a:r>
            <a:r>
              <a:rPr sz="2650" spc="20" dirty="0">
                <a:solidFill>
                  <a:srgbClr val="000000"/>
                </a:solidFill>
                <a:latin typeface="AAVGFJ+Calibri"/>
                <a:cs typeface="AAVGFJ+Calibri"/>
              </a:rPr>
              <a:t> </a:t>
            </a:r>
            <a:r>
              <a:rPr sz="2650" spc="10" dirty="0">
                <a:solidFill>
                  <a:srgbClr val="000000"/>
                </a:solidFill>
                <a:latin typeface="AAVGFJ+Calibri"/>
                <a:cs typeface="AAVGFJ+Calibri"/>
              </a:rPr>
              <a:t>designed</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perform</a:t>
            </a:r>
            <a:r>
              <a:rPr sz="2650" spc="25" dirty="0">
                <a:solidFill>
                  <a:srgbClr val="000000"/>
                </a:solidFill>
                <a:latin typeface="AAVGFJ+Calibri"/>
                <a:cs typeface="AAVGFJ+Calibri"/>
              </a:rPr>
              <a:t> </a:t>
            </a:r>
            <a:r>
              <a:rPr sz="2650" dirty="0">
                <a:solidFill>
                  <a:srgbClr val="000000"/>
                </a:solidFill>
                <a:latin typeface="AAVGFJ+Calibri"/>
                <a:cs typeface="AAVGFJ+Calibri"/>
              </a:rPr>
              <a:t>a</a:t>
            </a:r>
          </a:p>
          <a:p>
            <a:pPr marL="0" marR="0">
              <a:lnSpc>
                <a:spcPts val="2559"/>
              </a:lnSpc>
              <a:spcBef>
                <a:spcPts val="0"/>
              </a:spcBef>
              <a:spcAft>
                <a:spcPts val="0"/>
              </a:spcAft>
            </a:pPr>
            <a:r>
              <a:rPr sz="2650" dirty="0">
                <a:solidFill>
                  <a:srgbClr val="000000"/>
                </a:solidFill>
                <a:latin typeface="AAVGFJ+Calibri"/>
                <a:cs typeface="AAVGFJ+Calibri"/>
              </a:rPr>
              <a:t>specific task</a:t>
            </a:r>
            <a:r>
              <a:rPr sz="2650" spc="19" dirty="0">
                <a:solidFill>
                  <a:srgbClr val="000000"/>
                </a:solidFill>
                <a:latin typeface="AAVGFJ+Calibri"/>
                <a:cs typeface="AAVGFJ+Calibri"/>
              </a:rPr>
              <a:t> </a:t>
            </a:r>
            <a:r>
              <a:rPr sz="2650" spc="12" dirty="0">
                <a:solidFill>
                  <a:srgbClr val="000000"/>
                </a:solidFill>
                <a:latin typeface="AAVGFJ+Calibri"/>
                <a:cs typeface="AAVGFJ+Calibri"/>
              </a:rPr>
              <a:t>and</a:t>
            </a:r>
            <a:r>
              <a:rPr sz="2650" dirty="0">
                <a:solidFill>
                  <a:srgbClr val="000000"/>
                </a:solidFill>
                <a:latin typeface="AAVGFJ+Calibri"/>
                <a:cs typeface="AAVGFJ+Calibri"/>
              </a:rPr>
              <a:t> returns</a:t>
            </a:r>
            <a:r>
              <a:rPr sz="2650" spc="14"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single value.</a:t>
            </a:r>
          </a:p>
          <a:p>
            <a:pPr marL="0" marR="0">
              <a:lnSpc>
                <a:spcPts val="2665"/>
              </a:lnSpc>
              <a:spcBef>
                <a:spcPts val="535"/>
              </a:spcBef>
              <a:spcAft>
                <a:spcPts val="0"/>
              </a:spcAft>
            </a:pPr>
            <a:r>
              <a:rPr sz="2650" spc="-16" dirty="0">
                <a:solidFill>
                  <a:srgbClr val="000000"/>
                </a:solidFill>
                <a:latin typeface="AAVGFJ+Calibri"/>
                <a:cs typeface="AAVGFJ+Calibri"/>
              </a:rPr>
              <a:t>Types</a:t>
            </a:r>
            <a:r>
              <a:rPr sz="2650" spc="31"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C</a:t>
            </a:r>
            <a:r>
              <a:rPr sz="2650" spc="18" dirty="0">
                <a:solidFill>
                  <a:srgbClr val="000000"/>
                </a:solidFill>
                <a:latin typeface="AAVGFJ+Calibri"/>
                <a:cs typeface="AAVGFJ+Calibri"/>
              </a:rPr>
              <a:t> </a:t>
            </a:r>
            <a:r>
              <a:rPr sz="2650" spc="10" dirty="0">
                <a:solidFill>
                  <a:srgbClr val="000000"/>
                </a:solidFill>
                <a:latin typeface="AAVGFJ+Calibri"/>
                <a:cs typeface="AAVGFJ+Calibri"/>
              </a:rPr>
              <a:t>Functions</a:t>
            </a:r>
          </a:p>
        </p:txBody>
      </p:sp>
      <p:sp>
        <p:nvSpPr>
          <p:cNvPr id="5" name="object 5"/>
          <p:cNvSpPr txBox="1"/>
          <p:nvPr/>
        </p:nvSpPr>
        <p:spPr>
          <a:xfrm>
            <a:off x="1292860" y="2469457"/>
            <a:ext cx="7226954" cy="782954"/>
          </a:xfrm>
          <a:prstGeom prst="rect">
            <a:avLst/>
          </a:prstGeom>
        </p:spPr>
        <p:txBody>
          <a:bodyPr vert="horz" wrap="square" lIns="0" tIns="0" rIns="0" bIns="0" rtlCol="0">
            <a:spAutoFit/>
          </a:bodyPr>
          <a:lstStyle/>
          <a:p>
            <a:pPr marL="76835" marR="0">
              <a:lnSpc>
                <a:spcPts val="2665"/>
              </a:lnSpc>
              <a:spcBef>
                <a:spcPts val="0"/>
              </a:spcBef>
              <a:spcAft>
                <a:spcPts val="0"/>
              </a:spcAft>
            </a:pPr>
            <a:r>
              <a:rPr sz="2650" spc="12" dirty="0">
                <a:solidFill>
                  <a:srgbClr val="000000"/>
                </a:solidFill>
                <a:latin typeface="AAVGFJ+Calibri"/>
                <a:cs typeface="AAVGFJ+Calibri"/>
              </a:rPr>
              <a:t>1.</a:t>
            </a:r>
            <a:r>
              <a:rPr sz="2650" dirty="0">
                <a:solidFill>
                  <a:srgbClr val="000000"/>
                </a:solidFill>
                <a:latin typeface="AAVGFJ+Calibri"/>
                <a:cs typeface="AAVGFJ+Calibri"/>
              </a:rPr>
              <a:t> Library</a:t>
            </a:r>
            <a:r>
              <a:rPr sz="2650" spc="16" dirty="0">
                <a:solidFill>
                  <a:srgbClr val="000000"/>
                </a:solidFill>
                <a:latin typeface="AAVGFJ+Calibri"/>
                <a:cs typeface="AAVGFJ+Calibri"/>
              </a:rPr>
              <a:t> </a:t>
            </a:r>
            <a:r>
              <a:rPr sz="2650" dirty="0">
                <a:solidFill>
                  <a:srgbClr val="000000"/>
                </a:solidFill>
                <a:latin typeface="AAVGFJ+Calibri"/>
                <a:cs typeface="AAVGFJ+Calibri"/>
              </a:rPr>
              <a:t>Functions/built-in</a:t>
            </a:r>
            <a:r>
              <a:rPr sz="2650" spc="10" dirty="0">
                <a:solidFill>
                  <a:srgbClr val="000000"/>
                </a:solidFill>
                <a:latin typeface="AAVGFJ+Calibri"/>
                <a:cs typeface="AAVGFJ+Calibri"/>
              </a:rPr>
              <a:t> </a:t>
            </a:r>
            <a:r>
              <a:rPr sz="2650" dirty="0">
                <a:solidFill>
                  <a:srgbClr val="000000"/>
                </a:solidFill>
                <a:latin typeface="AAVGFJ+Calibri"/>
                <a:cs typeface="AAVGFJ+Calibri"/>
              </a:rPr>
              <a:t>functions/pre- defined</a:t>
            </a:r>
          </a:p>
          <a:p>
            <a:pPr marL="0" marR="0">
              <a:lnSpc>
                <a:spcPts val="2665"/>
              </a:lnSpc>
              <a:spcBef>
                <a:spcPts val="535"/>
              </a:spcBef>
              <a:spcAft>
                <a:spcPts val="0"/>
              </a:spcAft>
            </a:pPr>
            <a:r>
              <a:rPr sz="2650" spc="12" dirty="0">
                <a:solidFill>
                  <a:srgbClr val="000000"/>
                </a:solidFill>
                <a:latin typeface="AAVGFJ+Calibri"/>
                <a:cs typeface="AAVGFJ+Calibri"/>
              </a:rPr>
              <a:t>2.</a:t>
            </a:r>
            <a:r>
              <a:rPr sz="2650" spc="605" dirty="0">
                <a:solidFill>
                  <a:srgbClr val="000000"/>
                </a:solidFill>
                <a:latin typeface="AAVGFJ+Calibri"/>
                <a:cs typeface="AAVGFJ+Calibri"/>
              </a:rPr>
              <a:t> </a:t>
            </a:r>
            <a:r>
              <a:rPr sz="2650" spc="12" dirty="0">
                <a:solidFill>
                  <a:srgbClr val="000000"/>
                </a:solidFill>
                <a:latin typeface="AAVGFJ+Calibri"/>
                <a:cs typeface="AAVGFJ+Calibri"/>
              </a:rPr>
              <a:t>User</a:t>
            </a:r>
            <a:r>
              <a:rPr sz="2650" dirty="0">
                <a:solidFill>
                  <a:srgbClr val="000000"/>
                </a:solidFill>
                <a:latin typeface="AAVGFJ+Calibri"/>
                <a:cs typeface="AAVGFJ+Calibri"/>
              </a:rPr>
              <a:t> defined</a:t>
            </a:r>
            <a:r>
              <a:rPr sz="2650" spc="13" dirty="0">
                <a:solidFill>
                  <a:srgbClr val="000000"/>
                </a:solidFill>
                <a:latin typeface="AAVGFJ+Calibri"/>
                <a:cs typeface="AAVGFJ+Calibri"/>
              </a:rPr>
              <a:t> </a:t>
            </a:r>
            <a:r>
              <a:rPr sz="2650" spc="10" dirty="0">
                <a:solidFill>
                  <a:srgbClr val="000000"/>
                </a:solidFill>
                <a:latin typeface="AAVGFJ+Calibri"/>
                <a:cs typeface="AAVGFJ+Calibri"/>
              </a:rPr>
              <a:t>functions</a:t>
            </a:r>
          </a:p>
        </p:txBody>
      </p:sp>
      <p:sp>
        <p:nvSpPr>
          <p:cNvPr id="6" name="object 6"/>
          <p:cNvSpPr txBox="1"/>
          <p:nvPr/>
        </p:nvSpPr>
        <p:spPr>
          <a:xfrm>
            <a:off x="370840" y="3636104"/>
            <a:ext cx="10827732" cy="429108"/>
          </a:xfrm>
          <a:prstGeom prst="rect">
            <a:avLst/>
          </a:prstGeom>
        </p:spPr>
        <p:txBody>
          <a:bodyPr vert="horz" wrap="square" lIns="0" tIns="0" rIns="0" bIns="0" rtlCol="0">
            <a:spAutoFit/>
          </a:bodyPr>
          <a:lstStyle/>
          <a:p>
            <a:pPr marL="0" marR="0">
              <a:lnSpc>
                <a:spcPts val="2977"/>
              </a:lnSpc>
              <a:spcBef>
                <a:spcPts val="0"/>
              </a:spcBef>
              <a:spcAft>
                <a:spcPts val="0"/>
              </a:spcAft>
            </a:pPr>
            <a:r>
              <a:rPr sz="2650" dirty="0">
                <a:solidFill>
                  <a:srgbClr val="000000"/>
                </a:solidFill>
                <a:latin typeface="RVMCBG+ArialMT"/>
                <a:cs typeface="RVMCBG+ArialMT"/>
              </a:rPr>
              <a:t>•</a:t>
            </a:r>
            <a:r>
              <a:rPr sz="2650" spc="1189" dirty="0">
                <a:solidFill>
                  <a:srgbClr val="000000"/>
                </a:solidFill>
                <a:latin typeface="Caladea"/>
                <a:cs typeface="Caladea"/>
              </a:rPr>
              <a:t> </a:t>
            </a:r>
            <a:r>
              <a:rPr sz="2650" spc="-20" dirty="0">
                <a:solidFill>
                  <a:srgbClr val="000000"/>
                </a:solidFill>
                <a:latin typeface="AAVGFJ+Calibri"/>
                <a:cs typeface="AAVGFJ+Calibri"/>
              </a:rPr>
              <a:t>printf,</a:t>
            </a:r>
            <a:r>
              <a:rPr sz="2650" spc="29" dirty="0">
                <a:solidFill>
                  <a:srgbClr val="000000"/>
                </a:solidFill>
                <a:latin typeface="AAVGFJ+Calibri"/>
                <a:cs typeface="AAVGFJ+Calibri"/>
              </a:rPr>
              <a:t> </a:t>
            </a:r>
            <a:r>
              <a:rPr sz="2650" dirty="0">
                <a:solidFill>
                  <a:srgbClr val="000000"/>
                </a:solidFill>
                <a:latin typeface="AAVGFJ+Calibri"/>
                <a:cs typeface="AAVGFJ+Calibri"/>
              </a:rPr>
              <a:t>scanf,strlen,sqrt</a:t>
            </a:r>
            <a:r>
              <a:rPr sz="2650" spc="20" dirty="0">
                <a:solidFill>
                  <a:srgbClr val="000000"/>
                </a:solidFill>
                <a:latin typeface="AAVGFJ+Calibri"/>
                <a:cs typeface="AAVGFJ+Calibri"/>
              </a:rPr>
              <a:t> </a:t>
            </a:r>
            <a:r>
              <a:rPr sz="2650" dirty="0">
                <a:solidFill>
                  <a:srgbClr val="000000"/>
                </a:solidFill>
                <a:latin typeface="AAVGFJ+Calibri"/>
                <a:cs typeface="AAVGFJ+Calibri"/>
              </a:rPr>
              <a:t>etc..</a:t>
            </a:r>
            <a:r>
              <a:rPr sz="2650" spc="16" dirty="0">
                <a:solidFill>
                  <a:srgbClr val="000000"/>
                </a:solidFill>
                <a:latin typeface="AAVGFJ+Calibri"/>
                <a:cs typeface="AAVGFJ+Calibri"/>
              </a:rPr>
              <a:t> </a:t>
            </a:r>
            <a:r>
              <a:rPr sz="2650" spc="11" dirty="0">
                <a:solidFill>
                  <a:srgbClr val="000000"/>
                </a:solidFill>
                <a:latin typeface="AAVGFJ+Calibri"/>
                <a:cs typeface="AAVGFJ+Calibri"/>
              </a:rPr>
              <a:t>belong</a:t>
            </a:r>
            <a:r>
              <a:rPr sz="2650"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dirty="0">
                <a:solidFill>
                  <a:srgbClr val="000000"/>
                </a:solidFill>
                <a:latin typeface="AAVGFJ+Calibri"/>
                <a:cs typeface="AAVGFJ+Calibri"/>
              </a:rPr>
              <a:t>library</a:t>
            </a:r>
            <a:r>
              <a:rPr sz="2650" spc="16"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t>
            </a:r>
            <a:r>
              <a:rPr sz="2650" spc="13" dirty="0">
                <a:solidFill>
                  <a:srgbClr val="000000"/>
                </a:solidFill>
                <a:latin typeface="AAVGFJ+Calibri"/>
                <a:cs typeface="AAVGFJ+Calibri"/>
              </a:rPr>
              <a:t>or</a:t>
            </a:r>
            <a:r>
              <a:rPr sz="2650" dirty="0">
                <a:solidFill>
                  <a:srgbClr val="000000"/>
                </a:solidFill>
                <a:latin typeface="AAVGFJ+Calibri"/>
                <a:cs typeface="AAVGFJ+Calibri"/>
              </a:rPr>
              <a:t> </a:t>
            </a:r>
            <a:r>
              <a:rPr sz="2650" spc="10" dirty="0">
                <a:solidFill>
                  <a:srgbClr val="000000"/>
                </a:solidFill>
                <a:latin typeface="AAVGFJ+Calibri"/>
                <a:cs typeface="AAVGFJ+Calibri"/>
              </a:rPr>
              <a:t>built</a:t>
            </a:r>
            <a:r>
              <a:rPr sz="2650" dirty="0">
                <a:solidFill>
                  <a:srgbClr val="000000"/>
                </a:solidFill>
                <a:latin typeface="AAVGFJ+Calibri"/>
                <a:cs typeface="AAVGFJ+Calibri"/>
              </a:rPr>
              <a:t> in</a:t>
            </a:r>
            <a:r>
              <a:rPr sz="2650" spc="12" dirty="0">
                <a:solidFill>
                  <a:srgbClr val="000000"/>
                </a:solidFill>
                <a:latin typeface="AAVGFJ+Calibri"/>
                <a:cs typeface="AAVGFJ+Calibri"/>
              </a:rPr>
              <a:t> </a:t>
            </a:r>
            <a:r>
              <a:rPr sz="2650" spc="10" dirty="0">
                <a:solidFill>
                  <a:srgbClr val="000000"/>
                </a:solidFill>
                <a:latin typeface="AAVGFJ+Calibri"/>
                <a:cs typeface="AAVGFJ+Calibri"/>
              </a:rPr>
              <a:t>functions.</a:t>
            </a:r>
          </a:p>
        </p:txBody>
      </p:sp>
      <p:sp>
        <p:nvSpPr>
          <p:cNvPr id="7" name="object 7"/>
          <p:cNvSpPr txBox="1"/>
          <p:nvPr/>
        </p:nvSpPr>
        <p:spPr>
          <a:xfrm>
            <a:off x="713740" y="4013777"/>
            <a:ext cx="8006426" cy="376555"/>
          </a:xfrm>
          <a:prstGeom prst="rect">
            <a:avLst/>
          </a:prstGeom>
        </p:spPr>
        <p:txBody>
          <a:bodyPr vert="horz" wrap="square" lIns="0" tIns="0" rIns="0" bIns="0" rtlCol="0">
            <a:spAutoFit/>
          </a:bodyPr>
          <a:lstStyle/>
          <a:p>
            <a:pPr marL="0" marR="0">
              <a:lnSpc>
                <a:spcPts val="2665"/>
              </a:lnSpc>
              <a:spcBef>
                <a:spcPts val="0"/>
              </a:spcBef>
              <a:spcAft>
                <a:spcPts val="0"/>
              </a:spcAft>
            </a:pPr>
            <a:r>
              <a:rPr sz="2650" spc="10" dirty="0">
                <a:solidFill>
                  <a:srgbClr val="000000"/>
                </a:solidFill>
                <a:latin typeface="AAVGFJ+Calibri"/>
                <a:cs typeface="AAVGFJ+Calibri"/>
              </a:rPr>
              <a:t>These</a:t>
            </a:r>
            <a:r>
              <a:rPr sz="2650"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t>
            </a:r>
            <a:r>
              <a:rPr sz="2650" spc="12" dirty="0">
                <a:solidFill>
                  <a:srgbClr val="000000"/>
                </a:solidFill>
                <a:latin typeface="AAVGFJ+Calibri"/>
                <a:cs typeface="AAVGFJ+Calibri"/>
              </a:rPr>
              <a:t>need</a:t>
            </a:r>
            <a:r>
              <a:rPr sz="2650" dirty="0">
                <a:solidFill>
                  <a:srgbClr val="000000"/>
                </a:solidFill>
                <a:latin typeface="AAVGFJ+Calibri"/>
                <a:cs typeface="AAVGFJ+Calibri"/>
              </a:rPr>
              <a:t> </a:t>
            </a:r>
            <a:r>
              <a:rPr sz="2650" spc="13" dirty="0">
                <a:solidFill>
                  <a:srgbClr val="000000"/>
                </a:solidFill>
                <a:latin typeface="AAVGFJ+Calibri"/>
                <a:cs typeface="AAVGFJ+Calibri"/>
              </a:rPr>
              <a:t>not</a:t>
            </a:r>
            <a:r>
              <a:rPr sz="2650"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defined</a:t>
            </a:r>
            <a:r>
              <a:rPr sz="2650" spc="13" dirty="0">
                <a:solidFill>
                  <a:srgbClr val="000000"/>
                </a:solidFill>
                <a:latin typeface="AAVGFJ+Calibri"/>
                <a:cs typeface="AAVGFJ+Calibri"/>
              </a:rPr>
              <a:t> </a:t>
            </a:r>
            <a:r>
              <a:rPr sz="2650" dirty="0">
                <a:solidFill>
                  <a:srgbClr val="000000"/>
                </a:solidFill>
                <a:latin typeface="AAVGFJ+Calibri"/>
                <a:cs typeface="AAVGFJ+Calibri"/>
              </a:rPr>
              <a:t>by</a:t>
            </a:r>
            <a:r>
              <a:rPr sz="2650" spc="19"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24" dirty="0">
                <a:solidFill>
                  <a:srgbClr val="000000"/>
                </a:solidFill>
                <a:latin typeface="AAVGFJ+Calibri"/>
                <a:cs typeface="AAVGFJ+Calibri"/>
              </a:rPr>
              <a:t>programmer.</a:t>
            </a:r>
          </a:p>
        </p:txBody>
      </p:sp>
      <p:sp>
        <p:nvSpPr>
          <p:cNvPr id="8" name="object 8"/>
          <p:cNvSpPr txBox="1"/>
          <p:nvPr/>
        </p:nvSpPr>
        <p:spPr>
          <a:xfrm>
            <a:off x="370840" y="4367624"/>
            <a:ext cx="10313862" cy="1079348"/>
          </a:xfrm>
          <a:prstGeom prst="rect">
            <a:avLst/>
          </a:prstGeom>
        </p:spPr>
        <p:txBody>
          <a:bodyPr vert="horz" wrap="square" lIns="0" tIns="0" rIns="0" bIns="0" rtlCol="0">
            <a:spAutoFit/>
          </a:bodyPr>
          <a:lstStyle/>
          <a:p>
            <a:pPr marL="0" marR="0">
              <a:lnSpc>
                <a:spcPts val="2977"/>
              </a:lnSpc>
              <a:spcBef>
                <a:spcPts val="0"/>
              </a:spcBef>
              <a:spcAft>
                <a:spcPts val="0"/>
              </a:spcAft>
            </a:pPr>
            <a:r>
              <a:rPr sz="2650" dirty="0">
                <a:solidFill>
                  <a:srgbClr val="000000"/>
                </a:solidFill>
                <a:latin typeface="RVMCBG+ArialMT"/>
                <a:cs typeface="RVMCBG+ArialMT"/>
              </a:rPr>
              <a:t>•</a:t>
            </a:r>
            <a:r>
              <a:rPr sz="2650" spc="1189" dirty="0">
                <a:solidFill>
                  <a:srgbClr val="000000"/>
                </a:solidFill>
                <a:latin typeface="Caladea"/>
                <a:cs typeface="Caladea"/>
              </a:rPr>
              <a:t> </a:t>
            </a:r>
            <a:r>
              <a:rPr sz="2650" spc="11" dirty="0">
                <a:solidFill>
                  <a:srgbClr val="000000"/>
                </a:solidFill>
                <a:latin typeface="AAVGFJ+Calibri"/>
                <a:cs typeface="AAVGFJ+Calibri"/>
              </a:rPr>
              <a:t>user</a:t>
            </a:r>
            <a:r>
              <a:rPr sz="2650" dirty="0">
                <a:solidFill>
                  <a:srgbClr val="000000"/>
                </a:solidFill>
                <a:latin typeface="AAVGFJ+Calibri"/>
                <a:cs typeface="AAVGFJ+Calibri"/>
              </a:rPr>
              <a:t> defined</a:t>
            </a:r>
            <a:r>
              <a:rPr sz="2650" spc="13"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allows</a:t>
            </a:r>
            <a:r>
              <a:rPr sz="2650" spc="12"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large</a:t>
            </a:r>
            <a:r>
              <a:rPr sz="2650" spc="26" dirty="0">
                <a:solidFill>
                  <a:srgbClr val="000000"/>
                </a:solidFill>
                <a:latin typeface="AAVGFJ+Calibri"/>
                <a:cs typeface="AAVGFJ+Calibri"/>
              </a:rPr>
              <a:t> </a:t>
            </a:r>
            <a:r>
              <a:rPr sz="2650" dirty="0">
                <a:solidFill>
                  <a:srgbClr val="000000"/>
                </a:solidFill>
                <a:latin typeface="AAVGFJ+Calibri"/>
                <a:cs typeface="AAVGFJ+Calibri"/>
              </a:rPr>
              <a:t>program</a:t>
            </a:r>
            <a:r>
              <a:rPr sz="2650" spc="31" dirty="0">
                <a:solidFill>
                  <a:srgbClr val="000000"/>
                </a:solidFill>
                <a:latin typeface="AAVGFJ+Calibri"/>
                <a:cs typeface="AAVGFJ+Calibri"/>
              </a:rPr>
              <a:t>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6" dirty="0">
                <a:solidFill>
                  <a:srgbClr val="000000"/>
                </a:solidFill>
                <a:latin typeface="AAVGFJ+Calibri"/>
                <a:cs typeface="AAVGFJ+Calibri"/>
              </a:rPr>
              <a:t>broken</a:t>
            </a:r>
            <a:r>
              <a:rPr sz="2650" spc="35" dirty="0">
                <a:solidFill>
                  <a:srgbClr val="000000"/>
                </a:solidFill>
                <a:latin typeface="AAVGFJ+Calibri"/>
                <a:cs typeface="AAVGFJ+Calibri"/>
              </a:rPr>
              <a:t> </a:t>
            </a:r>
            <a:r>
              <a:rPr sz="2650" dirty="0">
                <a:solidFill>
                  <a:srgbClr val="000000"/>
                </a:solidFill>
                <a:latin typeface="AAVGFJ+Calibri"/>
                <a:cs typeface="AAVGFJ+Calibri"/>
              </a:rPr>
              <a:t>down</a:t>
            </a:r>
            <a:r>
              <a:rPr sz="2650" spc="10" dirty="0">
                <a:solidFill>
                  <a:srgbClr val="000000"/>
                </a:solidFill>
                <a:latin typeface="AAVGFJ+Calibri"/>
                <a:cs typeface="AAVGFJ+Calibri"/>
              </a:rPr>
              <a:t> </a:t>
            </a:r>
            <a:r>
              <a:rPr sz="2650" dirty="0">
                <a:solidFill>
                  <a:srgbClr val="000000"/>
                </a:solidFill>
                <a:latin typeface="AAVGFJ+Calibri"/>
                <a:cs typeface="AAVGFJ+Calibri"/>
              </a:rPr>
              <a:t>into</a:t>
            </a:r>
            <a:r>
              <a:rPr sz="2650" spc="28" dirty="0">
                <a:solidFill>
                  <a:srgbClr val="000000"/>
                </a:solidFill>
                <a:latin typeface="AAVGFJ+Calibri"/>
                <a:cs typeface="AAVGFJ+Calibri"/>
              </a:rPr>
              <a:t> </a:t>
            </a:r>
            <a:r>
              <a:rPr sz="2650" dirty="0">
                <a:solidFill>
                  <a:srgbClr val="000000"/>
                </a:solidFill>
                <a:latin typeface="AAVGFJ+Calibri"/>
                <a:cs typeface="AAVGFJ+Calibri"/>
              </a:rPr>
              <a:t>a</a:t>
            </a:r>
          </a:p>
          <a:p>
            <a:pPr marL="342900" marR="0">
              <a:lnSpc>
                <a:spcPts val="2560"/>
              </a:lnSpc>
              <a:spcBef>
                <a:spcPts val="0"/>
              </a:spcBef>
              <a:spcAft>
                <a:spcPts val="0"/>
              </a:spcAft>
            </a:pPr>
            <a:r>
              <a:rPr sz="2650" spc="14" dirty="0">
                <a:solidFill>
                  <a:srgbClr val="000000"/>
                </a:solidFill>
                <a:latin typeface="AAVGFJ+Calibri"/>
                <a:cs typeface="AAVGFJ+Calibri"/>
              </a:rPr>
              <a:t>number</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20" dirty="0">
                <a:solidFill>
                  <a:srgbClr val="000000"/>
                </a:solidFill>
                <a:latin typeface="AAVGFJ+Calibri"/>
                <a:cs typeface="AAVGFJ+Calibri"/>
              </a:rPr>
              <a:t>smaller,</a:t>
            </a:r>
            <a:r>
              <a:rPr sz="2650" spc="30" dirty="0">
                <a:solidFill>
                  <a:srgbClr val="000000"/>
                </a:solidFill>
                <a:latin typeface="AAVGFJ+Calibri"/>
                <a:cs typeface="AAVGFJ+Calibri"/>
              </a:rPr>
              <a:t> </a:t>
            </a:r>
            <a:r>
              <a:rPr sz="2650" dirty="0">
                <a:solidFill>
                  <a:srgbClr val="000000"/>
                </a:solidFill>
                <a:latin typeface="AAVGFJ+Calibri"/>
                <a:cs typeface="AAVGFJ+Calibri"/>
              </a:rPr>
              <a:t>self-contained</a:t>
            </a:r>
            <a:r>
              <a:rPr sz="2650" spc="16" dirty="0">
                <a:solidFill>
                  <a:srgbClr val="000000"/>
                </a:solidFill>
                <a:latin typeface="AAVGFJ+Calibri"/>
                <a:cs typeface="AAVGFJ+Calibri"/>
              </a:rPr>
              <a:t> </a:t>
            </a:r>
            <a:r>
              <a:rPr sz="2650" dirty="0">
                <a:solidFill>
                  <a:srgbClr val="000000"/>
                </a:solidFill>
                <a:latin typeface="AAVGFJ+Calibri"/>
                <a:cs typeface="AAVGFJ+Calibri"/>
              </a:rPr>
              <a:t>components </a:t>
            </a:r>
            <a:r>
              <a:rPr sz="2650" spc="11" dirty="0">
                <a:solidFill>
                  <a:srgbClr val="000000"/>
                </a:solidFill>
                <a:latin typeface="AAVGFJ+Calibri"/>
                <a:cs typeface="AAVGFJ+Calibri"/>
              </a:rPr>
              <a:t>each</a:t>
            </a:r>
            <a:r>
              <a:rPr sz="265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1" dirty="0">
                <a:solidFill>
                  <a:srgbClr val="000000"/>
                </a:solidFill>
                <a:latin typeface="AAVGFJ+Calibri"/>
                <a:cs typeface="AAVGFJ+Calibri"/>
              </a:rPr>
              <a:t>which</a:t>
            </a:r>
            <a:r>
              <a:rPr sz="2650" dirty="0">
                <a:solidFill>
                  <a:srgbClr val="000000"/>
                </a:solidFill>
                <a:latin typeface="AAVGFJ+Calibri"/>
                <a:cs typeface="AAVGFJ+Calibri"/>
              </a:rPr>
              <a:t> </a:t>
            </a:r>
            <a:r>
              <a:rPr sz="2650" spc="12" dirty="0">
                <a:solidFill>
                  <a:srgbClr val="000000"/>
                </a:solidFill>
                <a:latin typeface="AAVGFJ+Calibri"/>
                <a:cs typeface="AAVGFJ+Calibri"/>
              </a:rPr>
              <a:t>has</a:t>
            </a:r>
            <a:r>
              <a:rPr sz="2650" dirty="0">
                <a:solidFill>
                  <a:srgbClr val="000000"/>
                </a:solidFill>
                <a:latin typeface="AAVGFJ+Calibri"/>
                <a:cs typeface="AAVGFJ+Calibri"/>
              </a:rPr>
              <a:t> </a:t>
            </a:r>
            <a:r>
              <a:rPr sz="2650" spc="13" dirty="0">
                <a:solidFill>
                  <a:srgbClr val="000000"/>
                </a:solidFill>
                <a:latin typeface="AAVGFJ+Calibri"/>
                <a:cs typeface="AAVGFJ+Calibri"/>
              </a:rPr>
              <a:t>some</a:t>
            </a:r>
          </a:p>
          <a:p>
            <a:pPr marL="342900" marR="0">
              <a:lnSpc>
                <a:spcPts val="2560"/>
              </a:lnSpc>
              <a:spcBef>
                <a:spcPts val="0"/>
              </a:spcBef>
              <a:spcAft>
                <a:spcPts val="0"/>
              </a:spcAft>
            </a:pPr>
            <a:r>
              <a:rPr sz="2650" spc="12" dirty="0">
                <a:solidFill>
                  <a:srgbClr val="000000"/>
                </a:solidFill>
                <a:latin typeface="AAVGFJ+Calibri"/>
                <a:cs typeface="AAVGFJ+Calibri"/>
              </a:rPr>
              <a:t>unique,</a:t>
            </a:r>
            <a:r>
              <a:rPr sz="2650" dirty="0">
                <a:solidFill>
                  <a:srgbClr val="000000"/>
                </a:solidFill>
                <a:latin typeface="AAVGFJ+Calibri"/>
                <a:cs typeface="AAVGFJ+Calibri"/>
              </a:rPr>
              <a:t> identifiable</a:t>
            </a:r>
            <a:r>
              <a:rPr sz="2650" spc="10" dirty="0">
                <a:solidFill>
                  <a:srgbClr val="000000"/>
                </a:solidFill>
                <a:latin typeface="AAVGFJ+Calibri"/>
                <a:cs typeface="AAVGFJ+Calibri"/>
              </a:rPr>
              <a:t> </a:t>
            </a:r>
            <a:r>
              <a:rPr sz="2650" spc="11" dirty="0">
                <a:solidFill>
                  <a:srgbClr val="000000"/>
                </a:solidFill>
                <a:latin typeface="AAVGFJ+Calibri"/>
                <a:cs typeface="AAVGFJ+Calibri"/>
              </a:rPr>
              <a:t>purpose.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01040" y="482974"/>
            <a:ext cx="4370928" cy="513715"/>
          </a:xfrm>
          <a:prstGeom prst="rect">
            <a:avLst/>
          </a:prstGeom>
        </p:spPr>
        <p:txBody>
          <a:bodyPr vert="horz" wrap="square" lIns="0" tIns="0" rIns="0" bIns="0" rtlCol="0">
            <a:spAutoFit/>
          </a:bodyPr>
          <a:lstStyle/>
          <a:p>
            <a:pPr marL="0" marR="0">
              <a:lnSpc>
                <a:spcPts val="3745"/>
              </a:lnSpc>
              <a:spcBef>
                <a:spcPts val="0"/>
              </a:spcBef>
              <a:spcAft>
                <a:spcPts val="0"/>
              </a:spcAft>
            </a:pPr>
            <a:r>
              <a:rPr sz="3750" spc="-13" dirty="0">
                <a:solidFill>
                  <a:srgbClr val="0033CC"/>
                </a:solidFill>
                <a:latin typeface="HWPIMB+Calibri-Light"/>
                <a:cs typeface="HWPIMB+Calibri-Light"/>
              </a:rPr>
              <a:t>Functions-Advantages</a:t>
            </a:r>
          </a:p>
        </p:txBody>
      </p:sp>
      <p:sp>
        <p:nvSpPr>
          <p:cNvPr id="4" name="object 4"/>
          <p:cNvSpPr txBox="1"/>
          <p:nvPr/>
        </p:nvSpPr>
        <p:spPr>
          <a:xfrm>
            <a:off x="370840" y="1314788"/>
            <a:ext cx="10668651" cy="1524239"/>
          </a:xfrm>
          <a:prstGeom prst="rect">
            <a:avLst/>
          </a:prstGeom>
        </p:spPr>
        <p:txBody>
          <a:bodyPr vert="horz" wrap="square" lIns="0" tIns="0" rIns="0" bIns="0" rtlCol="0">
            <a:spAutoFit/>
          </a:bodyPr>
          <a:lstStyle/>
          <a:p>
            <a:pPr marL="0" marR="0">
              <a:lnSpc>
                <a:spcPts val="2957"/>
              </a:lnSpc>
              <a:spcBef>
                <a:spcPts val="0"/>
              </a:spcBef>
              <a:spcAft>
                <a:spcPts val="0"/>
              </a:spcAft>
            </a:pPr>
            <a:r>
              <a:rPr sz="2650" spc="15" dirty="0">
                <a:solidFill>
                  <a:srgbClr val="000000"/>
                </a:solidFill>
                <a:latin typeface="JUSNVH+Wingdings-Regular"/>
                <a:cs typeface="JUSNVH+Wingdings-Regular"/>
              </a:rPr>
              <a:t>Ø</a:t>
            </a:r>
            <a:r>
              <a:rPr sz="2650" dirty="0">
                <a:solidFill>
                  <a:srgbClr val="000000"/>
                </a:solidFill>
                <a:latin typeface="AAVGFJ+Calibri"/>
                <a:cs typeface="AAVGFJ+Calibri"/>
              </a:rPr>
              <a:t>Many</a:t>
            </a:r>
            <a:r>
              <a:rPr sz="2650" spc="19" dirty="0">
                <a:solidFill>
                  <a:srgbClr val="000000"/>
                </a:solidFill>
                <a:latin typeface="AAVGFJ+Calibri"/>
                <a:cs typeface="AAVGFJ+Calibri"/>
              </a:rPr>
              <a:t> </a:t>
            </a:r>
            <a:r>
              <a:rPr sz="2650" dirty="0">
                <a:solidFill>
                  <a:srgbClr val="000000"/>
                </a:solidFill>
                <a:latin typeface="AAVGFJ+Calibri"/>
                <a:cs typeface="AAVGFJ+Calibri"/>
              </a:rPr>
              <a:t>programs</a:t>
            </a:r>
            <a:r>
              <a:rPr sz="2650" spc="18" dirty="0">
                <a:solidFill>
                  <a:srgbClr val="000000"/>
                </a:solidFill>
                <a:latin typeface="AAVGFJ+Calibri"/>
                <a:cs typeface="AAVGFJ+Calibri"/>
              </a:rPr>
              <a:t> </a:t>
            </a:r>
            <a:r>
              <a:rPr sz="2650" dirty="0">
                <a:solidFill>
                  <a:srgbClr val="000000"/>
                </a:solidFill>
                <a:latin typeface="AAVGFJ+Calibri"/>
                <a:cs typeface="AAVGFJ+Calibri"/>
              </a:rPr>
              <a:t>require</a:t>
            </a:r>
            <a:r>
              <a:rPr sz="2650" spc="21"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particular group</a:t>
            </a:r>
            <a:r>
              <a:rPr sz="2650" spc="20"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instructions </a:t>
            </a:r>
            <a:r>
              <a:rPr sz="2650" spc="-23" dirty="0">
                <a:solidFill>
                  <a:srgbClr val="000000"/>
                </a:solidFill>
                <a:latin typeface="AAVGFJ+Calibri"/>
                <a:cs typeface="AAVGFJ+Calibri"/>
              </a:rPr>
              <a:t>to</a:t>
            </a:r>
            <a:r>
              <a:rPr sz="2650" spc="4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0" dirty="0">
                <a:solidFill>
                  <a:srgbClr val="000000"/>
                </a:solidFill>
                <a:latin typeface="AAVGFJ+Calibri"/>
                <a:cs typeface="AAVGFJ+Calibri"/>
              </a:rPr>
              <a:t>accessed</a:t>
            </a:r>
          </a:p>
          <a:p>
            <a:pPr marL="228600" marR="0">
              <a:lnSpc>
                <a:spcPts val="2665"/>
              </a:lnSpc>
              <a:spcBef>
                <a:spcPts val="165"/>
              </a:spcBef>
              <a:spcAft>
                <a:spcPts val="0"/>
              </a:spcAft>
            </a:pPr>
            <a:r>
              <a:rPr sz="2650" dirty="0">
                <a:solidFill>
                  <a:srgbClr val="000000"/>
                </a:solidFill>
                <a:latin typeface="AAVGFJ+Calibri"/>
                <a:cs typeface="AAVGFJ+Calibri"/>
              </a:rPr>
              <a:t>repeatedly</a:t>
            </a:r>
            <a:r>
              <a:rPr sz="2650" spc="17" dirty="0">
                <a:solidFill>
                  <a:srgbClr val="000000"/>
                </a:solidFill>
                <a:latin typeface="AAVGFJ+Calibri"/>
                <a:cs typeface="AAVGFJ+Calibri"/>
              </a:rPr>
              <a:t> </a:t>
            </a:r>
            <a:r>
              <a:rPr sz="2650" dirty="0">
                <a:solidFill>
                  <a:srgbClr val="000000"/>
                </a:solidFill>
                <a:latin typeface="AAVGFJ+Calibri"/>
                <a:cs typeface="AAVGFJ+Calibri"/>
              </a:rPr>
              <a:t>from</a:t>
            </a:r>
            <a:r>
              <a:rPr sz="2650" spc="31" dirty="0">
                <a:solidFill>
                  <a:srgbClr val="000000"/>
                </a:solidFill>
                <a:latin typeface="AAVGFJ+Calibri"/>
                <a:cs typeface="AAVGFJ+Calibri"/>
              </a:rPr>
              <a:t> </a:t>
            </a:r>
            <a:r>
              <a:rPr sz="2650" dirty="0">
                <a:solidFill>
                  <a:srgbClr val="000000"/>
                </a:solidFill>
                <a:latin typeface="AAVGFJ+Calibri"/>
                <a:cs typeface="AAVGFJ+Calibri"/>
              </a:rPr>
              <a:t>several</a:t>
            </a:r>
            <a:r>
              <a:rPr sz="2650" spc="20" dirty="0">
                <a:solidFill>
                  <a:srgbClr val="000000"/>
                </a:solidFill>
                <a:latin typeface="AAVGFJ+Calibri"/>
                <a:cs typeface="AAVGFJ+Calibri"/>
              </a:rPr>
              <a:t> </a:t>
            </a:r>
            <a:r>
              <a:rPr sz="2650" spc="-11" dirty="0">
                <a:solidFill>
                  <a:srgbClr val="000000"/>
                </a:solidFill>
                <a:latin typeface="AAVGFJ+Calibri"/>
                <a:cs typeface="AAVGFJ+Calibri"/>
              </a:rPr>
              <a:t>different</a:t>
            </a:r>
            <a:r>
              <a:rPr sz="2650" spc="25" dirty="0">
                <a:solidFill>
                  <a:srgbClr val="000000"/>
                </a:solidFill>
                <a:latin typeface="AAVGFJ+Calibri"/>
                <a:cs typeface="AAVGFJ+Calibri"/>
              </a:rPr>
              <a:t> </a:t>
            </a:r>
            <a:r>
              <a:rPr sz="2650" spc="10" dirty="0">
                <a:solidFill>
                  <a:srgbClr val="000000"/>
                </a:solidFill>
                <a:latin typeface="AAVGFJ+Calibri"/>
                <a:cs typeface="AAVGFJ+Calibri"/>
              </a:rPr>
              <a:t>places</a:t>
            </a:r>
            <a:r>
              <a:rPr sz="2650" dirty="0">
                <a:solidFill>
                  <a:srgbClr val="000000"/>
                </a:solidFill>
                <a:latin typeface="AAVGFJ+Calibri"/>
                <a:cs typeface="AAVGFJ+Calibri"/>
              </a:rPr>
              <a:t> </a:t>
            </a:r>
            <a:r>
              <a:rPr sz="2650" spc="10" dirty="0">
                <a:solidFill>
                  <a:srgbClr val="000000"/>
                </a:solidFill>
                <a:latin typeface="AAVGFJ+Calibri"/>
                <a:cs typeface="AAVGFJ+Calibri"/>
              </a:rPr>
              <a:t>within</a:t>
            </a:r>
            <a:r>
              <a:rPr sz="2650" dirty="0">
                <a:solidFill>
                  <a:srgbClr val="000000"/>
                </a:solidFill>
                <a:latin typeface="AAVGFJ+Calibri"/>
                <a:cs typeface="AAVGFJ+Calibri"/>
              </a:rPr>
              <a:t> a</a:t>
            </a:r>
            <a:r>
              <a:rPr sz="2650" spc="17" dirty="0">
                <a:solidFill>
                  <a:srgbClr val="000000"/>
                </a:solidFill>
                <a:latin typeface="AAVGFJ+Calibri"/>
                <a:cs typeface="AAVGFJ+Calibri"/>
              </a:rPr>
              <a:t> </a:t>
            </a:r>
            <a:r>
              <a:rPr sz="2650" dirty="0">
                <a:solidFill>
                  <a:srgbClr val="000000"/>
                </a:solidFill>
                <a:latin typeface="AAVGFJ+Calibri"/>
                <a:cs typeface="AAVGFJ+Calibri"/>
              </a:rPr>
              <a:t>program.</a:t>
            </a:r>
            <a:r>
              <a:rPr sz="2650" spc="621" dirty="0">
                <a:solidFill>
                  <a:srgbClr val="000000"/>
                </a:solidFill>
                <a:latin typeface="AAVGFJ+Calibri"/>
                <a:cs typeface="AAVGFJ+Calibri"/>
              </a:rPr>
              <a:t> </a:t>
            </a:r>
            <a:r>
              <a:rPr sz="2650" spc="10" dirty="0">
                <a:solidFill>
                  <a:srgbClr val="000000"/>
                </a:solidFill>
                <a:latin typeface="AAVGFJ+Calibri"/>
                <a:cs typeface="AAVGFJ+Calibri"/>
              </a:rPr>
              <a:t>These</a:t>
            </a:r>
            <a:r>
              <a:rPr sz="2650" dirty="0">
                <a:solidFill>
                  <a:srgbClr val="000000"/>
                </a:solidFill>
                <a:latin typeface="AAVGFJ+Calibri"/>
                <a:cs typeface="AAVGFJ+Calibri"/>
              </a:rPr>
              <a:t> repeated</a:t>
            </a:r>
          </a:p>
          <a:p>
            <a:pPr marL="228600" marR="0">
              <a:lnSpc>
                <a:spcPts val="2665"/>
              </a:lnSpc>
              <a:spcBef>
                <a:spcPts val="214"/>
              </a:spcBef>
              <a:spcAft>
                <a:spcPts val="0"/>
              </a:spcAft>
            </a:pPr>
            <a:r>
              <a:rPr sz="2650" dirty="0">
                <a:solidFill>
                  <a:srgbClr val="000000"/>
                </a:solidFill>
                <a:latin typeface="AAVGFJ+Calibri"/>
                <a:cs typeface="AAVGFJ+Calibri"/>
              </a:rPr>
              <a:t>instructions can</a:t>
            </a:r>
            <a:r>
              <a:rPr sz="2650" spc="2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0" dirty="0">
                <a:solidFill>
                  <a:srgbClr val="000000"/>
                </a:solidFill>
                <a:latin typeface="AAVGFJ+Calibri"/>
                <a:cs typeface="AAVGFJ+Calibri"/>
              </a:rPr>
              <a:t>placed</a:t>
            </a:r>
            <a:r>
              <a:rPr sz="2650" dirty="0">
                <a:solidFill>
                  <a:srgbClr val="000000"/>
                </a:solidFill>
                <a:latin typeface="AAVGFJ+Calibri"/>
                <a:cs typeface="AAVGFJ+Calibri"/>
              </a:rPr>
              <a:t> </a:t>
            </a:r>
            <a:r>
              <a:rPr sz="2650" spc="10" dirty="0">
                <a:solidFill>
                  <a:srgbClr val="000000"/>
                </a:solidFill>
                <a:latin typeface="AAVGFJ+Calibri"/>
                <a:cs typeface="AAVGFJ+Calibri"/>
              </a:rPr>
              <a:t>within</a:t>
            </a:r>
            <a:r>
              <a:rPr sz="2650" dirty="0">
                <a:solidFill>
                  <a:srgbClr val="000000"/>
                </a:solidFill>
                <a:latin typeface="AAVGFJ+Calibri"/>
                <a:cs typeface="AAVGFJ+Calibri"/>
              </a:rPr>
              <a:t> a</a:t>
            </a:r>
            <a:r>
              <a:rPr sz="2650" spc="17" dirty="0">
                <a:solidFill>
                  <a:srgbClr val="000000"/>
                </a:solidFill>
                <a:latin typeface="AAVGFJ+Calibri"/>
                <a:cs typeface="AAVGFJ+Calibri"/>
              </a:rPr>
              <a:t> </a:t>
            </a:r>
            <a:r>
              <a:rPr sz="2650" dirty="0">
                <a:solidFill>
                  <a:srgbClr val="000000"/>
                </a:solidFill>
                <a:latin typeface="AAVGFJ+Calibri"/>
                <a:cs typeface="AAVGFJ+Calibri"/>
              </a:rPr>
              <a:t>single </a:t>
            </a:r>
            <a:r>
              <a:rPr sz="2650" spc="10" dirty="0">
                <a:solidFill>
                  <a:srgbClr val="000000"/>
                </a:solidFill>
                <a:latin typeface="AAVGFJ+Calibri"/>
                <a:cs typeface="AAVGFJ+Calibri"/>
              </a:rPr>
              <a:t>function</a:t>
            </a:r>
            <a:r>
              <a:rPr sz="2650" dirty="0">
                <a:solidFill>
                  <a:srgbClr val="000000"/>
                </a:solidFill>
                <a:latin typeface="AAVGFJ+Calibri"/>
                <a:cs typeface="AAVGFJ+Calibri"/>
              </a:rPr>
              <a:t> </a:t>
            </a:r>
            <a:r>
              <a:rPr sz="2650" spc="11" dirty="0">
                <a:solidFill>
                  <a:srgbClr val="000000"/>
                </a:solidFill>
                <a:latin typeface="AAVGFJ+Calibri"/>
                <a:cs typeface="AAVGFJ+Calibri"/>
              </a:rPr>
              <a:t>which</a:t>
            </a:r>
            <a:r>
              <a:rPr sz="2650" dirty="0">
                <a:solidFill>
                  <a:srgbClr val="000000"/>
                </a:solidFill>
                <a:latin typeface="AAVGFJ+Calibri"/>
                <a:cs typeface="AAVGFJ+Calibri"/>
              </a:rPr>
              <a:t> can</a:t>
            </a:r>
            <a:r>
              <a:rPr sz="2650" spc="2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0" dirty="0">
                <a:solidFill>
                  <a:srgbClr val="000000"/>
                </a:solidFill>
                <a:latin typeface="AAVGFJ+Calibri"/>
                <a:cs typeface="AAVGFJ+Calibri"/>
              </a:rPr>
              <a:t>accessed</a:t>
            </a:r>
          </a:p>
          <a:p>
            <a:pPr marL="228600" marR="0">
              <a:lnSpc>
                <a:spcPts val="2665"/>
              </a:lnSpc>
              <a:spcBef>
                <a:spcPts val="214"/>
              </a:spcBef>
              <a:spcAft>
                <a:spcPts val="0"/>
              </a:spcAft>
            </a:pPr>
            <a:r>
              <a:rPr sz="2650" dirty="0">
                <a:solidFill>
                  <a:srgbClr val="000000"/>
                </a:solidFill>
                <a:latin typeface="AAVGFJ+Calibri"/>
                <a:cs typeface="AAVGFJ+Calibri"/>
              </a:rPr>
              <a:t>wherever</a:t>
            </a:r>
            <a:r>
              <a:rPr sz="2650" spc="13" dirty="0">
                <a:solidFill>
                  <a:srgbClr val="000000"/>
                </a:solidFill>
                <a:latin typeface="AAVGFJ+Calibri"/>
                <a:cs typeface="AAVGFJ+Calibri"/>
              </a:rPr>
              <a:t> </a:t>
            </a:r>
            <a:r>
              <a:rPr sz="2650" dirty="0">
                <a:solidFill>
                  <a:srgbClr val="000000"/>
                </a:solidFill>
                <a:latin typeface="AAVGFJ+Calibri"/>
                <a:cs typeface="AAVGFJ+Calibri"/>
              </a:rPr>
              <a:t>it is </a:t>
            </a:r>
            <a:r>
              <a:rPr sz="2650" spc="12" dirty="0">
                <a:solidFill>
                  <a:srgbClr val="000000"/>
                </a:solidFill>
                <a:latin typeface="AAVGFJ+Calibri"/>
                <a:cs typeface="AAVGFJ+Calibri"/>
              </a:rPr>
              <a:t>needed.</a:t>
            </a:r>
          </a:p>
        </p:txBody>
      </p:sp>
      <p:sp>
        <p:nvSpPr>
          <p:cNvPr id="5" name="object 5"/>
          <p:cNvSpPr txBox="1"/>
          <p:nvPr/>
        </p:nvSpPr>
        <p:spPr>
          <a:xfrm>
            <a:off x="370840" y="2904828"/>
            <a:ext cx="10140662" cy="919720"/>
          </a:xfrm>
          <a:prstGeom prst="rect">
            <a:avLst/>
          </a:prstGeom>
        </p:spPr>
        <p:txBody>
          <a:bodyPr vert="horz" wrap="square" lIns="0" tIns="0" rIns="0" bIns="0" rtlCol="0">
            <a:spAutoFit/>
          </a:bodyPr>
          <a:lstStyle/>
          <a:p>
            <a:pPr marL="0" marR="0">
              <a:lnSpc>
                <a:spcPts val="2957"/>
              </a:lnSpc>
              <a:spcBef>
                <a:spcPts val="0"/>
              </a:spcBef>
              <a:spcAft>
                <a:spcPts val="0"/>
              </a:spcAft>
            </a:pPr>
            <a:r>
              <a:rPr sz="2650" dirty="0">
                <a:solidFill>
                  <a:srgbClr val="000000"/>
                </a:solidFill>
                <a:latin typeface="JUSNVH+Wingdings-Regular"/>
                <a:cs typeface="JUSNVH+Wingdings-Regular"/>
              </a:rPr>
              <a:t>Ø</a:t>
            </a:r>
            <a:r>
              <a:rPr sz="2650" spc="37" dirty="0">
                <a:solidFill>
                  <a:srgbClr val="000000"/>
                </a:solidFill>
                <a:latin typeface="Caladea"/>
                <a:cs typeface="Caladea"/>
              </a:rPr>
              <a:t> </a:t>
            </a:r>
            <a:r>
              <a:rPr sz="2650" dirty="0">
                <a:solidFill>
                  <a:srgbClr val="000000"/>
                </a:solidFill>
                <a:latin typeface="AAVGFJ+Calibri"/>
                <a:cs typeface="AAVGFJ+Calibri"/>
              </a:rPr>
              <a:t>Avoids</a:t>
            </a:r>
            <a:r>
              <a:rPr sz="2650" spc="19"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2" dirty="0">
                <a:solidFill>
                  <a:srgbClr val="000000"/>
                </a:solidFill>
                <a:latin typeface="AAVGFJ+Calibri"/>
                <a:cs typeface="AAVGFJ+Calibri"/>
              </a:rPr>
              <a:t>need</a:t>
            </a:r>
            <a:r>
              <a:rPr sz="2650" dirty="0">
                <a:solidFill>
                  <a:srgbClr val="000000"/>
                </a:solidFill>
                <a:latin typeface="AAVGFJ+Calibri"/>
                <a:cs typeface="AAVGFJ+Calibri"/>
              </a:rPr>
              <a:t> </a:t>
            </a:r>
            <a:r>
              <a:rPr sz="2650" spc="-21" dirty="0">
                <a:solidFill>
                  <a:srgbClr val="000000"/>
                </a:solidFill>
                <a:latin typeface="AAVGFJ+Calibri"/>
                <a:cs typeface="AAVGFJ+Calibri"/>
              </a:rPr>
              <a:t>for</a:t>
            </a:r>
            <a:r>
              <a:rPr sz="2650" spc="33" dirty="0">
                <a:solidFill>
                  <a:srgbClr val="000000"/>
                </a:solidFill>
                <a:latin typeface="AAVGFJ+Calibri"/>
                <a:cs typeface="AAVGFJ+Calibri"/>
              </a:rPr>
              <a:t> </a:t>
            </a:r>
            <a:r>
              <a:rPr sz="2650" dirty="0">
                <a:solidFill>
                  <a:srgbClr val="000000"/>
                </a:solidFill>
                <a:latin typeface="AAVGFJ+Calibri"/>
                <a:cs typeface="AAVGFJ+Calibri"/>
              </a:rPr>
              <a:t>redundant</a:t>
            </a:r>
            <a:r>
              <a:rPr sz="2650" spc="10" dirty="0">
                <a:solidFill>
                  <a:srgbClr val="000000"/>
                </a:solidFill>
                <a:latin typeface="AAVGFJ+Calibri"/>
                <a:cs typeface="AAVGFJ+Calibri"/>
              </a:rPr>
              <a:t> </a:t>
            </a:r>
            <a:r>
              <a:rPr sz="2650" dirty="0">
                <a:solidFill>
                  <a:srgbClr val="000000"/>
                </a:solidFill>
                <a:latin typeface="AAVGFJ+Calibri"/>
                <a:cs typeface="AAVGFJ+Calibri"/>
              </a:rPr>
              <a:t>programming</a:t>
            </a:r>
            <a:r>
              <a:rPr sz="2650" spc="12"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2" dirty="0">
                <a:solidFill>
                  <a:srgbClr val="000000"/>
                </a:solidFill>
                <a:latin typeface="AAVGFJ+Calibri"/>
                <a:cs typeface="AAVGFJ+Calibri"/>
              </a:rPr>
              <a:t>same</a:t>
            </a:r>
            <a:r>
              <a:rPr sz="2650" dirty="0">
                <a:solidFill>
                  <a:srgbClr val="000000"/>
                </a:solidFill>
                <a:latin typeface="AAVGFJ+Calibri"/>
                <a:cs typeface="AAVGFJ+Calibri"/>
              </a:rPr>
              <a:t> instructions.</a:t>
            </a:r>
          </a:p>
          <a:p>
            <a:pPr marL="0" marR="0">
              <a:lnSpc>
                <a:spcPts val="2957"/>
              </a:lnSpc>
              <a:spcBef>
                <a:spcPts val="768"/>
              </a:spcBef>
              <a:spcAft>
                <a:spcPts val="0"/>
              </a:spcAft>
            </a:pPr>
            <a:r>
              <a:rPr sz="2650" dirty="0">
                <a:solidFill>
                  <a:srgbClr val="000000"/>
                </a:solidFill>
                <a:latin typeface="JUSNVH+Wingdings-Regular"/>
                <a:cs typeface="JUSNVH+Wingdings-Regular"/>
              </a:rPr>
              <a:t>Ø</a:t>
            </a:r>
            <a:r>
              <a:rPr sz="2650" spc="37" dirty="0">
                <a:solidFill>
                  <a:srgbClr val="000000"/>
                </a:solidFill>
                <a:latin typeface="Caladea"/>
                <a:cs typeface="Caladea"/>
              </a:rPr>
              <a:t> </a:t>
            </a:r>
            <a:r>
              <a:rPr sz="2650" dirty="0">
                <a:solidFill>
                  <a:srgbClr val="000000"/>
                </a:solidFill>
                <a:latin typeface="AAVGFJ+Calibri"/>
                <a:cs typeface="AAVGFJ+Calibri"/>
              </a:rPr>
              <a:t>Programs</a:t>
            </a:r>
            <a:r>
              <a:rPr sz="2650" spc="18" dirty="0">
                <a:solidFill>
                  <a:srgbClr val="000000"/>
                </a:solidFill>
                <a:latin typeface="AAVGFJ+Calibri"/>
                <a:cs typeface="AAVGFJ+Calibri"/>
              </a:rPr>
              <a:t> </a:t>
            </a:r>
            <a:r>
              <a:rPr sz="2650" spc="10" dirty="0">
                <a:solidFill>
                  <a:srgbClr val="000000"/>
                </a:solidFill>
                <a:latin typeface="AAVGFJ+Calibri"/>
                <a:cs typeface="AAVGFJ+Calibri"/>
              </a:rPr>
              <a:t>with</a:t>
            </a:r>
            <a:r>
              <a:rPr sz="2650" dirty="0">
                <a:solidFill>
                  <a:srgbClr val="000000"/>
                </a:solidFill>
                <a:latin typeface="AAVGFJ+Calibri"/>
                <a:cs typeface="AAVGFJ+Calibri"/>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a:t>
            </a:r>
            <a:r>
              <a:rPr sz="2650" spc="-12" dirty="0">
                <a:solidFill>
                  <a:srgbClr val="000000"/>
                </a:solidFill>
                <a:latin typeface="AAVGFJ+Calibri"/>
                <a:cs typeface="AAVGFJ+Calibri"/>
              </a:rPr>
              <a:t>are</a:t>
            </a:r>
            <a:r>
              <a:rPr sz="2650" spc="29" dirty="0">
                <a:solidFill>
                  <a:srgbClr val="000000"/>
                </a:solidFill>
                <a:latin typeface="AAVGFJ+Calibri"/>
                <a:cs typeface="AAVGFJ+Calibri"/>
              </a:rPr>
              <a:t> </a:t>
            </a:r>
            <a:r>
              <a:rPr sz="2650" dirty="0">
                <a:solidFill>
                  <a:srgbClr val="000000"/>
                </a:solidFill>
                <a:latin typeface="AAVGFJ+Calibri"/>
                <a:cs typeface="AAVGFJ+Calibri"/>
              </a:rPr>
              <a:t>compact.</a:t>
            </a:r>
          </a:p>
        </p:txBody>
      </p:sp>
      <p:sp>
        <p:nvSpPr>
          <p:cNvPr id="6" name="object 6"/>
          <p:cNvSpPr txBox="1"/>
          <p:nvPr/>
        </p:nvSpPr>
        <p:spPr>
          <a:xfrm>
            <a:off x="370840" y="3890348"/>
            <a:ext cx="3411570" cy="426959"/>
          </a:xfrm>
          <a:prstGeom prst="rect">
            <a:avLst/>
          </a:prstGeom>
        </p:spPr>
        <p:txBody>
          <a:bodyPr vert="horz" wrap="square" lIns="0" tIns="0" rIns="0" bIns="0" rtlCol="0">
            <a:spAutoFit/>
          </a:bodyPr>
          <a:lstStyle/>
          <a:p>
            <a:pPr marL="0" marR="0">
              <a:lnSpc>
                <a:spcPts val="2957"/>
              </a:lnSpc>
              <a:spcBef>
                <a:spcPts val="0"/>
              </a:spcBef>
              <a:spcAft>
                <a:spcPts val="0"/>
              </a:spcAft>
            </a:pPr>
            <a:r>
              <a:rPr sz="2650" dirty="0">
                <a:solidFill>
                  <a:srgbClr val="000000"/>
                </a:solidFill>
                <a:latin typeface="JUSNVH+Wingdings-Regular"/>
                <a:cs typeface="JUSNVH+Wingdings-Regular"/>
              </a:rPr>
              <a:t>Ø</a:t>
            </a:r>
            <a:r>
              <a:rPr sz="2650" spc="37" dirty="0">
                <a:solidFill>
                  <a:srgbClr val="000000"/>
                </a:solidFill>
                <a:latin typeface="Caladea"/>
                <a:cs typeface="Caladea"/>
              </a:rPr>
              <a:t> </a:t>
            </a:r>
            <a:r>
              <a:rPr sz="2650" spc="13" dirty="0">
                <a:solidFill>
                  <a:srgbClr val="000000"/>
                </a:solidFill>
                <a:latin typeface="AAVGFJ+Calibri"/>
                <a:cs typeface="AAVGFJ+Calibri"/>
              </a:rPr>
              <a:t>Debugging</a:t>
            </a:r>
            <a:r>
              <a:rPr sz="2650" dirty="0">
                <a:solidFill>
                  <a:srgbClr val="000000"/>
                </a:solidFill>
                <a:latin typeface="AAVGFJ+Calibri"/>
                <a:cs typeface="AAVGFJ+Calibri"/>
              </a:rPr>
              <a:t> is </a:t>
            </a:r>
            <a:r>
              <a:rPr sz="2650" spc="-25" dirty="0">
                <a:solidFill>
                  <a:srgbClr val="000000"/>
                </a:solidFill>
                <a:latin typeface="AAVGFJ+Calibri"/>
                <a:cs typeface="AAVGFJ+Calibri"/>
              </a:rPr>
              <a:t>simpler.</a:t>
            </a:r>
          </a:p>
        </p:txBody>
      </p:sp>
      <p:sp>
        <p:nvSpPr>
          <p:cNvPr id="7" name="object 7"/>
          <p:cNvSpPr txBox="1"/>
          <p:nvPr/>
        </p:nvSpPr>
        <p:spPr>
          <a:xfrm>
            <a:off x="370840" y="4383108"/>
            <a:ext cx="9158316" cy="919719"/>
          </a:xfrm>
          <a:prstGeom prst="rect">
            <a:avLst/>
          </a:prstGeom>
        </p:spPr>
        <p:txBody>
          <a:bodyPr vert="horz" wrap="square" lIns="0" tIns="0" rIns="0" bIns="0" rtlCol="0">
            <a:spAutoFit/>
          </a:bodyPr>
          <a:lstStyle/>
          <a:p>
            <a:pPr marL="0" marR="0">
              <a:lnSpc>
                <a:spcPts val="2957"/>
              </a:lnSpc>
              <a:spcBef>
                <a:spcPts val="0"/>
              </a:spcBef>
              <a:spcAft>
                <a:spcPts val="0"/>
              </a:spcAft>
            </a:pPr>
            <a:r>
              <a:rPr sz="2650" dirty="0">
                <a:solidFill>
                  <a:srgbClr val="000000"/>
                </a:solidFill>
                <a:latin typeface="JUSNVH+Wingdings-Regular"/>
                <a:cs typeface="JUSNVH+Wingdings-Regular"/>
              </a:rPr>
              <a:t>Ø</a:t>
            </a:r>
            <a:r>
              <a:rPr sz="2650" spc="37" dirty="0">
                <a:solidFill>
                  <a:srgbClr val="000000"/>
                </a:solidFill>
                <a:latin typeface="Caladea"/>
                <a:cs typeface="Caladea"/>
              </a:rPr>
              <a:t> </a:t>
            </a:r>
            <a:r>
              <a:rPr sz="2650" dirty="0">
                <a:solidFill>
                  <a:srgbClr val="000000"/>
                </a:solidFill>
                <a:latin typeface="AAVGFJ+Calibri"/>
                <a:cs typeface="AAVGFJ+Calibri"/>
              </a:rPr>
              <a:t>Increases</a:t>
            </a:r>
            <a:r>
              <a:rPr sz="2650" spc="10" dirty="0">
                <a:solidFill>
                  <a:srgbClr val="000000"/>
                </a:solidFill>
                <a:latin typeface="AAVGFJ+Calibri"/>
                <a:cs typeface="AAVGFJ+Calibri"/>
              </a:rPr>
              <a:t> </a:t>
            </a:r>
            <a:r>
              <a:rPr sz="2650" dirty="0">
                <a:solidFill>
                  <a:srgbClr val="000000"/>
                </a:solidFill>
                <a:latin typeface="AAVGFJ+Calibri"/>
                <a:cs typeface="AAVGFJ+Calibri"/>
              </a:rPr>
              <a:t>readability</a:t>
            </a:r>
            <a:r>
              <a:rPr sz="2650" spc="11" dirty="0">
                <a:solidFill>
                  <a:srgbClr val="000000"/>
                </a:solidFill>
                <a:latin typeface="AAVGFJ+Calibri"/>
                <a:cs typeface="AAVGFJ+Calibri"/>
              </a:rPr>
              <a:t> </a:t>
            </a:r>
            <a:r>
              <a:rPr sz="2650" spc="13" dirty="0">
                <a:solidFill>
                  <a:srgbClr val="000000"/>
                </a:solidFill>
                <a:latin typeface="AAVGFJ+Calibri"/>
                <a:cs typeface="AAVGFJ+Calibri"/>
              </a:rPr>
              <a:t>of</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program</a:t>
            </a:r>
            <a:r>
              <a:rPr sz="2650" spc="31" dirty="0">
                <a:solidFill>
                  <a:srgbClr val="000000"/>
                </a:solidFill>
                <a:latin typeface="AAVGFJ+Calibri"/>
                <a:cs typeface="AAVGFJ+Calibri"/>
              </a:rPr>
              <a:t> </a:t>
            </a:r>
            <a:r>
              <a:rPr sz="2650" spc="12" dirty="0">
                <a:solidFill>
                  <a:srgbClr val="000000"/>
                </a:solidFill>
                <a:latin typeface="AAVGFJ+Calibri"/>
                <a:cs typeface="AAVGFJ+Calibri"/>
              </a:rPr>
              <a:t>and</a:t>
            </a:r>
            <a:r>
              <a:rPr sz="2650" dirty="0">
                <a:solidFill>
                  <a:srgbClr val="000000"/>
                </a:solidFill>
                <a:latin typeface="AAVGFJ+Calibri"/>
                <a:cs typeface="AAVGFJ+Calibri"/>
              </a:rPr>
              <a:t> helps documentation.</a:t>
            </a:r>
          </a:p>
          <a:p>
            <a:pPr marL="0" marR="0">
              <a:lnSpc>
                <a:spcPts val="2957"/>
              </a:lnSpc>
              <a:spcBef>
                <a:spcPts val="768"/>
              </a:spcBef>
              <a:spcAft>
                <a:spcPts val="0"/>
              </a:spcAft>
            </a:pPr>
            <a:r>
              <a:rPr sz="2650" dirty="0">
                <a:solidFill>
                  <a:srgbClr val="000000"/>
                </a:solidFill>
                <a:latin typeface="JUSNVH+Wingdings-Regular"/>
                <a:cs typeface="JUSNVH+Wingdings-Regular"/>
              </a:rPr>
              <a:t>Ø</a:t>
            </a:r>
            <a:r>
              <a:rPr sz="2650" spc="37" dirty="0">
                <a:solidFill>
                  <a:srgbClr val="000000"/>
                </a:solidFill>
                <a:latin typeface="Caladea"/>
                <a:cs typeface="Caladea"/>
              </a:rPr>
              <a:t> </a:t>
            </a:r>
            <a:r>
              <a:rPr sz="2650" spc="10" dirty="0">
                <a:solidFill>
                  <a:srgbClr val="000000"/>
                </a:solidFill>
                <a:latin typeface="AAVGFJ+Calibri"/>
                <a:cs typeface="AAVGFJ+Calibri"/>
              </a:rPr>
              <a:t>Functions</a:t>
            </a:r>
            <a:r>
              <a:rPr sz="2650" dirty="0">
                <a:solidFill>
                  <a:srgbClr val="000000"/>
                </a:solidFill>
                <a:latin typeface="AAVGFJ+Calibri"/>
                <a:cs typeface="AAVGFJ+Calibri"/>
              </a:rPr>
              <a:t> can</a:t>
            </a:r>
            <a:r>
              <a:rPr sz="2650" spc="2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a:t>
            </a:r>
            <a:r>
              <a:rPr sz="2650" spc="11" dirty="0">
                <a:solidFill>
                  <a:srgbClr val="000000"/>
                </a:solidFill>
                <a:latin typeface="AAVGFJ+Calibri"/>
                <a:cs typeface="AAVGFJ+Calibri"/>
              </a:rPr>
              <a:t>used</a:t>
            </a:r>
            <a:r>
              <a:rPr sz="2650" dirty="0">
                <a:solidFill>
                  <a:srgbClr val="000000"/>
                </a:solidFill>
                <a:latin typeface="AAVGFJ+Calibri"/>
                <a:cs typeface="AAVGFJ+Calibri"/>
              </a:rPr>
              <a:t> by</a:t>
            </a:r>
            <a:r>
              <a:rPr sz="2650" spc="19" dirty="0">
                <a:solidFill>
                  <a:srgbClr val="000000"/>
                </a:solidFill>
                <a:latin typeface="AAVGFJ+Calibri"/>
                <a:cs typeface="AAVGFJ+Calibri"/>
              </a:rPr>
              <a:t> </a:t>
            </a:r>
            <a:r>
              <a:rPr sz="2650" dirty="0">
                <a:solidFill>
                  <a:srgbClr val="000000"/>
                </a:solidFill>
                <a:latin typeface="AAVGFJ+Calibri"/>
                <a:cs typeface="AAVGFJ+Calibri"/>
              </a:rPr>
              <a:t>many</a:t>
            </a:r>
            <a:r>
              <a:rPr sz="2650" spc="19" dirty="0">
                <a:solidFill>
                  <a:srgbClr val="000000"/>
                </a:solidFill>
                <a:latin typeface="AAVGFJ+Calibri"/>
                <a:cs typeface="AAVGFJ+Calibri"/>
              </a:rPr>
              <a:t> </a:t>
            </a:r>
            <a:r>
              <a:rPr sz="2650" spc="11" dirty="0">
                <a:solidFill>
                  <a:srgbClr val="000000"/>
                </a:solidFill>
                <a:latin typeface="AAVGFJ+Calibri"/>
                <a:cs typeface="AAVGFJ+Calibri"/>
              </a:rPr>
              <a:t>other</a:t>
            </a:r>
            <a:r>
              <a:rPr sz="2650" dirty="0">
                <a:solidFill>
                  <a:srgbClr val="000000"/>
                </a:solidFill>
                <a:latin typeface="AAVGFJ+Calibri"/>
                <a:cs typeface="AAVGFJ+Calibri"/>
              </a:rPr>
              <a:t> program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46918"/>
            <a:ext cx="4759139"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dirty="0">
                <a:solidFill>
                  <a:srgbClr val="0033CC"/>
                </a:solidFill>
                <a:latin typeface="HWPIMB+Calibri-Light"/>
                <a:cs typeface="HWPIMB+Calibri-Light"/>
              </a:rPr>
              <a:t>Function </a:t>
            </a:r>
            <a:r>
              <a:rPr sz="4400" spc="-14" dirty="0">
                <a:solidFill>
                  <a:srgbClr val="0033CC"/>
                </a:solidFill>
                <a:latin typeface="HWPIMB+Calibri-Light"/>
                <a:cs typeface="HWPIMB+Calibri-Light"/>
              </a:rPr>
              <a:t>declaration</a:t>
            </a:r>
          </a:p>
        </p:txBody>
      </p:sp>
      <p:sp>
        <p:nvSpPr>
          <p:cNvPr id="4" name="object 4"/>
          <p:cNvSpPr txBox="1"/>
          <p:nvPr/>
        </p:nvSpPr>
        <p:spPr>
          <a:xfrm>
            <a:off x="929639" y="1906905"/>
            <a:ext cx="1254673" cy="411480"/>
          </a:xfrm>
          <a:prstGeom prst="rect">
            <a:avLst/>
          </a:prstGeom>
        </p:spPr>
        <p:txBody>
          <a:bodyPr vert="horz" wrap="square" lIns="0" tIns="0" rIns="0" bIns="0" rtlCol="0">
            <a:spAutoFit/>
          </a:bodyPr>
          <a:lstStyle/>
          <a:p>
            <a:pPr marL="0" marR="0">
              <a:lnSpc>
                <a:spcPts val="2940"/>
              </a:lnSpc>
              <a:spcBef>
                <a:spcPts val="0"/>
              </a:spcBef>
              <a:spcAft>
                <a:spcPts val="0"/>
              </a:spcAft>
            </a:pPr>
            <a:r>
              <a:rPr sz="2950" spc="-27" dirty="0">
                <a:solidFill>
                  <a:srgbClr val="000000"/>
                </a:solidFill>
                <a:latin typeface="AAVGFJ+Calibri"/>
                <a:cs typeface="AAVGFJ+Calibri"/>
              </a:rPr>
              <a:t>Syntax:</a:t>
            </a:r>
          </a:p>
        </p:txBody>
      </p:sp>
      <p:sp>
        <p:nvSpPr>
          <p:cNvPr id="5" name="object 5"/>
          <p:cNvSpPr txBox="1"/>
          <p:nvPr/>
        </p:nvSpPr>
        <p:spPr>
          <a:xfrm>
            <a:off x="929639" y="2437130"/>
            <a:ext cx="9390739" cy="814704"/>
          </a:xfrm>
          <a:prstGeom prst="rect">
            <a:avLst/>
          </a:prstGeom>
        </p:spPr>
        <p:txBody>
          <a:bodyPr vert="horz" wrap="square" lIns="0" tIns="0" rIns="0" bIns="0" rtlCol="0">
            <a:spAutoFit/>
          </a:bodyPr>
          <a:lstStyle/>
          <a:p>
            <a:pPr marL="0" marR="0">
              <a:lnSpc>
                <a:spcPts val="2940"/>
              </a:lnSpc>
              <a:spcBef>
                <a:spcPts val="0"/>
              </a:spcBef>
              <a:spcAft>
                <a:spcPts val="0"/>
              </a:spcAft>
            </a:pPr>
            <a:r>
              <a:rPr sz="2950" spc="-16" dirty="0">
                <a:solidFill>
                  <a:srgbClr val="000000"/>
                </a:solidFill>
                <a:latin typeface="AAVGFJ+Calibri"/>
                <a:cs typeface="AAVGFJ+Calibri"/>
              </a:rPr>
              <a:t>returndatatype</a:t>
            </a:r>
            <a:r>
              <a:rPr sz="2950" spc="11" dirty="0">
                <a:solidFill>
                  <a:srgbClr val="000000"/>
                </a:solidFill>
                <a:latin typeface="AAVGFJ+Calibri"/>
                <a:cs typeface="AAVGFJ+Calibri"/>
              </a:rPr>
              <a:t> </a:t>
            </a:r>
            <a:r>
              <a:rPr sz="2950" dirty="0">
                <a:solidFill>
                  <a:srgbClr val="000000"/>
                </a:solidFill>
                <a:latin typeface="AAVGFJ+Calibri"/>
                <a:cs typeface="AAVGFJ+Calibri"/>
              </a:rPr>
              <a:t>functionname(datatype </a:t>
            </a:r>
            <a:r>
              <a:rPr sz="2950" spc="-12" dirty="0">
                <a:solidFill>
                  <a:srgbClr val="000000"/>
                </a:solidFill>
                <a:latin typeface="AAVGFJ+Calibri"/>
                <a:cs typeface="AAVGFJ+Calibri"/>
              </a:rPr>
              <a:t>[varname1],datatype</a:t>
            </a:r>
          </a:p>
          <a:p>
            <a:pPr marL="0" marR="0">
              <a:lnSpc>
                <a:spcPts val="2940"/>
              </a:lnSpc>
              <a:spcBef>
                <a:spcPts val="285"/>
              </a:spcBef>
              <a:spcAft>
                <a:spcPts val="0"/>
              </a:spcAft>
            </a:pPr>
            <a:r>
              <a:rPr sz="2950" spc="-10" dirty="0">
                <a:solidFill>
                  <a:srgbClr val="000000"/>
                </a:solidFill>
                <a:latin typeface="AAVGFJ+Calibri"/>
                <a:cs typeface="AAVGFJ+Calibri"/>
              </a:rPr>
              <a:t>[varname2].......datatype</a:t>
            </a:r>
            <a:r>
              <a:rPr sz="2950" dirty="0">
                <a:solidFill>
                  <a:srgbClr val="000000"/>
                </a:solidFill>
                <a:latin typeface="AAVGFJ+Calibri"/>
                <a:cs typeface="AAVGFJ+Calibri"/>
              </a:rPr>
              <a:t> [varnameN]);</a:t>
            </a:r>
          </a:p>
        </p:txBody>
      </p:sp>
      <p:sp>
        <p:nvSpPr>
          <p:cNvPr id="6" name="object 6"/>
          <p:cNvSpPr txBox="1"/>
          <p:nvPr/>
        </p:nvSpPr>
        <p:spPr>
          <a:xfrm>
            <a:off x="929639" y="3370580"/>
            <a:ext cx="1541089" cy="411480"/>
          </a:xfrm>
          <a:prstGeom prst="rect">
            <a:avLst/>
          </a:prstGeom>
        </p:spPr>
        <p:txBody>
          <a:bodyPr vert="horz" wrap="square" lIns="0" tIns="0" rIns="0" bIns="0" rtlCol="0">
            <a:spAutoFit/>
          </a:bodyPr>
          <a:lstStyle/>
          <a:p>
            <a:pPr marL="0" marR="0">
              <a:lnSpc>
                <a:spcPts val="2940"/>
              </a:lnSpc>
              <a:spcBef>
                <a:spcPts val="0"/>
              </a:spcBef>
              <a:spcAft>
                <a:spcPts val="0"/>
              </a:spcAft>
            </a:pPr>
            <a:r>
              <a:rPr sz="2950" spc="-12" dirty="0">
                <a:solidFill>
                  <a:srgbClr val="000000"/>
                </a:solidFill>
                <a:latin typeface="AAVGFJ+Calibri"/>
                <a:cs typeface="AAVGFJ+Calibri"/>
              </a:rPr>
              <a:t>Example:</a:t>
            </a:r>
          </a:p>
        </p:txBody>
      </p:sp>
      <p:sp>
        <p:nvSpPr>
          <p:cNvPr id="7" name="object 7"/>
          <p:cNvSpPr txBox="1"/>
          <p:nvPr/>
        </p:nvSpPr>
        <p:spPr>
          <a:xfrm>
            <a:off x="929639" y="3900805"/>
            <a:ext cx="8716832" cy="941704"/>
          </a:xfrm>
          <a:prstGeom prst="rect">
            <a:avLst/>
          </a:prstGeom>
        </p:spPr>
        <p:txBody>
          <a:bodyPr vert="horz" wrap="square" lIns="0" tIns="0" rIns="0" bIns="0" rtlCol="0">
            <a:spAutoFit/>
          </a:bodyPr>
          <a:lstStyle/>
          <a:p>
            <a:pPr marL="0" marR="0">
              <a:lnSpc>
                <a:spcPts val="2940"/>
              </a:lnSpc>
              <a:spcBef>
                <a:spcPts val="0"/>
              </a:spcBef>
              <a:spcAft>
                <a:spcPts val="0"/>
              </a:spcAft>
            </a:pPr>
            <a:r>
              <a:rPr sz="2950" spc="-13" dirty="0">
                <a:solidFill>
                  <a:srgbClr val="000000"/>
                </a:solidFill>
                <a:latin typeface="AAVGFJ+Calibri"/>
                <a:cs typeface="AAVGFJ+Calibri"/>
              </a:rPr>
              <a:t>product</a:t>
            </a:r>
            <a:r>
              <a:rPr sz="2950" dirty="0">
                <a:solidFill>
                  <a:srgbClr val="000000"/>
                </a:solidFill>
                <a:latin typeface="AAVGFJ+Calibri"/>
                <a:cs typeface="AAVGFJ+Calibri"/>
              </a:rPr>
              <a:t> of 2 numbers(input=2 </a:t>
            </a:r>
            <a:r>
              <a:rPr sz="2950" spc="-13" dirty="0">
                <a:solidFill>
                  <a:srgbClr val="000000"/>
                </a:solidFill>
                <a:latin typeface="AAVGFJ+Calibri"/>
                <a:cs typeface="AAVGFJ+Calibri"/>
              </a:rPr>
              <a:t>integers,output=1integer)</a:t>
            </a:r>
          </a:p>
          <a:p>
            <a:pPr marL="0" marR="0">
              <a:lnSpc>
                <a:spcPts val="2940"/>
              </a:lnSpc>
              <a:spcBef>
                <a:spcPts val="1285"/>
              </a:spcBef>
              <a:spcAft>
                <a:spcPts val="0"/>
              </a:spcAft>
            </a:pPr>
            <a:r>
              <a:rPr sz="2950" spc="-18" dirty="0">
                <a:solidFill>
                  <a:srgbClr val="FF0000"/>
                </a:solidFill>
                <a:latin typeface="AAVGFJ+Calibri"/>
                <a:cs typeface="AAVGFJ+Calibri"/>
              </a:rPr>
              <a:t>int</a:t>
            </a:r>
            <a:r>
              <a:rPr sz="2950" spc="13" dirty="0">
                <a:solidFill>
                  <a:srgbClr val="FF0000"/>
                </a:solidFill>
                <a:latin typeface="AAVGFJ+Calibri"/>
                <a:cs typeface="AAVGFJ+Calibri"/>
              </a:rPr>
              <a:t> </a:t>
            </a:r>
            <a:r>
              <a:rPr sz="2950" spc="-11" dirty="0">
                <a:solidFill>
                  <a:srgbClr val="FF0000"/>
                </a:solidFill>
                <a:latin typeface="AAVGFJ+Calibri"/>
                <a:cs typeface="AAVGFJ+Calibri"/>
              </a:rPr>
              <a:t>productof2(int,int);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01040" y="466147"/>
            <a:ext cx="4056447"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Function Definition</a:t>
            </a:r>
          </a:p>
        </p:txBody>
      </p:sp>
      <p:sp>
        <p:nvSpPr>
          <p:cNvPr id="4" name="object 4"/>
          <p:cNvSpPr txBox="1"/>
          <p:nvPr/>
        </p:nvSpPr>
        <p:spPr>
          <a:xfrm>
            <a:off x="370840" y="1355985"/>
            <a:ext cx="10187034" cy="53911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ReturnDatatype function-name (datatype varname1,datatype varname2...datatype varnameN)</a:t>
            </a:r>
            <a:r>
              <a:rPr sz="1900" spc="863" dirty="0">
                <a:solidFill>
                  <a:srgbClr val="000000"/>
                </a:solidFill>
                <a:latin typeface="AAVGFJ+Calibri"/>
                <a:cs typeface="AAVGFJ+Calibri"/>
              </a:rPr>
              <a:t> </a:t>
            </a:r>
            <a:r>
              <a:rPr sz="1900" dirty="0">
                <a:solidFill>
                  <a:srgbClr val="000000"/>
                </a:solidFill>
                <a:latin typeface="AAVGFJ+Calibri"/>
                <a:cs typeface="AAVGFJ+Calibri"/>
              </a:rPr>
              <a:t>//</a:t>
            </a:r>
            <a:r>
              <a:rPr sz="1900" dirty="0">
                <a:solidFill>
                  <a:srgbClr val="0033CC"/>
                </a:solidFill>
                <a:latin typeface="AAVGFJ+Calibri"/>
                <a:cs typeface="AAVGFJ+Calibri"/>
              </a:rPr>
              <a:t>type</a:t>
            </a:r>
          </a:p>
          <a:p>
            <a:pPr marL="0" marR="0">
              <a:lnSpc>
                <a:spcPts val="1895"/>
              </a:lnSpc>
              <a:spcBef>
                <a:spcPts val="104"/>
              </a:spcBef>
              <a:spcAft>
                <a:spcPts val="0"/>
              </a:spcAft>
            </a:pPr>
            <a:r>
              <a:rPr sz="1900" dirty="0">
                <a:solidFill>
                  <a:srgbClr val="0033CC"/>
                </a:solidFill>
                <a:latin typeface="AAVGFJ+Calibri"/>
                <a:cs typeface="AAVGFJ+Calibri"/>
              </a:rPr>
              <a:t>signature</a:t>
            </a:r>
            <a:r>
              <a:rPr sz="1900" dirty="0">
                <a:solidFill>
                  <a:srgbClr val="000000"/>
                </a:solidFill>
                <a:latin typeface="AAVGFJ+Calibri"/>
                <a:cs typeface="AAVGFJ+Calibri"/>
              </a:rPr>
              <a:t>(name,input,output)</a:t>
            </a:r>
          </a:p>
        </p:txBody>
      </p:sp>
      <p:sp>
        <p:nvSpPr>
          <p:cNvPr id="5" name="object 5"/>
          <p:cNvSpPr txBox="1"/>
          <p:nvPr/>
        </p:nvSpPr>
        <p:spPr>
          <a:xfrm>
            <a:off x="370840" y="2003685"/>
            <a:ext cx="228077" cy="27876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a:t>
            </a:r>
          </a:p>
        </p:txBody>
      </p:sp>
      <p:sp>
        <p:nvSpPr>
          <p:cNvPr id="6" name="object 6"/>
          <p:cNvSpPr txBox="1"/>
          <p:nvPr/>
        </p:nvSpPr>
        <p:spPr>
          <a:xfrm>
            <a:off x="643889" y="2391035"/>
            <a:ext cx="1531767" cy="27876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local variables</a:t>
            </a:r>
          </a:p>
        </p:txBody>
      </p:sp>
      <p:sp>
        <p:nvSpPr>
          <p:cNvPr id="7" name="object 7"/>
          <p:cNvSpPr txBox="1"/>
          <p:nvPr/>
        </p:nvSpPr>
        <p:spPr>
          <a:xfrm>
            <a:off x="643889" y="2778385"/>
            <a:ext cx="2480367" cy="66611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Executable Statement-1</a:t>
            </a:r>
          </a:p>
          <a:p>
            <a:pPr marL="0" marR="0">
              <a:lnSpc>
                <a:spcPts val="1895"/>
              </a:lnSpc>
              <a:spcBef>
                <a:spcPts val="1105"/>
              </a:spcBef>
              <a:spcAft>
                <a:spcPts val="0"/>
              </a:spcAft>
            </a:pPr>
            <a:r>
              <a:rPr sz="1900" dirty="0">
                <a:solidFill>
                  <a:srgbClr val="000000"/>
                </a:solidFill>
                <a:latin typeface="AAVGFJ+Calibri"/>
                <a:cs typeface="AAVGFJ+Calibri"/>
              </a:rPr>
              <a:t>Executable Statement-2</a:t>
            </a:r>
          </a:p>
        </p:txBody>
      </p:sp>
      <p:sp>
        <p:nvSpPr>
          <p:cNvPr id="8" name="object 8"/>
          <p:cNvSpPr txBox="1"/>
          <p:nvPr/>
        </p:nvSpPr>
        <p:spPr>
          <a:xfrm>
            <a:off x="643889" y="3553085"/>
            <a:ext cx="2480367" cy="27876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Executable Statement-3</a:t>
            </a:r>
          </a:p>
        </p:txBody>
      </p:sp>
      <p:sp>
        <p:nvSpPr>
          <p:cNvPr id="9" name="object 9"/>
          <p:cNvSpPr txBox="1"/>
          <p:nvPr/>
        </p:nvSpPr>
        <p:spPr>
          <a:xfrm>
            <a:off x="3682364" y="3553085"/>
            <a:ext cx="2153997" cy="27876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body of the function</a:t>
            </a:r>
          </a:p>
        </p:txBody>
      </p:sp>
      <p:sp>
        <p:nvSpPr>
          <p:cNvPr id="10" name="object 10"/>
          <p:cNvSpPr txBox="1"/>
          <p:nvPr/>
        </p:nvSpPr>
        <p:spPr>
          <a:xfrm>
            <a:off x="1681480" y="3940435"/>
            <a:ext cx="253108" cy="66611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a:t>
            </a:r>
          </a:p>
          <a:p>
            <a:pPr marL="0" marR="0">
              <a:lnSpc>
                <a:spcPts val="1895"/>
              </a:lnSpc>
              <a:spcBef>
                <a:spcPts val="1104"/>
              </a:spcBef>
              <a:spcAft>
                <a:spcPts val="0"/>
              </a:spcAft>
            </a:pPr>
            <a:r>
              <a:rPr sz="1900" dirty="0">
                <a:solidFill>
                  <a:srgbClr val="000000"/>
                </a:solidFill>
                <a:latin typeface="AAVGFJ+Calibri"/>
                <a:cs typeface="AAVGFJ+Calibri"/>
              </a:rPr>
              <a:t>“</a:t>
            </a:r>
          </a:p>
        </p:txBody>
      </p:sp>
      <p:sp>
        <p:nvSpPr>
          <p:cNvPr id="11" name="object 11"/>
          <p:cNvSpPr txBox="1"/>
          <p:nvPr/>
        </p:nvSpPr>
        <p:spPr>
          <a:xfrm>
            <a:off x="370840" y="5102485"/>
            <a:ext cx="3552811" cy="666115"/>
          </a:xfrm>
          <a:prstGeom prst="rect">
            <a:avLst/>
          </a:prstGeom>
        </p:spPr>
        <p:txBody>
          <a:bodyPr vert="horz" wrap="square" lIns="0" tIns="0" rIns="0" bIns="0" rtlCol="0">
            <a:spAutoFit/>
          </a:bodyPr>
          <a:lstStyle/>
          <a:p>
            <a:pPr marL="0" marR="0">
              <a:lnSpc>
                <a:spcPts val="1895"/>
              </a:lnSpc>
              <a:spcBef>
                <a:spcPts val="0"/>
              </a:spcBef>
              <a:spcAft>
                <a:spcPts val="0"/>
              </a:spcAft>
            </a:pPr>
            <a:r>
              <a:rPr sz="1900" dirty="0">
                <a:solidFill>
                  <a:srgbClr val="000000"/>
                </a:solidFill>
                <a:latin typeface="AAVGFJ+Calibri"/>
                <a:cs typeface="AAVGFJ+Calibri"/>
              </a:rPr>
              <a:t>[return</a:t>
            </a:r>
            <a:r>
              <a:rPr sz="1900" spc="10" dirty="0">
                <a:solidFill>
                  <a:srgbClr val="000000"/>
                </a:solidFill>
                <a:latin typeface="AAVGFJ+Calibri"/>
                <a:cs typeface="AAVGFJ+Calibri"/>
              </a:rPr>
              <a:t> </a:t>
            </a:r>
            <a:r>
              <a:rPr sz="1900" dirty="0">
                <a:solidFill>
                  <a:srgbClr val="000000"/>
                </a:solidFill>
                <a:latin typeface="AAVGFJ+Calibri"/>
                <a:cs typeface="AAVGFJ+Calibri"/>
              </a:rPr>
              <a:t>(Expression)]</a:t>
            </a:r>
            <a:r>
              <a:rPr sz="1900" spc="864" dirty="0">
                <a:solidFill>
                  <a:srgbClr val="000000"/>
                </a:solidFill>
                <a:latin typeface="AAVGFJ+Calibri"/>
                <a:cs typeface="AAVGFJ+Calibri"/>
              </a:rPr>
              <a:t> </a:t>
            </a:r>
            <a:r>
              <a:rPr sz="1900" dirty="0">
                <a:solidFill>
                  <a:srgbClr val="000000"/>
                </a:solidFill>
                <a:latin typeface="AAVGFJ+Calibri"/>
                <a:cs typeface="AAVGFJ+Calibri"/>
              </a:rPr>
              <a:t>//[]-optional</a:t>
            </a:r>
          </a:p>
          <a:p>
            <a:pPr marL="0" marR="0">
              <a:lnSpc>
                <a:spcPts val="1895"/>
              </a:lnSpc>
              <a:spcBef>
                <a:spcPts val="1104"/>
              </a:spcBef>
              <a:spcAft>
                <a:spcPts val="0"/>
              </a:spcAft>
            </a:pPr>
            <a:r>
              <a:rPr sz="1900" dirty="0">
                <a:solidFill>
                  <a:srgbClr val="000000"/>
                </a:solidFill>
                <a:latin typeface="AAVGFJ+Calibri"/>
                <a:cs typeface="AAVGFJ+Calibri"/>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29639" y="746918"/>
            <a:ext cx="5868307" cy="597535"/>
          </a:xfrm>
          <a:prstGeom prst="rect">
            <a:avLst/>
          </a:prstGeom>
        </p:spPr>
        <p:txBody>
          <a:bodyPr vert="horz" wrap="square" lIns="0" tIns="0" rIns="0" bIns="0" rtlCol="0">
            <a:spAutoFit/>
          </a:bodyPr>
          <a:lstStyle/>
          <a:p>
            <a:pPr marL="0" marR="0">
              <a:lnSpc>
                <a:spcPts val="4405"/>
              </a:lnSpc>
              <a:spcBef>
                <a:spcPts val="0"/>
              </a:spcBef>
              <a:spcAft>
                <a:spcPts val="0"/>
              </a:spcAft>
            </a:pPr>
            <a:r>
              <a:rPr sz="4400" dirty="0">
                <a:solidFill>
                  <a:srgbClr val="0033CC"/>
                </a:solidFill>
                <a:latin typeface="HWPIMB+Calibri-Light"/>
                <a:cs typeface="HWPIMB+Calibri-Light"/>
              </a:rPr>
              <a:t>Function-Call(use/access)</a:t>
            </a:r>
          </a:p>
        </p:txBody>
      </p:sp>
      <p:sp>
        <p:nvSpPr>
          <p:cNvPr id="4" name="object 4"/>
          <p:cNvSpPr txBox="1"/>
          <p:nvPr/>
        </p:nvSpPr>
        <p:spPr>
          <a:xfrm>
            <a:off x="929639" y="1904841"/>
            <a:ext cx="4036563" cy="393065"/>
          </a:xfrm>
          <a:prstGeom prst="rect">
            <a:avLst/>
          </a:prstGeom>
        </p:spPr>
        <p:txBody>
          <a:bodyPr vert="horz" wrap="square" lIns="0" tIns="0" rIns="0" bIns="0" rtlCol="0">
            <a:spAutoFit/>
          </a:bodyPr>
          <a:lstStyle/>
          <a:p>
            <a:pPr marL="0" marR="0">
              <a:lnSpc>
                <a:spcPts val="2795"/>
              </a:lnSpc>
              <a:spcBef>
                <a:spcPts val="0"/>
              </a:spcBef>
              <a:spcAft>
                <a:spcPts val="0"/>
              </a:spcAft>
            </a:pPr>
            <a:r>
              <a:rPr sz="2800" dirty="0">
                <a:solidFill>
                  <a:srgbClr val="000000"/>
                </a:solidFill>
                <a:latin typeface="AAVGFJ+Calibri"/>
                <a:cs typeface="AAVGFJ+Calibri"/>
              </a:rPr>
              <a:t>functionname(arguments);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01040" y="466147"/>
            <a:ext cx="2134863"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Functions</a:t>
            </a:r>
          </a:p>
        </p:txBody>
      </p:sp>
      <p:sp>
        <p:nvSpPr>
          <p:cNvPr id="4" name="object 4"/>
          <p:cNvSpPr txBox="1"/>
          <p:nvPr/>
        </p:nvSpPr>
        <p:spPr>
          <a:xfrm>
            <a:off x="370840" y="1365192"/>
            <a:ext cx="1411194" cy="376555"/>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000000"/>
                </a:solidFill>
                <a:latin typeface="AAVGFJ+Calibri"/>
                <a:cs typeface="AAVGFJ+Calibri"/>
              </a:rPr>
              <a:t>Example:</a:t>
            </a:r>
          </a:p>
        </p:txBody>
      </p:sp>
      <p:sp>
        <p:nvSpPr>
          <p:cNvPr id="5" name="object 5"/>
          <p:cNvSpPr txBox="1"/>
          <p:nvPr/>
        </p:nvSpPr>
        <p:spPr>
          <a:xfrm>
            <a:off x="370840" y="1857953"/>
            <a:ext cx="8841757" cy="869314"/>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000000"/>
                </a:solidFill>
                <a:latin typeface="AAVGFJ+Calibri"/>
                <a:cs typeface="AAVGFJ+Calibri"/>
              </a:rPr>
              <a:t>int</a:t>
            </a:r>
            <a:r>
              <a:rPr sz="2650" spc="16" dirty="0">
                <a:solidFill>
                  <a:srgbClr val="000000"/>
                </a:solidFill>
                <a:latin typeface="AAVGFJ+Calibri"/>
                <a:cs typeface="AAVGFJ+Calibri"/>
              </a:rPr>
              <a:t> </a:t>
            </a:r>
            <a:r>
              <a:rPr sz="2650" dirty="0">
                <a:solidFill>
                  <a:srgbClr val="000000"/>
                </a:solidFill>
                <a:latin typeface="AAVGFJ+Calibri"/>
                <a:cs typeface="AAVGFJ+Calibri"/>
              </a:rPr>
              <a:t>product</a:t>
            </a:r>
            <a:r>
              <a:rPr sz="2650" spc="10" dirty="0">
                <a:solidFill>
                  <a:srgbClr val="000000"/>
                </a:solidFill>
                <a:latin typeface="AAVGFJ+Calibri"/>
                <a:cs typeface="AAVGFJ+Calibri"/>
              </a:rPr>
              <a:t> </a:t>
            </a:r>
            <a:r>
              <a:rPr sz="2650" dirty="0">
                <a:solidFill>
                  <a:srgbClr val="000000"/>
                </a:solidFill>
                <a:latin typeface="AAVGFJ+Calibri"/>
                <a:cs typeface="AAVGFJ+Calibri"/>
              </a:rPr>
              <a:t>(x,y)</a:t>
            </a:r>
            <a:r>
              <a:rPr sz="2650" spc="1820" dirty="0">
                <a:solidFill>
                  <a:srgbClr val="000000"/>
                </a:solidFill>
                <a:latin typeface="AAVGFJ+Calibri"/>
                <a:cs typeface="AAVGFJ+Calibri"/>
              </a:rPr>
              <a:t> </a:t>
            </a:r>
            <a:r>
              <a:rPr sz="2650" dirty="0">
                <a:solidFill>
                  <a:srgbClr val="000000"/>
                </a:solidFill>
                <a:latin typeface="AAVGFJ+Calibri"/>
                <a:cs typeface="AAVGFJ+Calibri"/>
              </a:rPr>
              <a:t>// </a:t>
            </a:r>
            <a:r>
              <a:rPr sz="2650" spc="10" dirty="0">
                <a:solidFill>
                  <a:srgbClr val="FF0000"/>
                </a:solidFill>
                <a:latin typeface="AAVGFJ+Calibri"/>
                <a:cs typeface="AAVGFJ+Calibri"/>
              </a:rPr>
              <a:t>function</a:t>
            </a:r>
            <a:r>
              <a:rPr sz="2650" dirty="0">
                <a:solidFill>
                  <a:srgbClr val="FF0000"/>
                </a:solidFill>
                <a:latin typeface="AAVGFJ+Calibri"/>
                <a:cs typeface="AAVGFJ+Calibri"/>
              </a:rPr>
              <a:t> </a:t>
            </a:r>
            <a:r>
              <a:rPr sz="2650" spc="12" dirty="0">
                <a:solidFill>
                  <a:srgbClr val="FF0000"/>
                </a:solidFill>
                <a:latin typeface="AAVGFJ+Calibri"/>
                <a:cs typeface="AAVGFJ+Calibri"/>
              </a:rPr>
              <a:t>header</a:t>
            </a:r>
            <a:r>
              <a:rPr sz="2650" dirty="0">
                <a:solidFill>
                  <a:srgbClr val="FF0000"/>
                </a:solidFill>
                <a:latin typeface="AAVGFJ+Calibri"/>
                <a:cs typeface="AAVGFJ+Calibri"/>
              </a:rPr>
              <a:t> </a:t>
            </a:r>
            <a:r>
              <a:rPr sz="2650" spc="12" dirty="0">
                <a:solidFill>
                  <a:srgbClr val="FF0000"/>
                </a:solidFill>
                <a:latin typeface="AAVGFJ+Calibri"/>
                <a:cs typeface="AAVGFJ+Calibri"/>
              </a:rPr>
              <a:t>and</a:t>
            </a:r>
            <a:r>
              <a:rPr sz="2650" dirty="0">
                <a:solidFill>
                  <a:srgbClr val="FF0000"/>
                </a:solidFill>
                <a:latin typeface="AAVGFJ+Calibri"/>
                <a:cs typeface="AAVGFJ+Calibri"/>
              </a:rPr>
              <a:t> argument</a:t>
            </a:r>
            <a:r>
              <a:rPr sz="2650" spc="11" dirty="0">
                <a:solidFill>
                  <a:srgbClr val="FF0000"/>
                </a:solidFill>
                <a:latin typeface="AAVGFJ+Calibri"/>
                <a:cs typeface="AAVGFJ+Calibri"/>
              </a:rPr>
              <a:t> </a:t>
            </a:r>
            <a:r>
              <a:rPr sz="2650" dirty="0">
                <a:solidFill>
                  <a:srgbClr val="FF0000"/>
                </a:solidFill>
                <a:latin typeface="AAVGFJ+Calibri"/>
                <a:cs typeface="AAVGFJ+Calibri"/>
              </a:rPr>
              <a:t>declaration</a:t>
            </a:r>
          </a:p>
          <a:p>
            <a:pPr marL="0" marR="0">
              <a:lnSpc>
                <a:spcPts val="2665"/>
              </a:lnSpc>
              <a:spcBef>
                <a:spcPts val="1164"/>
              </a:spcBef>
              <a:spcAft>
                <a:spcPts val="0"/>
              </a:spcAft>
            </a:pPr>
            <a:r>
              <a:rPr sz="2650" dirty="0">
                <a:solidFill>
                  <a:srgbClr val="000000"/>
                </a:solidFill>
                <a:latin typeface="AAVGFJ+Calibri"/>
                <a:cs typeface="AAVGFJ+Calibri"/>
              </a:rPr>
              <a:t>{</a:t>
            </a:r>
          </a:p>
        </p:txBody>
      </p:sp>
      <p:sp>
        <p:nvSpPr>
          <p:cNvPr id="6" name="object 6"/>
          <p:cNvSpPr txBox="1"/>
          <p:nvPr/>
        </p:nvSpPr>
        <p:spPr>
          <a:xfrm>
            <a:off x="601345" y="2843472"/>
            <a:ext cx="1572653" cy="1362075"/>
          </a:xfrm>
          <a:prstGeom prst="rect">
            <a:avLst/>
          </a:prstGeom>
        </p:spPr>
        <p:txBody>
          <a:bodyPr vert="horz" wrap="square" lIns="0" tIns="0" rIns="0" bIns="0" rtlCol="0">
            <a:spAutoFit/>
          </a:bodyPr>
          <a:lstStyle/>
          <a:p>
            <a:pPr marL="76834" marR="0">
              <a:lnSpc>
                <a:spcPts val="2665"/>
              </a:lnSpc>
              <a:spcBef>
                <a:spcPts val="0"/>
              </a:spcBef>
              <a:spcAft>
                <a:spcPts val="0"/>
              </a:spcAft>
            </a:pPr>
            <a:r>
              <a:rPr sz="2650" dirty="0">
                <a:solidFill>
                  <a:srgbClr val="000000"/>
                </a:solidFill>
                <a:latin typeface="AAVGFJ+Calibri"/>
                <a:cs typeface="AAVGFJ+Calibri"/>
              </a:rPr>
              <a:t>int</a:t>
            </a:r>
            <a:r>
              <a:rPr sz="2650" spc="16" dirty="0">
                <a:solidFill>
                  <a:srgbClr val="000000"/>
                </a:solidFill>
                <a:latin typeface="AAVGFJ+Calibri"/>
                <a:cs typeface="AAVGFJ+Calibri"/>
              </a:rPr>
              <a:t> </a:t>
            </a:r>
            <a:r>
              <a:rPr sz="2650" spc="-26" dirty="0">
                <a:solidFill>
                  <a:srgbClr val="000000"/>
                </a:solidFill>
                <a:latin typeface="AAVGFJ+Calibri"/>
                <a:cs typeface="AAVGFJ+Calibri"/>
              </a:rPr>
              <a:t>x,y,p;</a:t>
            </a:r>
          </a:p>
          <a:p>
            <a:pPr marL="76834" marR="0">
              <a:lnSpc>
                <a:spcPts val="2665"/>
              </a:lnSpc>
              <a:spcBef>
                <a:spcPts val="1165"/>
              </a:spcBef>
              <a:spcAft>
                <a:spcPts val="0"/>
              </a:spcAft>
            </a:pPr>
            <a:r>
              <a:rPr sz="2650" dirty="0">
                <a:solidFill>
                  <a:srgbClr val="000000"/>
                </a:solidFill>
                <a:latin typeface="AAVGFJ+Calibri"/>
                <a:cs typeface="AAVGFJ+Calibri"/>
              </a:rPr>
              <a:t>p</a:t>
            </a:r>
            <a:r>
              <a:rPr sz="2650" spc="19" dirty="0">
                <a:solidFill>
                  <a:srgbClr val="000000"/>
                </a:solidFill>
                <a:latin typeface="AAVGFJ+Calibri"/>
                <a:cs typeface="AAVGFJ+Calibri"/>
              </a:rPr>
              <a:t> </a:t>
            </a:r>
            <a:r>
              <a:rPr sz="2650" dirty="0">
                <a:solidFill>
                  <a:srgbClr val="000000"/>
                </a:solidFill>
                <a:latin typeface="AAVGFJ+Calibri"/>
                <a:cs typeface="AAVGFJ+Calibri"/>
              </a:rPr>
              <a:t>=</a:t>
            </a:r>
            <a:r>
              <a:rPr sz="2650" spc="16" dirty="0">
                <a:solidFill>
                  <a:srgbClr val="000000"/>
                </a:solidFill>
                <a:latin typeface="AAVGFJ+Calibri"/>
                <a:cs typeface="AAVGFJ+Calibri"/>
              </a:rPr>
              <a:t> </a:t>
            </a:r>
            <a:r>
              <a:rPr sz="2650" dirty="0">
                <a:solidFill>
                  <a:srgbClr val="000000"/>
                </a:solidFill>
                <a:latin typeface="AAVGFJ+Calibri"/>
                <a:cs typeface="AAVGFJ+Calibri"/>
              </a:rPr>
              <a:t>x</a:t>
            </a:r>
            <a:r>
              <a:rPr sz="2650" spc="13" dirty="0">
                <a:solidFill>
                  <a:srgbClr val="000000"/>
                </a:solidFill>
                <a:latin typeface="AAVGFJ+Calibri"/>
                <a:cs typeface="AAVGFJ+Calibri"/>
              </a:rPr>
              <a:t> </a:t>
            </a:r>
            <a:r>
              <a:rPr sz="2650" dirty="0">
                <a:solidFill>
                  <a:srgbClr val="000000"/>
                </a:solidFill>
                <a:latin typeface="AAVGFJ+Calibri"/>
                <a:cs typeface="AAVGFJ+Calibri"/>
              </a:rPr>
              <a:t>*</a:t>
            </a:r>
            <a:r>
              <a:rPr sz="2650" spc="16" dirty="0">
                <a:solidFill>
                  <a:srgbClr val="000000"/>
                </a:solidFill>
                <a:latin typeface="AAVGFJ+Calibri"/>
                <a:cs typeface="AAVGFJ+Calibri"/>
              </a:rPr>
              <a:t> </a:t>
            </a:r>
            <a:r>
              <a:rPr sz="2650" spc="11" dirty="0">
                <a:solidFill>
                  <a:srgbClr val="000000"/>
                </a:solidFill>
                <a:latin typeface="AAVGFJ+Calibri"/>
                <a:cs typeface="AAVGFJ+Calibri"/>
              </a:rPr>
              <a:t>y;</a:t>
            </a:r>
          </a:p>
          <a:p>
            <a:pPr marL="0" marR="0">
              <a:lnSpc>
                <a:spcPts val="2665"/>
              </a:lnSpc>
              <a:spcBef>
                <a:spcPts val="1214"/>
              </a:spcBef>
              <a:spcAft>
                <a:spcPts val="0"/>
              </a:spcAft>
            </a:pPr>
            <a:r>
              <a:rPr sz="2650" dirty="0">
                <a:solidFill>
                  <a:srgbClr val="000000"/>
                </a:solidFill>
                <a:latin typeface="AAVGFJ+Calibri"/>
                <a:cs typeface="AAVGFJ+Calibri"/>
              </a:rPr>
              <a:t>return</a:t>
            </a:r>
            <a:r>
              <a:rPr sz="2650" spc="21" dirty="0">
                <a:solidFill>
                  <a:srgbClr val="000000"/>
                </a:solidFill>
                <a:latin typeface="AAVGFJ+Calibri"/>
                <a:cs typeface="AAVGFJ+Calibri"/>
              </a:rPr>
              <a:t> </a:t>
            </a:r>
            <a:r>
              <a:rPr sz="2650" dirty="0">
                <a:solidFill>
                  <a:srgbClr val="000000"/>
                </a:solidFill>
                <a:latin typeface="AAVGFJ+Calibri"/>
                <a:cs typeface="AAVGFJ+Calibri"/>
              </a:rPr>
              <a:t>(p);</a:t>
            </a:r>
          </a:p>
        </p:txBody>
      </p:sp>
      <p:sp>
        <p:nvSpPr>
          <p:cNvPr id="7" name="object 7"/>
          <p:cNvSpPr txBox="1"/>
          <p:nvPr/>
        </p:nvSpPr>
        <p:spPr>
          <a:xfrm>
            <a:off x="2988310" y="2843472"/>
            <a:ext cx="3928128" cy="376555"/>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0033CC"/>
                </a:solidFill>
                <a:latin typeface="AAVGFJ+Calibri"/>
                <a:cs typeface="AAVGFJ+Calibri"/>
              </a:rPr>
              <a:t>// local variable</a:t>
            </a:r>
            <a:r>
              <a:rPr sz="2650" spc="14" dirty="0">
                <a:solidFill>
                  <a:srgbClr val="0033CC"/>
                </a:solidFill>
                <a:latin typeface="AAVGFJ+Calibri"/>
                <a:cs typeface="AAVGFJ+Calibri"/>
              </a:rPr>
              <a:t> </a:t>
            </a:r>
            <a:r>
              <a:rPr sz="2650" dirty="0">
                <a:solidFill>
                  <a:srgbClr val="0033CC"/>
                </a:solidFill>
                <a:latin typeface="AAVGFJ+Calibri"/>
                <a:cs typeface="AAVGFJ+Calibri"/>
              </a:rPr>
              <a:t>declaration</a:t>
            </a:r>
          </a:p>
        </p:txBody>
      </p:sp>
      <p:sp>
        <p:nvSpPr>
          <p:cNvPr id="8" name="object 8"/>
          <p:cNvSpPr txBox="1"/>
          <p:nvPr/>
        </p:nvSpPr>
        <p:spPr>
          <a:xfrm>
            <a:off x="370840" y="4321753"/>
            <a:ext cx="258828" cy="376555"/>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000000"/>
                </a:solidFill>
                <a:latin typeface="AAVGFJ+Calibri"/>
                <a:cs typeface="AAVGFJ+Calibri"/>
              </a:rPr>
              <a:t>}</a:t>
            </a:r>
          </a:p>
        </p:txBody>
      </p:sp>
      <p:sp>
        <p:nvSpPr>
          <p:cNvPr id="9" name="object 9"/>
          <p:cNvSpPr txBox="1"/>
          <p:nvPr/>
        </p:nvSpPr>
        <p:spPr>
          <a:xfrm>
            <a:off x="370840" y="4814513"/>
            <a:ext cx="10390216" cy="869314"/>
          </a:xfrm>
          <a:prstGeom prst="rect">
            <a:avLst/>
          </a:prstGeom>
        </p:spPr>
        <p:txBody>
          <a:bodyPr vert="horz" wrap="square" lIns="0" tIns="0" rIns="0" bIns="0" rtlCol="0">
            <a:spAutoFit/>
          </a:bodyPr>
          <a:lstStyle/>
          <a:p>
            <a:pPr marL="0" marR="0">
              <a:lnSpc>
                <a:spcPts val="2665"/>
              </a:lnSpc>
              <a:spcBef>
                <a:spcPts val="0"/>
              </a:spcBef>
              <a:spcAft>
                <a:spcPts val="0"/>
              </a:spcAft>
            </a:pPr>
            <a:r>
              <a:rPr sz="2650" dirty="0">
                <a:solidFill>
                  <a:srgbClr val="FF0000"/>
                </a:solidFill>
                <a:latin typeface="AAVGFJ+Calibri"/>
                <a:cs typeface="AAVGFJ+Calibri"/>
              </a:rPr>
              <a:t>Calling a</a:t>
            </a:r>
            <a:r>
              <a:rPr sz="2650" spc="17" dirty="0">
                <a:solidFill>
                  <a:srgbClr val="FF0000"/>
                </a:solidFill>
                <a:latin typeface="AAVGFJ+Calibri"/>
                <a:cs typeface="AAVGFJ+Calibri"/>
              </a:rPr>
              <a:t> </a:t>
            </a:r>
            <a:r>
              <a:rPr sz="2650" spc="10" dirty="0">
                <a:solidFill>
                  <a:srgbClr val="FF0000"/>
                </a:solidFill>
                <a:latin typeface="AAVGFJ+Calibri"/>
                <a:cs typeface="AAVGFJ+Calibri"/>
              </a:rPr>
              <a:t>Function</a:t>
            </a:r>
          </a:p>
          <a:p>
            <a:pPr marL="0" marR="0">
              <a:lnSpc>
                <a:spcPts val="2665"/>
              </a:lnSpc>
              <a:spcBef>
                <a:spcPts val="1164"/>
              </a:spcBef>
              <a:spcAft>
                <a:spcPts val="0"/>
              </a:spcAft>
            </a:pPr>
            <a:r>
              <a:rPr sz="2650" dirty="0">
                <a:solidFill>
                  <a:srgbClr val="000000"/>
                </a:solidFill>
                <a:latin typeface="AAVGFJ+Calibri"/>
                <a:cs typeface="AAVGFJ+Calibri"/>
              </a:rPr>
              <a:t>A</a:t>
            </a:r>
            <a:r>
              <a:rPr sz="2650" spc="18" dirty="0">
                <a:solidFill>
                  <a:srgbClr val="000000"/>
                </a:solidFill>
                <a:latin typeface="AAVGFJ+Calibri"/>
                <a:cs typeface="AAVGFJ+Calibri"/>
              </a:rPr>
              <a:t> </a:t>
            </a:r>
            <a:r>
              <a:rPr sz="2650" spc="10" dirty="0">
                <a:solidFill>
                  <a:srgbClr val="000000"/>
                </a:solidFill>
                <a:latin typeface="AAVGFJ+Calibri"/>
                <a:cs typeface="AAVGFJ+Calibri"/>
              </a:rPr>
              <a:t>function</a:t>
            </a:r>
            <a:r>
              <a:rPr sz="2650" dirty="0">
                <a:solidFill>
                  <a:srgbClr val="000000"/>
                </a:solidFill>
                <a:latin typeface="AAVGFJ+Calibri"/>
                <a:cs typeface="AAVGFJ+Calibri"/>
              </a:rPr>
              <a:t> can</a:t>
            </a:r>
            <a:r>
              <a:rPr sz="2650" spc="21" dirty="0">
                <a:solidFill>
                  <a:srgbClr val="000000"/>
                </a:solidFill>
                <a:latin typeface="AAVGFJ+Calibri"/>
                <a:cs typeface="AAVGFJ+Calibri"/>
              </a:rPr>
              <a:t> </a:t>
            </a:r>
            <a:r>
              <a:rPr sz="2650" spc="13" dirty="0">
                <a:solidFill>
                  <a:srgbClr val="000000"/>
                </a:solidFill>
                <a:latin typeface="AAVGFJ+Calibri"/>
                <a:cs typeface="AAVGFJ+Calibri"/>
              </a:rPr>
              <a:t>be</a:t>
            </a:r>
            <a:r>
              <a:rPr sz="2650" dirty="0">
                <a:solidFill>
                  <a:srgbClr val="000000"/>
                </a:solidFill>
                <a:latin typeface="AAVGFJ+Calibri"/>
                <a:cs typeface="AAVGFJ+Calibri"/>
              </a:rPr>
              <a:t> called</a:t>
            </a:r>
            <a:r>
              <a:rPr sz="2650" spc="15" dirty="0">
                <a:solidFill>
                  <a:srgbClr val="000000"/>
                </a:solidFill>
                <a:latin typeface="AAVGFJ+Calibri"/>
                <a:cs typeface="AAVGFJ+Calibri"/>
              </a:rPr>
              <a:t> </a:t>
            </a:r>
            <a:r>
              <a:rPr sz="2650" dirty="0">
                <a:solidFill>
                  <a:srgbClr val="000000"/>
                </a:solidFill>
                <a:latin typeface="AAVGFJ+Calibri"/>
                <a:cs typeface="AAVGFJ+Calibri"/>
              </a:rPr>
              <a:t>by</a:t>
            </a:r>
            <a:r>
              <a:rPr sz="2650" spc="19" dirty="0">
                <a:solidFill>
                  <a:srgbClr val="000000"/>
                </a:solidFill>
                <a:latin typeface="AAVGFJ+Calibri"/>
                <a:cs typeface="AAVGFJ+Calibri"/>
              </a:rPr>
              <a:t> </a:t>
            </a:r>
            <a:r>
              <a:rPr sz="2650" spc="11" dirty="0">
                <a:solidFill>
                  <a:srgbClr val="000000"/>
                </a:solidFill>
                <a:latin typeface="AAVGFJ+Calibri"/>
                <a:cs typeface="AAVGFJ+Calibri"/>
              </a:rPr>
              <a:t>simply</a:t>
            </a:r>
            <a:r>
              <a:rPr sz="2650" dirty="0">
                <a:solidFill>
                  <a:srgbClr val="000000"/>
                </a:solidFill>
                <a:latin typeface="AAVGFJ+Calibri"/>
                <a:cs typeface="AAVGFJ+Calibri"/>
              </a:rPr>
              <a:t> </a:t>
            </a:r>
            <a:r>
              <a:rPr sz="2650" spc="10" dirty="0">
                <a:solidFill>
                  <a:srgbClr val="000000"/>
                </a:solidFill>
                <a:latin typeface="AAVGFJ+Calibri"/>
                <a:cs typeface="AAVGFJ+Calibri"/>
              </a:rPr>
              <a:t>using</a:t>
            </a:r>
            <a:r>
              <a:rPr sz="2650" dirty="0">
                <a:solidFill>
                  <a:srgbClr val="000000"/>
                </a:solidFill>
                <a:latin typeface="AAVGFJ+Calibri"/>
                <a:cs typeface="AAVGFJ+Calibri"/>
              </a:rPr>
              <a:t> </a:t>
            </a:r>
            <a:r>
              <a:rPr sz="2650" spc="10" dirty="0">
                <a:solidFill>
                  <a:srgbClr val="000000"/>
                </a:solidFill>
                <a:latin typeface="AAVGFJ+Calibri"/>
                <a:cs typeface="AAVGFJ+Calibri"/>
              </a:rPr>
              <a:t>the</a:t>
            </a:r>
            <a:r>
              <a:rPr sz="2650" dirty="0">
                <a:solidFill>
                  <a:srgbClr val="000000"/>
                </a:solidFill>
                <a:latin typeface="AAVGFJ+Calibri"/>
                <a:cs typeface="AAVGFJ+Calibri"/>
              </a:rPr>
              <a:t> </a:t>
            </a:r>
            <a:r>
              <a:rPr sz="2650" spc="10" dirty="0">
                <a:solidFill>
                  <a:srgbClr val="000000"/>
                </a:solidFill>
                <a:latin typeface="AAVGFJ+Calibri"/>
                <a:cs typeface="AAVGFJ+Calibri"/>
              </a:rPr>
              <a:t>function</a:t>
            </a:r>
            <a:r>
              <a:rPr sz="2650" dirty="0">
                <a:solidFill>
                  <a:srgbClr val="000000"/>
                </a:solidFill>
                <a:latin typeface="AAVGFJ+Calibri"/>
                <a:cs typeface="AAVGFJ+Calibri"/>
              </a:rPr>
              <a:t> </a:t>
            </a:r>
            <a:r>
              <a:rPr sz="2650" spc="14" dirty="0">
                <a:solidFill>
                  <a:srgbClr val="000000"/>
                </a:solidFill>
                <a:latin typeface="AAVGFJ+Calibri"/>
                <a:cs typeface="AAVGFJ+Calibri"/>
              </a:rPr>
              <a:t>name</a:t>
            </a:r>
            <a:r>
              <a:rPr sz="2650" dirty="0">
                <a:solidFill>
                  <a:srgbClr val="000000"/>
                </a:solidFill>
                <a:latin typeface="AAVGFJ+Calibri"/>
                <a:cs typeface="AAVGFJ+Calibri"/>
              </a:rPr>
              <a:t> in</a:t>
            </a:r>
            <a:r>
              <a:rPr sz="2650" spc="12" dirty="0">
                <a:solidFill>
                  <a:srgbClr val="000000"/>
                </a:solidFill>
                <a:latin typeface="AAVGFJ+Calibri"/>
                <a:cs typeface="AAVGFJ+Calibri"/>
              </a:rPr>
              <a:t> </a:t>
            </a:r>
            <a:r>
              <a:rPr sz="2650" dirty="0">
                <a:solidFill>
                  <a:srgbClr val="000000"/>
                </a:solidFill>
                <a:latin typeface="AAVGFJ+Calibri"/>
                <a:cs typeface="AAVGFJ+Calibri"/>
              </a:rPr>
              <a:t>a</a:t>
            </a:r>
            <a:r>
              <a:rPr sz="2650" spc="17" dirty="0">
                <a:solidFill>
                  <a:srgbClr val="000000"/>
                </a:solidFill>
                <a:latin typeface="AAVGFJ+Calibri"/>
                <a:cs typeface="AAVGFJ+Calibri"/>
              </a:rPr>
              <a:t> </a:t>
            </a:r>
            <a:r>
              <a:rPr sz="2650" dirty="0">
                <a:solidFill>
                  <a:srgbClr val="000000"/>
                </a:solidFill>
                <a:latin typeface="AAVGFJ+Calibri"/>
                <a:cs typeface="AAVGFJ+Calibri"/>
              </a:rPr>
              <a:t>statement.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190976"/>
            <a:ext cx="4239780"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Functions - </a:t>
            </a:r>
            <a:r>
              <a:rPr sz="4000" spc="-12" dirty="0">
                <a:solidFill>
                  <a:srgbClr val="0033CC"/>
                </a:solidFill>
                <a:latin typeface="HWPIMB+Calibri-Light"/>
                <a:cs typeface="HWPIMB+Calibri-Light"/>
              </a:rPr>
              <a:t>Example</a:t>
            </a:r>
          </a:p>
        </p:txBody>
      </p:sp>
      <p:sp>
        <p:nvSpPr>
          <p:cNvPr id="4" name="object 4"/>
          <p:cNvSpPr txBox="1"/>
          <p:nvPr/>
        </p:nvSpPr>
        <p:spPr>
          <a:xfrm>
            <a:off x="182460" y="955617"/>
            <a:ext cx="1470362"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#include&lt;stdio.h&gt;</a:t>
            </a:r>
          </a:p>
        </p:txBody>
      </p:sp>
      <p:sp>
        <p:nvSpPr>
          <p:cNvPr id="5" name="object 5"/>
          <p:cNvSpPr txBox="1"/>
          <p:nvPr/>
        </p:nvSpPr>
        <p:spPr>
          <a:xfrm>
            <a:off x="182460" y="1274387"/>
            <a:ext cx="1572591"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int</a:t>
            </a:r>
            <a:r>
              <a:rPr sz="1400" spc="14" dirty="0">
                <a:solidFill>
                  <a:srgbClr val="000000"/>
                </a:solidFill>
                <a:latin typeface="OJWNPN+Calibri-Bold"/>
                <a:cs typeface="OJWNPN+Calibri-Bold"/>
              </a:rPr>
              <a:t> </a:t>
            </a:r>
            <a:r>
              <a:rPr sz="1400" dirty="0">
                <a:solidFill>
                  <a:srgbClr val="000000"/>
                </a:solidFill>
                <a:latin typeface="OJWNPN+Calibri-Bold"/>
                <a:cs typeface="OJWNPN+Calibri-Bold"/>
              </a:rPr>
              <a:t>product(int,int);</a:t>
            </a:r>
          </a:p>
        </p:txBody>
      </p:sp>
      <p:sp>
        <p:nvSpPr>
          <p:cNvPr id="6" name="object 6"/>
          <p:cNvSpPr txBox="1"/>
          <p:nvPr/>
        </p:nvSpPr>
        <p:spPr>
          <a:xfrm>
            <a:off x="182460" y="1593157"/>
            <a:ext cx="991576"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void</a:t>
            </a:r>
            <a:r>
              <a:rPr sz="1400" spc="10" dirty="0">
                <a:solidFill>
                  <a:srgbClr val="000000"/>
                </a:solidFill>
                <a:latin typeface="OJWNPN+Calibri-Bold"/>
                <a:cs typeface="OJWNPN+Calibri-Bold"/>
              </a:rPr>
              <a:t> </a:t>
            </a:r>
            <a:r>
              <a:rPr sz="1400" dirty="0">
                <a:solidFill>
                  <a:srgbClr val="000000"/>
                </a:solidFill>
                <a:latin typeface="OJWNPN+Calibri-Bold"/>
                <a:cs typeface="OJWNPN+Calibri-Bold"/>
              </a:rPr>
              <a:t>main()</a:t>
            </a:r>
          </a:p>
        </p:txBody>
      </p:sp>
      <p:sp>
        <p:nvSpPr>
          <p:cNvPr id="7" name="object 7"/>
          <p:cNvSpPr txBox="1"/>
          <p:nvPr/>
        </p:nvSpPr>
        <p:spPr>
          <a:xfrm>
            <a:off x="182460" y="1911927"/>
            <a:ext cx="213737"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a:t>
            </a:r>
          </a:p>
        </p:txBody>
      </p:sp>
      <p:sp>
        <p:nvSpPr>
          <p:cNvPr id="8" name="object 8"/>
          <p:cNvSpPr txBox="1"/>
          <p:nvPr/>
        </p:nvSpPr>
        <p:spPr>
          <a:xfrm>
            <a:off x="662521" y="2230697"/>
            <a:ext cx="984581"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int</a:t>
            </a:r>
            <a:r>
              <a:rPr sz="1400" spc="14" dirty="0">
                <a:solidFill>
                  <a:srgbClr val="000000"/>
                </a:solidFill>
                <a:latin typeface="OJWNPN+Calibri-Bold"/>
                <a:cs typeface="OJWNPN+Calibri-Bold"/>
              </a:rPr>
              <a:t> </a:t>
            </a:r>
            <a:r>
              <a:rPr sz="1400" dirty="0">
                <a:solidFill>
                  <a:srgbClr val="000000"/>
                </a:solidFill>
                <a:latin typeface="OJWNPN+Calibri-Bold"/>
                <a:cs typeface="OJWNPN+Calibri-Bold"/>
              </a:rPr>
              <a:t>n1,n2,x;</a:t>
            </a:r>
          </a:p>
        </p:txBody>
      </p:sp>
      <p:sp>
        <p:nvSpPr>
          <p:cNvPr id="9" name="object 9"/>
          <p:cNvSpPr txBox="1"/>
          <p:nvPr/>
        </p:nvSpPr>
        <p:spPr>
          <a:xfrm>
            <a:off x="662521" y="2549468"/>
            <a:ext cx="2084401"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printf("Enter</a:t>
            </a:r>
            <a:r>
              <a:rPr sz="1400" spc="13" dirty="0">
                <a:solidFill>
                  <a:srgbClr val="000000"/>
                </a:solidFill>
                <a:latin typeface="OJWNPN+Calibri-Bold"/>
                <a:cs typeface="OJWNPN+Calibri-Bold"/>
              </a:rPr>
              <a:t> </a:t>
            </a:r>
            <a:r>
              <a:rPr sz="1400" dirty="0">
                <a:solidFill>
                  <a:srgbClr val="000000"/>
                </a:solidFill>
                <a:latin typeface="OJWNPN+Calibri-Bold"/>
                <a:cs typeface="OJWNPN+Calibri-Bold"/>
              </a:rPr>
              <a:t>2 values\n");</a:t>
            </a:r>
          </a:p>
        </p:txBody>
      </p:sp>
      <p:sp>
        <p:nvSpPr>
          <p:cNvPr id="10" name="object 10"/>
          <p:cNvSpPr txBox="1"/>
          <p:nvPr/>
        </p:nvSpPr>
        <p:spPr>
          <a:xfrm>
            <a:off x="662521" y="2868237"/>
            <a:ext cx="2052652"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scanf("%d %d",&amp;n1,&amp;n2);</a:t>
            </a:r>
          </a:p>
        </p:txBody>
      </p:sp>
      <p:sp>
        <p:nvSpPr>
          <p:cNvPr id="11" name="object 11"/>
          <p:cNvSpPr txBox="1"/>
          <p:nvPr/>
        </p:nvSpPr>
        <p:spPr>
          <a:xfrm>
            <a:off x="662521" y="3187007"/>
            <a:ext cx="2597159"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x=product(n1,n2); à Function Call</a:t>
            </a:r>
          </a:p>
        </p:txBody>
      </p:sp>
      <p:sp>
        <p:nvSpPr>
          <p:cNvPr id="12" name="object 12"/>
          <p:cNvSpPr txBox="1"/>
          <p:nvPr/>
        </p:nvSpPr>
        <p:spPr>
          <a:xfrm>
            <a:off x="662521" y="3505777"/>
            <a:ext cx="3614752"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printf("Product of %d and %d =%d\n",n1,n2,x);</a:t>
            </a:r>
          </a:p>
        </p:txBody>
      </p:sp>
      <p:sp>
        <p:nvSpPr>
          <p:cNvPr id="13" name="object 13"/>
          <p:cNvSpPr txBox="1"/>
          <p:nvPr/>
        </p:nvSpPr>
        <p:spPr>
          <a:xfrm>
            <a:off x="662521" y="3824548"/>
            <a:ext cx="719506"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getch();</a:t>
            </a:r>
          </a:p>
        </p:txBody>
      </p:sp>
      <p:sp>
        <p:nvSpPr>
          <p:cNvPr id="14" name="object 14"/>
          <p:cNvSpPr txBox="1"/>
          <p:nvPr/>
        </p:nvSpPr>
        <p:spPr>
          <a:xfrm>
            <a:off x="182460" y="4143317"/>
            <a:ext cx="213737"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000000"/>
                </a:solidFill>
                <a:latin typeface="OJWNPN+Calibri-Bold"/>
                <a:cs typeface="OJWNPN+Calibri-Bold"/>
              </a:rPr>
              <a:t>}</a:t>
            </a:r>
          </a:p>
        </p:txBody>
      </p:sp>
      <p:sp>
        <p:nvSpPr>
          <p:cNvPr id="15" name="object 15"/>
          <p:cNvSpPr txBox="1"/>
          <p:nvPr/>
        </p:nvSpPr>
        <p:spPr>
          <a:xfrm>
            <a:off x="182460" y="4462087"/>
            <a:ext cx="2299836"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FF0000"/>
                </a:solidFill>
                <a:latin typeface="OJWNPN+Calibri-Bold"/>
                <a:cs typeface="OJWNPN+Calibri-Bold"/>
              </a:rPr>
              <a:t>//Product function definition</a:t>
            </a:r>
          </a:p>
        </p:txBody>
      </p:sp>
      <p:sp>
        <p:nvSpPr>
          <p:cNvPr id="16" name="object 16"/>
          <p:cNvSpPr txBox="1"/>
          <p:nvPr/>
        </p:nvSpPr>
        <p:spPr>
          <a:xfrm>
            <a:off x="182460" y="4780858"/>
            <a:ext cx="1786596"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FF0000"/>
                </a:solidFill>
                <a:latin typeface="OJWNPN+Calibri-Bold"/>
                <a:cs typeface="OJWNPN+Calibri-Bold"/>
              </a:rPr>
              <a:t>int</a:t>
            </a:r>
            <a:r>
              <a:rPr sz="1400" spc="14" dirty="0">
                <a:solidFill>
                  <a:srgbClr val="FF0000"/>
                </a:solidFill>
                <a:latin typeface="OJWNPN+Calibri-Bold"/>
                <a:cs typeface="OJWNPN+Calibri-Bold"/>
              </a:rPr>
              <a:t> </a:t>
            </a:r>
            <a:r>
              <a:rPr sz="1400" dirty="0">
                <a:solidFill>
                  <a:srgbClr val="FF0000"/>
                </a:solidFill>
                <a:latin typeface="OJWNPN+Calibri-Bold"/>
                <a:cs typeface="OJWNPN+Calibri-Bold"/>
              </a:rPr>
              <a:t>product(int</a:t>
            </a:r>
            <a:r>
              <a:rPr sz="1400" spc="10" dirty="0">
                <a:solidFill>
                  <a:srgbClr val="FF0000"/>
                </a:solidFill>
                <a:latin typeface="OJWNPN+Calibri-Bold"/>
                <a:cs typeface="OJWNPN+Calibri-Bold"/>
              </a:rPr>
              <a:t> </a:t>
            </a:r>
            <a:r>
              <a:rPr sz="1400" dirty="0">
                <a:solidFill>
                  <a:srgbClr val="FF0000"/>
                </a:solidFill>
                <a:latin typeface="OJWNPN+Calibri-Bold"/>
                <a:cs typeface="OJWNPN+Calibri-Bold"/>
              </a:rPr>
              <a:t>a,int</a:t>
            </a:r>
            <a:r>
              <a:rPr sz="1400" spc="10" dirty="0">
                <a:solidFill>
                  <a:srgbClr val="FF0000"/>
                </a:solidFill>
                <a:latin typeface="OJWNPN+Calibri-Bold"/>
                <a:cs typeface="OJWNPN+Calibri-Bold"/>
              </a:rPr>
              <a:t> </a:t>
            </a:r>
            <a:r>
              <a:rPr sz="1400" dirty="0">
                <a:solidFill>
                  <a:srgbClr val="FF0000"/>
                </a:solidFill>
                <a:latin typeface="OJWNPN+Calibri-Bold"/>
                <a:cs typeface="OJWNPN+Calibri-Bold"/>
              </a:rPr>
              <a:t>b)</a:t>
            </a:r>
          </a:p>
        </p:txBody>
      </p:sp>
      <p:sp>
        <p:nvSpPr>
          <p:cNvPr id="17" name="object 17"/>
          <p:cNvSpPr txBox="1"/>
          <p:nvPr/>
        </p:nvSpPr>
        <p:spPr>
          <a:xfrm>
            <a:off x="182460" y="5099628"/>
            <a:ext cx="213737" cy="216534"/>
          </a:xfrm>
          <a:prstGeom prst="rect">
            <a:avLst/>
          </a:prstGeom>
        </p:spPr>
        <p:txBody>
          <a:bodyPr vert="horz" wrap="square" lIns="0" tIns="0" rIns="0" bIns="0" rtlCol="0">
            <a:spAutoFit/>
          </a:bodyPr>
          <a:lstStyle/>
          <a:p>
            <a:pPr marL="0" marR="0">
              <a:lnSpc>
                <a:spcPts val="1405"/>
              </a:lnSpc>
              <a:spcBef>
                <a:spcPts val="0"/>
              </a:spcBef>
              <a:spcAft>
                <a:spcPts val="0"/>
              </a:spcAft>
            </a:pPr>
            <a:r>
              <a:rPr sz="1400" dirty="0">
                <a:solidFill>
                  <a:srgbClr val="FF0000"/>
                </a:solidFill>
                <a:latin typeface="OJWNPN+Calibri-Bold"/>
                <a:cs typeface="OJWNPN+Calibri-Bold"/>
              </a:rPr>
              <a:t>{</a:t>
            </a:r>
          </a:p>
        </p:txBody>
      </p:sp>
      <p:sp>
        <p:nvSpPr>
          <p:cNvPr id="18" name="object 18"/>
          <p:cNvSpPr txBox="1"/>
          <p:nvPr/>
        </p:nvSpPr>
        <p:spPr>
          <a:xfrm>
            <a:off x="182460" y="5418398"/>
            <a:ext cx="1352246" cy="1172844"/>
          </a:xfrm>
          <a:prstGeom prst="rect">
            <a:avLst/>
          </a:prstGeom>
        </p:spPr>
        <p:txBody>
          <a:bodyPr vert="horz" wrap="square" lIns="0" tIns="0" rIns="0" bIns="0" rtlCol="0">
            <a:spAutoFit/>
          </a:bodyPr>
          <a:lstStyle/>
          <a:p>
            <a:pPr marL="480060" marR="0">
              <a:lnSpc>
                <a:spcPts val="1405"/>
              </a:lnSpc>
              <a:spcBef>
                <a:spcPts val="0"/>
              </a:spcBef>
              <a:spcAft>
                <a:spcPts val="0"/>
              </a:spcAft>
            </a:pPr>
            <a:r>
              <a:rPr sz="1400" dirty="0">
                <a:solidFill>
                  <a:srgbClr val="FF0000"/>
                </a:solidFill>
                <a:latin typeface="OJWNPN+Calibri-Bold"/>
                <a:cs typeface="OJWNPN+Calibri-Bold"/>
              </a:rPr>
              <a:t>int</a:t>
            </a:r>
            <a:r>
              <a:rPr sz="1400" spc="14" dirty="0">
                <a:solidFill>
                  <a:srgbClr val="FF0000"/>
                </a:solidFill>
                <a:latin typeface="OJWNPN+Calibri-Bold"/>
                <a:cs typeface="OJWNPN+Calibri-Bold"/>
              </a:rPr>
              <a:t> </a:t>
            </a:r>
            <a:r>
              <a:rPr sz="1400" dirty="0">
                <a:solidFill>
                  <a:srgbClr val="FF0000"/>
                </a:solidFill>
                <a:latin typeface="OJWNPN+Calibri-Bold"/>
                <a:cs typeface="OJWNPN+Calibri-Bold"/>
              </a:rPr>
              <a:t>p;</a:t>
            </a:r>
          </a:p>
          <a:p>
            <a:pPr marL="480060" marR="0">
              <a:lnSpc>
                <a:spcPts val="1405"/>
              </a:lnSpc>
              <a:spcBef>
                <a:spcPts val="1104"/>
              </a:spcBef>
              <a:spcAft>
                <a:spcPts val="0"/>
              </a:spcAft>
            </a:pPr>
            <a:r>
              <a:rPr sz="1400" dirty="0">
                <a:solidFill>
                  <a:srgbClr val="FF0000"/>
                </a:solidFill>
                <a:latin typeface="OJWNPN+Calibri-Bold"/>
                <a:cs typeface="OJWNPN+Calibri-Bold"/>
              </a:rPr>
              <a:t>p=a*b;</a:t>
            </a:r>
          </a:p>
          <a:p>
            <a:pPr marL="480060" marR="0">
              <a:lnSpc>
                <a:spcPts val="1405"/>
              </a:lnSpc>
              <a:spcBef>
                <a:spcPts val="1105"/>
              </a:spcBef>
              <a:spcAft>
                <a:spcPts val="0"/>
              </a:spcAft>
            </a:pPr>
            <a:r>
              <a:rPr sz="1400" dirty="0">
                <a:solidFill>
                  <a:srgbClr val="FF0000"/>
                </a:solidFill>
                <a:latin typeface="OJWNPN+Calibri-Bold"/>
                <a:cs typeface="OJWNPN+Calibri-Bold"/>
              </a:rPr>
              <a:t>return(p);</a:t>
            </a:r>
          </a:p>
          <a:p>
            <a:pPr marL="0" marR="0">
              <a:lnSpc>
                <a:spcPts val="1405"/>
              </a:lnSpc>
              <a:spcBef>
                <a:spcPts val="1104"/>
              </a:spcBef>
              <a:spcAft>
                <a:spcPts val="0"/>
              </a:spcAft>
            </a:pPr>
            <a:r>
              <a:rPr sz="1400" dirty="0">
                <a:solidFill>
                  <a:srgbClr val="FF0000"/>
                </a:solidFill>
                <a:latin typeface="OJWNPN+Calibri-Bold"/>
                <a:cs typeface="OJWNPN+Calibri-Bold"/>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190976"/>
            <a:ext cx="3668752"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spc="-15" dirty="0">
                <a:solidFill>
                  <a:srgbClr val="0033CC"/>
                </a:solidFill>
                <a:latin typeface="HWPIMB+Calibri-Light"/>
                <a:cs typeface="HWPIMB+Calibri-Light"/>
              </a:rPr>
              <a:t>return</a:t>
            </a:r>
            <a:r>
              <a:rPr sz="4000" spc="18" dirty="0">
                <a:solidFill>
                  <a:srgbClr val="0033CC"/>
                </a:solidFill>
                <a:latin typeface="HWPIMB+Calibri-Light"/>
                <a:cs typeface="HWPIMB+Calibri-Light"/>
              </a:rPr>
              <a:t> </a:t>
            </a:r>
            <a:r>
              <a:rPr sz="4000" spc="-22" dirty="0">
                <a:solidFill>
                  <a:srgbClr val="0033CC"/>
                </a:solidFill>
                <a:latin typeface="HWPIMB+Calibri-Light"/>
                <a:cs typeface="HWPIMB+Calibri-Light"/>
              </a:rPr>
              <a:t>Statement</a:t>
            </a:r>
          </a:p>
        </p:txBody>
      </p:sp>
      <p:sp>
        <p:nvSpPr>
          <p:cNvPr id="4" name="object 4"/>
          <p:cNvSpPr txBox="1"/>
          <p:nvPr/>
        </p:nvSpPr>
        <p:spPr>
          <a:xfrm>
            <a:off x="281940" y="1169454"/>
            <a:ext cx="11081503" cy="1440179"/>
          </a:xfrm>
          <a:prstGeom prst="rect">
            <a:avLst/>
          </a:prstGeom>
        </p:spPr>
        <p:txBody>
          <a:bodyPr vert="horz" wrap="square" lIns="0" tIns="0" rIns="0" bIns="0" rtlCol="0">
            <a:spAutoFit/>
          </a:bodyPr>
          <a:lstStyle/>
          <a:p>
            <a:pPr marL="0" marR="0">
              <a:lnSpc>
                <a:spcPts val="2400"/>
              </a:lnSpc>
              <a:spcBef>
                <a:spcPts val="0"/>
              </a:spcBef>
              <a:spcAft>
                <a:spcPts val="0"/>
              </a:spcAft>
            </a:pPr>
            <a:r>
              <a:rPr sz="2400" spc="-23" dirty="0">
                <a:solidFill>
                  <a:srgbClr val="000000"/>
                </a:solidFill>
                <a:latin typeface="AAVGFJ+Calibri"/>
                <a:cs typeface="AAVGFJ+Calibri"/>
              </a:rPr>
              <a:t>Generally,</a:t>
            </a:r>
            <a:r>
              <a:rPr sz="2400" spc="26" dirty="0">
                <a:solidFill>
                  <a:srgbClr val="000000"/>
                </a:solidFill>
                <a:latin typeface="AAVGFJ+Calibri"/>
                <a:cs typeface="AAVGFJ+Calibri"/>
              </a:rPr>
              <a:t> </a:t>
            </a:r>
            <a:r>
              <a:rPr sz="2400" dirty="0">
                <a:solidFill>
                  <a:srgbClr val="000000"/>
                </a:solidFill>
                <a:latin typeface="AAVGFJ+Calibri"/>
                <a:cs typeface="AAVGFJ+Calibri"/>
              </a:rPr>
              <a:t>functions will process</a:t>
            </a:r>
            <a:r>
              <a:rPr sz="2400" spc="11" dirty="0">
                <a:solidFill>
                  <a:srgbClr val="000000"/>
                </a:solidFill>
                <a:latin typeface="AAVGFJ+Calibri"/>
                <a:cs typeface="AAVGFJ+Calibri"/>
              </a:rPr>
              <a:t> </a:t>
            </a:r>
            <a:r>
              <a:rPr sz="2400" spc="-10" dirty="0">
                <a:solidFill>
                  <a:srgbClr val="000000"/>
                </a:solidFill>
                <a:latin typeface="AAVGFJ+Calibri"/>
                <a:cs typeface="AAVGFJ+Calibri"/>
              </a:rPr>
              <a:t>information</a:t>
            </a:r>
            <a:r>
              <a:rPr sz="2400" spc="12" dirty="0">
                <a:solidFill>
                  <a:srgbClr val="000000"/>
                </a:solidFill>
                <a:latin typeface="AAVGFJ+Calibri"/>
                <a:cs typeface="AAVGFJ+Calibri"/>
              </a:rPr>
              <a:t> </a:t>
            </a:r>
            <a:r>
              <a:rPr sz="2400" dirty="0">
                <a:solidFill>
                  <a:srgbClr val="000000"/>
                </a:solidFill>
                <a:latin typeface="AAVGFJ+Calibri"/>
                <a:cs typeface="AAVGFJ+Calibri"/>
              </a:rPr>
              <a:t>passed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it </a:t>
            </a:r>
            <a:r>
              <a:rPr sz="2400" spc="-15" dirty="0">
                <a:solidFill>
                  <a:srgbClr val="000000"/>
                </a:solidFill>
                <a:latin typeface="AAVGFJ+Calibri"/>
                <a:cs typeface="AAVGFJ+Calibri"/>
              </a:rPr>
              <a:t>from</a:t>
            </a:r>
            <a:r>
              <a:rPr sz="2400" spc="15" dirty="0">
                <a:solidFill>
                  <a:srgbClr val="000000"/>
                </a:solidFill>
                <a:latin typeface="AAVGFJ+Calibri"/>
                <a:cs typeface="AAVGFJ+Calibri"/>
              </a:rPr>
              <a:t> </a:t>
            </a:r>
            <a:r>
              <a:rPr sz="2400" dirty="0">
                <a:solidFill>
                  <a:srgbClr val="000000"/>
                </a:solidFill>
                <a:latin typeface="AAVGFJ+Calibri"/>
                <a:cs typeface="AAVGFJ+Calibri"/>
              </a:rPr>
              <a:t>the calling portion of the</a:t>
            </a:r>
          </a:p>
          <a:p>
            <a:pPr marL="0" marR="0">
              <a:lnSpc>
                <a:spcPts val="2400"/>
              </a:lnSpc>
              <a:spcBef>
                <a:spcPts val="479"/>
              </a:spcBef>
              <a:spcAft>
                <a:spcPts val="0"/>
              </a:spcAft>
            </a:pPr>
            <a:r>
              <a:rPr sz="2400" spc="-16" dirty="0">
                <a:solidFill>
                  <a:srgbClr val="000000"/>
                </a:solidFill>
                <a:latin typeface="AAVGFJ+Calibri"/>
                <a:cs typeface="AAVGFJ+Calibri"/>
              </a:rPr>
              <a:t>program</a:t>
            </a:r>
            <a:r>
              <a:rPr sz="2400" spc="16" dirty="0">
                <a:solidFill>
                  <a:srgbClr val="000000"/>
                </a:solidFill>
                <a:latin typeface="AAVGFJ+Calibri"/>
                <a:cs typeface="AAVGFJ+Calibri"/>
              </a:rPr>
              <a:t> </a:t>
            </a:r>
            <a:r>
              <a:rPr sz="2400" dirty="0">
                <a:solidFill>
                  <a:srgbClr val="000000"/>
                </a:solidFill>
                <a:latin typeface="AAVGFJ+Calibri"/>
                <a:cs typeface="AAVGFJ+Calibri"/>
              </a:rPr>
              <a:t>and </a:t>
            </a:r>
            <a:r>
              <a:rPr sz="2400" spc="-10" dirty="0">
                <a:solidFill>
                  <a:srgbClr val="000000"/>
                </a:solidFill>
                <a:latin typeface="AAVGFJ+Calibri"/>
                <a:cs typeface="AAVGFJ+Calibri"/>
              </a:rPr>
              <a:t>return</a:t>
            </a:r>
            <a:r>
              <a:rPr sz="2400" spc="12" dirty="0">
                <a:solidFill>
                  <a:srgbClr val="000000"/>
                </a:solidFill>
                <a:latin typeface="AAVGFJ+Calibri"/>
                <a:cs typeface="AAVGFJ+Calibri"/>
              </a:rPr>
              <a:t> </a:t>
            </a:r>
            <a:r>
              <a:rPr sz="2400" dirty="0">
                <a:solidFill>
                  <a:srgbClr val="000000"/>
                </a:solidFill>
                <a:latin typeface="AAVGFJ+Calibri"/>
                <a:cs typeface="AAVGFJ+Calibri"/>
              </a:rPr>
              <a:t>a single value.</a:t>
            </a:r>
            <a:r>
              <a:rPr sz="2400" spc="554" dirty="0">
                <a:solidFill>
                  <a:srgbClr val="000000"/>
                </a:solidFill>
                <a:latin typeface="AAVGFJ+Calibri"/>
                <a:cs typeface="AAVGFJ+Calibri"/>
              </a:rPr>
              <a:t> </a:t>
            </a:r>
            <a:r>
              <a:rPr sz="2400" spc="-10" dirty="0">
                <a:solidFill>
                  <a:srgbClr val="000000"/>
                </a:solidFill>
                <a:latin typeface="AAVGFJ+Calibri"/>
                <a:cs typeface="AAVGFJ+Calibri"/>
              </a:rPr>
              <a:t>Information</a:t>
            </a:r>
            <a:r>
              <a:rPr sz="2400" spc="12" dirty="0">
                <a:solidFill>
                  <a:srgbClr val="000000"/>
                </a:solidFill>
                <a:latin typeface="AAVGFJ+Calibri"/>
                <a:cs typeface="AAVGFJ+Calibri"/>
              </a:rPr>
              <a:t> </a:t>
            </a:r>
            <a:r>
              <a:rPr sz="2400" dirty="0">
                <a:solidFill>
                  <a:srgbClr val="000000"/>
                </a:solidFill>
                <a:latin typeface="AAVGFJ+Calibri"/>
                <a:cs typeface="AAVGFJ+Calibri"/>
              </a:rPr>
              <a:t>will be passed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the function through</a:t>
            </a:r>
          </a:p>
          <a:p>
            <a:pPr marL="0" marR="0">
              <a:lnSpc>
                <a:spcPts val="2400"/>
              </a:lnSpc>
              <a:spcBef>
                <a:spcPts val="479"/>
              </a:spcBef>
              <a:spcAft>
                <a:spcPts val="0"/>
              </a:spcAft>
            </a:pPr>
            <a:r>
              <a:rPr sz="2400" dirty="0">
                <a:solidFill>
                  <a:srgbClr val="000000"/>
                </a:solidFill>
                <a:latin typeface="AAVGFJ+Calibri"/>
                <a:cs typeface="AAVGFJ+Calibri"/>
              </a:rPr>
              <a:t>identifiers</a:t>
            </a:r>
            <a:r>
              <a:rPr sz="2400" spc="11" dirty="0">
                <a:solidFill>
                  <a:srgbClr val="000000"/>
                </a:solidFill>
                <a:latin typeface="AAVGFJ+Calibri"/>
                <a:cs typeface="AAVGFJ+Calibri"/>
              </a:rPr>
              <a:t> </a:t>
            </a:r>
            <a:r>
              <a:rPr sz="2400" dirty="0">
                <a:solidFill>
                  <a:srgbClr val="000000"/>
                </a:solidFill>
                <a:latin typeface="AAVGFJ+Calibri"/>
                <a:cs typeface="AAVGFJ+Calibri"/>
              </a:rPr>
              <a:t>called arguments</a:t>
            </a:r>
            <a:r>
              <a:rPr sz="2400" spc="12" dirty="0">
                <a:solidFill>
                  <a:srgbClr val="000000"/>
                </a:solidFill>
                <a:latin typeface="AAVGFJ+Calibri"/>
                <a:cs typeface="AAVGFJ+Calibri"/>
              </a:rPr>
              <a:t> </a:t>
            </a:r>
            <a:r>
              <a:rPr sz="2400" dirty="0">
                <a:solidFill>
                  <a:srgbClr val="000000"/>
                </a:solidFill>
                <a:latin typeface="AAVGFJ+Calibri"/>
                <a:cs typeface="AAVGFJ+Calibri"/>
              </a:rPr>
              <a:t>(also called actual </a:t>
            </a:r>
            <a:r>
              <a:rPr sz="2400" spc="-14" dirty="0">
                <a:solidFill>
                  <a:srgbClr val="000000"/>
                </a:solidFill>
                <a:latin typeface="AAVGFJ+Calibri"/>
                <a:cs typeface="AAVGFJ+Calibri"/>
              </a:rPr>
              <a:t>parameters)</a:t>
            </a:r>
            <a:r>
              <a:rPr sz="2400" spc="19" dirty="0">
                <a:solidFill>
                  <a:srgbClr val="000000"/>
                </a:solidFill>
                <a:latin typeface="AAVGFJ+Calibri"/>
                <a:cs typeface="AAVGFJ+Calibri"/>
              </a:rPr>
              <a:t> </a:t>
            </a:r>
            <a:r>
              <a:rPr sz="2400" dirty="0">
                <a:solidFill>
                  <a:srgbClr val="000000"/>
                </a:solidFill>
                <a:latin typeface="AAVGFJ+Calibri"/>
                <a:cs typeface="AAVGFJ+Calibri"/>
              </a:rPr>
              <a:t>and returned with the </a:t>
            </a:r>
            <a:r>
              <a:rPr sz="2400" spc="-10" dirty="0">
                <a:solidFill>
                  <a:srgbClr val="000000"/>
                </a:solidFill>
                <a:latin typeface="AAVGFJ+Calibri"/>
                <a:cs typeface="AAVGFJ+Calibri"/>
              </a:rPr>
              <a:t>return</a:t>
            </a:r>
          </a:p>
          <a:p>
            <a:pPr marL="0" marR="0">
              <a:lnSpc>
                <a:spcPts val="2400"/>
              </a:lnSpc>
              <a:spcBef>
                <a:spcPts val="430"/>
              </a:spcBef>
              <a:spcAft>
                <a:spcPts val="0"/>
              </a:spcAft>
            </a:pPr>
            <a:r>
              <a:rPr sz="2400" spc="-15" dirty="0">
                <a:solidFill>
                  <a:srgbClr val="000000"/>
                </a:solidFill>
                <a:latin typeface="AAVGFJ+Calibri"/>
                <a:cs typeface="AAVGFJ+Calibri"/>
              </a:rPr>
              <a:t>statement.</a:t>
            </a:r>
          </a:p>
        </p:txBody>
      </p:sp>
      <p:sp>
        <p:nvSpPr>
          <p:cNvPr id="5" name="object 5"/>
          <p:cNvSpPr txBox="1"/>
          <p:nvPr/>
        </p:nvSpPr>
        <p:spPr>
          <a:xfrm>
            <a:off x="281940" y="2632494"/>
            <a:ext cx="2115462"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General</a:t>
            </a:r>
            <a:r>
              <a:rPr sz="2400" spc="10" dirty="0">
                <a:solidFill>
                  <a:srgbClr val="000000"/>
                </a:solidFill>
                <a:latin typeface="AAVGFJ+Calibri"/>
                <a:cs typeface="AAVGFJ+Calibri"/>
              </a:rPr>
              <a:t> </a:t>
            </a:r>
            <a:r>
              <a:rPr sz="2400" spc="-14" dirty="0">
                <a:solidFill>
                  <a:srgbClr val="000000"/>
                </a:solidFill>
                <a:latin typeface="AAVGFJ+Calibri"/>
                <a:cs typeface="AAVGFJ+Calibri"/>
              </a:rPr>
              <a:t>format:</a:t>
            </a:r>
          </a:p>
        </p:txBody>
      </p:sp>
      <p:sp>
        <p:nvSpPr>
          <p:cNvPr id="6" name="object 6"/>
          <p:cNvSpPr txBox="1"/>
          <p:nvPr/>
        </p:nvSpPr>
        <p:spPr>
          <a:xfrm>
            <a:off x="489585" y="3364014"/>
            <a:ext cx="1082952"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0" dirty="0">
                <a:solidFill>
                  <a:srgbClr val="FF0000"/>
                </a:solidFill>
                <a:latin typeface="AAVGFJ+Calibri"/>
                <a:cs typeface="AAVGFJ+Calibri"/>
              </a:rPr>
              <a:t>return</a:t>
            </a:r>
            <a:r>
              <a:rPr sz="2400" spc="12" dirty="0">
                <a:solidFill>
                  <a:srgbClr val="FF0000"/>
                </a:solidFill>
                <a:latin typeface="AAVGFJ+Calibri"/>
                <a:cs typeface="AAVGFJ+Calibri"/>
              </a:rPr>
              <a:t> </a:t>
            </a:r>
            <a:r>
              <a:rPr sz="2400" dirty="0">
                <a:solidFill>
                  <a:srgbClr val="FF0000"/>
                </a:solidFill>
                <a:latin typeface="AAVGFJ+Calibri"/>
                <a:cs typeface="AAVGFJ+Calibri"/>
              </a:rPr>
              <a:t>;</a:t>
            </a:r>
          </a:p>
        </p:txBody>
      </p:sp>
      <p:sp>
        <p:nvSpPr>
          <p:cNvPr id="7" name="object 7"/>
          <p:cNvSpPr txBox="1"/>
          <p:nvPr/>
        </p:nvSpPr>
        <p:spPr>
          <a:xfrm>
            <a:off x="697230" y="4095534"/>
            <a:ext cx="419397"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or</a:t>
            </a:r>
          </a:p>
        </p:txBody>
      </p:sp>
      <p:sp>
        <p:nvSpPr>
          <p:cNvPr id="8" name="object 8"/>
          <p:cNvSpPr txBox="1"/>
          <p:nvPr/>
        </p:nvSpPr>
        <p:spPr>
          <a:xfrm>
            <a:off x="281940" y="4827054"/>
            <a:ext cx="2659022"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0" dirty="0">
                <a:solidFill>
                  <a:srgbClr val="FF0000"/>
                </a:solidFill>
                <a:latin typeface="AAVGFJ+Calibri"/>
                <a:cs typeface="AAVGFJ+Calibri"/>
              </a:rPr>
              <a:t>return</a:t>
            </a:r>
            <a:r>
              <a:rPr sz="2400" spc="12" dirty="0">
                <a:solidFill>
                  <a:srgbClr val="FF0000"/>
                </a:solidFill>
                <a:latin typeface="AAVGFJ+Calibri"/>
                <a:cs typeface="AAVGFJ+Calibri"/>
              </a:rPr>
              <a:t> </a:t>
            </a:r>
            <a:r>
              <a:rPr sz="2400" dirty="0">
                <a:solidFill>
                  <a:srgbClr val="FF0000"/>
                </a:solidFill>
                <a:latin typeface="AAVGFJ+Calibri"/>
                <a:cs typeface="AAVGFJ+Calibri"/>
              </a:rPr>
              <a:t>(expression)</a:t>
            </a:r>
            <a:r>
              <a:rPr sz="2400" spc="11" dirty="0">
                <a:solidFill>
                  <a:srgbClr val="FF0000"/>
                </a:solidFill>
                <a:latin typeface="AAVGFJ+Calibri"/>
                <a:cs typeface="AAVGFJ+Calibri"/>
              </a:rPr>
              <a:t> </a:t>
            </a:r>
            <a:r>
              <a:rPr sz="2400" dirty="0">
                <a:solidFill>
                  <a:srgbClr val="FF0000"/>
                </a:solidFill>
                <a:latin typeface="AAVGFJ+Calibri"/>
                <a:cs typeface="AAVGFJ+Calibri"/>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190976"/>
            <a:ext cx="6201402"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dirty="0">
                <a:solidFill>
                  <a:srgbClr val="0033CC"/>
                </a:solidFill>
                <a:latin typeface="HWPIMB+Calibri-Light"/>
                <a:cs typeface="HWPIMB+Calibri-Light"/>
              </a:rPr>
              <a:t>Actual and </a:t>
            </a:r>
            <a:r>
              <a:rPr sz="4000" spc="-11" dirty="0">
                <a:solidFill>
                  <a:srgbClr val="0033CC"/>
                </a:solidFill>
                <a:latin typeface="HWPIMB+Calibri-Light"/>
                <a:cs typeface="HWPIMB+Calibri-Light"/>
              </a:rPr>
              <a:t>Formal</a:t>
            </a:r>
            <a:r>
              <a:rPr sz="4000" spc="14" dirty="0">
                <a:solidFill>
                  <a:srgbClr val="0033CC"/>
                </a:solidFill>
                <a:latin typeface="HWPIMB+Calibri-Light"/>
                <a:cs typeface="HWPIMB+Calibri-Light"/>
              </a:rPr>
              <a:t> </a:t>
            </a:r>
            <a:r>
              <a:rPr sz="4000" spc="-12" dirty="0">
                <a:solidFill>
                  <a:srgbClr val="0033CC"/>
                </a:solidFill>
                <a:latin typeface="HWPIMB+Calibri-Light"/>
                <a:cs typeface="HWPIMB+Calibri-Light"/>
              </a:rPr>
              <a:t>Arguments</a:t>
            </a:r>
          </a:p>
        </p:txBody>
      </p:sp>
      <p:sp>
        <p:nvSpPr>
          <p:cNvPr id="4" name="object 4"/>
          <p:cNvSpPr txBox="1"/>
          <p:nvPr/>
        </p:nvSpPr>
        <p:spPr>
          <a:xfrm>
            <a:off x="281940" y="856773"/>
            <a:ext cx="2107328"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OJWNPN+Calibri-Bold"/>
                <a:cs typeface="OJWNPN+Calibri-Bold"/>
              </a:rPr>
              <a:t>Actual Arguments:</a:t>
            </a:r>
          </a:p>
        </p:txBody>
      </p:sp>
      <p:sp>
        <p:nvSpPr>
          <p:cNvPr id="5" name="object 5"/>
          <p:cNvSpPr txBox="1"/>
          <p:nvPr/>
        </p:nvSpPr>
        <p:spPr>
          <a:xfrm>
            <a:off x="281940" y="1161573"/>
            <a:ext cx="11444399" cy="12071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The functions </a:t>
            </a:r>
            <a:r>
              <a:rPr sz="2000" spc="-18" dirty="0">
                <a:solidFill>
                  <a:srgbClr val="000000"/>
                </a:solidFill>
                <a:latin typeface="AAVGFJ+Calibri"/>
                <a:cs typeface="AAVGFJ+Calibri"/>
              </a:rPr>
              <a:t>may</a:t>
            </a:r>
            <a:r>
              <a:rPr sz="2000" spc="15" dirty="0">
                <a:solidFill>
                  <a:srgbClr val="000000"/>
                </a:solidFill>
                <a:latin typeface="AAVGFJ+Calibri"/>
                <a:cs typeface="AAVGFJ+Calibri"/>
              </a:rPr>
              <a:t> </a:t>
            </a:r>
            <a:r>
              <a:rPr sz="2000" dirty="0">
                <a:solidFill>
                  <a:srgbClr val="000000"/>
                </a:solidFill>
                <a:latin typeface="AAVGFJ+Calibri"/>
                <a:cs typeface="AAVGFJ+Calibri"/>
              </a:rPr>
              <a:t>be called </a:t>
            </a:r>
            <a:r>
              <a:rPr sz="2000" spc="-11" dirty="0">
                <a:solidFill>
                  <a:srgbClr val="000000"/>
                </a:solidFill>
                <a:latin typeface="AAVGFJ+Calibri"/>
                <a:cs typeface="AAVGFJ+Calibri"/>
              </a:rPr>
              <a:t>by</a:t>
            </a:r>
            <a:r>
              <a:rPr sz="2000" dirty="0">
                <a:solidFill>
                  <a:srgbClr val="000000"/>
                </a:solidFill>
                <a:latin typeface="AAVGFJ+Calibri"/>
                <a:cs typeface="AAVGFJ+Calibri"/>
              </a:rPr>
              <a:t> a portion of a </a:t>
            </a:r>
            <a:r>
              <a:rPr sz="2000" spc="-14" dirty="0">
                <a:solidFill>
                  <a:srgbClr val="000000"/>
                </a:solidFill>
                <a:latin typeface="AAVGFJ+Calibri"/>
                <a:cs typeface="AAVGFJ+Calibri"/>
              </a:rPr>
              <a:t>program</a:t>
            </a:r>
            <a:r>
              <a:rPr sz="2000" spc="14" dirty="0">
                <a:solidFill>
                  <a:srgbClr val="000000"/>
                </a:solidFill>
                <a:latin typeface="AAVGFJ+Calibri"/>
                <a:cs typeface="AAVGFJ+Calibri"/>
              </a:rPr>
              <a:t> </a:t>
            </a:r>
            <a:r>
              <a:rPr sz="2000" dirty="0">
                <a:solidFill>
                  <a:srgbClr val="000000"/>
                </a:solidFill>
                <a:latin typeface="AAVGFJ+Calibri"/>
                <a:cs typeface="AAVGFJ+Calibri"/>
              </a:rPr>
              <a:t>with some </a:t>
            </a:r>
            <a:r>
              <a:rPr sz="2000" spc="-13" dirty="0">
                <a:solidFill>
                  <a:srgbClr val="000000"/>
                </a:solidFill>
                <a:latin typeface="AAVGFJ+Calibri"/>
                <a:cs typeface="AAVGFJ+Calibri"/>
              </a:rPr>
              <a:t>parameters</a:t>
            </a:r>
            <a:r>
              <a:rPr sz="2000" dirty="0">
                <a:solidFill>
                  <a:srgbClr val="000000"/>
                </a:solidFill>
                <a:latin typeface="AAVGFJ+Calibri"/>
                <a:cs typeface="AAVGFJ+Calibri"/>
              </a:rPr>
              <a:t> and these </a:t>
            </a:r>
            <a:r>
              <a:rPr sz="2000" spc="-13" dirty="0">
                <a:solidFill>
                  <a:srgbClr val="000000"/>
                </a:solidFill>
                <a:latin typeface="AAVGFJ+Calibri"/>
                <a:cs typeface="AAVGFJ+Calibri"/>
              </a:rPr>
              <a:t>parameters</a:t>
            </a:r>
            <a:r>
              <a:rPr sz="2000" dirty="0">
                <a:solidFill>
                  <a:srgbClr val="000000"/>
                </a:solidFill>
                <a:latin typeface="AAVGFJ+Calibri"/>
                <a:cs typeface="AAVGFJ+Calibri"/>
              </a:rPr>
              <a:t> </a:t>
            </a:r>
            <a:r>
              <a:rPr sz="2000" spc="-15" dirty="0">
                <a:solidFill>
                  <a:srgbClr val="000000"/>
                </a:solidFill>
                <a:latin typeface="AAVGFJ+Calibri"/>
                <a:cs typeface="AAVGFJ+Calibri"/>
              </a:rPr>
              <a:t>are</a:t>
            </a:r>
            <a:r>
              <a:rPr sz="2000" spc="13" dirty="0">
                <a:solidFill>
                  <a:srgbClr val="000000"/>
                </a:solidFill>
                <a:latin typeface="AAVGFJ+Calibri"/>
                <a:cs typeface="AAVGFJ+Calibri"/>
              </a:rPr>
              <a:t> </a:t>
            </a:r>
            <a:r>
              <a:rPr sz="2000" dirty="0">
                <a:solidFill>
                  <a:srgbClr val="000000"/>
                </a:solidFill>
                <a:latin typeface="AAVGFJ+Calibri"/>
                <a:cs typeface="AAVGFJ+Calibri"/>
              </a:rPr>
              <a:t>called</a:t>
            </a:r>
          </a:p>
          <a:p>
            <a:pPr marL="0" marR="0">
              <a:lnSpc>
                <a:spcPts val="2005"/>
              </a:lnSpc>
              <a:spcBef>
                <a:spcPts val="394"/>
              </a:spcBef>
              <a:spcAft>
                <a:spcPts val="0"/>
              </a:spcAft>
            </a:pPr>
            <a:r>
              <a:rPr sz="2000" dirty="0">
                <a:solidFill>
                  <a:srgbClr val="000000"/>
                </a:solidFill>
                <a:latin typeface="AAVGFJ+Calibri"/>
                <a:cs typeface="AAVGFJ+Calibri"/>
              </a:rPr>
              <a:t>actual arguments.</a:t>
            </a:r>
          </a:p>
          <a:p>
            <a:pPr marL="0" marR="0">
              <a:lnSpc>
                <a:spcPts val="2005"/>
              </a:lnSpc>
              <a:spcBef>
                <a:spcPts val="394"/>
              </a:spcBef>
              <a:spcAft>
                <a:spcPts val="0"/>
              </a:spcAft>
            </a:pPr>
            <a:r>
              <a:rPr sz="2000" dirty="0">
                <a:solidFill>
                  <a:srgbClr val="FF0000"/>
                </a:solidFill>
                <a:latin typeface="OJWNPN+Calibri-Bold"/>
                <a:cs typeface="OJWNPN+Calibri-Bold"/>
              </a:rPr>
              <a:t>void</a:t>
            </a:r>
            <a:r>
              <a:rPr sz="2000" spc="19" dirty="0">
                <a:solidFill>
                  <a:srgbClr val="FF0000"/>
                </a:solidFill>
                <a:latin typeface="OJWNPN+Calibri-Bold"/>
                <a:cs typeface="OJWNPN+Calibri-Bold"/>
              </a:rPr>
              <a:t> </a:t>
            </a:r>
            <a:r>
              <a:rPr sz="2000" dirty="0">
                <a:solidFill>
                  <a:srgbClr val="FF0000"/>
                </a:solidFill>
                <a:latin typeface="OJWNPN+Calibri-Bold"/>
                <a:cs typeface="OJWNPN+Calibri-Bold"/>
              </a:rPr>
              <a:t>main</a:t>
            </a:r>
            <a:r>
              <a:rPr sz="2000" spc="13" dirty="0">
                <a:solidFill>
                  <a:srgbClr val="FF0000"/>
                </a:solidFill>
                <a:latin typeface="OJWNPN+Calibri-Bold"/>
                <a:cs typeface="OJWNPN+Calibri-Bold"/>
              </a:rPr>
              <a:t> </a:t>
            </a:r>
            <a:r>
              <a:rPr sz="2000" dirty="0">
                <a:solidFill>
                  <a:srgbClr val="FF0000"/>
                </a:solidFill>
                <a:latin typeface="OJWNPN+Calibri-Bold"/>
                <a:cs typeface="OJWNPN+Calibri-Bold"/>
              </a:rPr>
              <a:t>(</a:t>
            </a:r>
            <a:r>
              <a:rPr sz="2000" spc="12" dirty="0">
                <a:solidFill>
                  <a:srgbClr val="FF0000"/>
                </a:solidFill>
                <a:latin typeface="OJWNPN+Calibri-Bold"/>
                <a:cs typeface="OJWNPN+Calibri-Bold"/>
              </a:rPr>
              <a:t> </a:t>
            </a:r>
            <a:r>
              <a:rPr sz="2000" dirty="0">
                <a:solidFill>
                  <a:srgbClr val="FF0000"/>
                </a:solidFill>
                <a:latin typeface="OJWNPN+Calibri-Bold"/>
                <a:cs typeface="OJWNPN+Calibri-Bold"/>
              </a:rPr>
              <a:t>)</a:t>
            </a:r>
          </a:p>
          <a:p>
            <a:pPr marL="0" marR="0">
              <a:lnSpc>
                <a:spcPts val="2005"/>
              </a:lnSpc>
              <a:spcBef>
                <a:spcPts val="394"/>
              </a:spcBef>
              <a:spcAft>
                <a:spcPts val="0"/>
              </a:spcAft>
            </a:pPr>
            <a:r>
              <a:rPr sz="2000" dirty="0">
                <a:solidFill>
                  <a:srgbClr val="FF0000"/>
                </a:solidFill>
                <a:latin typeface="OJWNPN+Calibri-Bold"/>
                <a:cs typeface="OJWNPN+Calibri-Bold"/>
              </a:rPr>
              <a:t>{</a:t>
            </a:r>
          </a:p>
        </p:txBody>
      </p:sp>
      <p:sp>
        <p:nvSpPr>
          <p:cNvPr id="6" name="object 6"/>
          <p:cNvSpPr txBox="1"/>
          <p:nvPr/>
        </p:nvSpPr>
        <p:spPr>
          <a:xfrm>
            <a:off x="567690" y="2380773"/>
            <a:ext cx="891303"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spc="-10" dirty="0">
                <a:solidFill>
                  <a:srgbClr val="FF0000"/>
                </a:solidFill>
                <a:latin typeface="OJWNPN+Calibri-Bold"/>
                <a:cs typeface="OJWNPN+Calibri-Bold"/>
              </a:rPr>
              <a:t>int</a:t>
            </a:r>
            <a:r>
              <a:rPr sz="2000" spc="21" dirty="0">
                <a:solidFill>
                  <a:srgbClr val="FF0000"/>
                </a:solidFill>
                <a:latin typeface="OJWNPN+Calibri-Bold"/>
                <a:cs typeface="OJWNPN+Calibri-Bold"/>
              </a:rPr>
              <a:t> </a:t>
            </a:r>
            <a:r>
              <a:rPr sz="2000" dirty="0">
                <a:solidFill>
                  <a:srgbClr val="FF0000"/>
                </a:solidFill>
                <a:latin typeface="OJWNPN+Calibri-Bold"/>
                <a:cs typeface="OJWNPN+Calibri-Bold"/>
              </a:rPr>
              <a:t>a,b;</a:t>
            </a:r>
          </a:p>
        </p:txBody>
      </p:sp>
      <p:sp>
        <p:nvSpPr>
          <p:cNvPr id="7" name="object 7"/>
          <p:cNvSpPr txBox="1"/>
          <p:nvPr/>
        </p:nvSpPr>
        <p:spPr>
          <a:xfrm>
            <a:off x="510540" y="2685573"/>
            <a:ext cx="1139774"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sum (a,b)</a:t>
            </a:r>
          </a:p>
        </p:txBody>
      </p:sp>
      <p:sp>
        <p:nvSpPr>
          <p:cNvPr id="8" name="object 8"/>
          <p:cNvSpPr txBox="1"/>
          <p:nvPr/>
        </p:nvSpPr>
        <p:spPr>
          <a:xfrm>
            <a:off x="2698115" y="2685573"/>
            <a:ext cx="3640436"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-&gt;</a:t>
            </a:r>
            <a:r>
              <a:rPr sz="2000" spc="1361" dirty="0">
                <a:solidFill>
                  <a:srgbClr val="FF0000"/>
                </a:solidFill>
                <a:latin typeface="OJWNPN+Calibri-Bold"/>
                <a:cs typeface="OJWNPN+Calibri-Bold"/>
              </a:rPr>
              <a:t> </a:t>
            </a:r>
            <a:r>
              <a:rPr sz="2000" dirty="0">
                <a:solidFill>
                  <a:srgbClr val="FF0000"/>
                </a:solidFill>
                <a:latin typeface="OJWNPN+Calibri-Bold"/>
                <a:cs typeface="OJWNPN+Calibri-Bold"/>
              </a:rPr>
              <a:t>a and</a:t>
            </a:r>
            <a:r>
              <a:rPr sz="2000" spc="12" dirty="0">
                <a:solidFill>
                  <a:srgbClr val="FF0000"/>
                </a:solidFill>
                <a:latin typeface="OJWNPN+Calibri-Bold"/>
                <a:cs typeface="OJWNPN+Calibri-Bold"/>
              </a:rPr>
              <a:t> </a:t>
            </a:r>
            <a:r>
              <a:rPr sz="2000" dirty="0">
                <a:solidFill>
                  <a:srgbClr val="FF0000"/>
                </a:solidFill>
                <a:latin typeface="OJWNPN+Calibri-Bold"/>
                <a:cs typeface="OJWNPN+Calibri-Bold"/>
              </a:rPr>
              <a:t>b</a:t>
            </a:r>
            <a:r>
              <a:rPr sz="2000" spc="12" dirty="0">
                <a:solidFill>
                  <a:srgbClr val="FF0000"/>
                </a:solidFill>
                <a:latin typeface="OJWNPN+Calibri-Bold"/>
                <a:cs typeface="OJWNPN+Calibri-Bold"/>
              </a:rPr>
              <a:t> </a:t>
            </a:r>
            <a:r>
              <a:rPr sz="2000" spc="-14" dirty="0">
                <a:solidFill>
                  <a:srgbClr val="FF0000"/>
                </a:solidFill>
                <a:latin typeface="OJWNPN+Calibri-Bold"/>
                <a:cs typeface="OJWNPN+Calibri-Bold"/>
              </a:rPr>
              <a:t>are</a:t>
            </a:r>
            <a:r>
              <a:rPr sz="2000" spc="22" dirty="0">
                <a:solidFill>
                  <a:srgbClr val="FF0000"/>
                </a:solidFill>
                <a:latin typeface="OJWNPN+Calibri-Bold"/>
                <a:cs typeface="OJWNPN+Calibri-Bold"/>
              </a:rPr>
              <a:t> </a:t>
            </a:r>
            <a:r>
              <a:rPr sz="2000" dirty="0">
                <a:solidFill>
                  <a:srgbClr val="FF0000"/>
                </a:solidFill>
                <a:latin typeface="OJWNPN+Calibri-Bold"/>
                <a:cs typeface="OJWNPN+Calibri-Bold"/>
              </a:rPr>
              <a:t>actual arguments</a:t>
            </a:r>
          </a:p>
        </p:txBody>
      </p:sp>
      <p:sp>
        <p:nvSpPr>
          <p:cNvPr id="9" name="object 9"/>
          <p:cNvSpPr txBox="1"/>
          <p:nvPr/>
        </p:nvSpPr>
        <p:spPr>
          <a:xfrm>
            <a:off x="396240" y="2990373"/>
            <a:ext cx="23993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a:t>
            </a:r>
          </a:p>
        </p:txBody>
      </p:sp>
      <p:sp>
        <p:nvSpPr>
          <p:cNvPr id="10" name="object 10"/>
          <p:cNvSpPr txBox="1"/>
          <p:nvPr/>
        </p:nvSpPr>
        <p:spPr>
          <a:xfrm>
            <a:off x="281940" y="3295173"/>
            <a:ext cx="209929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OJWNPN+Calibri-Bold"/>
                <a:cs typeface="OJWNPN+Calibri-Bold"/>
              </a:rPr>
              <a:t>Formal</a:t>
            </a:r>
            <a:r>
              <a:rPr sz="2000" spc="14" dirty="0">
                <a:solidFill>
                  <a:srgbClr val="000000"/>
                </a:solidFill>
                <a:latin typeface="OJWNPN+Calibri-Bold"/>
                <a:cs typeface="OJWNPN+Calibri-Bold"/>
              </a:rPr>
              <a:t> </a:t>
            </a:r>
            <a:r>
              <a:rPr sz="2000" dirty="0">
                <a:solidFill>
                  <a:srgbClr val="000000"/>
                </a:solidFill>
                <a:latin typeface="OJWNPN+Calibri-Bold"/>
                <a:cs typeface="OJWNPN+Calibri-Bold"/>
              </a:rPr>
              <a:t>Arguments</a:t>
            </a:r>
          </a:p>
        </p:txBody>
      </p:sp>
      <p:sp>
        <p:nvSpPr>
          <p:cNvPr id="11" name="object 11"/>
          <p:cNvSpPr txBox="1"/>
          <p:nvPr/>
        </p:nvSpPr>
        <p:spPr>
          <a:xfrm>
            <a:off x="281940" y="3599973"/>
            <a:ext cx="11385568" cy="5975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These </a:t>
            </a:r>
            <a:r>
              <a:rPr sz="2000" spc="-15" dirty="0">
                <a:solidFill>
                  <a:srgbClr val="000000"/>
                </a:solidFill>
                <a:latin typeface="AAVGFJ+Calibri"/>
                <a:cs typeface="AAVGFJ+Calibri"/>
              </a:rPr>
              <a:t>are</a:t>
            </a:r>
            <a:r>
              <a:rPr sz="2000" spc="13" dirty="0">
                <a:solidFill>
                  <a:srgbClr val="000000"/>
                </a:solidFill>
                <a:latin typeface="AAVGFJ+Calibri"/>
                <a:cs typeface="AAVGFJ+Calibri"/>
              </a:rPr>
              <a:t> </a:t>
            </a:r>
            <a:r>
              <a:rPr sz="2000" dirty="0">
                <a:solidFill>
                  <a:srgbClr val="000000"/>
                </a:solidFill>
                <a:latin typeface="AAVGFJ+Calibri"/>
                <a:cs typeface="AAVGFJ+Calibri"/>
              </a:rPr>
              <a:t>the </a:t>
            </a:r>
            <a:r>
              <a:rPr sz="2000" spc="-13" dirty="0">
                <a:solidFill>
                  <a:srgbClr val="000000"/>
                </a:solidFill>
                <a:latin typeface="AAVGFJ+Calibri"/>
                <a:cs typeface="AAVGFJ+Calibri"/>
              </a:rPr>
              <a:t>parameters</a:t>
            </a:r>
            <a:r>
              <a:rPr sz="2000" dirty="0">
                <a:solidFill>
                  <a:srgbClr val="000000"/>
                </a:solidFill>
                <a:latin typeface="AAVGFJ+Calibri"/>
                <a:cs typeface="AAVGFJ+Calibri"/>
              </a:rPr>
              <a:t> present in the function definition and it </a:t>
            </a:r>
            <a:r>
              <a:rPr sz="2000" spc="-18" dirty="0">
                <a:solidFill>
                  <a:srgbClr val="000000"/>
                </a:solidFill>
                <a:latin typeface="AAVGFJ+Calibri"/>
                <a:cs typeface="AAVGFJ+Calibri"/>
              </a:rPr>
              <a:t>may</a:t>
            </a:r>
            <a:r>
              <a:rPr sz="2000" spc="15" dirty="0">
                <a:solidFill>
                  <a:srgbClr val="000000"/>
                </a:solidFill>
                <a:latin typeface="AAVGFJ+Calibri"/>
                <a:cs typeface="AAVGFJ+Calibri"/>
              </a:rPr>
              <a:t> </a:t>
            </a:r>
            <a:r>
              <a:rPr sz="2000" dirty="0">
                <a:solidFill>
                  <a:srgbClr val="000000"/>
                </a:solidFill>
                <a:latin typeface="AAVGFJ+Calibri"/>
                <a:cs typeface="AAVGFJ+Calibri"/>
              </a:rPr>
              <a:t>be called dummy arguments or formal</a:t>
            </a:r>
          </a:p>
          <a:p>
            <a:pPr marL="0" marR="0">
              <a:lnSpc>
                <a:spcPts val="2005"/>
              </a:lnSpc>
              <a:spcBef>
                <a:spcPts val="395"/>
              </a:spcBef>
              <a:spcAft>
                <a:spcPts val="0"/>
              </a:spcAft>
            </a:pPr>
            <a:r>
              <a:rPr sz="2000" dirty="0">
                <a:solidFill>
                  <a:srgbClr val="000000"/>
                </a:solidFill>
                <a:latin typeface="AAVGFJ+Calibri"/>
                <a:cs typeface="AAVGFJ+Calibri"/>
              </a:rPr>
              <a:t>arguments.</a:t>
            </a:r>
          </a:p>
        </p:txBody>
      </p:sp>
      <p:sp>
        <p:nvSpPr>
          <p:cNvPr id="12" name="object 12"/>
          <p:cNvSpPr txBox="1"/>
          <p:nvPr/>
        </p:nvSpPr>
        <p:spPr>
          <a:xfrm>
            <a:off x="281940" y="4209573"/>
            <a:ext cx="1834465"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sum (int</a:t>
            </a:r>
            <a:r>
              <a:rPr sz="2000" spc="17" dirty="0">
                <a:solidFill>
                  <a:srgbClr val="FF0000"/>
                </a:solidFill>
                <a:latin typeface="OJWNPN+Calibri-Bold"/>
                <a:cs typeface="OJWNPN+Calibri-Bold"/>
              </a:rPr>
              <a:t> </a:t>
            </a:r>
            <a:r>
              <a:rPr sz="2000" dirty="0">
                <a:solidFill>
                  <a:srgbClr val="FF0000"/>
                </a:solidFill>
                <a:latin typeface="OJWNPN+Calibri-Bold"/>
                <a:cs typeface="OJWNPN+Calibri-Bold"/>
              </a:rPr>
              <a:t>p,int</a:t>
            </a:r>
            <a:r>
              <a:rPr sz="2000" spc="16" dirty="0">
                <a:solidFill>
                  <a:srgbClr val="FF0000"/>
                </a:solidFill>
                <a:latin typeface="OJWNPN+Calibri-Bold"/>
                <a:cs typeface="OJWNPN+Calibri-Bold"/>
              </a:rPr>
              <a:t> </a:t>
            </a:r>
            <a:r>
              <a:rPr sz="2000" dirty="0">
                <a:solidFill>
                  <a:srgbClr val="FF0000"/>
                </a:solidFill>
                <a:latin typeface="OJWNPN+Calibri-Bold"/>
                <a:cs typeface="OJWNPN+Calibri-Bold"/>
              </a:rPr>
              <a:t>q)</a:t>
            </a:r>
          </a:p>
        </p:txBody>
      </p:sp>
      <p:sp>
        <p:nvSpPr>
          <p:cNvPr id="13" name="object 13"/>
          <p:cNvSpPr txBox="1"/>
          <p:nvPr/>
        </p:nvSpPr>
        <p:spPr>
          <a:xfrm>
            <a:off x="2649855" y="4209573"/>
            <a:ext cx="428623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-&gt;</a:t>
            </a:r>
            <a:r>
              <a:rPr sz="2000" spc="11" dirty="0">
                <a:solidFill>
                  <a:srgbClr val="FF0000"/>
                </a:solidFill>
                <a:latin typeface="OJWNPN+Calibri-Bold"/>
                <a:cs typeface="OJWNPN+Calibri-Bold"/>
              </a:rPr>
              <a:t> </a:t>
            </a:r>
            <a:r>
              <a:rPr sz="2000" dirty="0">
                <a:solidFill>
                  <a:srgbClr val="FF0000"/>
                </a:solidFill>
                <a:latin typeface="OJWNPN+Calibri-Bold"/>
                <a:cs typeface="OJWNPN+Calibri-Bold"/>
              </a:rPr>
              <a:t>p</a:t>
            </a:r>
            <a:r>
              <a:rPr sz="2000" spc="12" dirty="0">
                <a:solidFill>
                  <a:srgbClr val="FF0000"/>
                </a:solidFill>
                <a:latin typeface="OJWNPN+Calibri-Bold"/>
                <a:cs typeface="OJWNPN+Calibri-Bold"/>
              </a:rPr>
              <a:t> </a:t>
            </a:r>
            <a:r>
              <a:rPr sz="2000" dirty="0">
                <a:solidFill>
                  <a:srgbClr val="FF0000"/>
                </a:solidFill>
                <a:latin typeface="OJWNPN+Calibri-Bold"/>
                <a:cs typeface="OJWNPN+Calibri-Bold"/>
              </a:rPr>
              <a:t>and</a:t>
            </a:r>
            <a:r>
              <a:rPr sz="2000" spc="12" dirty="0">
                <a:solidFill>
                  <a:srgbClr val="FF0000"/>
                </a:solidFill>
                <a:latin typeface="OJWNPN+Calibri-Bold"/>
                <a:cs typeface="OJWNPN+Calibri-Bold"/>
              </a:rPr>
              <a:t> </a:t>
            </a:r>
            <a:r>
              <a:rPr sz="2000" dirty="0">
                <a:solidFill>
                  <a:srgbClr val="FF0000"/>
                </a:solidFill>
                <a:latin typeface="OJWNPN+Calibri-Bold"/>
                <a:cs typeface="OJWNPN+Calibri-Bold"/>
              </a:rPr>
              <a:t>q</a:t>
            </a:r>
            <a:r>
              <a:rPr sz="2000" spc="12" dirty="0">
                <a:solidFill>
                  <a:srgbClr val="FF0000"/>
                </a:solidFill>
                <a:latin typeface="OJWNPN+Calibri-Bold"/>
                <a:cs typeface="OJWNPN+Calibri-Bold"/>
              </a:rPr>
              <a:t> </a:t>
            </a:r>
            <a:r>
              <a:rPr sz="2000" spc="-14" dirty="0">
                <a:solidFill>
                  <a:srgbClr val="FF0000"/>
                </a:solidFill>
                <a:latin typeface="OJWNPN+Calibri-Bold"/>
                <a:cs typeface="OJWNPN+Calibri-Bold"/>
              </a:rPr>
              <a:t>are</a:t>
            </a:r>
            <a:r>
              <a:rPr sz="2000" spc="22" dirty="0">
                <a:solidFill>
                  <a:srgbClr val="FF0000"/>
                </a:solidFill>
                <a:latin typeface="OJWNPN+Calibri-Bold"/>
                <a:cs typeface="OJWNPN+Calibri-Bold"/>
              </a:rPr>
              <a:t> </a:t>
            </a:r>
            <a:r>
              <a:rPr sz="2000" dirty="0">
                <a:solidFill>
                  <a:srgbClr val="FF0000"/>
                </a:solidFill>
                <a:latin typeface="OJWNPN+Calibri-Bold"/>
                <a:cs typeface="OJWNPN+Calibri-Bold"/>
              </a:rPr>
              <a:t>called</a:t>
            </a:r>
            <a:r>
              <a:rPr sz="2000" spc="16" dirty="0">
                <a:solidFill>
                  <a:srgbClr val="FF0000"/>
                </a:solidFill>
                <a:latin typeface="OJWNPN+Calibri-Bold"/>
                <a:cs typeface="OJWNPN+Calibri-Bold"/>
              </a:rPr>
              <a:t> </a:t>
            </a:r>
            <a:r>
              <a:rPr sz="2000" dirty="0">
                <a:solidFill>
                  <a:srgbClr val="FF0000"/>
                </a:solidFill>
                <a:latin typeface="OJWNPN+Calibri-Bold"/>
                <a:cs typeface="OJWNPN+Calibri-Bold"/>
              </a:rPr>
              <a:t>formal</a:t>
            </a:r>
            <a:r>
              <a:rPr sz="2000" spc="16" dirty="0">
                <a:solidFill>
                  <a:srgbClr val="FF0000"/>
                </a:solidFill>
                <a:latin typeface="OJWNPN+Calibri-Bold"/>
                <a:cs typeface="OJWNPN+Calibri-Bold"/>
              </a:rPr>
              <a:t> </a:t>
            </a:r>
            <a:r>
              <a:rPr sz="2000" spc="-13" dirty="0">
                <a:solidFill>
                  <a:srgbClr val="FF0000"/>
                </a:solidFill>
                <a:latin typeface="OJWNPN+Calibri-Bold"/>
                <a:cs typeface="OJWNPN+Calibri-Bold"/>
              </a:rPr>
              <a:t>parameters</a:t>
            </a:r>
          </a:p>
        </p:txBody>
      </p:sp>
      <p:sp>
        <p:nvSpPr>
          <p:cNvPr id="14" name="object 14"/>
          <p:cNvSpPr txBox="1"/>
          <p:nvPr/>
        </p:nvSpPr>
        <p:spPr>
          <a:xfrm>
            <a:off x="281940" y="4514373"/>
            <a:ext cx="23993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FF0000"/>
                </a:solidFill>
                <a:latin typeface="OJWNPN+Calibri-Bold"/>
                <a:cs typeface="OJWNPN+Calibri-Bold"/>
              </a:rPr>
              <a:t>{</a:t>
            </a:r>
          </a:p>
        </p:txBody>
      </p:sp>
      <p:sp>
        <p:nvSpPr>
          <p:cNvPr id="15" name="object 15"/>
          <p:cNvSpPr txBox="1"/>
          <p:nvPr/>
        </p:nvSpPr>
        <p:spPr>
          <a:xfrm>
            <a:off x="281940" y="4819173"/>
            <a:ext cx="2641363" cy="1207134"/>
          </a:xfrm>
          <a:prstGeom prst="rect">
            <a:avLst/>
          </a:prstGeom>
        </p:spPr>
        <p:txBody>
          <a:bodyPr vert="horz" wrap="square" lIns="0" tIns="0" rIns="0" bIns="0" rtlCol="0">
            <a:spAutoFit/>
          </a:bodyPr>
          <a:lstStyle/>
          <a:p>
            <a:pPr marL="171450" marR="0">
              <a:lnSpc>
                <a:spcPts val="2005"/>
              </a:lnSpc>
              <a:spcBef>
                <a:spcPts val="0"/>
              </a:spcBef>
              <a:spcAft>
                <a:spcPts val="0"/>
              </a:spcAft>
            </a:pPr>
            <a:r>
              <a:rPr sz="2000" spc="-10" dirty="0">
                <a:solidFill>
                  <a:srgbClr val="FF0000"/>
                </a:solidFill>
                <a:latin typeface="OJWNPN+Calibri-Bold"/>
                <a:cs typeface="OJWNPN+Calibri-Bold"/>
              </a:rPr>
              <a:t>int</a:t>
            </a:r>
            <a:r>
              <a:rPr sz="2000" spc="21" dirty="0">
                <a:solidFill>
                  <a:srgbClr val="FF0000"/>
                </a:solidFill>
                <a:latin typeface="OJWNPN+Calibri-Bold"/>
                <a:cs typeface="OJWNPN+Calibri-Bold"/>
              </a:rPr>
              <a:t> </a:t>
            </a:r>
            <a:r>
              <a:rPr sz="2000" dirty="0">
                <a:solidFill>
                  <a:srgbClr val="FF0000"/>
                </a:solidFill>
                <a:latin typeface="OJWNPN+Calibri-Bold"/>
                <a:cs typeface="OJWNPN+Calibri-Bold"/>
              </a:rPr>
              <a:t>s;</a:t>
            </a:r>
          </a:p>
          <a:p>
            <a:pPr marL="171450" marR="0">
              <a:lnSpc>
                <a:spcPts val="2005"/>
              </a:lnSpc>
              <a:spcBef>
                <a:spcPts val="395"/>
              </a:spcBef>
              <a:spcAft>
                <a:spcPts val="0"/>
              </a:spcAft>
            </a:pPr>
            <a:r>
              <a:rPr sz="2000" dirty="0">
                <a:solidFill>
                  <a:srgbClr val="FF0000"/>
                </a:solidFill>
                <a:latin typeface="OJWNPN+Calibri-Bold"/>
                <a:cs typeface="OJWNPN+Calibri-Bold"/>
              </a:rPr>
              <a:t>s=p+q;</a:t>
            </a:r>
          </a:p>
          <a:p>
            <a:pPr marL="171450" marR="0">
              <a:lnSpc>
                <a:spcPts val="2005"/>
              </a:lnSpc>
              <a:spcBef>
                <a:spcPts val="395"/>
              </a:spcBef>
              <a:spcAft>
                <a:spcPts val="0"/>
              </a:spcAft>
            </a:pPr>
            <a:r>
              <a:rPr sz="2000" spc="-12" dirty="0">
                <a:solidFill>
                  <a:srgbClr val="FF0000"/>
                </a:solidFill>
                <a:latin typeface="OJWNPN+Calibri-Bold"/>
                <a:cs typeface="OJWNPN+Calibri-Bold"/>
              </a:rPr>
              <a:t>printf(“sum=%d\n”,s);</a:t>
            </a:r>
          </a:p>
          <a:p>
            <a:pPr marL="0" marR="0">
              <a:lnSpc>
                <a:spcPts val="2005"/>
              </a:lnSpc>
              <a:spcBef>
                <a:spcPts val="395"/>
              </a:spcBef>
              <a:spcAft>
                <a:spcPts val="0"/>
              </a:spcAft>
            </a:pPr>
            <a:r>
              <a:rPr sz="2000" dirty="0">
                <a:solidFill>
                  <a:srgbClr val="FF0000"/>
                </a:solidFill>
                <a:latin typeface="OJWNPN+Calibri-Bold"/>
                <a:cs typeface="OJWNPN+Calibri-Bold"/>
              </a:rPr>
              <a:t>}</a:t>
            </a:r>
          </a:p>
        </p:txBody>
      </p:sp>
      <p:sp>
        <p:nvSpPr>
          <p:cNvPr id="16" name="object 16"/>
          <p:cNvSpPr txBox="1"/>
          <p:nvPr/>
        </p:nvSpPr>
        <p:spPr>
          <a:xfrm>
            <a:off x="281940" y="6038373"/>
            <a:ext cx="11569751" cy="5975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0000"/>
                </a:solidFill>
                <a:latin typeface="AAVGFJ+Calibri"/>
                <a:cs typeface="AAVGFJ+Calibri"/>
              </a:rPr>
              <a:t>The formal arguments </a:t>
            </a:r>
            <a:r>
              <a:rPr sz="2000" spc="-18" dirty="0">
                <a:solidFill>
                  <a:srgbClr val="000000"/>
                </a:solidFill>
                <a:latin typeface="AAVGFJ+Calibri"/>
                <a:cs typeface="AAVGFJ+Calibri"/>
              </a:rPr>
              <a:t>may</a:t>
            </a:r>
            <a:r>
              <a:rPr sz="2000" spc="15" dirty="0">
                <a:solidFill>
                  <a:srgbClr val="000000"/>
                </a:solidFill>
                <a:latin typeface="AAVGFJ+Calibri"/>
                <a:cs typeface="AAVGFJ+Calibri"/>
              </a:rPr>
              <a:t> </a:t>
            </a:r>
            <a:r>
              <a:rPr sz="2000" dirty="0">
                <a:solidFill>
                  <a:srgbClr val="000000"/>
                </a:solidFill>
                <a:latin typeface="AAVGFJ+Calibri"/>
                <a:cs typeface="AAVGFJ+Calibri"/>
              </a:rPr>
              <a:t>be declared </a:t>
            </a:r>
            <a:r>
              <a:rPr sz="2000" spc="-11" dirty="0">
                <a:solidFill>
                  <a:srgbClr val="000000"/>
                </a:solidFill>
                <a:latin typeface="AAVGFJ+Calibri"/>
                <a:cs typeface="AAVGFJ+Calibri"/>
              </a:rPr>
              <a:t>by</a:t>
            </a:r>
            <a:r>
              <a:rPr sz="2000" dirty="0">
                <a:solidFill>
                  <a:srgbClr val="000000"/>
                </a:solidFill>
                <a:latin typeface="AAVGFJ+Calibri"/>
                <a:cs typeface="AAVGFJ+Calibri"/>
              </a:rPr>
              <a:t> the same name or </a:t>
            </a:r>
            <a:r>
              <a:rPr sz="2000" spc="-15" dirty="0">
                <a:solidFill>
                  <a:srgbClr val="000000"/>
                </a:solidFill>
                <a:latin typeface="AAVGFJ+Calibri"/>
                <a:cs typeface="AAVGFJ+Calibri"/>
              </a:rPr>
              <a:t>different</a:t>
            </a:r>
            <a:r>
              <a:rPr sz="2000" spc="13" dirty="0">
                <a:solidFill>
                  <a:srgbClr val="000000"/>
                </a:solidFill>
                <a:latin typeface="AAVGFJ+Calibri"/>
                <a:cs typeface="AAVGFJ+Calibri"/>
              </a:rPr>
              <a:t> </a:t>
            </a:r>
            <a:r>
              <a:rPr sz="2000" dirty="0">
                <a:solidFill>
                  <a:srgbClr val="000000"/>
                </a:solidFill>
                <a:latin typeface="AAVGFJ+Calibri"/>
                <a:cs typeface="AAVGFJ+Calibri"/>
              </a:rPr>
              <a:t>name in the called function but the </a:t>
            </a:r>
            <a:r>
              <a:rPr sz="2000" spc="-15" dirty="0">
                <a:solidFill>
                  <a:srgbClr val="000000"/>
                </a:solidFill>
                <a:latin typeface="AAVGFJ+Calibri"/>
                <a:cs typeface="AAVGFJ+Calibri"/>
              </a:rPr>
              <a:t>data</a:t>
            </a:r>
          </a:p>
          <a:p>
            <a:pPr marL="0" marR="0">
              <a:lnSpc>
                <a:spcPts val="2005"/>
              </a:lnSpc>
              <a:spcBef>
                <a:spcPts val="395"/>
              </a:spcBef>
              <a:spcAft>
                <a:spcPts val="0"/>
              </a:spcAft>
            </a:pPr>
            <a:r>
              <a:rPr sz="2000" dirty="0">
                <a:solidFill>
                  <a:srgbClr val="000000"/>
                </a:solidFill>
                <a:latin typeface="AAVGFJ+Calibri"/>
                <a:cs typeface="AAVGFJ+Calibri"/>
              </a:rPr>
              <a:t>type must be the same in both blocks.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190976"/>
            <a:ext cx="5459722"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spc="-10" dirty="0">
                <a:solidFill>
                  <a:srgbClr val="0033CC"/>
                </a:solidFill>
                <a:latin typeface="HWPIMB+Calibri-Light"/>
                <a:cs typeface="HWPIMB+Calibri-Light"/>
              </a:rPr>
              <a:t>Local</a:t>
            </a:r>
            <a:r>
              <a:rPr sz="4000" spc="13" dirty="0">
                <a:solidFill>
                  <a:srgbClr val="0033CC"/>
                </a:solidFill>
                <a:latin typeface="HWPIMB+Calibri-Light"/>
                <a:cs typeface="HWPIMB+Calibri-Light"/>
              </a:rPr>
              <a:t> </a:t>
            </a:r>
            <a:r>
              <a:rPr sz="4000" dirty="0">
                <a:solidFill>
                  <a:srgbClr val="0033CC"/>
                </a:solidFill>
                <a:latin typeface="HWPIMB+Calibri-Light"/>
                <a:cs typeface="HWPIMB+Calibri-Light"/>
              </a:rPr>
              <a:t>and Global </a:t>
            </a:r>
            <a:r>
              <a:rPr sz="4000" spc="-24" dirty="0">
                <a:solidFill>
                  <a:srgbClr val="0033CC"/>
                </a:solidFill>
                <a:latin typeface="HWPIMB+Calibri-Light"/>
                <a:cs typeface="HWPIMB+Calibri-Light"/>
              </a:rPr>
              <a:t>Variables</a:t>
            </a:r>
          </a:p>
        </p:txBody>
      </p:sp>
      <p:sp>
        <p:nvSpPr>
          <p:cNvPr id="4" name="object 4"/>
          <p:cNvSpPr txBox="1"/>
          <p:nvPr/>
        </p:nvSpPr>
        <p:spPr>
          <a:xfrm>
            <a:off x="284060" y="998004"/>
            <a:ext cx="11560763" cy="107441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Local variable is defined inside the function block or compound </a:t>
            </a:r>
            <a:r>
              <a:rPr sz="2400" spc="-15" dirty="0">
                <a:solidFill>
                  <a:srgbClr val="000000"/>
                </a:solidFill>
                <a:latin typeface="AAVGFJ+Calibri"/>
                <a:cs typeface="AAVGFJ+Calibri"/>
              </a:rPr>
              <a:t>statement.</a:t>
            </a:r>
          </a:p>
          <a:p>
            <a:pPr marL="0" marR="0">
              <a:lnSpc>
                <a:spcPts val="2400"/>
              </a:lnSpc>
              <a:spcBef>
                <a:spcPts val="479"/>
              </a:spcBef>
              <a:spcAft>
                <a:spcPts val="0"/>
              </a:spcAft>
            </a:pPr>
            <a:r>
              <a:rPr sz="2400" spc="-12" dirty="0">
                <a:solidFill>
                  <a:srgbClr val="000000"/>
                </a:solidFill>
                <a:latin typeface="AAVGFJ+Calibri"/>
                <a:cs typeface="AAVGFJ+Calibri"/>
              </a:rPr>
              <a:t>TGlobal</a:t>
            </a:r>
            <a:r>
              <a:rPr sz="2400" spc="13" dirty="0">
                <a:solidFill>
                  <a:srgbClr val="000000"/>
                </a:solidFill>
                <a:latin typeface="AAVGFJ+Calibri"/>
                <a:cs typeface="AAVGFJ+Calibri"/>
              </a:rPr>
              <a:t> </a:t>
            </a:r>
            <a:r>
              <a:rPr sz="2400" dirty="0">
                <a:solidFill>
                  <a:srgbClr val="000000"/>
                </a:solidFill>
                <a:latin typeface="AAVGFJ+Calibri"/>
                <a:cs typeface="AAVGFJ+Calibri"/>
              </a:rPr>
              <a:t>variables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dirty="0">
                <a:solidFill>
                  <a:srgbClr val="000000"/>
                </a:solidFill>
                <a:latin typeface="AAVGFJ+Calibri"/>
                <a:cs typeface="AAVGFJ+Calibri"/>
              </a:rPr>
              <a:t>defined outside the main function.</a:t>
            </a:r>
            <a:r>
              <a:rPr sz="2400" spc="547" dirty="0">
                <a:solidFill>
                  <a:srgbClr val="000000"/>
                </a:solidFill>
                <a:latin typeface="AAVGFJ+Calibri"/>
                <a:cs typeface="AAVGFJ+Calibri"/>
              </a:rPr>
              <a:t> </a:t>
            </a:r>
            <a:r>
              <a:rPr sz="2400" dirty="0">
                <a:solidFill>
                  <a:srgbClr val="000000"/>
                </a:solidFill>
                <a:latin typeface="AAVGFJ+Calibri"/>
                <a:cs typeface="AAVGFJ+Calibri"/>
              </a:rPr>
              <a:t>They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spc="-23" dirty="0">
                <a:solidFill>
                  <a:srgbClr val="000000"/>
                </a:solidFill>
                <a:latin typeface="AAVGFJ+Calibri"/>
                <a:cs typeface="AAVGFJ+Calibri"/>
              </a:rPr>
              <a:t>referred</a:t>
            </a:r>
            <a:r>
              <a:rPr sz="2400" spc="24" dirty="0">
                <a:solidFill>
                  <a:srgbClr val="000000"/>
                </a:solidFill>
                <a:latin typeface="AAVGFJ+Calibri"/>
                <a:cs typeface="AAVGFJ+Calibri"/>
              </a:rPr>
              <a:t>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the same </a:t>
            </a:r>
            <a:r>
              <a:rPr sz="2400" spc="-18" dirty="0">
                <a:solidFill>
                  <a:srgbClr val="000000"/>
                </a:solidFill>
                <a:latin typeface="AAVGFJ+Calibri"/>
                <a:cs typeface="AAVGFJ+Calibri"/>
              </a:rPr>
              <a:t>data</a:t>
            </a:r>
          </a:p>
          <a:p>
            <a:pPr marL="0" marR="0">
              <a:lnSpc>
                <a:spcPts val="2400"/>
              </a:lnSpc>
              <a:spcBef>
                <a:spcPts val="479"/>
              </a:spcBef>
              <a:spcAft>
                <a:spcPts val="0"/>
              </a:spcAft>
            </a:pPr>
            <a:r>
              <a:rPr sz="2400" dirty="0">
                <a:solidFill>
                  <a:srgbClr val="000000"/>
                </a:solidFill>
                <a:latin typeface="AAVGFJ+Calibri"/>
                <a:cs typeface="AAVGFJ+Calibri"/>
              </a:rPr>
              <a:t>type and same name throughout the </a:t>
            </a:r>
            <a:r>
              <a:rPr sz="2400" spc="-16" dirty="0">
                <a:solidFill>
                  <a:srgbClr val="000000"/>
                </a:solidFill>
                <a:latin typeface="AAVGFJ+Calibri"/>
                <a:cs typeface="AAVGFJ+Calibri"/>
              </a:rPr>
              <a:t>program</a:t>
            </a:r>
            <a:r>
              <a:rPr sz="2400" spc="16" dirty="0">
                <a:solidFill>
                  <a:srgbClr val="000000"/>
                </a:solidFill>
                <a:latin typeface="AAVGFJ+Calibri"/>
                <a:cs typeface="AAVGFJ+Calibri"/>
              </a:rPr>
              <a:t> </a:t>
            </a:r>
            <a:r>
              <a:rPr sz="2400" dirty="0">
                <a:solidFill>
                  <a:srgbClr val="000000"/>
                </a:solidFill>
                <a:latin typeface="AAVGFJ+Calibri"/>
                <a:cs typeface="AAVGFJ+Calibri"/>
              </a:rPr>
              <a:t>in both calling and called </a:t>
            </a:r>
            <a:r>
              <a:rPr sz="2400" spc="-14" dirty="0">
                <a:solidFill>
                  <a:srgbClr val="000000"/>
                </a:solidFill>
                <a:latin typeface="AAVGFJ+Calibri"/>
                <a:cs typeface="AAVGFJ+Calibri"/>
              </a:rPr>
              <a:t>program.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33260" y="333375"/>
            <a:ext cx="5408542" cy="1074420"/>
          </a:xfrm>
          <a:prstGeom prst="rect">
            <a:avLst/>
          </a:prstGeom>
        </p:spPr>
        <p:txBody>
          <a:bodyPr vert="horz" wrap="square" lIns="0" tIns="0" rIns="0" bIns="0" rtlCol="0">
            <a:spAutoFit/>
          </a:bodyPr>
          <a:lstStyle/>
          <a:p>
            <a:pPr marL="0" marR="0">
              <a:lnSpc>
                <a:spcPts val="2400"/>
              </a:lnSpc>
              <a:spcBef>
                <a:spcPts val="0"/>
              </a:spcBef>
              <a:spcAft>
                <a:spcPts val="0"/>
              </a:spcAft>
            </a:pPr>
            <a:r>
              <a:rPr sz="2400" spc="-12" dirty="0">
                <a:solidFill>
                  <a:srgbClr val="FF0000"/>
                </a:solidFill>
                <a:latin typeface="AAVGFJ+Calibri"/>
                <a:cs typeface="AAVGFJ+Calibri"/>
              </a:rPr>
              <a:t>/*Program</a:t>
            </a:r>
            <a:r>
              <a:rPr sz="2400" spc="12" dirty="0">
                <a:solidFill>
                  <a:srgbClr val="FF0000"/>
                </a:solidFill>
                <a:latin typeface="AAVGFJ+Calibri"/>
                <a:cs typeface="AAVGFJ+Calibri"/>
              </a:rPr>
              <a:t> </a:t>
            </a:r>
            <a:r>
              <a:rPr sz="2400" spc="-24" dirty="0">
                <a:solidFill>
                  <a:srgbClr val="FF0000"/>
                </a:solidFill>
                <a:latin typeface="AAVGFJ+Calibri"/>
                <a:cs typeface="AAVGFJ+Calibri"/>
              </a:rPr>
              <a:t>to</a:t>
            </a:r>
            <a:r>
              <a:rPr sz="2400" spc="26" dirty="0">
                <a:solidFill>
                  <a:srgbClr val="FF0000"/>
                </a:solidFill>
                <a:latin typeface="AAVGFJ+Calibri"/>
                <a:cs typeface="AAVGFJ+Calibri"/>
              </a:rPr>
              <a:t> </a:t>
            </a:r>
            <a:r>
              <a:rPr sz="2400" dirty="0">
                <a:solidFill>
                  <a:srgbClr val="FF0000"/>
                </a:solidFill>
                <a:latin typeface="AAVGFJ+Calibri"/>
                <a:cs typeface="AAVGFJ+Calibri"/>
              </a:rPr>
              <a:t>find the sum of 2 numbers*/</a:t>
            </a:r>
          </a:p>
          <a:p>
            <a:pPr marL="0" marR="0">
              <a:lnSpc>
                <a:spcPts val="2400"/>
              </a:lnSpc>
              <a:spcBef>
                <a:spcPts val="479"/>
              </a:spcBef>
              <a:spcAft>
                <a:spcPts val="0"/>
              </a:spcAft>
            </a:pPr>
            <a:r>
              <a:rPr sz="2400" dirty="0">
                <a:solidFill>
                  <a:srgbClr val="000000"/>
                </a:solidFill>
                <a:latin typeface="AAVGFJ+Calibri"/>
                <a:cs typeface="AAVGFJ+Calibri"/>
              </a:rPr>
              <a:t>#include&lt;stdio.h&gt;</a:t>
            </a:r>
          </a:p>
          <a:p>
            <a:pPr marL="0" marR="0">
              <a:lnSpc>
                <a:spcPts val="2400"/>
              </a:lnSpc>
              <a:spcBef>
                <a:spcPts val="480"/>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add();</a:t>
            </a:r>
          </a:p>
        </p:txBody>
      </p:sp>
      <p:sp>
        <p:nvSpPr>
          <p:cNvPr id="4" name="object 4"/>
          <p:cNvSpPr txBox="1"/>
          <p:nvPr/>
        </p:nvSpPr>
        <p:spPr>
          <a:xfrm>
            <a:off x="233260" y="1430654"/>
            <a:ext cx="2796172" cy="70866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FF0000"/>
                </a:solidFill>
                <a:latin typeface="OJWNPN+Calibri-Bold"/>
                <a:cs typeface="OJWNPN+Calibri-Bold"/>
              </a:rPr>
              <a:t>int</a:t>
            </a:r>
            <a:r>
              <a:rPr sz="2400" spc="26" dirty="0">
                <a:solidFill>
                  <a:srgbClr val="FF0000"/>
                </a:solidFill>
                <a:latin typeface="OJWNPN+Calibri-Bold"/>
                <a:cs typeface="OJWNPN+Calibri-Bold"/>
              </a:rPr>
              <a:t> </a:t>
            </a:r>
            <a:r>
              <a:rPr sz="2400" dirty="0">
                <a:solidFill>
                  <a:srgbClr val="FF0000"/>
                </a:solidFill>
                <a:latin typeface="OJWNPN+Calibri-Bold"/>
                <a:cs typeface="OJWNPN+Calibri-Bold"/>
              </a:rPr>
              <a:t>num1,num2,sum;</a:t>
            </a:r>
          </a:p>
          <a:p>
            <a:pPr marL="0" marR="0">
              <a:lnSpc>
                <a:spcPts val="2400"/>
              </a:lnSpc>
              <a:spcBef>
                <a:spcPts val="480"/>
              </a:spcBef>
              <a:spcAft>
                <a:spcPts val="0"/>
              </a:spcAft>
            </a:pPr>
            <a:r>
              <a:rPr sz="2400" dirty="0">
                <a:solidFill>
                  <a:srgbClr val="000000"/>
                </a:solidFill>
                <a:latin typeface="AAVGFJ+Calibri"/>
                <a:cs typeface="AAVGFJ+Calibri"/>
              </a:rPr>
              <a:t>void</a:t>
            </a:r>
            <a:r>
              <a:rPr sz="2400" spc="10" dirty="0">
                <a:solidFill>
                  <a:srgbClr val="000000"/>
                </a:solidFill>
                <a:latin typeface="AAVGFJ+Calibri"/>
                <a:cs typeface="AAVGFJ+Calibri"/>
              </a:rPr>
              <a:t> </a:t>
            </a:r>
            <a:r>
              <a:rPr sz="2400" dirty="0">
                <a:solidFill>
                  <a:srgbClr val="000000"/>
                </a:solidFill>
                <a:latin typeface="AAVGFJ+Calibri"/>
                <a:cs typeface="AAVGFJ+Calibri"/>
              </a:rPr>
              <a:t>main()</a:t>
            </a:r>
          </a:p>
        </p:txBody>
      </p:sp>
      <p:sp>
        <p:nvSpPr>
          <p:cNvPr id="5" name="object 5"/>
          <p:cNvSpPr txBox="1"/>
          <p:nvPr/>
        </p:nvSpPr>
        <p:spPr>
          <a:xfrm>
            <a:off x="4399498" y="1430654"/>
            <a:ext cx="511249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-&gt; num1,num2,sum </a:t>
            </a:r>
            <a:r>
              <a:rPr sz="2400" spc="-18" dirty="0">
                <a:solidFill>
                  <a:srgbClr val="000000"/>
                </a:solidFill>
                <a:latin typeface="AAVGFJ+Calibri"/>
                <a:cs typeface="AAVGFJ+Calibri"/>
              </a:rPr>
              <a:t>are</a:t>
            </a:r>
            <a:r>
              <a:rPr sz="2400" spc="21" dirty="0">
                <a:solidFill>
                  <a:srgbClr val="000000"/>
                </a:solidFill>
                <a:latin typeface="AAVGFJ+Calibri"/>
                <a:cs typeface="AAVGFJ+Calibri"/>
              </a:rPr>
              <a:t> </a:t>
            </a:r>
            <a:r>
              <a:rPr sz="2400" dirty="0">
                <a:solidFill>
                  <a:srgbClr val="000000"/>
                </a:solidFill>
                <a:latin typeface="AAVGFJ+Calibri"/>
                <a:cs typeface="AAVGFJ+Calibri"/>
              </a:rPr>
              <a:t>global variables.</a:t>
            </a:r>
          </a:p>
        </p:txBody>
      </p:sp>
      <p:sp>
        <p:nvSpPr>
          <p:cNvPr id="6" name="object 6"/>
          <p:cNvSpPr txBox="1"/>
          <p:nvPr/>
        </p:nvSpPr>
        <p:spPr>
          <a:xfrm>
            <a:off x="233260" y="2162175"/>
            <a:ext cx="248245"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a:t>
            </a:r>
          </a:p>
        </p:txBody>
      </p:sp>
      <p:sp>
        <p:nvSpPr>
          <p:cNvPr id="7" name="object 7"/>
          <p:cNvSpPr txBox="1"/>
          <p:nvPr/>
        </p:nvSpPr>
        <p:spPr>
          <a:xfrm>
            <a:off x="690460" y="2527934"/>
            <a:ext cx="4070895" cy="144018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printf("Enter 2 numbers\n");</a:t>
            </a:r>
          </a:p>
          <a:p>
            <a:pPr marL="0" marR="0">
              <a:lnSpc>
                <a:spcPts val="2400"/>
              </a:lnSpc>
              <a:spcBef>
                <a:spcPts val="480"/>
              </a:spcBef>
              <a:spcAft>
                <a:spcPts val="0"/>
              </a:spcAft>
            </a:pPr>
            <a:r>
              <a:rPr sz="2400" dirty="0">
                <a:solidFill>
                  <a:srgbClr val="000000"/>
                </a:solidFill>
                <a:latin typeface="AAVGFJ+Calibri"/>
                <a:cs typeface="AAVGFJ+Calibri"/>
              </a:rPr>
              <a:t>scanf("%d%d",&amp;num1,&amp;num2);</a:t>
            </a:r>
          </a:p>
          <a:p>
            <a:pPr marL="0" marR="0">
              <a:lnSpc>
                <a:spcPts val="2400"/>
              </a:lnSpc>
              <a:spcBef>
                <a:spcPts val="479"/>
              </a:spcBef>
              <a:spcAft>
                <a:spcPts val="0"/>
              </a:spcAft>
            </a:pPr>
            <a:r>
              <a:rPr sz="2400" dirty="0">
                <a:solidFill>
                  <a:srgbClr val="000000"/>
                </a:solidFill>
                <a:latin typeface="AAVGFJ+Calibri"/>
                <a:cs typeface="AAVGFJ+Calibri"/>
              </a:rPr>
              <a:t>printf("Sum=%d\n",add());</a:t>
            </a:r>
          </a:p>
          <a:p>
            <a:pPr marL="0" marR="0">
              <a:lnSpc>
                <a:spcPts val="2400"/>
              </a:lnSpc>
              <a:spcBef>
                <a:spcPts val="430"/>
              </a:spcBef>
              <a:spcAft>
                <a:spcPts val="0"/>
              </a:spcAft>
            </a:pPr>
            <a:r>
              <a:rPr sz="2400" dirty="0">
                <a:solidFill>
                  <a:srgbClr val="000000"/>
                </a:solidFill>
                <a:latin typeface="AAVGFJ+Calibri"/>
                <a:cs typeface="AAVGFJ+Calibri"/>
              </a:rPr>
              <a:t>getch();</a:t>
            </a:r>
          </a:p>
        </p:txBody>
      </p:sp>
      <p:sp>
        <p:nvSpPr>
          <p:cNvPr id="8" name="object 8"/>
          <p:cNvSpPr txBox="1"/>
          <p:nvPr/>
        </p:nvSpPr>
        <p:spPr>
          <a:xfrm>
            <a:off x="233260" y="3990975"/>
            <a:ext cx="2952392" cy="2537459"/>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a:t>
            </a:r>
          </a:p>
          <a:p>
            <a:pPr marL="0" marR="0">
              <a:lnSpc>
                <a:spcPts val="2400"/>
              </a:lnSpc>
              <a:spcBef>
                <a:spcPts val="479"/>
              </a:spcBef>
              <a:spcAft>
                <a:spcPts val="0"/>
              </a:spcAft>
            </a:pPr>
            <a:r>
              <a:rPr sz="2400" dirty="0">
                <a:solidFill>
                  <a:srgbClr val="000000"/>
                </a:solidFill>
                <a:latin typeface="AAVGFJ+Calibri"/>
                <a:cs typeface="AAVGFJ+Calibri"/>
              </a:rPr>
              <a:t>/*add definition*/</a:t>
            </a:r>
          </a:p>
          <a:p>
            <a:pPr marL="0" marR="0">
              <a:lnSpc>
                <a:spcPts val="2400"/>
              </a:lnSpc>
              <a:spcBef>
                <a:spcPts val="480"/>
              </a:spcBef>
              <a:spcAft>
                <a:spcPts val="0"/>
              </a:spcAft>
            </a:pPr>
            <a:r>
              <a:rPr sz="2400" spc="-13" dirty="0">
                <a:solidFill>
                  <a:srgbClr val="000000"/>
                </a:solidFill>
                <a:latin typeface="AAVGFJ+Calibri"/>
                <a:cs typeface="AAVGFJ+Calibri"/>
              </a:rPr>
              <a:t>int</a:t>
            </a:r>
            <a:r>
              <a:rPr sz="2400" spc="17" dirty="0">
                <a:solidFill>
                  <a:srgbClr val="000000"/>
                </a:solidFill>
                <a:latin typeface="AAVGFJ+Calibri"/>
                <a:cs typeface="AAVGFJ+Calibri"/>
              </a:rPr>
              <a:t> </a:t>
            </a:r>
            <a:r>
              <a:rPr sz="2400" dirty="0">
                <a:solidFill>
                  <a:srgbClr val="000000"/>
                </a:solidFill>
                <a:latin typeface="AAVGFJ+Calibri"/>
                <a:cs typeface="AAVGFJ+Calibri"/>
              </a:rPr>
              <a:t>add()</a:t>
            </a:r>
          </a:p>
          <a:p>
            <a:pPr marL="0" marR="0">
              <a:lnSpc>
                <a:spcPts val="2400"/>
              </a:lnSpc>
              <a:spcBef>
                <a:spcPts val="429"/>
              </a:spcBef>
              <a:spcAft>
                <a:spcPts val="0"/>
              </a:spcAft>
            </a:pPr>
            <a:r>
              <a:rPr sz="2400" dirty="0">
                <a:solidFill>
                  <a:srgbClr val="000000"/>
                </a:solidFill>
                <a:latin typeface="AAVGFJ+Calibri"/>
                <a:cs typeface="AAVGFJ+Calibri"/>
              </a:rPr>
              <a:t>{</a:t>
            </a:r>
          </a:p>
          <a:p>
            <a:pPr marL="457200" marR="0">
              <a:lnSpc>
                <a:spcPts val="2400"/>
              </a:lnSpc>
              <a:spcBef>
                <a:spcPts val="480"/>
              </a:spcBef>
              <a:spcAft>
                <a:spcPts val="0"/>
              </a:spcAft>
            </a:pPr>
            <a:r>
              <a:rPr sz="2400" dirty="0">
                <a:solidFill>
                  <a:srgbClr val="000000"/>
                </a:solidFill>
                <a:latin typeface="AAVGFJ+Calibri"/>
                <a:cs typeface="AAVGFJ+Calibri"/>
              </a:rPr>
              <a:t>sum=num1+num2;</a:t>
            </a:r>
          </a:p>
          <a:p>
            <a:pPr marL="457200" marR="0">
              <a:lnSpc>
                <a:spcPts val="2400"/>
              </a:lnSpc>
              <a:spcBef>
                <a:spcPts val="479"/>
              </a:spcBef>
              <a:spcAft>
                <a:spcPts val="0"/>
              </a:spcAft>
            </a:pPr>
            <a:r>
              <a:rPr sz="2400" dirty="0">
                <a:solidFill>
                  <a:srgbClr val="000000"/>
                </a:solidFill>
                <a:latin typeface="AAVGFJ+Calibri"/>
                <a:cs typeface="AAVGFJ+Calibri"/>
              </a:rPr>
              <a:t>return(sum);</a:t>
            </a:r>
          </a:p>
          <a:p>
            <a:pPr marL="0" marR="0">
              <a:lnSpc>
                <a:spcPts val="2400"/>
              </a:lnSpc>
              <a:spcBef>
                <a:spcPts val="479"/>
              </a:spcBef>
              <a:spcAft>
                <a:spcPts val="0"/>
              </a:spcAft>
            </a:pPr>
            <a:r>
              <a:rPr sz="2400" dirty="0">
                <a:solidFill>
                  <a:srgbClr val="000000"/>
                </a:solidFill>
                <a:latin typeface="AAVGFJ+Calibri"/>
                <a:cs typeface="AAVGFJ+Calibri"/>
              </a:rP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190976"/>
            <a:ext cx="2543803" cy="545465"/>
          </a:xfrm>
          <a:prstGeom prst="rect">
            <a:avLst/>
          </a:prstGeom>
        </p:spPr>
        <p:txBody>
          <a:bodyPr vert="horz" wrap="square" lIns="0" tIns="0" rIns="0" bIns="0" rtlCol="0">
            <a:spAutoFit/>
          </a:bodyPr>
          <a:lstStyle/>
          <a:p>
            <a:pPr marL="0" marR="0">
              <a:lnSpc>
                <a:spcPts val="3995"/>
              </a:lnSpc>
              <a:spcBef>
                <a:spcPts val="0"/>
              </a:spcBef>
              <a:spcAft>
                <a:spcPts val="0"/>
              </a:spcAft>
            </a:pPr>
            <a:r>
              <a:rPr sz="4000" spc="-13" dirty="0">
                <a:solidFill>
                  <a:srgbClr val="0070C0"/>
                </a:solidFill>
                <a:latin typeface="HWPIMB+Calibri-Light"/>
                <a:cs typeface="HWPIMB+Calibri-Light"/>
              </a:rPr>
              <a:t>RECURSION</a:t>
            </a:r>
          </a:p>
        </p:txBody>
      </p:sp>
      <p:sp>
        <p:nvSpPr>
          <p:cNvPr id="4" name="object 4"/>
          <p:cNvSpPr txBox="1"/>
          <p:nvPr/>
        </p:nvSpPr>
        <p:spPr>
          <a:xfrm>
            <a:off x="91440" y="998004"/>
            <a:ext cx="11820992" cy="3634739"/>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000000"/>
                </a:solidFill>
                <a:latin typeface="AAVGFJ+Calibri"/>
                <a:cs typeface="AAVGFJ+Calibri"/>
              </a:rPr>
              <a:t>Recursion</a:t>
            </a:r>
            <a:r>
              <a:rPr sz="2400" spc="13" dirty="0">
                <a:solidFill>
                  <a:srgbClr val="000000"/>
                </a:solidFill>
                <a:latin typeface="AAVGFJ+Calibri"/>
                <a:cs typeface="AAVGFJ+Calibri"/>
              </a:rPr>
              <a:t> </a:t>
            </a:r>
            <a:r>
              <a:rPr sz="2400" dirty="0">
                <a:solidFill>
                  <a:srgbClr val="000000"/>
                </a:solidFill>
                <a:latin typeface="AAVGFJ+Calibri"/>
                <a:cs typeface="AAVGFJ+Calibri"/>
              </a:rPr>
              <a:t>is a powerful </a:t>
            </a:r>
            <a:r>
              <a:rPr sz="2400" spc="-10" dirty="0">
                <a:solidFill>
                  <a:srgbClr val="000000"/>
                </a:solidFill>
                <a:latin typeface="AAVGFJ+Calibri"/>
                <a:cs typeface="AAVGFJ+Calibri"/>
              </a:rPr>
              <a:t>programming</a:t>
            </a:r>
            <a:r>
              <a:rPr sz="2400" spc="13" dirty="0">
                <a:solidFill>
                  <a:srgbClr val="000000"/>
                </a:solidFill>
                <a:latin typeface="AAVGFJ+Calibri"/>
                <a:cs typeface="AAVGFJ+Calibri"/>
              </a:rPr>
              <a:t> </a:t>
            </a:r>
            <a:r>
              <a:rPr sz="2400" dirty="0">
                <a:solidFill>
                  <a:srgbClr val="000000"/>
                </a:solidFill>
                <a:latin typeface="AAVGFJ+Calibri"/>
                <a:cs typeface="AAVGFJ+Calibri"/>
              </a:rPr>
              <a:t>tool</a:t>
            </a:r>
            <a:r>
              <a:rPr sz="2400" spc="10" dirty="0">
                <a:solidFill>
                  <a:srgbClr val="000000"/>
                </a:solidFill>
                <a:latin typeface="AAVGFJ+Calibri"/>
                <a:cs typeface="AAVGFJ+Calibri"/>
              </a:rPr>
              <a:t> </a:t>
            </a:r>
            <a:r>
              <a:rPr sz="2400" dirty="0">
                <a:solidFill>
                  <a:srgbClr val="000000"/>
                </a:solidFill>
                <a:latin typeface="AAVGFJ+Calibri"/>
                <a:cs typeface="AAVGFJ+Calibri"/>
              </a:rPr>
              <a:t>that</a:t>
            </a:r>
            <a:r>
              <a:rPr sz="2400" spc="12" dirty="0">
                <a:solidFill>
                  <a:srgbClr val="000000"/>
                </a:solidFill>
                <a:latin typeface="AAVGFJ+Calibri"/>
                <a:cs typeface="AAVGFJ+Calibri"/>
              </a:rPr>
              <a:t> </a:t>
            </a:r>
            <a:r>
              <a:rPr sz="2400" dirty="0">
                <a:solidFill>
                  <a:srgbClr val="000000"/>
                </a:solidFill>
                <a:latin typeface="AAVGFJ+Calibri"/>
                <a:cs typeface="AAVGFJ+Calibri"/>
              </a:rPr>
              <a:t>allows</a:t>
            </a:r>
            <a:r>
              <a:rPr sz="2400" spc="11" dirty="0">
                <a:solidFill>
                  <a:srgbClr val="000000"/>
                </a:solidFill>
                <a:latin typeface="AAVGFJ+Calibri"/>
                <a:cs typeface="AAVGFJ+Calibri"/>
              </a:rPr>
              <a:t>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spc="-22" dirty="0">
                <a:solidFill>
                  <a:srgbClr val="000000"/>
                </a:solidFill>
                <a:latin typeface="AAVGFJ+Calibri"/>
                <a:cs typeface="AAVGFJ+Calibri"/>
              </a:rPr>
              <a:t>execute</a:t>
            </a:r>
            <a:r>
              <a:rPr sz="2400" spc="25" dirty="0">
                <a:solidFill>
                  <a:srgbClr val="000000"/>
                </a:solidFill>
                <a:latin typeface="AAVGFJ+Calibri"/>
                <a:cs typeface="AAVGFJ+Calibri"/>
              </a:rPr>
              <a:t> </a:t>
            </a:r>
            <a:r>
              <a:rPr sz="2400" dirty="0">
                <a:solidFill>
                  <a:srgbClr val="000000"/>
                </a:solidFill>
                <a:latin typeface="AAVGFJ+Calibri"/>
                <a:cs typeface="AAVGFJ+Calibri"/>
              </a:rPr>
              <a:t>the function </a:t>
            </a:r>
            <a:r>
              <a:rPr sz="2400" spc="-10" dirty="0">
                <a:solidFill>
                  <a:srgbClr val="000000"/>
                </a:solidFill>
                <a:latin typeface="AAVGFJ+Calibri"/>
                <a:cs typeface="AAVGFJ+Calibri"/>
              </a:rPr>
              <a:t>repeatedly</a:t>
            </a:r>
            <a:r>
              <a:rPr sz="2400" spc="11" dirty="0">
                <a:solidFill>
                  <a:srgbClr val="000000"/>
                </a:solidFill>
                <a:latin typeface="AAVGFJ+Calibri"/>
                <a:cs typeface="AAVGFJ+Calibri"/>
              </a:rPr>
              <a:t> </a:t>
            </a:r>
            <a:r>
              <a:rPr sz="2400" dirty="0">
                <a:solidFill>
                  <a:srgbClr val="000000"/>
                </a:solidFill>
                <a:latin typeface="AAVGFJ+Calibri"/>
                <a:cs typeface="AAVGFJ+Calibri"/>
              </a:rPr>
              <a:t>in</a:t>
            </a:r>
          </a:p>
          <a:p>
            <a:pPr marL="0" marR="0">
              <a:lnSpc>
                <a:spcPts val="2400"/>
              </a:lnSpc>
              <a:spcBef>
                <a:spcPts val="479"/>
              </a:spcBef>
              <a:spcAft>
                <a:spcPts val="0"/>
              </a:spcAft>
            </a:pPr>
            <a:r>
              <a:rPr sz="2400" dirty="0">
                <a:solidFill>
                  <a:srgbClr val="000000"/>
                </a:solidFill>
                <a:latin typeface="AAVGFJ+Calibri"/>
                <a:cs typeface="AAVGFJ+Calibri"/>
              </a:rPr>
              <a:t>terms</a:t>
            </a:r>
            <a:r>
              <a:rPr sz="2400" spc="12" dirty="0">
                <a:solidFill>
                  <a:srgbClr val="000000"/>
                </a:solidFill>
                <a:latin typeface="AAVGFJ+Calibri"/>
                <a:cs typeface="AAVGFJ+Calibri"/>
              </a:rPr>
              <a:t> </a:t>
            </a:r>
            <a:r>
              <a:rPr sz="2400" dirty="0">
                <a:solidFill>
                  <a:srgbClr val="000000"/>
                </a:solidFill>
                <a:latin typeface="AAVGFJ+Calibri"/>
                <a:cs typeface="AAVGFJ+Calibri"/>
              </a:rPr>
              <a:t>of </a:t>
            </a:r>
            <a:r>
              <a:rPr sz="2400" spc="-23" dirty="0">
                <a:solidFill>
                  <a:srgbClr val="000000"/>
                </a:solidFill>
                <a:latin typeface="AAVGFJ+Calibri"/>
                <a:cs typeface="AAVGFJ+Calibri"/>
              </a:rPr>
              <a:t>itself.</a:t>
            </a:r>
            <a:r>
              <a:rPr sz="2400" spc="570" dirty="0">
                <a:solidFill>
                  <a:srgbClr val="000000"/>
                </a:solidFill>
                <a:latin typeface="AAVGFJ+Calibri"/>
                <a:cs typeface="AAVGFJ+Calibri"/>
              </a:rPr>
              <a:t> </a:t>
            </a:r>
            <a:r>
              <a:rPr sz="2400" dirty="0">
                <a:solidFill>
                  <a:srgbClr val="000000"/>
                </a:solidFill>
                <a:latin typeface="AAVGFJ+Calibri"/>
                <a:cs typeface="AAVGFJ+Calibri"/>
              </a:rPr>
              <a:t>It reduces</a:t>
            </a:r>
            <a:r>
              <a:rPr sz="2400" spc="10" dirty="0">
                <a:solidFill>
                  <a:srgbClr val="000000"/>
                </a:solidFill>
                <a:latin typeface="AAVGFJ+Calibri"/>
                <a:cs typeface="AAVGFJ+Calibri"/>
              </a:rPr>
              <a:t> </a:t>
            </a:r>
            <a:r>
              <a:rPr sz="2400" dirty="0">
                <a:solidFill>
                  <a:srgbClr val="000000"/>
                </a:solidFill>
                <a:latin typeface="AAVGFJ+Calibri"/>
                <a:cs typeface="AAVGFJ+Calibri"/>
              </a:rPr>
              <a:t>complexity of the problem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dividing the problem </a:t>
            </a:r>
            <a:r>
              <a:rPr sz="2400" spc="-17" dirty="0">
                <a:solidFill>
                  <a:srgbClr val="000000"/>
                </a:solidFill>
                <a:latin typeface="AAVGFJ+Calibri"/>
                <a:cs typeface="AAVGFJ+Calibri"/>
              </a:rPr>
              <a:t>into</a:t>
            </a:r>
            <a:r>
              <a:rPr sz="2400" spc="19" dirty="0">
                <a:solidFill>
                  <a:srgbClr val="000000"/>
                </a:solidFill>
                <a:latin typeface="AAVGFJ+Calibri"/>
                <a:cs typeface="AAVGFJ+Calibri"/>
              </a:rPr>
              <a:t> </a:t>
            </a:r>
            <a:r>
              <a:rPr sz="2400" dirty="0">
                <a:solidFill>
                  <a:srgbClr val="000000"/>
                </a:solidFill>
                <a:latin typeface="AAVGFJ+Calibri"/>
                <a:cs typeface="AAVGFJ+Calibri"/>
              </a:rPr>
              <a:t>smaller ones</a:t>
            </a:r>
          </a:p>
          <a:p>
            <a:pPr marL="0" marR="0">
              <a:lnSpc>
                <a:spcPts val="2400"/>
              </a:lnSpc>
              <a:spcBef>
                <a:spcPts val="479"/>
              </a:spcBef>
              <a:spcAft>
                <a:spcPts val="0"/>
              </a:spcAft>
            </a:pPr>
            <a:r>
              <a:rPr sz="2400" dirty="0">
                <a:solidFill>
                  <a:srgbClr val="000000"/>
                </a:solidFill>
                <a:latin typeface="AAVGFJ+Calibri"/>
                <a:cs typeface="AAVGFJ+Calibri"/>
              </a:rPr>
              <a:t>and solving each smaller one and then grouping them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a big problem.</a:t>
            </a:r>
            <a:r>
              <a:rPr sz="2400" spc="553" dirty="0">
                <a:solidFill>
                  <a:srgbClr val="000000"/>
                </a:solidFill>
                <a:latin typeface="AAVGFJ+Calibri"/>
                <a:cs typeface="AAVGFJ+Calibri"/>
              </a:rPr>
              <a:t> </a:t>
            </a:r>
            <a:r>
              <a:rPr sz="2400" dirty="0">
                <a:solidFill>
                  <a:srgbClr val="000000"/>
                </a:solidFill>
                <a:latin typeface="AAVGFJ+Calibri"/>
                <a:cs typeface="AAVGFJ+Calibri"/>
              </a:rPr>
              <a:t>Simple and </a:t>
            </a:r>
            <a:r>
              <a:rPr sz="2400" spc="-12" dirty="0">
                <a:solidFill>
                  <a:srgbClr val="000000"/>
                </a:solidFill>
                <a:latin typeface="AAVGFJ+Calibri"/>
                <a:cs typeface="AAVGFJ+Calibri"/>
              </a:rPr>
              <a:t>elegant</a:t>
            </a:r>
          </a:p>
          <a:p>
            <a:pPr marL="0" marR="0">
              <a:lnSpc>
                <a:spcPts val="2400"/>
              </a:lnSpc>
              <a:spcBef>
                <a:spcPts val="430"/>
              </a:spcBef>
              <a:spcAft>
                <a:spcPts val="0"/>
              </a:spcAft>
            </a:pPr>
            <a:r>
              <a:rPr sz="2400" spc="-14" dirty="0">
                <a:solidFill>
                  <a:srgbClr val="000000"/>
                </a:solidFill>
                <a:latin typeface="AAVGFJ+Calibri"/>
                <a:cs typeface="AAVGFJ+Calibri"/>
              </a:rPr>
              <a:t>programs</a:t>
            </a:r>
            <a:r>
              <a:rPr sz="2400" spc="18" dirty="0">
                <a:solidFill>
                  <a:srgbClr val="000000"/>
                </a:solidFill>
                <a:latin typeface="AAVGFJ+Calibri"/>
                <a:cs typeface="AAVGFJ+Calibri"/>
              </a:rPr>
              <a:t> </a:t>
            </a:r>
            <a:r>
              <a:rPr sz="2400" spc="-10" dirty="0">
                <a:solidFill>
                  <a:srgbClr val="000000"/>
                </a:solidFill>
                <a:latin typeface="AAVGFJ+Calibri"/>
                <a:cs typeface="AAVGFJ+Calibri"/>
              </a:rPr>
              <a:t>can</a:t>
            </a:r>
            <a:r>
              <a:rPr sz="2400" spc="11" dirty="0">
                <a:solidFill>
                  <a:srgbClr val="000000"/>
                </a:solidFill>
                <a:latin typeface="AAVGFJ+Calibri"/>
                <a:cs typeface="AAVGFJ+Calibri"/>
              </a:rPr>
              <a:t> </a:t>
            </a:r>
            <a:r>
              <a:rPr sz="2400" dirty="0">
                <a:solidFill>
                  <a:srgbClr val="000000"/>
                </a:solidFill>
                <a:latin typeface="AAVGFJ+Calibri"/>
                <a:cs typeface="AAVGFJ+Calibri"/>
              </a:rPr>
              <a:t>be </a:t>
            </a:r>
            <a:r>
              <a:rPr sz="2400" spc="-11" dirty="0">
                <a:solidFill>
                  <a:srgbClr val="000000"/>
                </a:solidFill>
                <a:latin typeface="AAVGFJ+Calibri"/>
                <a:cs typeface="AAVGFJ+Calibri"/>
              </a:rPr>
              <a:t>written</a:t>
            </a:r>
            <a:r>
              <a:rPr sz="2400" spc="12" dirty="0">
                <a:solidFill>
                  <a:srgbClr val="000000"/>
                </a:solidFill>
                <a:latin typeface="AAVGFJ+Calibri"/>
                <a:cs typeface="AAVGFJ+Calibri"/>
              </a:rPr>
              <a:t> </a:t>
            </a:r>
            <a:r>
              <a:rPr sz="2400" dirty="0">
                <a:solidFill>
                  <a:srgbClr val="000000"/>
                </a:solidFill>
                <a:latin typeface="AAVGFJ+Calibri"/>
                <a:cs typeface="AAVGFJ+Calibri"/>
              </a:rPr>
              <a:t>using recursion.</a:t>
            </a:r>
          </a:p>
          <a:p>
            <a:pPr marL="0" marR="0">
              <a:lnSpc>
                <a:spcPts val="2400"/>
              </a:lnSpc>
              <a:spcBef>
                <a:spcPts val="480"/>
              </a:spcBef>
              <a:spcAft>
                <a:spcPts val="0"/>
              </a:spcAft>
            </a:pPr>
            <a:r>
              <a:rPr sz="2400" spc="-11" dirty="0">
                <a:solidFill>
                  <a:srgbClr val="FF0000"/>
                </a:solidFill>
                <a:latin typeface="AAVGFJ+Calibri"/>
                <a:cs typeface="AAVGFJ+Calibri"/>
              </a:rPr>
              <a:t>Recursion</a:t>
            </a:r>
            <a:r>
              <a:rPr sz="2400" spc="13" dirty="0">
                <a:solidFill>
                  <a:srgbClr val="FF0000"/>
                </a:solidFill>
                <a:latin typeface="AAVGFJ+Calibri"/>
                <a:cs typeface="AAVGFJ+Calibri"/>
              </a:rPr>
              <a:t> </a:t>
            </a:r>
            <a:r>
              <a:rPr sz="2400" dirty="0">
                <a:solidFill>
                  <a:srgbClr val="FF0000"/>
                </a:solidFill>
                <a:latin typeface="AAVGFJ+Calibri"/>
                <a:cs typeface="AAVGFJ+Calibri"/>
              </a:rPr>
              <a:t>is a process</a:t>
            </a:r>
            <a:r>
              <a:rPr sz="2400" spc="11" dirty="0">
                <a:solidFill>
                  <a:srgbClr val="FF0000"/>
                </a:solidFill>
                <a:latin typeface="AAVGFJ+Calibri"/>
                <a:cs typeface="AAVGFJ+Calibri"/>
              </a:rPr>
              <a:t> </a:t>
            </a:r>
            <a:r>
              <a:rPr sz="2400" dirty="0">
                <a:solidFill>
                  <a:srgbClr val="FF0000"/>
                </a:solidFill>
                <a:latin typeface="AAVGFJ+Calibri"/>
                <a:cs typeface="AAVGFJ+Calibri"/>
              </a:rPr>
              <a:t>of calling a function </a:t>
            </a:r>
            <a:r>
              <a:rPr sz="2400" spc="-10" dirty="0">
                <a:solidFill>
                  <a:srgbClr val="FF0000"/>
                </a:solidFill>
                <a:latin typeface="AAVGFJ+Calibri"/>
                <a:cs typeface="AAVGFJ+Calibri"/>
              </a:rPr>
              <a:t>repeatedly</a:t>
            </a:r>
            <a:r>
              <a:rPr sz="2400" spc="11" dirty="0">
                <a:solidFill>
                  <a:srgbClr val="FF0000"/>
                </a:solidFill>
                <a:latin typeface="AAVGFJ+Calibri"/>
                <a:cs typeface="AAVGFJ+Calibri"/>
              </a:rPr>
              <a:t> </a:t>
            </a:r>
            <a:r>
              <a:rPr sz="2400" dirty="0">
                <a:solidFill>
                  <a:srgbClr val="FF0000"/>
                </a:solidFill>
                <a:latin typeface="AAVGFJ+Calibri"/>
                <a:cs typeface="AAVGFJ+Calibri"/>
              </a:rPr>
              <a:t>in terms</a:t>
            </a:r>
            <a:r>
              <a:rPr sz="2400" spc="12" dirty="0">
                <a:solidFill>
                  <a:srgbClr val="FF0000"/>
                </a:solidFill>
                <a:latin typeface="AAVGFJ+Calibri"/>
                <a:cs typeface="AAVGFJ+Calibri"/>
              </a:rPr>
              <a:t> </a:t>
            </a:r>
            <a:r>
              <a:rPr sz="2400" dirty="0">
                <a:solidFill>
                  <a:srgbClr val="FF0000"/>
                </a:solidFill>
                <a:latin typeface="AAVGFJ+Calibri"/>
                <a:cs typeface="AAVGFJ+Calibri"/>
              </a:rPr>
              <a:t>of </a:t>
            </a:r>
            <a:r>
              <a:rPr sz="2400" spc="-23" dirty="0">
                <a:solidFill>
                  <a:srgbClr val="FF0000"/>
                </a:solidFill>
                <a:latin typeface="AAVGFJ+Calibri"/>
                <a:cs typeface="AAVGFJ+Calibri"/>
              </a:rPr>
              <a:t>itself.</a:t>
            </a:r>
            <a:r>
              <a:rPr sz="2400" spc="25" dirty="0">
                <a:solidFill>
                  <a:srgbClr val="FF0000"/>
                </a:solidFill>
                <a:latin typeface="AAVGFJ+Calibri"/>
                <a:cs typeface="AAVGFJ+Calibri"/>
              </a:rPr>
              <a:t> </a:t>
            </a:r>
            <a:r>
              <a:rPr sz="2400" dirty="0">
                <a:solidFill>
                  <a:srgbClr val="FF0000"/>
                </a:solidFill>
                <a:latin typeface="AAVGFJ+Calibri"/>
                <a:cs typeface="AAVGFJ+Calibri"/>
              </a:rPr>
              <a:t>The </a:t>
            </a:r>
            <a:r>
              <a:rPr sz="2400" spc="-13" dirty="0">
                <a:solidFill>
                  <a:srgbClr val="FF0000"/>
                </a:solidFill>
                <a:latin typeface="AAVGFJ+Calibri"/>
                <a:cs typeface="AAVGFJ+Calibri"/>
              </a:rPr>
              <a:t>repeated</a:t>
            </a:r>
            <a:r>
              <a:rPr sz="2400" spc="14" dirty="0">
                <a:solidFill>
                  <a:srgbClr val="FF0000"/>
                </a:solidFill>
                <a:latin typeface="AAVGFJ+Calibri"/>
                <a:cs typeface="AAVGFJ+Calibri"/>
              </a:rPr>
              <a:t> </a:t>
            </a:r>
            <a:r>
              <a:rPr sz="2400" dirty="0">
                <a:solidFill>
                  <a:srgbClr val="FF0000"/>
                </a:solidFill>
                <a:latin typeface="AAVGFJ+Calibri"/>
                <a:cs typeface="AAVGFJ+Calibri"/>
              </a:rPr>
              <a:t>calling is</a:t>
            </a:r>
          </a:p>
          <a:p>
            <a:pPr marL="0" marR="0">
              <a:lnSpc>
                <a:spcPts val="2400"/>
              </a:lnSpc>
              <a:spcBef>
                <a:spcPts val="479"/>
              </a:spcBef>
              <a:spcAft>
                <a:spcPts val="0"/>
              </a:spcAft>
            </a:pPr>
            <a:r>
              <a:rPr sz="2400" spc="-10" dirty="0">
                <a:solidFill>
                  <a:srgbClr val="FF0000"/>
                </a:solidFill>
                <a:latin typeface="AAVGFJ+Calibri"/>
                <a:cs typeface="AAVGFJ+Calibri"/>
              </a:rPr>
              <a:t>terminated</a:t>
            </a:r>
            <a:r>
              <a:rPr sz="2400" spc="11" dirty="0">
                <a:solidFill>
                  <a:srgbClr val="FF0000"/>
                </a:solidFill>
                <a:latin typeface="AAVGFJ+Calibri"/>
                <a:cs typeface="AAVGFJ+Calibri"/>
              </a:rPr>
              <a:t> </a:t>
            </a:r>
            <a:r>
              <a:rPr sz="2400" spc="-16" dirty="0">
                <a:solidFill>
                  <a:srgbClr val="FF0000"/>
                </a:solidFill>
                <a:latin typeface="AAVGFJ+Calibri"/>
                <a:cs typeface="AAVGFJ+Calibri"/>
              </a:rPr>
              <a:t>by</a:t>
            </a:r>
            <a:r>
              <a:rPr sz="2400" spc="17" dirty="0">
                <a:solidFill>
                  <a:srgbClr val="FF0000"/>
                </a:solidFill>
                <a:latin typeface="AAVGFJ+Calibri"/>
                <a:cs typeface="AAVGFJ+Calibri"/>
              </a:rPr>
              <a:t> </a:t>
            </a:r>
            <a:r>
              <a:rPr sz="2400" dirty="0">
                <a:solidFill>
                  <a:srgbClr val="FF0000"/>
                </a:solidFill>
                <a:latin typeface="AAVGFJ+Calibri"/>
                <a:cs typeface="AAVGFJ+Calibri"/>
              </a:rPr>
              <a:t>a specific condition.</a:t>
            </a:r>
          </a:p>
          <a:p>
            <a:pPr marL="0" marR="0">
              <a:lnSpc>
                <a:spcPts val="2400"/>
              </a:lnSpc>
              <a:spcBef>
                <a:spcPts val="479"/>
              </a:spcBef>
              <a:spcAft>
                <a:spcPts val="0"/>
              </a:spcAft>
            </a:pPr>
            <a:r>
              <a:rPr sz="2400" spc="-28" dirty="0">
                <a:solidFill>
                  <a:srgbClr val="000000"/>
                </a:solidFill>
                <a:latin typeface="AAVGFJ+Calibri"/>
                <a:cs typeface="AAVGFJ+Calibri"/>
              </a:rPr>
              <a:t>Types</a:t>
            </a:r>
            <a:r>
              <a:rPr sz="2400" spc="31" dirty="0">
                <a:solidFill>
                  <a:srgbClr val="000000"/>
                </a:solidFill>
                <a:latin typeface="AAVGFJ+Calibri"/>
                <a:cs typeface="AAVGFJ+Calibri"/>
              </a:rPr>
              <a:t> </a:t>
            </a:r>
            <a:r>
              <a:rPr sz="2400" dirty="0">
                <a:solidFill>
                  <a:srgbClr val="000000"/>
                </a:solidFill>
                <a:latin typeface="AAVGFJ+Calibri"/>
                <a:cs typeface="AAVGFJ+Calibri"/>
              </a:rPr>
              <a:t>of Recursions:</a:t>
            </a:r>
          </a:p>
          <a:p>
            <a:pPr marL="0" marR="0">
              <a:lnSpc>
                <a:spcPts val="2400"/>
              </a:lnSpc>
              <a:spcBef>
                <a:spcPts val="480"/>
              </a:spcBef>
              <a:spcAft>
                <a:spcPts val="0"/>
              </a:spcAft>
            </a:pPr>
            <a:r>
              <a:rPr sz="2400" dirty="0">
                <a:solidFill>
                  <a:srgbClr val="FF0000"/>
                </a:solidFill>
                <a:latin typeface="AAVGFJ+Calibri"/>
                <a:cs typeface="AAVGFJ+Calibri"/>
              </a:rPr>
              <a:t>Direct</a:t>
            </a:r>
            <a:r>
              <a:rPr sz="2400" spc="11" dirty="0">
                <a:solidFill>
                  <a:srgbClr val="FF0000"/>
                </a:solidFill>
                <a:latin typeface="AAVGFJ+Calibri"/>
                <a:cs typeface="AAVGFJ+Calibri"/>
              </a:rPr>
              <a:t> </a:t>
            </a:r>
            <a:r>
              <a:rPr sz="2400" spc="-10" dirty="0">
                <a:solidFill>
                  <a:srgbClr val="FF0000"/>
                </a:solidFill>
                <a:latin typeface="AAVGFJ+Calibri"/>
                <a:cs typeface="AAVGFJ+Calibri"/>
              </a:rPr>
              <a:t>Recursion:</a:t>
            </a:r>
            <a:r>
              <a:rPr sz="2400" spc="10" dirty="0">
                <a:solidFill>
                  <a:srgbClr val="FF0000"/>
                </a:solidFill>
                <a:latin typeface="AAVGFJ+Calibri"/>
                <a:cs typeface="AAVGFJ+Calibri"/>
              </a:rPr>
              <a:t> </a:t>
            </a:r>
            <a:r>
              <a:rPr sz="2400" dirty="0">
                <a:solidFill>
                  <a:srgbClr val="000000"/>
                </a:solidFill>
                <a:latin typeface="AAVGFJ+Calibri"/>
                <a:cs typeface="AAVGFJ+Calibri"/>
              </a:rPr>
              <a:t>The function calls itself </a:t>
            </a:r>
            <a:r>
              <a:rPr sz="2400" spc="-10" dirty="0">
                <a:solidFill>
                  <a:srgbClr val="000000"/>
                </a:solidFill>
                <a:latin typeface="AAVGFJ+Calibri"/>
                <a:cs typeface="AAVGFJ+Calibri"/>
              </a:rPr>
              <a:t>repeatedly</a:t>
            </a:r>
            <a:r>
              <a:rPr sz="2400" spc="11" dirty="0">
                <a:solidFill>
                  <a:srgbClr val="000000"/>
                </a:solidFill>
                <a:latin typeface="AAVGFJ+Calibri"/>
                <a:cs typeface="AAVGFJ+Calibri"/>
              </a:rPr>
              <a:t> </a:t>
            </a:r>
            <a:r>
              <a:rPr sz="2400" dirty="0">
                <a:solidFill>
                  <a:srgbClr val="000000"/>
                </a:solidFill>
                <a:latin typeface="AAVGFJ+Calibri"/>
                <a:cs typeface="AAVGFJ+Calibri"/>
              </a:rPr>
              <a:t>until the condition is satisfied.</a:t>
            </a:r>
          </a:p>
          <a:p>
            <a:pPr marL="0" marR="0">
              <a:lnSpc>
                <a:spcPts val="2400"/>
              </a:lnSpc>
              <a:spcBef>
                <a:spcPts val="429"/>
              </a:spcBef>
              <a:spcAft>
                <a:spcPts val="0"/>
              </a:spcAft>
            </a:pPr>
            <a:r>
              <a:rPr sz="2400" dirty="0">
                <a:solidFill>
                  <a:srgbClr val="FF0000"/>
                </a:solidFill>
                <a:latin typeface="AAVGFJ+Calibri"/>
                <a:cs typeface="AAVGFJ+Calibri"/>
              </a:rPr>
              <a:t>Indirect </a:t>
            </a:r>
            <a:r>
              <a:rPr sz="2400" spc="-10" dirty="0">
                <a:solidFill>
                  <a:srgbClr val="FF0000"/>
                </a:solidFill>
                <a:latin typeface="AAVGFJ+Calibri"/>
                <a:cs typeface="AAVGFJ+Calibri"/>
              </a:rPr>
              <a:t>Recursion:</a:t>
            </a:r>
            <a:r>
              <a:rPr sz="2400" spc="10" dirty="0">
                <a:solidFill>
                  <a:srgbClr val="FF0000"/>
                </a:solidFill>
                <a:latin typeface="AAVGFJ+Calibri"/>
                <a:cs typeface="AAVGFJ+Calibri"/>
              </a:rPr>
              <a:t> </a:t>
            </a:r>
            <a:r>
              <a:rPr sz="2400" dirty="0">
                <a:solidFill>
                  <a:srgbClr val="000000"/>
                </a:solidFill>
                <a:latin typeface="AAVGFJ+Calibri"/>
                <a:cs typeface="AAVGFJ+Calibri"/>
              </a:rPr>
              <a:t>The function calls another function which eventually causes the same</a:t>
            </a:r>
          </a:p>
          <a:p>
            <a:pPr marL="0" marR="0">
              <a:lnSpc>
                <a:spcPts val="2400"/>
              </a:lnSpc>
              <a:spcBef>
                <a:spcPts val="479"/>
              </a:spcBef>
              <a:spcAft>
                <a:spcPts val="0"/>
              </a:spcAft>
            </a:pPr>
            <a:r>
              <a:rPr sz="2400" dirty="0">
                <a:solidFill>
                  <a:srgbClr val="000000"/>
                </a:solidFill>
                <a:latin typeface="AAVGFJ+Calibri"/>
                <a:cs typeface="AAVGFJ+Calibri"/>
              </a:rPr>
              <a:t>function </a:t>
            </a:r>
            <a:r>
              <a:rPr sz="2400" spc="-24" dirty="0">
                <a:solidFill>
                  <a:srgbClr val="000000"/>
                </a:solidFill>
                <a:latin typeface="AAVGFJ+Calibri"/>
                <a:cs typeface="AAVGFJ+Calibri"/>
              </a:rPr>
              <a:t>to</a:t>
            </a:r>
            <a:r>
              <a:rPr sz="2400" spc="26" dirty="0">
                <a:solidFill>
                  <a:srgbClr val="000000"/>
                </a:solidFill>
                <a:latin typeface="AAVGFJ+Calibri"/>
                <a:cs typeface="AAVGFJ+Calibri"/>
              </a:rPr>
              <a:t> </a:t>
            </a:r>
            <a:r>
              <a:rPr sz="2400" dirty="0">
                <a:solidFill>
                  <a:srgbClr val="000000"/>
                </a:solidFill>
                <a:latin typeface="AAVGFJ+Calibri"/>
                <a:cs typeface="AAVGFJ+Calibri"/>
              </a:rPr>
              <a:t>be called.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217170"/>
            <a:ext cx="6062384" cy="495300"/>
          </a:xfrm>
          <a:prstGeom prst="rect">
            <a:avLst/>
          </a:prstGeom>
        </p:spPr>
        <p:txBody>
          <a:bodyPr vert="horz" wrap="square" lIns="0" tIns="0" rIns="0" bIns="0" rtlCol="0">
            <a:spAutoFit/>
          </a:bodyPr>
          <a:lstStyle/>
          <a:p>
            <a:pPr marL="0" marR="0">
              <a:lnSpc>
                <a:spcPts val="3600"/>
              </a:lnSpc>
              <a:spcBef>
                <a:spcPts val="0"/>
              </a:spcBef>
              <a:spcAft>
                <a:spcPts val="0"/>
              </a:spcAft>
            </a:pPr>
            <a:r>
              <a:rPr sz="3600" spc="-18" dirty="0">
                <a:solidFill>
                  <a:srgbClr val="0070C0"/>
                </a:solidFill>
                <a:latin typeface="HWPIMB+Calibri-Light"/>
                <a:cs typeface="HWPIMB+Calibri-Light"/>
              </a:rPr>
              <a:t>Factorial</a:t>
            </a:r>
            <a:r>
              <a:rPr sz="3600" spc="19" dirty="0">
                <a:solidFill>
                  <a:srgbClr val="0070C0"/>
                </a:solidFill>
                <a:latin typeface="HWPIMB+Calibri-Light"/>
                <a:cs typeface="HWPIMB+Calibri-Light"/>
              </a:rPr>
              <a:t> </a:t>
            </a:r>
            <a:r>
              <a:rPr sz="3600" dirty="0">
                <a:solidFill>
                  <a:srgbClr val="0070C0"/>
                </a:solidFill>
                <a:latin typeface="HWPIMB+Calibri-Light"/>
                <a:cs typeface="HWPIMB+Calibri-Light"/>
              </a:rPr>
              <a:t>of a </a:t>
            </a:r>
            <a:r>
              <a:rPr sz="3600" spc="-11" dirty="0">
                <a:solidFill>
                  <a:srgbClr val="0070C0"/>
                </a:solidFill>
                <a:latin typeface="HWPIMB+Calibri-Light"/>
                <a:cs typeface="HWPIMB+Calibri-Light"/>
              </a:rPr>
              <a:t>Number-Recursion</a:t>
            </a:r>
          </a:p>
        </p:txBody>
      </p:sp>
      <p:sp>
        <p:nvSpPr>
          <p:cNvPr id="4" name="object 4"/>
          <p:cNvSpPr txBox="1"/>
          <p:nvPr/>
        </p:nvSpPr>
        <p:spPr>
          <a:xfrm>
            <a:off x="203619" y="998004"/>
            <a:ext cx="11050759" cy="180594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000000"/>
                </a:solidFill>
                <a:latin typeface="AAVGFJ+Calibri"/>
                <a:cs typeface="AAVGFJ+Calibri"/>
              </a:rPr>
              <a:t>Factorial</a:t>
            </a:r>
            <a:r>
              <a:rPr sz="2400" spc="13" dirty="0">
                <a:solidFill>
                  <a:srgbClr val="000000"/>
                </a:solidFill>
                <a:latin typeface="AAVGFJ+Calibri"/>
                <a:cs typeface="AAVGFJ+Calibri"/>
              </a:rPr>
              <a:t> </a:t>
            </a:r>
            <a:r>
              <a:rPr sz="2400" dirty="0">
                <a:solidFill>
                  <a:srgbClr val="000000"/>
                </a:solidFill>
                <a:latin typeface="AAVGFJ+Calibri"/>
                <a:cs typeface="AAVGFJ+Calibri"/>
              </a:rPr>
              <a:t>of a positive </a:t>
            </a:r>
            <a:r>
              <a:rPr sz="2400" spc="-12" dirty="0">
                <a:solidFill>
                  <a:srgbClr val="000000"/>
                </a:solidFill>
                <a:latin typeface="AAVGFJ+Calibri"/>
                <a:cs typeface="AAVGFJ+Calibri"/>
              </a:rPr>
              <a:t>integer</a:t>
            </a:r>
            <a:r>
              <a:rPr sz="2400" spc="13" dirty="0">
                <a:solidFill>
                  <a:srgbClr val="000000"/>
                </a:solidFill>
                <a:latin typeface="AAVGFJ+Calibri"/>
                <a:cs typeface="AAVGFJ+Calibri"/>
              </a:rPr>
              <a:t> </a:t>
            </a:r>
            <a:r>
              <a:rPr sz="2400" dirty="0">
                <a:solidFill>
                  <a:srgbClr val="000000"/>
                </a:solidFill>
                <a:latin typeface="AAVGFJ+Calibri"/>
                <a:cs typeface="AAVGFJ+Calibri"/>
              </a:rPr>
              <a:t>n is defined as the product</a:t>
            </a:r>
            <a:r>
              <a:rPr sz="2400" spc="11" dirty="0">
                <a:solidFill>
                  <a:srgbClr val="000000"/>
                </a:solidFill>
                <a:latin typeface="AAVGFJ+Calibri"/>
                <a:cs typeface="AAVGFJ+Calibri"/>
              </a:rPr>
              <a:t> </a:t>
            </a:r>
            <a:r>
              <a:rPr sz="2400" dirty="0">
                <a:solidFill>
                  <a:srgbClr val="000000"/>
                </a:solidFill>
                <a:latin typeface="AAVGFJ+Calibri"/>
                <a:cs typeface="AAVGFJ+Calibri"/>
              </a:rPr>
              <a:t>of all </a:t>
            </a:r>
            <a:r>
              <a:rPr sz="2400" spc="-17" dirty="0">
                <a:solidFill>
                  <a:srgbClr val="000000"/>
                </a:solidFill>
                <a:latin typeface="AAVGFJ+Calibri"/>
                <a:cs typeface="AAVGFJ+Calibri"/>
              </a:rPr>
              <a:t>integers</a:t>
            </a:r>
            <a:r>
              <a:rPr sz="2400" spc="21" dirty="0">
                <a:solidFill>
                  <a:srgbClr val="000000"/>
                </a:solidFill>
                <a:latin typeface="AAVGFJ+Calibri"/>
                <a:cs typeface="AAVGFJ+Calibri"/>
              </a:rPr>
              <a:t> </a:t>
            </a:r>
            <a:r>
              <a:rPr sz="2400" dirty="0">
                <a:solidFill>
                  <a:srgbClr val="000000"/>
                </a:solidFill>
                <a:latin typeface="AAVGFJ+Calibri"/>
                <a:cs typeface="AAVGFJ+Calibri"/>
              </a:rPr>
              <a:t>between n and 1,</a:t>
            </a:r>
          </a:p>
          <a:p>
            <a:pPr marL="0" marR="0">
              <a:lnSpc>
                <a:spcPts val="2400"/>
              </a:lnSpc>
              <a:spcBef>
                <a:spcPts val="479"/>
              </a:spcBef>
              <a:spcAft>
                <a:spcPts val="0"/>
              </a:spcAft>
            </a:pPr>
            <a:r>
              <a:rPr sz="2400" dirty="0">
                <a:solidFill>
                  <a:srgbClr val="000000"/>
                </a:solidFill>
                <a:latin typeface="AAVGFJ+Calibri"/>
                <a:cs typeface="AAVGFJ+Calibri"/>
              </a:rPr>
              <a:t>denoted </a:t>
            </a:r>
            <a:r>
              <a:rPr sz="2400" spc="-16" dirty="0">
                <a:solidFill>
                  <a:srgbClr val="000000"/>
                </a:solidFill>
                <a:latin typeface="AAVGFJ+Calibri"/>
                <a:cs typeface="AAVGFJ+Calibri"/>
              </a:rPr>
              <a:t>by</a:t>
            </a:r>
            <a:r>
              <a:rPr sz="2400" spc="17" dirty="0">
                <a:solidFill>
                  <a:srgbClr val="000000"/>
                </a:solidFill>
                <a:latin typeface="AAVGFJ+Calibri"/>
                <a:cs typeface="AAVGFJ+Calibri"/>
              </a:rPr>
              <a:t> </a:t>
            </a:r>
            <a:r>
              <a:rPr sz="2400" dirty="0">
                <a:solidFill>
                  <a:srgbClr val="000000"/>
                </a:solidFill>
                <a:latin typeface="AAVGFJ+Calibri"/>
                <a:cs typeface="AAVGFJ+Calibri"/>
              </a:rPr>
              <a:t>!.</a:t>
            </a:r>
          </a:p>
          <a:p>
            <a:pPr marL="0" marR="0">
              <a:lnSpc>
                <a:spcPts val="2400"/>
              </a:lnSpc>
              <a:spcBef>
                <a:spcPts val="479"/>
              </a:spcBef>
              <a:spcAft>
                <a:spcPts val="0"/>
              </a:spcAft>
            </a:pPr>
            <a:r>
              <a:rPr sz="2400" dirty="0">
                <a:solidFill>
                  <a:srgbClr val="000000"/>
                </a:solidFill>
                <a:latin typeface="AAVGFJ+Calibri"/>
                <a:cs typeface="AAVGFJ+Calibri"/>
              </a:rPr>
              <a:t>In </a:t>
            </a:r>
            <a:r>
              <a:rPr sz="2400" spc="-10" dirty="0">
                <a:solidFill>
                  <a:srgbClr val="000000"/>
                </a:solidFill>
                <a:latin typeface="AAVGFJ+Calibri"/>
                <a:cs typeface="AAVGFJ+Calibri"/>
              </a:rPr>
              <a:t>general,</a:t>
            </a:r>
            <a:r>
              <a:rPr sz="2400" spc="14" dirty="0">
                <a:solidFill>
                  <a:srgbClr val="000000"/>
                </a:solidFill>
                <a:latin typeface="AAVGFJ+Calibri"/>
                <a:cs typeface="AAVGFJ+Calibri"/>
              </a:rPr>
              <a:t> </a:t>
            </a:r>
            <a:r>
              <a:rPr sz="2400" dirty="0">
                <a:solidFill>
                  <a:srgbClr val="000000"/>
                </a:solidFill>
                <a:latin typeface="AAVGFJ+Calibri"/>
                <a:cs typeface="AAVGFJ+Calibri"/>
              </a:rPr>
              <a:t>if</a:t>
            </a:r>
            <a:r>
              <a:rPr sz="2400" spc="1636" dirty="0">
                <a:solidFill>
                  <a:srgbClr val="000000"/>
                </a:solidFill>
                <a:latin typeface="AAVGFJ+Calibri"/>
                <a:cs typeface="AAVGFJ+Calibri"/>
              </a:rPr>
              <a:t> </a:t>
            </a:r>
            <a:r>
              <a:rPr sz="2400" dirty="0">
                <a:solidFill>
                  <a:srgbClr val="000000"/>
                </a:solidFill>
                <a:latin typeface="AAVGFJ+Calibri"/>
                <a:cs typeface="AAVGFJ+Calibri"/>
              </a:rPr>
              <a:t>n = 0 the n! = 1</a:t>
            </a:r>
          </a:p>
          <a:p>
            <a:pPr marL="1661159" marR="0">
              <a:lnSpc>
                <a:spcPts val="2400"/>
              </a:lnSpc>
              <a:spcBef>
                <a:spcPts val="430"/>
              </a:spcBef>
              <a:spcAft>
                <a:spcPts val="0"/>
              </a:spcAft>
            </a:pPr>
            <a:r>
              <a:rPr sz="2400" dirty="0">
                <a:solidFill>
                  <a:srgbClr val="000000"/>
                </a:solidFill>
                <a:latin typeface="AAVGFJ+Calibri"/>
                <a:cs typeface="AAVGFJ+Calibri"/>
              </a:rPr>
              <a:t>n &gt; 0 the n! = n * (n-1)!</a:t>
            </a:r>
          </a:p>
          <a:p>
            <a:pPr marL="3114673" marR="0">
              <a:lnSpc>
                <a:spcPts val="2400"/>
              </a:lnSpc>
              <a:spcBef>
                <a:spcPts val="480"/>
              </a:spcBef>
              <a:spcAft>
                <a:spcPts val="0"/>
              </a:spcAft>
            </a:pPr>
            <a:r>
              <a:rPr sz="2400" dirty="0">
                <a:solidFill>
                  <a:srgbClr val="000000"/>
                </a:solidFill>
                <a:latin typeface="AAVGFJ+Calibri"/>
                <a:cs typeface="AAVGFJ+Calibri"/>
              </a:rPr>
              <a:t>i.e.) n*(n-1) * (n-2) * ……. *1</a:t>
            </a:r>
          </a:p>
        </p:txBody>
      </p:sp>
      <p:sp>
        <p:nvSpPr>
          <p:cNvPr id="5" name="object 5"/>
          <p:cNvSpPr txBox="1"/>
          <p:nvPr/>
        </p:nvSpPr>
        <p:spPr>
          <a:xfrm>
            <a:off x="203619" y="3192564"/>
            <a:ext cx="2742842"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4" dirty="0">
                <a:solidFill>
                  <a:srgbClr val="FF0000"/>
                </a:solidFill>
                <a:latin typeface="AAVGFJ+Calibri"/>
                <a:cs typeface="AAVGFJ+Calibri"/>
              </a:rPr>
              <a:t>Recursive</a:t>
            </a:r>
            <a:r>
              <a:rPr sz="2400" spc="17" dirty="0">
                <a:solidFill>
                  <a:srgbClr val="FF0000"/>
                </a:solidFill>
                <a:latin typeface="AAVGFJ+Calibri"/>
                <a:cs typeface="AAVGFJ+Calibri"/>
              </a:rPr>
              <a:t> </a:t>
            </a:r>
            <a:r>
              <a:rPr sz="2400" dirty="0">
                <a:solidFill>
                  <a:srgbClr val="FF0000"/>
                </a:solidFill>
                <a:latin typeface="AAVGFJ+Calibri"/>
                <a:cs typeface="AAVGFJ+Calibri"/>
              </a:rPr>
              <a:t>definition :</a:t>
            </a:r>
          </a:p>
        </p:txBody>
      </p:sp>
      <p:sp>
        <p:nvSpPr>
          <p:cNvPr id="6" name="object 6"/>
          <p:cNvSpPr txBox="1"/>
          <p:nvPr/>
        </p:nvSpPr>
        <p:spPr>
          <a:xfrm>
            <a:off x="3525938" y="3558324"/>
            <a:ext cx="306883"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1</a:t>
            </a:r>
          </a:p>
        </p:txBody>
      </p:sp>
      <p:sp>
        <p:nvSpPr>
          <p:cNvPr id="7" name="object 7"/>
          <p:cNvSpPr txBox="1"/>
          <p:nvPr/>
        </p:nvSpPr>
        <p:spPr>
          <a:xfrm>
            <a:off x="6033558" y="3558324"/>
            <a:ext cx="1025703"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if N = 0</a:t>
            </a:r>
          </a:p>
        </p:txBody>
      </p:sp>
      <p:sp>
        <p:nvSpPr>
          <p:cNvPr id="8" name="object 8"/>
          <p:cNvSpPr txBox="1"/>
          <p:nvPr/>
        </p:nvSpPr>
        <p:spPr>
          <a:xfrm>
            <a:off x="1034199" y="3924084"/>
            <a:ext cx="1883449"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000000"/>
                </a:solidFill>
                <a:latin typeface="AAVGFJ+Calibri"/>
                <a:cs typeface="AAVGFJ+Calibri"/>
              </a:rPr>
              <a:t>Factorial</a:t>
            </a:r>
            <a:r>
              <a:rPr sz="2400" spc="13" dirty="0">
                <a:solidFill>
                  <a:srgbClr val="000000"/>
                </a:solidFill>
                <a:latin typeface="AAVGFJ+Calibri"/>
                <a:cs typeface="AAVGFJ+Calibri"/>
              </a:rPr>
              <a:t> </a:t>
            </a:r>
            <a:r>
              <a:rPr sz="2400" dirty="0">
                <a:solidFill>
                  <a:srgbClr val="000000"/>
                </a:solidFill>
                <a:latin typeface="AAVGFJ+Calibri"/>
                <a:cs typeface="AAVGFJ+Calibri"/>
              </a:rPr>
              <a:t>(N) =</a:t>
            </a:r>
          </a:p>
        </p:txBody>
      </p:sp>
      <p:sp>
        <p:nvSpPr>
          <p:cNvPr id="9" name="object 9"/>
          <p:cNvSpPr txBox="1"/>
          <p:nvPr/>
        </p:nvSpPr>
        <p:spPr>
          <a:xfrm>
            <a:off x="3525938" y="4655604"/>
            <a:ext cx="3914667"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000000"/>
                </a:solidFill>
                <a:latin typeface="AAVGFJ+Calibri"/>
                <a:cs typeface="AAVGFJ+Calibri"/>
              </a:rPr>
              <a:t>N * </a:t>
            </a:r>
            <a:r>
              <a:rPr sz="2400" spc="-11" dirty="0">
                <a:solidFill>
                  <a:srgbClr val="000000"/>
                </a:solidFill>
                <a:latin typeface="AAVGFJ+Calibri"/>
                <a:cs typeface="AAVGFJ+Calibri"/>
              </a:rPr>
              <a:t>Factorial</a:t>
            </a:r>
            <a:r>
              <a:rPr sz="2400" spc="13" dirty="0">
                <a:solidFill>
                  <a:srgbClr val="000000"/>
                </a:solidFill>
                <a:latin typeface="AAVGFJ+Calibri"/>
                <a:cs typeface="AAVGFJ+Calibri"/>
              </a:rPr>
              <a:t> </a:t>
            </a:r>
            <a:r>
              <a:rPr sz="2400" dirty="0">
                <a:solidFill>
                  <a:srgbClr val="000000"/>
                </a:solidFill>
                <a:latin typeface="AAVGFJ+Calibri"/>
                <a:cs typeface="AAVGFJ+Calibri"/>
              </a:rPr>
              <a:t>(N-1)</a:t>
            </a:r>
            <a:r>
              <a:rPr sz="2400" spc="1639" dirty="0">
                <a:solidFill>
                  <a:srgbClr val="000000"/>
                </a:solidFill>
                <a:latin typeface="AAVGFJ+Calibri"/>
                <a:cs typeface="AAVGFJ+Calibri"/>
              </a:rPr>
              <a:t> </a:t>
            </a:r>
            <a:r>
              <a:rPr sz="2400" dirty="0">
                <a:solidFill>
                  <a:srgbClr val="000000"/>
                </a:solidFill>
                <a:latin typeface="AAVGFJ+Calibri"/>
                <a:cs typeface="AAVGFJ+Calibri"/>
              </a:rPr>
              <a:t>otherwise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440" y="262890"/>
            <a:ext cx="6062384" cy="495300"/>
          </a:xfrm>
          <a:prstGeom prst="rect">
            <a:avLst/>
          </a:prstGeom>
        </p:spPr>
        <p:txBody>
          <a:bodyPr vert="horz" wrap="square" lIns="0" tIns="0" rIns="0" bIns="0" rtlCol="0">
            <a:spAutoFit/>
          </a:bodyPr>
          <a:lstStyle/>
          <a:p>
            <a:pPr marL="0" marR="0">
              <a:lnSpc>
                <a:spcPts val="3600"/>
              </a:lnSpc>
              <a:spcBef>
                <a:spcPts val="0"/>
              </a:spcBef>
              <a:spcAft>
                <a:spcPts val="0"/>
              </a:spcAft>
            </a:pPr>
            <a:r>
              <a:rPr sz="3600" spc="-18" dirty="0">
                <a:solidFill>
                  <a:srgbClr val="0070C0"/>
                </a:solidFill>
                <a:latin typeface="HWPIMB+Calibri-Light"/>
                <a:cs typeface="HWPIMB+Calibri-Light"/>
              </a:rPr>
              <a:t>Factorial</a:t>
            </a:r>
            <a:r>
              <a:rPr sz="3600" spc="19" dirty="0">
                <a:solidFill>
                  <a:srgbClr val="0070C0"/>
                </a:solidFill>
                <a:latin typeface="HWPIMB+Calibri-Light"/>
                <a:cs typeface="HWPIMB+Calibri-Light"/>
              </a:rPr>
              <a:t> </a:t>
            </a:r>
            <a:r>
              <a:rPr sz="3600" dirty="0">
                <a:solidFill>
                  <a:srgbClr val="0070C0"/>
                </a:solidFill>
                <a:latin typeface="HWPIMB+Calibri-Light"/>
                <a:cs typeface="HWPIMB+Calibri-Light"/>
              </a:rPr>
              <a:t>of a </a:t>
            </a:r>
            <a:r>
              <a:rPr sz="3600" spc="-11" dirty="0">
                <a:solidFill>
                  <a:srgbClr val="0070C0"/>
                </a:solidFill>
                <a:latin typeface="HWPIMB+Calibri-Light"/>
                <a:cs typeface="HWPIMB+Calibri-Light"/>
              </a:rPr>
              <a:t>Number-Recursion</a:t>
            </a:r>
          </a:p>
        </p:txBody>
      </p:sp>
      <p:sp>
        <p:nvSpPr>
          <p:cNvPr id="4" name="object 4"/>
          <p:cNvSpPr txBox="1"/>
          <p:nvPr/>
        </p:nvSpPr>
        <p:spPr>
          <a:xfrm>
            <a:off x="231140" y="1038802"/>
            <a:ext cx="4996738" cy="1511935"/>
          </a:xfrm>
          <a:prstGeom prst="rect">
            <a:avLst/>
          </a:prstGeom>
        </p:spPr>
        <p:txBody>
          <a:bodyPr vert="horz" wrap="square" lIns="0" tIns="0" rIns="0" bIns="0" rtlCol="0">
            <a:spAutoFit/>
          </a:bodyPr>
          <a:lstStyle/>
          <a:p>
            <a:pPr marL="0" marR="0">
              <a:lnSpc>
                <a:spcPts val="2005"/>
              </a:lnSpc>
              <a:spcBef>
                <a:spcPts val="0"/>
              </a:spcBef>
              <a:spcAft>
                <a:spcPts val="0"/>
              </a:spcAft>
            </a:pPr>
            <a:r>
              <a:rPr sz="2000" spc="-11" dirty="0">
                <a:solidFill>
                  <a:srgbClr val="0070C0"/>
                </a:solidFill>
                <a:latin typeface="AAVGFJ+Calibri"/>
                <a:cs typeface="AAVGFJ+Calibri"/>
              </a:rPr>
              <a:t>/*Program</a:t>
            </a:r>
            <a:r>
              <a:rPr sz="2000" spc="11" dirty="0">
                <a:solidFill>
                  <a:srgbClr val="0070C0"/>
                </a:solidFill>
                <a:latin typeface="AAVGFJ+Calibri"/>
                <a:cs typeface="AAVGFJ+Calibri"/>
              </a:rPr>
              <a:t> </a:t>
            </a:r>
            <a:r>
              <a:rPr sz="2000" spc="-20" dirty="0">
                <a:solidFill>
                  <a:srgbClr val="0070C0"/>
                </a:solidFill>
                <a:latin typeface="AAVGFJ+Calibri"/>
                <a:cs typeface="AAVGFJ+Calibri"/>
              </a:rPr>
              <a:t>to</a:t>
            </a:r>
            <a:r>
              <a:rPr sz="2000" spc="18" dirty="0">
                <a:solidFill>
                  <a:srgbClr val="0070C0"/>
                </a:solidFill>
                <a:latin typeface="AAVGFJ+Calibri"/>
                <a:cs typeface="AAVGFJ+Calibri"/>
              </a:rPr>
              <a:t> </a:t>
            </a:r>
            <a:r>
              <a:rPr sz="2000" dirty="0">
                <a:solidFill>
                  <a:srgbClr val="0070C0"/>
                </a:solidFill>
                <a:latin typeface="AAVGFJ+Calibri"/>
                <a:cs typeface="AAVGFJ+Calibri"/>
              </a:rPr>
              <a:t>find the Factorial of a number .*/</a:t>
            </a:r>
          </a:p>
          <a:p>
            <a:pPr marL="0" marR="0">
              <a:lnSpc>
                <a:spcPts val="2005"/>
              </a:lnSpc>
              <a:spcBef>
                <a:spcPts val="394"/>
              </a:spcBef>
              <a:spcAft>
                <a:spcPts val="0"/>
              </a:spcAft>
            </a:pPr>
            <a:r>
              <a:rPr sz="2000" dirty="0">
                <a:solidFill>
                  <a:srgbClr val="0070C0"/>
                </a:solidFill>
                <a:latin typeface="AAVGFJ+Calibri"/>
                <a:cs typeface="AAVGFJ+Calibri"/>
              </a:rPr>
              <a:t>#include&lt;stdio.h&gt;</a:t>
            </a:r>
          </a:p>
          <a:p>
            <a:pPr marL="0" marR="0">
              <a:lnSpc>
                <a:spcPts val="2005"/>
              </a:lnSpc>
              <a:spcBef>
                <a:spcPts val="394"/>
              </a:spcBef>
              <a:spcAft>
                <a:spcPts val="0"/>
              </a:spcAft>
            </a:pPr>
            <a:r>
              <a:rPr sz="2000" spc="-10" dirty="0">
                <a:solidFill>
                  <a:srgbClr val="0070C0"/>
                </a:solidFill>
                <a:latin typeface="AAVGFJ+Calibri"/>
                <a:cs typeface="AAVGFJ+Calibri"/>
              </a:rPr>
              <a:t>int</a:t>
            </a:r>
            <a:r>
              <a:rPr sz="2000" dirty="0">
                <a:solidFill>
                  <a:srgbClr val="0070C0"/>
                </a:solidFill>
                <a:latin typeface="AAVGFJ+Calibri"/>
                <a:cs typeface="AAVGFJ+Calibri"/>
              </a:rPr>
              <a:t> fact(int);</a:t>
            </a:r>
          </a:p>
          <a:p>
            <a:pPr marL="0" marR="0">
              <a:lnSpc>
                <a:spcPts val="2005"/>
              </a:lnSpc>
              <a:spcBef>
                <a:spcPts val="394"/>
              </a:spcBef>
              <a:spcAft>
                <a:spcPts val="0"/>
              </a:spcAft>
            </a:pPr>
            <a:r>
              <a:rPr sz="2000" dirty="0">
                <a:solidFill>
                  <a:srgbClr val="0070C0"/>
                </a:solidFill>
                <a:latin typeface="AAVGFJ+Calibri"/>
                <a:cs typeface="AAVGFJ+Calibri"/>
              </a:rPr>
              <a:t>void main()</a:t>
            </a:r>
          </a:p>
          <a:p>
            <a:pPr marL="0" marR="0">
              <a:lnSpc>
                <a:spcPts val="2005"/>
              </a:lnSpc>
              <a:spcBef>
                <a:spcPts val="394"/>
              </a:spcBef>
              <a:spcAft>
                <a:spcPts val="0"/>
              </a:spcAft>
            </a:pPr>
            <a:r>
              <a:rPr sz="2000" dirty="0">
                <a:solidFill>
                  <a:srgbClr val="0070C0"/>
                </a:solidFill>
                <a:latin typeface="AAVGFJ+Calibri"/>
                <a:cs typeface="AAVGFJ+Calibri"/>
              </a:rPr>
              <a:t>{</a:t>
            </a:r>
          </a:p>
        </p:txBody>
      </p:sp>
      <p:sp>
        <p:nvSpPr>
          <p:cNvPr id="5" name="object 5"/>
          <p:cNvSpPr txBox="1"/>
          <p:nvPr/>
        </p:nvSpPr>
        <p:spPr>
          <a:xfrm>
            <a:off x="6155690" y="1072095"/>
            <a:ext cx="2417692" cy="1805940"/>
          </a:xfrm>
          <a:prstGeom prst="rect">
            <a:avLst/>
          </a:prstGeom>
        </p:spPr>
        <p:txBody>
          <a:bodyPr vert="horz" wrap="square" lIns="0" tIns="0" rIns="0" bIns="0" rtlCol="0">
            <a:spAutoFit/>
          </a:bodyPr>
          <a:lstStyle/>
          <a:p>
            <a:pPr marL="0" marR="0">
              <a:lnSpc>
                <a:spcPts val="2400"/>
              </a:lnSpc>
              <a:spcBef>
                <a:spcPts val="0"/>
              </a:spcBef>
              <a:spcAft>
                <a:spcPts val="0"/>
              </a:spcAft>
            </a:pPr>
            <a:r>
              <a:rPr sz="2400" spc="-11" dirty="0">
                <a:solidFill>
                  <a:srgbClr val="FF0000"/>
                </a:solidFill>
                <a:latin typeface="AAVGFJ+Calibri"/>
                <a:cs typeface="AAVGFJ+Calibri"/>
              </a:rPr>
              <a:t>/*fact</a:t>
            </a:r>
            <a:r>
              <a:rPr sz="2400" spc="14" dirty="0">
                <a:solidFill>
                  <a:srgbClr val="FF0000"/>
                </a:solidFill>
                <a:latin typeface="AAVGFJ+Calibri"/>
                <a:cs typeface="AAVGFJ+Calibri"/>
              </a:rPr>
              <a:t> </a:t>
            </a:r>
            <a:r>
              <a:rPr sz="2400" dirty="0">
                <a:solidFill>
                  <a:srgbClr val="FF0000"/>
                </a:solidFill>
                <a:latin typeface="AAVGFJ+Calibri"/>
                <a:cs typeface="AAVGFJ+Calibri"/>
              </a:rPr>
              <a:t>definition*/</a:t>
            </a:r>
          </a:p>
          <a:p>
            <a:pPr marL="0" marR="0">
              <a:lnSpc>
                <a:spcPts val="2400"/>
              </a:lnSpc>
              <a:spcBef>
                <a:spcPts val="479"/>
              </a:spcBef>
              <a:spcAft>
                <a:spcPts val="0"/>
              </a:spcAft>
            </a:pPr>
            <a:r>
              <a:rPr sz="2400" spc="-13" dirty="0">
                <a:solidFill>
                  <a:srgbClr val="FF0000"/>
                </a:solidFill>
                <a:latin typeface="AAVGFJ+Calibri"/>
                <a:cs typeface="AAVGFJ+Calibri"/>
              </a:rPr>
              <a:t>int</a:t>
            </a:r>
            <a:r>
              <a:rPr sz="2400" spc="17" dirty="0">
                <a:solidFill>
                  <a:srgbClr val="FF0000"/>
                </a:solidFill>
                <a:latin typeface="AAVGFJ+Calibri"/>
                <a:cs typeface="AAVGFJ+Calibri"/>
              </a:rPr>
              <a:t> </a:t>
            </a:r>
            <a:r>
              <a:rPr sz="2400" spc="-11" dirty="0">
                <a:solidFill>
                  <a:srgbClr val="FF0000"/>
                </a:solidFill>
                <a:latin typeface="AAVGFJ+Calibri"/>
                <a:cs typeface="AAVGFJ+Calibri"/>
              </a:rPr>
              <a:t>fact(int</a:t>
            </a:r>
            <a:r>
              <a:rPr sz="2400" spc="14" dirty="0">
                <a:solidFill>
                  <a:srgbClr val="FF0000"/>
                </a:solidFill>
                <a:latin typeface="AAVGFJ+Calibri"/>
                <a:cs typeface="AAVGFJ+Calibri"/>
              </a:rPr>
              <a:t> </a:t>
            </a:r>
            <a:r>
              <a:rPr sz="2400" dirty="0">
                <a:solidFill>
                  <a:srgbClr val="FF0000"/>
                </a:solidFill>
                <a:latin typeface="AAVGFJ+Calibri"/>
                <a:cs typeface="AAVGFJ+Calibri"/>
              </a:rPr>
              <a:t>n)</a:t>
            </a:r>
          </a:p>
          <a:p>
            <a:pPr marL="0" marR="0">
              <a:lnSpc>
                <a:spcPts val="2400"/>
              </a:lnSpc>
              <a:spcBef>
                <a:spcPts val="480"/>
              </a:spcBef>
              <a:spcAft>
                <a:spcPts val="0"/>
              </a:spcAft>
            </a:pPr>
            <a:r>
              <a:rPr sz="2400" dirty="0">
                <a:solidFill>
                  <a:srgbClr val="FF0000"/>
                </a:solidFill>
                <a:latin typeface="AAVGFJ+Calibri"/>
                <a:cs typeface="AAVGFJ+Calibri"/>
              </a:rPr>
              <a:t>{</a:t>
            </a:r>
          </a:p>
          <a:p>
            <a:pPr marL="0" marR="0">
              <a:lnSpc>
                <a:spcPts val="2400"/>
              </a:lnSpc>
              <a:spcBef>
                <a:spcPts val="430"/>
              </a:spcBef>
              <a:spcAft>
                <a:spcPts val="0"/>
              </a:spcAft>
            </a:pPr>
            <a:r>
              <a:rPr sz="2400" spc="-13" dirty="0">
                <a:solidFill>
                  <a:srgbClr val="FF0000"/>
                </a:solidFill>
                <a:latin typeface="AAVGFJ+Calibri"/>
                <a:cs typeface="AAVGFJ+Calibri"/>
              </a:rPr>
              <a:t>int</a:t>
            </a:r>
            <a:r>
              <a:rPr sz="2400" spc="17" dirty="0">
                <a:solidFill>
                  <a:srgbClr val="FF0000"/>
                </a:solidFill>
                <a:latin typeface="AAVGFJ+Calibri"/>
                <a:cs typeface="AAVGFJ+Calibri"/>
              </a:rPr>
              <a:t> </a:t>
            </a:r>
            <a:r>
              <a:rPr sz="2400" dirty="0">
                <a:solidFill>
                  <a:srgbClr val="FF0000"/>
                </a:solidFill>
                <a:latin typeface="AAVGFJ+Calibri"/>
                <a:cs typeface="AAVGFJ+Calibri"/>
              </a:rPr>
              <a:t>value=1;</a:t>
            </a:r>
          </a:p>
          <a:p>
            <a:pPr marL="0" marR="0">
              <a:lnSpc>
                <a:spcPts val="2400"/>
              </a:lnSpc>
              <a:spcBef>
                <a:spcPts val="479"/>
              </a:spcBef>
              <a:spcAft>
                <a:spcPts val="0"/>
              </a:spcAft>
            </a:pPr>
            <a:r>
              <a:rPr sz="2400" dirty="0">
                <a:solidFill>
                  <a:srgbClr val="FF0000"/>
                </a:solidFill>
                <a:latin typeface="AAVGFJ+Calibri"/>
                <a:cs typeface="AAVGFJ+Calibri"/>
              </a:rPr>
              <a:t>if(n==0)</a:t>
            </a:r>
          </a:p>
        </p:txBody>
      </p:sp>
      <p:sp>
        <p:nvSpPr>
          <p:cNvPr id="6" name="object 6"/>
          <p:cNvSpPr txBox="1"/>
          <p:nvPr/>
        </p:nvSpPr>
        <p:spPr>
          <a:xfrm>
            <a:off x="231140" y="2562802"/>
            <a:ext cx="1021904"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spc="-10" dirty="0">
                <a:solidFill>
                  <a:srgbClr val="0070C0"/>
                </a:solidFill>
                <a:latin typeface="AAVGFJ+Calibri"/>
                <a:cs typeface="AAVGFJ+Calibri"/>
              </a:rPr>
              <a:t>int</a:t>
            </a:r>
            <a:r>
              <a:rPr sz="2000" dirty="0">
                <a:solidFill>
                  <a:srgbClr val="0070C0"/>
                </a:solidFill>
                <a:latin typeface="AAVGFJ+Calibri"/>
                <a:cs typeface="AAVGFJ+Calibri"/>
              </a:rPr>
              <a:t> num;</a:t>
            </a:r>
          </a:p>
        </p:txBody>
      </p:sp>
      <p:sp>
        <p:nvSpPr>
          <p:cNvPr id="7" name="object 7"/>
          <p:cNvSpPr txBox="1"/>
          <p:nvPr/>
        </p:nvSpPr>
        <p:spPr>
          <a:xfrm>
            <a:off x="231140" y="2867602"/>
            <a:ext cx="3210114" cy="9023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70C0"/>
                </a:solidFill>
                <a:latin typeface="AAVGFJ+Calibri"/>
                <a:cs typeface="AAVGFJ+Calibri"/>
              </a:rPr>
              <a:t>printf("Enter the number\n");</a:t>
            </a:r>
          </a:p>
          <a:p>
            <a:pPr marL="0" marR="0">
              <a:lnSpc>
                <a:spcPts val="2005"/>
              </a:lnSpc>
              <a:spcBef>
                <a:spcPts val="394"/>
              </a:spcBef>
              <a:spcAft>
                <a:spcPts val="0"/>
              </a:spcAft>
            </a:pPr>
            <a:r>
              <a:rPr sz="2000" dirty="0">
                <a:solidFill>
                  <a:srgbClr val="0070C0"/>
                </a:solidFill>
                <a:latin typeface="AAVGFJ+Calibri"/>
                <a:cs typeface="AAVGFJ+Calibri"/>
              </a:rPr>
              <a:t>scanf("%d",&amp;num);</a:t>
            </a:r>
          </a:p>
          <a:p>
            <a:pPr marL="0" marR="0">
              <a:lnSpc>
                <a:spcPts val="2005"/>
              </a:lnSpc>
              <a:spcBef>
                <a:spcPts val="395"/>
              </a:spcBef>
              <a:spcAft>
                <a:spcPts val="0"/>
              </a:spcAft>
            </a:pPr>
            <a:r>
              <a:rPr sz="2000" dirty="0">
                <a:solidFill>
                  <a:srgbClr val="0070C0"/>
                </a:solidFill>
                <a:latin typeface="AAVGFJ+Calibri"/>
                <a:cs typeface="AAVGFJ+Calibri"/>
              </a:rPr>
              <a:t>if(num&lt;0)</a:t>
            </a:r>
          </a:p>
        </p:txBody>
      </p:sp>
      <p:sp>
        <p:nvSpPr>
          <p:cNvPr id="8" name="object 8"/>
          <p:cNvSpPr txBox="1"/>
          <p:nvPr/>
        </p:nvSpPr>
        <p:spPr>
          <a:xfrm>
            <a:off x="7678423" y="2900895"/>
            <a:ext cx="1870769"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return(value);</a:t>
            </a:r>
          </a:p>
        </p:txBody>
      </p:sp>
      <p:sp>
        <p:nvSpPr>
          <p:cNvPr id="9" name="object 9"/>
          <p:cNvSpPr txBox="1"/>
          <p:nvPr/>
        </p:nvSpPr>
        <p:spPr>
          <a:xfrm>
            <a:off x="6155690" y="3266656"/>
            <a:ext cx="645050"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else</a:t>
            </a:r>
          </a:p>
        </p:txBody>
      </p:sp>
      <p:sp>
        <p:nvSpPr>
          <p:cNvPr id="10" name="object 10"/>
          <p:cNvSpPr txBox="1"/>
          <p:nvPr/>
        </p:nvSpPr>
        <p:spPr>
          <a:xfrm>
            <a:off x="7470778" y="3632416"/>
            <a:ext cx="2425898" cy="34290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value=n*fact(n-1);</a:t>
            </a:r>
          </a:p>
        </p:txBody>
      </p:sp>
      <p:sp>
        <p:nvSpPr>
          <p:cNvPr id="11" name="object 11"/>
          <p:cNvSpPr txBox="1"/>
          <p:nvPr/>
        </p:nvSpPr>
        <p:spPr>
          <a:xfrm>
            <a:off x="688340" y="3782002"/>
            <a:ext cx="2658935"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70C0"/>
                </a:solidFill>
                <a:latin typeface="AAVGFJ+Calibri"/>
                <a:cs typeface="AAVGFJ+Calibri"/>
              </a:rPr>
              <a:t>printf("Invalid input\n");</a:t>
            </a:r>
          </a:p>
        </p:txBody>
      </p:sp>
      <p:sp>
        <p:nvSpPr>
          <p:cNvPr id="12" name="object 12"/>
          <p:cNvSpPr txBox="1"/>
          <p:nvPr/>
        </p:nvSpPr>
        <p:spPr>
          <a:xfrm>
            <a:off x="6155690" y="4363936"/>
            <a:ext cx="1870769" cy="1074420"/>
          </a:xfrm>
          <a:prstGeom prst="rect">
            <a:avLst/>
          </a:prstGeom>
        </p:spPr>
        <p:txBody>
          <a:bodyPr vert="horz" wrap="square" lIns="0" tIns="0" rIns="0" bIns="0" rtlCol="0">
            <a:spAutoFit/>
          </a:bodyPr>
          <a:lstStyle/>
          <a:p>
            <a:pPr marL="0" marR="0">
              <a:lnSpc>
                <a:spcPts val="2400"/>
              </a:lnSpc>
              <a:spcBef>
                <a:spcPts val="0"/>
              </a:spcBef>
              <a:spcAft>
                <a:spcPts val="0"/>
              </a:spcAft>
            </a:pPr>
            <a:r>
              <a:rPr sz="2400" dirty="0">
                <a:solidFill>
                  <a:srgbClr val="FF0000"/>
                </a:solidFill>
                <a:latin typeface="AAVGFJ+Calibri"/>
                <a:cs typeface="AAVGFJ+Calibri"/>
              </a:rPr>
              <a:t>return(value);</a:t>
            </a:r>
          </a:p>
          <a:p>
            <a:pPr marL="0" marR="0">
              <a:lnSpc>
                <a:spcPts val="2400"/>
              </a:lnSpc>
              <a:spcBef>
                <a:spcPts val="3360"/>
              </a:spcBef>
              <a:spcAft>
                <a:spcPts val="0"/>
              </a:spcAft>
            </a:pPr>
            <a:r>
              <a:rPr sz="2400" dirty="0">
                <a:solidFill>
                  <a:srgbClr val="FF0000"/>
                </a:solidFill>
                <a:latin typeface="AAVGFJ+Calibri"/>
                <a:cs typeface="AAVGFJ+Calibri"/>
              </a:rPr>
              <a:t>}</a:t>
            </a:r>
          </a:p>
        </p:txBody>
      </p:sp>
      <p:sp>
        <p:nvSpPr>
          <p:cNvPr id="13" name="object 13"/>
          <p:cNvSpPr txBox="1"/>
          <p:nvPr/>
        </p:nvSpPr>
        <p:spPr>
          <a:xfrm>
            <a:off x="231140" y="4391603"/>
            <a:ext cx="563819"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70C0"/>
                </a:solidFill>
                <a:latin typeface="AAVGFJ+Calibri"/>
                <a:cs typeface="AAVGFJ+Calibri"/>
              </a:rPr>
              <a:t>else</a:t>
            </a:r>
          </a:p>
        </p:txBody>
      </p:sp>
      <p:sp>
        <p:nvSpPr>
          <p:cNvPr id="14" name="object 14"/>
          <p:cNvSpPr txBox="1"/>
          <p:nvPr/>
        </p:nvSpPr>
        <p:spPr>
          <a:xfrm>
            <a:off x="631190" y="4696403"/>
            <a:ext cx="4636960" cy="292735"/>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70C0"/>
                </a:solidFill>
                <a:latin typeface="AAVGFJ+Calibri"/>
                <a:cs typeface="AAVGFJ+Calibri"/>
              </a:rPr>
              <a:t>printf("factorial of %d =%d\n",n,fact(num));</a:t>
            </a:r>
          </a:p>
        </p:txBody>
      </p:sp>
      <p:sp>
        <p:nvSpPr>
          <p:cNvPr id="15" name="object 15"/>
          <p:cNvSpPr txBox="1"/>
          <p:nvPr/>
        </p:nvSpPr>
        <p:spPr>
          <a:xfrm>
            <a:off x="231140" y="5306003"/>
            <a:ext cx="948258" cy="597534"/>
          </a:xfrm>
          <a:prstGeom prst="rect">
            <a:avLst/>
          </a:prstGeom>
        </p:spPr>
        <p:txBody>
          <a:bodyPr vert="horz" wrap="square" lIns="0" tIns="0" rIns="0" bIns="0" rtlCol="0">
            <a:spAutoFit/>
          </a:bodyPr>
          <a:lstStyle/>
          <a:p>
            <a:pPr marL="0" marR="0">
              <a:lnSpc>
                <a:spcPts val="2005"/>
              </a:lnSpc>
              <a:spcBef>
                <a:spcPts val="0"/>
              </a:spcBef>
              <a:spcAft>
                <a:spcPts val="0"/>
              </a:spcAft>
            </a:pPr>
            <a:r>
              <a:rPr sz="2000" dirty="0">
                <a:solidFill>
                  <a:srgbClr val="0070C0"/>
                </a:solidFill>
                <a:latin typeface="AAVGFJ+Calibri"/>
                <a:cs typeface="AAVGFJ+Calibri"/>
              </a:rPr>
              <a:t>getch();</a:t>
            </a:r>
          </a:p>
          <a:p>
            <a:pPr marL="0" marR="0">
              <a:lnSpc>
                <a:spcPts val="2005"/>
              </a:lnSpc>
              <a:spcBef>
                <a:spcPts val="395"/>
              </a:spcBef>
              <a:spcAft>
                <a:spcPts val="0"/>
              </a:spcAft>
            </a:pPr>
            <a:r>
              <a:rPr sz="2000" dirty="0">
                <a:solidFill>
                  <a:srgbClr val="0070C0"/>
                </a:solidFill>
                <a:latin typeface="AAVGFJ+Calibri"/>
                <a:cs typeface="AAVGFJ+Calibri"/>
              </a:rPr>
              <a:t>}</a:t>
            </a: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TotalTime>
  <Words>5614</Words>
  <Application>Microsoft Office PowerPoint</Application>
  <PresentationFormat>Widescreen</PresentationFormat>
  <Paragraphs>700</Paragraphs>
  <Slides>65</Slides>
  <Notes>0</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65</vt:i4>
      </vt:variant>
    </vt:vector>
  </HeadingPairs>
  <TitlesOfParts>
    <vt:vector size="77" baseType="lpstr">
      <vt:lpstr>Calibri</vt:lpstr>
      <vt:lpstr>FJSWKN+SegoeMDL2Assets</vt:lpstr>
      <vt:lpstr>HWPIMB+Calibri-Light</vt:lpstr>
      <vt:lpstr>OJWNPN+Calibri-Bold</vt:lpstr>
      <vt:lpstr>JUSNVH+Wingdings-Regular</vt:lpstr>
      <vt:lpstr>JWSKAR+TimesNewRomanPSMT</vt:lpstr>
      <vt:lpstr>Garamond</vt:lpstr>
      <vt:lpstr>Caladea</vt:lpstr>
      <vt:lpstr>Söhne</vt:lpstr>
      <vt:lpstr>RVMCBG+ArialMT</vt:lpstr>
      <vt:lpstr>AAVGFJ+Calibri</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 to search for the largest and smallest element in an array of integers using sequential search*/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sejda</dc:creator>
  <cp:lastModifiedBy>VISHNU PRIYA P  M</cp:lastModifiedBy>
  <cp:revision>3</cp:revision>
  <dcterms:modified xsi:type="dcterms:W3CDTF">2024-09-17T07:14:31Z</dcterms:modified>
</cp:coreProperties>
</file>