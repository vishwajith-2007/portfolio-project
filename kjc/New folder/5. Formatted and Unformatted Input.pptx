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704F75FD-397A-41DD-9E50-03D80DCD147B}" type="datetimeFigureOut">
              <a:rPr lang="en-US" smtClean="0"/>
              <a:t>9/3/2024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53BD5D90-2E03-4FD1-9951-82BD56E9744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F75FD-397A-41DD-9E50-03D80DCD147B}"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D5D90-2E03-4FD1-9951-82BD56E97447}" type="slidenum">
              <a:rPr lang="en-US" smtClean="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04F75FD-397A-41DD-9E50-03D80DCD147B}"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D5D90-2E03-4FD1-9951-82BD56E97447}"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04F75FD-397A-41DD-9E50-03D80DCD147B}"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D5D90-2E03-4FD1-9951-82BD56E97447}" type="slidenum">
              <a:rPr lang="en-US" smtClean="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04F75FD-397A-41DD-9E50-03D80DCD147B}" type="datetimeFigureOut">
              <a:rPr lang="en-US" smtClean="0"/>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BD5D90-2E03-4FD1-9951-82BD56E9744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04F75FD-397A-41DD-9E50-03D80DCD147B}"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BD5D90-2E03-4FD1-9951-82BD56E97447}" type="slidenum">
              <a:rPr lang="en-US" smtClean="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4F75FD-397A-41DD-9E50-03D80DCD147B}" type="datetimeFigureOut">
              <a:rPr lang="en-US" smtClean="0"/>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BD5D90-2E03-4FD1-9951-82BD56E9744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704F75FD-397A-41DD-9E50-03D80DCD147B}"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D5D90-2E03-4FD1-9951-82BD56E9744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704F75FD-397A-41DD-9E50-03D80DCD147B}" type="datetimeFigureOut">
              <a:rPr lang="en-US" smtClean="0"/>
              <a:t>9/3/2024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53BD5D90-2E03-4FD1-9951-82BD56E97447}"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F75FD-397A-41DD-9E50-03D80DCD147B}"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D5D90-2E03-4FD1-9951-82BD56E9744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F75FD-397A-41DD-9E50-03D80DCD147B}"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D5D90-2E03-4FD1-9951-82BD56E9744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704F75FD-397A-41DD-9E50-03D80DCD147B}" type="datetimeFigureOut">
              <a:rPr lang="en-US" smtClean="0"/>
              <a:t>9/3/2024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53BD5D90-2E03-4FD1-9951-82BD56E9744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canf-fscanf-sscanf-scanf_s-fscanf_s-sscanf_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Formatted and Unformatted </a:t>
            </a:r>
            <a:r>
              <a:rPr lang="en-US" b="1" dirty="0" err="1"/>
              <a:t>Input/Output</a:t>
            </a:r>
            <a:r>
              <a:rPr lang="en-US" b="1" dirty="0"/>
              <a:t> functions in C </a:t>
            </a:r>
            <a:br>
              <a:rPr lang="en-US" b="1"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6041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Formatted I/O functions are used to take various inputs from the user and display multiple outputs to the user. </a:t>
            </a:r>
          </a:p>
          <a:p>
            <a:r>
              <a:rPr lang="en-US" dirty="0"/>
              <a:t>These types of I/O functions can help to display the output to the user in different formats using the format </a:t>
            </a:r>
            <a:r>
              <a:rPr lang="en-US" dirty="0" err="1"/>
              <a:t>specifiers</a:t>
            </a:r>
            <a:r>
              <a:rPr lang="en-US" dirty="0"/>
              <a:t>.</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53789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5998"/>
          <a:stretch/>
        </p:blipFill>
        <p:spPr>
          <a:xfrm>
            <a:off x="685800" y="609600"/>
            <a:ext cx="6646169" cy="6007100"/>
          </a:xfrm>
        </p:spPr>
      </p:pic>
    </p:spTree>
    <p:extLst>
      <p:ext uri="{BB962C8B-B14F-4D97-AF65-F5344CB8AC3E}">
        <p14:creationId xmlns:p14="http://schemas.microsoft.com/office/powerpoint/2010/main" val="3361743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following formatted I/O functions will be discussed in this section-</a:t>
            </a:r>
          </a:p>
          <a:p>
            <a:endParaRPr lang="en-US" dirty="0"/>
          </a:p>
          <a:p>
            <a:pPr fontAlgn="base"/>
            <a:r>
              <a:rPr lang="en-IN" dirty="0" err="1">
                <a:solidFill>
                  <a:srgbClr val="FF0000"/>
                </a:solidFill>
              </a:rPr>
              <a:t>printf</a:t>
            </a:r>
            <a:r>
              <a:rPr lang="en-IN" dirty="0">
                <a:solidFill>
                  <a:srgbClr val="FF0000"/>
                </a:solidFill>
              </a:rPr>
              <a:t>()</a:t>
            </a:r>
          </a:p>
          <a:p>
            <a:pPr fontAlgn="base"/>
            <a:r>
              <a:rPr lang="en-IN" dirty="0" err="1">
                <a:solidFill>
                  <a:srgbClr val="FF0000"/>
                </a:solidFill>
              </a:rPr>
              <a:t>scanf</a:t>
            </a:r>
            <a:r>
              <a:rPr lang="en-IN" dirty="0">
                <a:solidFill>
                  <a:srgbClr val="FF0000"/>
                </a:solidFill>
              </a:rPr>
              <a:t>()</a:t>
            </a:r>
          </a:p>
          <a:p>
            <a:pPr fontAlgn="base"/>
            <a:r>
              <a:rPr lang="en-IN" dirty="0" err="1">
                <a:solidFill>
                  <a:srgbClr val="FF0000"/>
                </a:solidFill>
              </a:rPr>
              <a:t>sprintf</a:t>
            </a:r>
            <a:r>
              <a:rPr lang="en-IN" dirty="0">
                <a:solidFill>
                  <a:srgbClr val="FF0000"/>
                </a:solidFill>
              </a:rPr>
              <a:t>()</a:t>
            </a:r>
          </a:p>
          <a:p>
            <a:pPr fontAlgn="base"/>
            <a:r>
              <a:rPr lang="en-IN" dirty="0" err="1">
                <a:solidFill>
                  <a:srgbClr val="FF0000"/>
                </a:solidFill>
              </a:rPr>
              <a:t>sscanf</a:t>
            </a:r>
            <a:r>
              <a:rPr lang="en-IN" dirty="0">
                <a:solidFill>
                  <a:srgbClr val="FF0000"/>
                </a:solidFill>
              </a:rPr>
              <a:t>()</a:t>
            </a:r>
          </a:p>
          <a:p>
            <a:endParaRPr lang="en-IN" dirty="0"/>
          </a:p>
        </p:txBody>
      </p:sp>
      <p:sp>
        <p:nvSpPr>
          <p:cNvPr id="3" name="Title 2"/>
          <p:cNvSpPr>
            <a:spLocks noGrp="1"/>
          </p:cNvSpPr>
          <p:nvPr>
            <p:ph type="title"/>
          </p:nvPr>
        </p:nvSpPr>
        <p:spPr/>
        <p:txBody>
          <a:bodyPr/>
          <a:lstStyle/>
          <a:p>
            <a:endParaRPr lang="en-IN" dirty="0"/>
          </a:p>
        </p:txBody>
      </p:sp>
    </p:spTree>
    <p:extLst>
      <p:ext uri="{BB962C8B-B14F-4D97-AF65-F5344CB8AC3E}">
        <p14:creationId xmlns:p14="http://schemas.microsoft.com/office/powerpoint/2010/main" val="3613269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err="1"/>
              <a:t>printf</a:t>
            </a:r>
            <a:r>
              <a:rPr lang="en-US" dirty="0"/>
              <a:t>() function is used in a C program to display any value like float, integer, character, string, </a:t>
            </a:r>
            <a:r>
              <a:rPr lang="en-US" dirty="0" err="1"/>
              <a:t>etc</a:t>
            </a:r>
            <a:r>
              <a:rPr lang="en-US" dirty="0"/>
              <a:t> on the console screen. </a:t>
            </a:r>
          </a:p>
          <a:p>
            <a:endParaRPr lang="en-US" dirty="0"/>
          </a:p>
          <a:p>
            <a:r>
              <a:rPr lang="en-US" dirty="0"/>
              <a:t>It is a pre-defined function that is already declared in the </a:t>
            </a:r>
            <a:r>
              <a:rPr lang="en-US" dirty="0" err="1"/>
              <a:t>stdio.h</a:t>
            </a:r>
            <a:r>
              <a:rPr lang="en-US" dirty="0"/>
              <a:t>(header file). </a:t>
            </a:r>
          </a:p>
          <a:p>
            <a:endParaRPr lang="en-US" dirty="0"/>
          </a:p>
          <a:p>
            <a:r>
              <a:rPr lang="en-US" dirty="0">
                <a:solidFill>
                  <a:srgbClr val="FF0000"/>
                </a:solidFill>
              </a:rPr>
              <a:t>Syntax 1: </a:t>
            </a:r>
          </a:p>
          <a:p>
            <a:endParaRPr lang="en-US" dirty="0"/>
          </a:p>
          <a:p>
            <a:r>
              <a:rPr lang="en-US" dirty="0"/>
              <a:t>To display any variable value.</a:t>
            </a:r>
          </a:p>
          <a:p>
            <a:endParaRPr lang="en-US" dirty="0"/>
          </a:p>
          <a:p>
            <a:r>
              <a:rPr lang="en-US" dirty="0" err="1">
                <a:solidFill>
                  <a:srgbClr val="FF0000"/>
                </a:solidFill>
              </a:rPr>
              <a:t>printf</a:t>
            </a:r>
            <a:r>
              <a:rPr lang="en-US" dirty="0">
                <a:solidFill>
                  <a:srgbClr val="FF0000"/>
                </a:solidFill>
              </a:rPr>
              <a:t>(“Format Specifier”, var1, var2, …., </a:t>
            </a:r>
            <a:r>
              <a:rPr lang="en-US" dirty="0" err="1">
                <a:solidFill>
                  <a:srgbClr val="FF0000"/>
                </a:solidFill>
              </a:rPr>
              <a:t>varn</a:t>
            </a:r>
            <a:r>
              <a:rPr lang="en-US" dirty="0">
                <a:solidFill>
                  <a:srgbClr val="FF0000"/>
                </a:solidFill>
              </a:rPr>
              <a:t>); </a:t>
            </a:r>
            <a:endParaRPr lang="en-IN" dirty="0">
              <a:solidFill>
                <a:srgbClr val="FF0000"/>
              </a:solidFill>
            </a:endParaRPr>
          </a:p>
        </p:txBody>
      </p:sp>
      <p:sp>
        <p:nvSpPr>
          <p:cNvPr id="3" name="Title 2"/>
          <p:cNvSpPr>
            <a:spLocks noGrp="1"/>
          </p:cNvSpPr>
          <p:nvPr>
            <p:ph type="title"/>
          </p:nvPr>
        </p:nvSpPr>
        <p:spPr/>
        <p:txBody>
          <a:bodyPr/>
          <a:lstStyle/>
          <a:p>
            <a:r>
              <a:rPr lang="en-IN" dirty="0" err="1">
                <a:effectLst/>
              </a:rPr>
              <a:t>printf</a:t>
            </a:r>
            <a:r>
              <a:rPr lang="en-IN" dirty="0">
                <a:effectLst/>
              </a:rPr>
              <a:t>():</a:t>
            </a:r>
            <a:endParaRPr lang="en-IN" dirty="0"/>
          </a:p>
        </p:txBody>
      </p:sp>
    </p:spTree>
    <p:extLst>
      <p:ext uri="{BB962C8B-B14F-4D97-AF65-F5344CB8AC3E}">
        <p14:creationId xmlns:p14="http://schemas.microsoft.com/office/powerpoint/2010/main" val="515676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err="1"/>
              <a:t>scanf</a:t>
            </a:r>
            <a:r>
              <a:rPr lang="en-US" dirty="0"/>
              <a:t>() function is used in the C program for reading or taking any value from the keyboard by the user, these values can be of any data type like integer, float, character, string, and many more. </a:t>
            </a:r>
          </a:p>
          <a:p>
            <a:pPr algn="just"/>
            <a:r>
              <a:rPr lang="en-US" dirty="0"/>
              <a:t>This function is declared in </a:t>
            </a:r>
            <a:r>
              <a:rPr lang="en-US" dirty="0" err="1"/>
              <a:t>stdio.h</a:t>
            </a:r>
            <a:r>
              <a:rPr lang="en-US" dirty="0"/>
              <a:t>(header file), that’s why it is also a pre-defined function.</a:t>
            </a:r>
          </a:p>
          <a:p>
            <a:pPr algn="just"/>
            <a:r>
              <a:rPr lang="en-US" dirty="0"/>
              <a:t> In </a:t>
            </a:r>
            <a:r>
              <a:rPr lang="en-US" dirty="0" err="1"/>
              <a:t>scanf</a:t>
            </a:r>
            <a:r>
              <a:rPr lang="en-US" dirty="0"/>
              <a:t>() function we use &amp;(address-of operator) which is used to store the variable value on the memory location of that variable.</a:t>
            </a:r>
            <a:endParaRPr lang="en-IN" dirty="0"/>
          </a:p>
        </p:txBody>
      </p:sp>
      <p:sp>
        <p:nvSpPr>
          <p:cNvPr id="3" name="Title 2"/>
          <p:cNvSpPr>
            <a:spLocks noGrp="1"/>
          </p:cNvSpPr>
          <p:nvPr>
            <p:ph type="title"/>
          </p:nvPr>
        </p:nvSpPr>
        <p:spPr/>
        <p:txBody>
          <a:bodyPr/>
          <a:lstStyle/>
          <a:p>
            <a:r>
              <a:rPr lang="en-IN" dirty="0" err="1">
                <a:effectLst/>
              </a:rPr>
              <a:t>scanf</a:t>
            </a:r>
            <a:r>
              <a:rPr lang="en-IN" dirty="0">
                <a:effectLst/>
              </a:rPr>
              <a:t>():</a:t>
            </a:r>
            <a:endParaRPr lang="en-IN" dirty="0"/>
          </a:p>
        </p:txBody>
      </p:sp>
    </p:spTree>
    <p:extLst>
      <p:ext uri="{BB962C8B-B14F-4D97-AF65-F5344CB8AC3E}">
        <p14:creationId xmlns:p14="http://schemas.microsoft.com/office/powerpoint/2010/main" val="359907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Syntax: </a:t>
            </a:r>
          </a:p>
          <a:p>
            <a:endParaRPr lang="en-IN" dirty="0"/>
          </a:p>
          <a:p>
            <a:r>
              <a:rPr lang="en-IN" dirty="0" err="1">
                <a:solidFill>
                  <a:srgbClr val="FF0000"/>
                </a:solidFill>
              </a:rPr>
              <a:t>scanf</a:t>
            </a:r>
            <a:r>
              <a:rPr lang="en-IN" dirty="0">
                <a:solidFill>
                  <a:srgbClr val="FF0000"/>
                </a:solidFill>
              </a:rPr>
              <a:t>(“Format Specifier”, &amp;var1, &amp;var2, …., &amp;</a:t>
            </a:r>
            <a:r>
              <a:rPr lang="en-IN" dirty="0" err="1">
                <a:solidFill>
                  <a:srgbClr val="FF0000"/>
                </a:solidFill>
              </a:rPr>
              <a:t>varn</a:t>
            </a:r>
            <a:r>
              <a:rPr lang="en-IN" dirty="0">
                <a:solidFill>
                  <a:srgbClr val="FF0000"/>
                </a:solidFill>
              </a:rPr>
              <a:t>); </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208723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sprintf stands for </a:t>
            </a:r>
            <a:r>
              <a:rPr lang="en-US" b="1" dirty="0"/>
              <a:t>“string print”</a:t>
            </a:r>
            <a:r>
              <a:rPr lang="en-US" dirty="0"/>
              <a:t>. This function is similar to </a:t>
            </a:r>
            <a:r>
              <a:rPr lang="en-US" dirty="0" err="1"/>
              <a:t>printf</a:t>
            </a:r>
            <a:r>
              <a:rPr lang="en-US" dirty="0"/>
              <a:t>() function but this function prints the string into a character array instead of printing it on the console screen.</a:t>
            </a:r>
          </a:p>
          <a:p>
            <a:endParaRPr lang="en-US" dirty="0"/>
          </a:p>
          <a:p>
            <a:r>
              <a:rPr lang="en-US" dirty="0"/>
              <a:t>Syntax:</a:t>
            </a:r>
          </a:p>
          <a:p>
            <a:endParaRPr lang="en-US" dirty="0"/>
          </a:p>
          <a:p>
            <a:r>
              <a:rPr lang="en-US" dirty="0">
                <a:solidFill>
                  <a:srgbClr val="FF0000"/>
                </a:solidFill>
              </a:rPr>
              <a:t>sprintf(</a:t>
            </a:r>
            <a:r>
              <a:rPr lang="en-US" dirty="0" err="1">
                <a:solidFill>
                  <a:srgbClr val="FF0000"/>
                </a:solidFill>
              </a:rPr>
              <a:t>array_name</a:t>
            </a:r>
            <a:r>
              <a:rPr lang="en-US" dirty="0">
                <a:solidFill>
                  <a:srgbClr val="FF0000"/>
                </a:solidFill>
              </a:rPr>
              <a:t>, “format specifier”, </a:t>
            </a:r>
            <a:r>
              <a:rPr lang="en-US" dirty="0" err="1">
                <a:solidFill>
                  <a:srgbClr val="FF0000"/>
                </a:solidFill>
              </a:rPr>
              <a:t>variable_name</a:t>
            </a:r>
            <a:r>
              <a:rPr lang="en-US" dirty="0">
                <a:solidFill>
                  <a:srgbClr val="FF0000"/>
                </a:solidFill>
              </a:rPr>
              <a:t>);</a:t>
            </a:r>
            <a:endParaRPr lang="en-IN" dirty="0">
              <a:solidFill>
                <a:srgbClr val="FF0000"/>
              </a:solidFill>
            </a:endParaRPr>
          </a:p>
        </p:txBody>
      </p:sp>
      <p:sp>
        <p:nvSpPr>
          <p:cNvPr id="3" name="Title 2"/>
          <p:cNvSpPr>
            <a:spLocks noGrp="1"/>
          </p:cNvSpPr>
          <p:nvPr>
            <p:ph type="title"/>
          </p:nvPr>
        </p:nvSpPr>
        <p:spPr/>
        <p:txBody>
          <a:bodyPr/>
          <a:lstStyle/>
          <a:p>
            <a:r>
              <a:rPr lang="en-IN" dirty="0" err="1">
                <a:effectLst/>
              </a:rPr>
              <a:t>sprintf</a:t>
            </a:r>
            <a:r>
              <a:rPr lang="en-IN" dirty="0">
                <a:effectLst/>
              </a:rPr>
              <a:t>():</a:t>
            </a:r>
            <a:endParaRPr lang="en-IN" dirty="0"/>
          </a:p>
        </p:txBody>
      </p:sp>
    </p:spTree>
    <p:extLst>
      <p:ext uri="{BB962C8B-B14F-4D97-AF65-F5344CB8AC3E}">
        <p14:creationId xmlns:p14="http://schemas.microsoft.com/office/powerpoint/2010/main" val="3590176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9460" r="17256"/>
          <a:stretch/>
        </p:blipFill>
        <p:spPr>
          <a:xfrm>
            <a:off x="1524000" y="457200"/>
            <a:ext cx="4648201" cy="5486400"/>
          </a:xfrm>
        </p:spPr>
      </p:pic>
    </p:spTree>
    <p:extLst>
      <p:ext uri="{BB962C8B-B14F-4D97-AF65-F5344CB8AC3E}">
        <p14:creationId xmlns:p14="http://schemas.microsoft.com/office/powerpoint/2010/main" val="3405981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u="sng" dirty="0" err="1">
                <a:hlinkClick r:id="rId2"/>
              </a:rPr>
              <a:t>sscanf</a:t>
            </a:r>
            <a:r>
              <a:rPr lang="en-US" dirty="0"/>
              <a:t> stands for</a:t>
            </a:r>
            <a:r>
              <a:rPr lang="en-US" b="1" dirty="0"/>
              <a:t> “string </a:t>
            </a:r>
            <a:r>
              <a:rPr lang="en-US" b="1" dirty="0" err="1"/>
              <a:t>scanf</a:t>
            </a:r>
            <a:r>
              <a:rPr lang="en-US" b="1" dirty="0"/>
              <a:t>”. </a:t>
            </a:r>
            <a:r>
              <a:rPr lang="en-US" dirty="0"/>
              <a:t>This function is similar to </a:t>
            </a:r>
            <a:r>
              <a:rPr lang="en-US" dirty="0" err="1"/>
              <a:t>scanf</a:t>
            </a:r>
            <a:r>
              <a:rPr lang="en-US" dirty="0"/>
              <a:t>() function but this function reads data from the string or character array instead of the console screen.</a:t>
            </a:r>
          </a:p>
          <a:p>
            <a:endParaRPr lang="en-US" dirty="0"/>
          </a:p>
          <a:p>
            <a:r>
              <a:rPr lang="en-US" dirty="0"/>
              <a:t>Syntax:</a:t>
            </a:r>
          </a:p>
          <a:p>
            <a:endParaRPr lang="en-US" dirty="0"/>
          </a:p>
          <a:p>
            <a:r>
              <a:rPr lang="en-US" dirty="0" err="1">
                <a:solidFill>
                  <a:srgbClr val="FF0000"/>
                </a:solidFill>
              </a:rPr>
              <a:t>sscanf</a:t>
            </a:r>
            <a:r>
              <a:rPr lang="en-US" dirty="0">
                <a:solidFill>
                  <a:srgbClr val="FF0000"/>
                </a:solidFill>
              </a:rPr>
              <a:t>(</a:t>
            </a:r>
            <a:r>
              <a:rPr lang="en-US" dirty="0" err="1">
                <a:solidFill>
                  <a:srgbClr val="FF0000"/>
                </a:solidFill>
              </a:rPr>
              <a:t>array_name</a:t>
            </a:r>
            <a:r>
              <a:rPr lang="en-US" dirty="0">
                <a:solidFill>
                  <a:srgbClr val="FF0000"/>
                </a:solidFill>
              </a:rPr>
              <a:t>, “format specifier”, &amp;</a:t>
            </a:r>
            <a:r>
              <a:rPr lang="en-US" dirty="0" err="1">
                <a:solidFill>
                  <a:srgbClr val="FF0000"/>
                </a:solidFill>
              </a:rPr>
              <a:t>variable_name</a:t>
            </a:r>
            <a:r>
              <a:rPr lang="en-US" dirty="0">
                <a:solidFill>
                  <a:srgbClr val="FF0000"/>
                </a:solidFill>
              </a:rPr>
              <a:t>);</a:t>
            </a:r>
            <a:endParaRPr lang="en-IN" dirty="0">
              <a:solidFill>
                <a:srgbClr val="FF0000"/>
              </a:solidFill>
            </a:endParaRPr>
          </a:p>
        </p:txBody>
      </p:sp>
      <p:sp>
        <p:nvSpPr>
          <p:cNvPr id="3" name="Title 2"/>
          <p:cNvSpPr>
            <a:spLocks noGrp="1"/>
          </p:cNvSpPr>
          <p:nvPr>
            <p:ph type="title"/>
          </p:nvPr>
        </p:nvSpPr>
        <p:spPr/>
        <p:txBody>
          <a:bodyPr/>
          <a:lstStyle/>
          <a:p>
            <a:r>
              <a:rPr lang="en-IN" dirty="0" err="1">
                <a:effectLst/>
              </a:rPr>
              <a:t>sscanf</a:t>
            </a:r>
            <a:r>
              <a:rPr lang="en-IN" dirty="0">
                <a:effectLst/>
              </a:rPr>
              <a:t>():</a:t>
            </a:r>
            <a:endParaRPr lang="en-IN" dirty="0"/>
          </a:p>
        </p:txBody>
      </p:sp>
    </p:spTree>
    <p:extLst>
      <p:ext uri="{BB962C8B-B14F-4D97-AF65-F5344CB8AC3E}">
        <p14:creationId xmlns:p14="http://schemas.microsoft.com/office/powerpoint/2010/main" val="3419137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1" y="381000"/>
            <a:ext cx="5293550" cy="5626100"/>
          </a:xfrm>
        </p:spPr>
      </p:pic>
    </p:spTree>
    <p:extLst>
      <p:ext uri="{BB962C8B-B14F-4D97-AF65-F5344CB8AC3E}">
        <p14:creationId xmlns:p14="http://schemas.microsoft.com/office/powerpoint/2010/main" val="965541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Unformatted I/O functions are used only for character data type or character array/string and cannot be used for any other datatype.</a:t>
            </a:r>
          </a:p>
          <a:p>
            <a:endParaRPr lang="en-US" dirty="0"/>
          </a:p>
          <a:p>
            <a:r>
              <a:rPr lang="en-US" dirty="0"/>
              <a:t> These functions are used to read single input from the user at the console and it allows to display the value at the console.</a:t>
            </a:r>
            <a:endParaRPr lang="en-IN" dirty="0"/>
          </a:p>
        </p:txBody>
      </p:sp>
      <p:sp>
        <p:nvSpPr>
          <p:cNvPr id="3" name="Title 2"/>
          <p:cNvSpPr>
            <a:spLocks noGrp="1"/>
          </p:cNvSpPr>
          <p:nvPr>
            <p:ph type="title"/>
          </p:nvPr>
        </p:nvSpPr>
        <p:spPr/>
        <p:txBody>
          <a:bodyPr>
            <a:normAutofit fontScale="90000"/>
          </a:bodyPr>
          <a:lstStyle/>
          <a:p>
            <a:r>
              <a:rPr lang="en-IN" u="sng" dirty="0">
                <a:effectLst/>
              </a:rPr>
              <a:t>Unformatted </a:t>
            </a:r>
            <a:r>
              <a:rPr lang="en-IN" u="sng" dirty="0" err="1">
                <a:effectLst/>
              </a:rPr>
              <a:t>Input/Output</a:t>
            </a:r>
            <a:r>
              <a:rPr lang="en-IN" u="sng" dirty="0">
                <a:effectLst/>
              </a:rPr>
              <a:t> functions</a:t>
            </a:r>
            <a:endParaRPr lang="en-IN" dirty="0"/>
          </a:p>
        </p:txBody>
      </p:sp>
    </p:spTree>
    <p:extLst>
      <p:ext uri="{BB962C8B-B14F-4D97-AF65-F5344CB8AC3E}">
        <p14:creationId xmlns:p14="http://schemas.microsoft.com/office/powerpoint/2010/main" val="2681048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fontAlgn="base"/>
            <a:r>
              <a:rPr lang="en-US" dirty="0"/>
              <a:t>These functions are called unformatted I/O functions because we cannot use format specifiers in these functions and hence, cannot format these functions according to our needs.</a:t>
            </a:r>
          </a:p>
          <a:p>
            <a:pPr fontAlgn="base"/>
            <a:r>
              <a:rPr lang="en-US" dirty="0" err="1">
                <a:solidFill>
                  <a:srgbClr val="FF0000"/>
                </a:solidFill>
              </a:rPr>
              <a:t>getch</a:t>
            </a:r>
            <a:r>
              <a:rPr lang="en-US" dirty="0">
                <a:solidFill>
                  <a:srgbClr val="FF0000"/>
                </a:solidFill>
              </a:rPr>
              <a:t>()</a:t>
            </a:r>
          </a:p>
          <a:p>
            <a:pPr fontAlgn="base"/>
            <a:r>
              <a:rPr lang="en-US" dirty="0" err="1">
                <a:solidFill>
                  <a:srgbClr val="FF0000"/>
                </a:solidFill>
              </a:rPr>
              <a:t>getche</a:t>
            </a:r>
            <a:r>
              <a:rPr lang="en-US" dirty="0">
                <a:solidFill>
                  <a:srgbClr val="FF0000"/>
                </a:solidFill>
              </a:rPr>
              <a:t>()</a:t>
            </a:r>
          </a:p>
          <a:p>
            <a:pPr fontAlgn="base"/>
            <a:r>
              <a:rPr lang="en-US" dirty="0" err="1">
                <a:solidFill>
                  <a:srgbClr val="FF0000"/>
                </a:solidFill>
              </a:rPr>
              <a:t>getchar</a:t>
            </a:r>
            <a:r>
              <a:rPr lang="en-US" dirty="0">
                <a:solidFill>
                  <a:srgbClr val="FF0000"/>
                </a:solidFill>
              </a:rPr>
              <a:t>()</a:t>
            </a:r>
          </a:p>
          <a:p>
            <a:pPr fontAlgn="base"/>
            <a:r>
              <a:rPr lang="en-US" dirty="0" err="1">
                <a:solidFill>
                  <a:srgbClr val="FF0000"/>
                </a:solidFill>
              </a:rPr>
              <a:t>putchar</a:t>
            </a:r>
            <a:r>
              <a:rPr lang="en-US" dirty="0">
                <a:solidFill>
                  <a:srgbClr val="FF0000"/>
                </a:solidFill>
              </a:rPr>
              <a:t>()</a:t>
            </a:r>
          </a:p>
          <a:p>
            <a:pPr fontAlgn="base"/>
            <a:r>
              <a:rPr lang="en-US" dirty="0">
                <a:solidFill>
                  <a:srgbClr val="FF0000"/>
                </a:solidFill>
              </a:rPr>
              <a:t>gets()</a:t>
            </a:r>
          </a:p>
          <a:p>
            <a:pPr fontAlgn="base"/>
            <a:r>
              <a:rPr lang="en-US" dirty="0">
                <a:solidFill>
                  <a:srgbClr val="FF0000"/>
                </a:solidFill>
              </a:rPr>
              <a:t>puts()</a:t>
            </a:r>
          </a:p>
          <a:p>
            <a:pPr fontAlgn="base"/>
            <a:r>
              <a:rPr lang="en-US" dirty="0" err="1">
                <a:solidFill>
                  <a:srgbClr val="FF0000"/>
                </a:solidFill>
              </a:rPr>
              <a:t>putch</a:t>
            </a:r>
            <a:r>
              <a:rPr lang="en-US" dirty="0">
                <a:solidFill>
                  <a:srgbClr val="FF0000"/>
                </a:solidFill>
              </a:rPr>
              <a:t>()</a:t>
            </a:r>
          </a:p>
          <a:p>
            <a:endParaRPr lang="en-IN" dirty="0"/>
          </a:p>
        </p:txBody>
      </p:sp>
      <p:sp>
        <p:nvSpPr>
          <p:cNvPr id="3" name="Title 2"/>
          <p:cNvSpPr>
            <a:spLocks noGrp="1"/>
          </p:cNvSpPr>
          <p:nvPr>
            <p:ph type="title"/>
          </p:nvPr>
        </p:nvSpPr>
        <p:spPr/>
        <p:txBody>
          <a:bodyPr>
            <a:normAutofit fontScale="90000"/>
          </a:bodyPr>
          <a:lstStyle/>
          <a:p>
            <a:r>
              <a:rPr lang="en-US" dirty="0">
                <a:effectLst/>
              </a:rPr>
              <a:t>Why they are called unformatted I/O?  </a:t>
            </a:r>
            <a:endParaRPr lang="en-IN" dirty="0"/>
          </a:p>
        </p:txBody>
      </p:sp>
    </p:spTree>
    <p:extLst>
      <p:ext uri="{BB962C8B-B14F-4D97-AF65-F5344CB8AC3E}">
        <p14:creationId xmlns:p14="http://schemas.microsoft.com/office/powerpoint/2010/main" val="2884102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 function reads a single character from the keyboard by the user but doesn’t display that character on the console screen and immediately returned without pressing enter key. </a:t>
            </a:r>
          </a:p>
          <a:p>
            <a:r>
              <a:rPr lang="en-US" dirty="0"/>
              <a:t>This function is declared in </a:t>
            </a:r>
            <a:r>
              <a:rPr lang="en-US" dirty="0" err="1"/>
              <a:t>conio.h</a:t>
            </a:r>
            <a:r>
              <a:rPr lang="en-US" dirty="0"/>
              <a:t>(header file). </a:t>
            </a:r>
            <a:r>
              <a:rPr lang="en-US" dirty="0" err="1"/>
              <a:t>getch</a:t>
            </a:r>
            <a:r>
              <a:rPr lang="en-US" dirty="0"/>
              <a:t>() is also used for hold the screen.</a:t>
            </a:r>
          </a:p>
          <a:p>
            <a:endParaRPr lang="en-US" dirty="0"/>
          </a:p>
          <a:p>
            <a:pPr fontAlgn="base"/>
            <a:r>
              <a:rPr lang="en-IN" b="1" i="1" dirty="0" err="1"/>
              <a:t>getch</a:t>
            </a:r>
            <a:r>
              <a:rPr lang="en-IN" b="1" i="1" dirty="0"/>
              <a:t>(); </a:t>
            </a:r>
            <a:endParaRPr lang="en-IN" i="1" dirty="0"/>
          </a:p>
          <a:p>
            <a:pPr fontAlgn="base"/>
            <a:r>
              <a:rPr lang="en-IN" b="1" i="1" dirty="0"/>
              <a:t>or </a:t>
            </a:r>
            <a:endParaRPr lang="en-IN" i="1" dirty="0"/>
          </a:p>
          <a:p>
            <a:pPr fontAlgn="base"/>
            <a:r>
              <a:rPr lang="en-IN" b="1" i="1" dirty="0"/>
              <a:t>variable-name = </a:t>
            </a:r>
            <a:r>
              <a:rPr lang="en-IN" b="1" i="1" dirty="0" err="1"/>
              <a:t>getch</a:t>
            </a:r>
            <a:r>
              <a:rPr lang="en-IN" b="1" i="1" dirty="0"/>
              <a:t>();</a:t>
            </a:r>
            <a:endParaRPr lang="en-IN" i="1" dirty="0"/>
          </a:p>
          <a:p>
            <a:endParaRPr lang="en-IN" dirty="0"/>
          </a:p>
        </p:txBody>
      </p:sp>
      <p:sp>
        <p:nvSpPr>
          <p:cNvPr id="3" name="Title 2"/>
          <p:cNvSpPr>
            <a:spLocks noGrp="1"/>
          </p:cNvSpPr>
          <p:nvPr>
            <p:ph type="title"/>
          </p:nvPr>
        </p:nvSpPr>
        <p:spPr/>
        <p:txBody>
          <a:bodyPr/>
          <a:lstStyle/>
          <a:p>
            <a:r>
              <a:rPr lang="en-US" dirty="0" err="1">
                <a:solidFill>
                  <a:schemeClr val="tx1"/>
                </a:solidFill>
              </a:rPr>
              <a:t>getch</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1826267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function reads a single character from the keyboard by the user and displays it on the console screen and immediately returns without pressing the enter key. </a:t>
            </a:r>
          </a:p>
          <a:p>
            <a:r>
              <a:rPr lang="en-US" dirty="0"/>
              <a:t>This function is declared in </a:t>
            </a:r>
            <a:r>
              <a:rPr lang="en-US" dirty="0" err="1"/>
              <a:t>conio.h</a:t>
            </a:r>
            <a:r>
              <a:rPr lang="en-US" dirty="0"/>
              <a:t>(header file).</a:t>
            </a:r>
          </a:p>
          <a:p>
            <a:endParaRPr lang="en-US" dirty="0"/>
          </a:p>
          <a:p>
            <a:pPr fontAlgn="base"/>
            <a:r>
              <a:rPr lang="en-IN" b="1" i="1" dirty="0" err="1"/>
              <a:t>getche</a:t>
            </a:r>
            <a:r>
              <a:rPr lang="en-IN" b="1" i="1" dirty="0"/>
              <a:t>(); </a:t>
            </a:r>
            <a:endParaRPr lang="en-IN" i="1" dirty="0"/>
          </a:p>
          <a:p>
            <a:pPr fontAlgn="base"/>
            <a:r>
              <a:rPr lang="en-IN" b="1" i="1" dirty="0"/>
              <a:t>or </a:t>
            </a:r>
            <a:endParaRPr lang="en-IN" i="1" dirty="0"/>
          </a:p>
          <a:p>
            <a:pPr fontAlgn="base"/>
            <a:r>
              <a:rPr lang="en-IN" b="1" i="1" dirty="0" err="1"/>
              <a:t>variable_name</a:t>
            </a:r>
            <a:r>
              <a:rPr lang="en-IN" b="1" i="1" dirty="0"/>
              <a:t> = </a:t>
            </a:r>
            <a:r>
              <a:rPr lang="en-IN" b="1" i="1" dirty="0" err="1"/>
              <a:t>getche</a:t>
            </a:r>
            <a:r>
              <a:rPr lang="en-IN" b="1" i="1" dirty="0"/>
              <a:t>();</a:t>
            </a:r>
            <a:endParaRPr lang="en-IN" i="1" dirty="0"/>
          </a:p>
          <a:p>
            <a:endParaRPr lang="en-IN" dirty="0"/>
          </a:p>
        </p:txBody>
      </p:sp>
      <p:sp>
        <p:nvSpPr>
          <p:cNvPr id="3" name="Title 2"/>
          <p:cNvSpPr>
            <a:spLocks noGrp="1"/>
          </p:cNvSpPr>
          <p:nvPr>
            <p:ph type="title"/>
          </p:nvPr>
        </p:nvSpPr>
        <p:spPr/>
        <p:txBody>
          <a:bodyPr/>
          <a:lstStyle/>
          <a:p>
            <a:r>
              <a:rPr lang="en-IN" dirty="0" err="1">
                <a:effectLst/>
              </a:rPr>
              <a:t>getche</a:t>
            </a:r>
            <a:r>
              <a:rPr lang="en-IN" dirty="0">
                <a:effectLst/>
              </a:rPr>
              <a:t>():</a:t>
            </a:r>
            <a:endParaRPr lang="en-IN" dirty="0"/>
          </a:p>
        </p:txBody>
      </p:sp>
    </p:spTree>
    <p:extLst>
      <p:ext uri="{BB962C8B-B14F-4D97-AF65-F5344CB8AC3E}">
        <p14:creationId xmlns:p14="http://schemas.microsoft.com/office/powerpoint/2010/main" val="4223459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609601"/>
            <a:ext cx="4948545" cy="5382732"/>
          </a:xfrm>
        </p:spPr>
      </p:pic>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402868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function is used to read only a first single character from the keyboard whether multiple characters is typed by the user and this function reads one character at one time until and unless the enter key is pressed. </a:t>
            </a:r>
          </a:p>
          <a:p>
            <a:endParaRPr lang="en-US" dirty="0"/>
          </a:p>
          <a:p>
            <a:r>
              <a:rPr lang="en-US" dirty="0"/>
              <a:t>This function is declared in </a:t>
            </a:r>
            <a:r>
              <a:rPr lang="en-US" dirty="0" err="1"/>
              <a:t>stdio.h</a:t>
            </a:r>
            <a:r>
              <a:rPr lang="en-US" dirty="0"/>
              <a:t>(header file)</a:t>
            </a:r>
          </a:p>
          <a:p>
            <a:endParaRPr lang="en-US" dirty="0"/>
          </a:p>
          <a:p>
            <a:r>
              <a:rPr lang="en-IN" b="1" i="1" dirty="0">
                <a:solidFill>
                  <a:schemeClr val="accent2"/>
                </a:solidFill>
              </a:rPr>
              <a:t>Variable-name = </a:t>
            </a:r>
            <a:r>
              <a:rPr lang="en-IN" b="1" i="1" dirty="0" err="1">
                <a:solidFill>
                  <a:schemeClr val="accent2"/>
                </a:solidFill>
              </a:rPr>
              <a:t>getchar</a:t>
            </a:r>
            <a:r>
              <a:rPr lang="en-IN" b="1" i="1" dirty="0">
                <a:solidFill>
                  <a:schemeClr val="accent2"/>
                </a:solidFill>
              </a:rPr>
              <a:t>();</a:t>
            </a:r>
            <a:endParaRPr lang="en-IN" dirty="0">
              <a:solidFill>
                <a:schemeClr val="accent2"/>
              </a:solidFill>
            </a:endParaRPr>
          </a:p>
        </p:txBody>
      </p:sp>
      <p:sp>
        <p:nvSpPr>
          <p:cNvPr id="3" name="Title 2"/>
          <p:cNvSpPr>
            <a:spLocks noGrp="1"/>
          </p:cNvSpPr>
          <p:nvPr>
            <p:ph type="title"/>
          </p:nvPr>
        </p:nvSpPr>
        <p:spPr/>
        <p:txBody>
          <a:bodyPr/>
          <a:lstStyle/>
          <a:p>
            <a:r>
              <a:rPr lang="en-IN" dirty="0" err="1">
                <a:effectLst/>
              </a:rPr>
              <a:t>getchar</a:t>
            </a:r>
            <a:r>
              <a:rPr lang="en-IN" dirty="0">
                <a:effectLst/>
              </a:rPr>
              <a:t>(): </a:t>
            </a:r>
            <a:endParaRPr lang="en-IN" dirty="0"/>
          </a:p>
        </p:txBody>
      </p:sp>
    </p:spTree>
    <p:extLst>
      <p:ext uri="{BB962C8B-B14F-4D97-AF65-F5344CB8AC3E}">
        <p14:creationId xmlns:p14="http://schemas.microsoft.com/office/powerpoint/2010/main" val="2400179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1" y="457200"/>
            <a:ext cx="5136694" cy="5549900"/>
          </a:xfrm>
        </p:spPr>
      </p:pic>
    </p:spTree>
    <p:extLst>
      <p:ext uri="{BB962C8B-B14F-4D97-AF65-F5344CB8AC3E}">
        <p14:creationId xmlns:p14="http://schemas.microsoft.com/office/powerpoint/2010/main" val="988856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function is used to display a single character at a time by passing that character directly to it or by passing a variable that has already stored a character. </a:t>
            </a:r>
          </a:p>
          <a:p>
            <a:r>
              <a:rPr lang="en-US" dirty="0"/>
              <a:t>This function is declared in </a:t>
            </a:r>
            <a:r>
              <a:rPr lang="en-US" dirty="0" err="1"/>
              <a:t>stdio.h</a:t>
            </a:r>
            <a:r>
              <a:rPr lang="en-US" dirty="0"/>
              <a:t>(header file) </a:t>
            </a:r>
          </a:p>
          <a:p>
            <a:endParaRPr lang="en-US" dirty="0"/>
          </a:p>
          <a:p>
            <a:r>
              <a:rPr lang="en-IN" b="1" i="1" dirty="0" err="1"/>
              <a:t>putchar</a:t>
            </a:r>
            <a:r>
              <a:rPr lang="en-IN" b="1" i="1" dirty="0"/>
              <a:t>(</a:t>
            </a:r>
            <a:r>
              <a:rPr lang="en-IN" b="1" i="1" dirty="0" err="1"/>
              <a:t>variable_name</a:t>
            </a:r>
            <a:r>
              <a:rPr lang="en-IN" b="1" i="1" dirty="0"/>
              <a:t>);  </a:t>
            </a:r>
            <a:endParaRPr lang="en-IN" dirty="0"/>
          </a:p>
        </p:txBody>
      </p:sp>
      <p:sp>
        <p:nvSpPr>
          <p:cNvPr id="3" name="Title 2"/>
          <p:cNvSpPr>
            <a:spLocks noGrp="1"/>
          </p:cNvSpPr>
          <p:nvPr>
            <p:ph type="title"/>
          </p:nvPr>
        </p:nvSpPr>
        <p:spPr/>
        <p:txBody>
          <a:bodyPr/>
          <a:lstStyle/>
          <a:p>
            <a:r>
              <a:rPr lang="en-IN" b="1" i="1" dirty="0" err="1"/>
              <a:t>putchar</a:t>
            </a:r>
            <a:endParaRPr lang="en-IN" dirty="0"/>
          </a:p>
        </p:txBody>
      </p:sp>
    </p:spTree>
    <p:extLst>
      <p:ext uri="{BB962C8B-B14F-4D97-AF65-F5344CB8AC3E}">
        <p14:creationId xmlns:p14="http://schemas.microsoft.com/office/powerpoint/2010/main" val="1752955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a:stretch/>
        </p:blipFill>
        <p:spPr>
          <a:xfrm>
            <a:off x="1219200" y="457200"/>
            <a:ext cx="4919169" cy="5549900"/>
          </a:xfrm>
        </p:spPr>
      </p:pic>
    </p:spTree>
    <p:extLst>
      <p:ext uri="{BB962C8B-B14F-4D97-AF65-F5344CB8AC3E}">
        <p14:creationId xmlns:p14="http://schemas.microsoft.com/office/powerpoint/2010/main" val="3493480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gets() function reads a group of characters or strings from the keyboard by the user and these characters get stored in a character array. </a:t>
            </a:r>
          </a:p>
          <a:p>
            <a:endParaRPr lang="en-US" dirty="0"/>
          </a:p>
          <a:p>
            <a:r>
              <a:rPr lang="en-US" dirty="0"/>
              <a:t>This function allows us to write space-separated texts or strings. </a:t>
            </a:r>
          </a:p>
          <a:p>
            <a:endParaRPr lang="en-US" dirty="0"/>
          </a:p>
          <a:p>
            <a:r>
              <a:rPr lang="en-US" dirty="0"/>
              <a:t>This function is declared in </a:t>
            </a:r>
            <a:r>
              <a:rPr lang="en-US" dirty="0" err="1"/>
              <a:t>stdio.h</a:t>
            </a:r>
            <a:r>
              <a:rPr lang="en-US" dirty="0"/>
              <a:t>(header file).</a:t>
            </a:r>
            <a:endParaRPr lang="en-IN" dirty="0"/>
          </a:p>
        </p:txBody>
      </p:sp>
      <p:sp>
        <p:nvSpPr>
          <p:cNvPr id="3" name="Title 2"/>
          <p:cNvSpPr>
            <a:spLocks noGrp="1"/>
          </p:cNvSpPr>
          <p:nvPr>
            <p:ph type="title"/>
          </p:nvPr>
        </p:nvSpPr>
        <p:spPr/>
        <p:txBody>
          <a:bodyPr/>
          <a:lstStyle/>
          <a:p>
            <a:r>
              <a:rPr lang="en-IN" dirty="0">
                <a:effectLst/>
              </a:rPr>
              <a:t>gets():</a:t>
            </a:r>
            <a:endParaRPr lang="en-IN" dirty="0"/>
          </a:p>
        </p:txBody>
      </p:sp>
    </p:spTree>
    <p:extLst>
      <p:ext uri="{BB962C8B-B14F-4D97-AF65-F5344CB8AC3E}">
        <p14:creationId xmlns:p14="http://schemas.microsoft.com/office/powerpoint/2010/main" val="3778316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Syntax:</a:t>
            </a:r>
          </a:p>
          <a:p>
            <a:endParaRPr lang="en-US" dirty="0"/>
          </a:p>
          <a:p>
            <a:r>
              <a:rPr lang="en-US" dirty="0">
                <a:solidFill>
                  <a:schemeClr val="accent2"/>
                </a:solidFill>
              </a:rPr>
              <a:t>char </a:t>
            </a:r>
            <a:r>
              <a:rPr lang="en-US" dirty="0" err="1">
                <a:solidFill>
                  <a:schemeClr val="accent2"/>
                </a:solidFill>
              </a:rPr>
              <a:t>str</a:t>
            </a:r>
            <a:r>
              <a:rPr lang="en-US" dirty="0">
                <a:solidFill>
                  <a:schemeClr val="accent2"/>
                </a:solidFill>
              </a:rPr>
              <a:t>[length of string in number]; //Declare a char type variable of any length </a:t>
            </a:r>
          </a:p>
          <a:p>
            <a:endParaRPr lang="en-US" dirty="0">
              <a:solidFill>
                <a:schemeClr val="accent2"/>
              </a:solidFill>
            </a:endParaRPr>
          </a:p>
          <a:p>
            <a:r>
              <a:rPr lang="en-US" dirty="0">
                <a:solidFill>
                  <a:schemeClr val="accent2"/>
                </a:solidFill>
              </a:rPr>
              <a:t>gets(</a:t>
            </a:r>
            <a:r>
              <a:rPr lang="en-US" dirty="0" err="1">
                <a:solidFill>
                  <a:schemeClr val="accent2"/>
                </a:solidFill>
              </a:rPr>
              <a:t>str</a:t>
            </a:r>
            <a:r>
              <a:rPr lang="en-US" dirty="0">
                <a:solidFill>
                  <a:schemeClr val="accent2"/>
                </a:solidFill>
              </a:rPr>
              <a:t>); </a:t>
            </a:r>
            <a:endParaRPr lang="en-IN" dirty="0">
              <a:solidFill>
                <a:schemeClr val="accent2"/>
              </a:solidFill>
            </a:endParaRP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3726993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9850"/>
          <a:stretch/>
        </p:blipFill>
        <p:spPr>
          <a:xfrm>
            <a:off x="2362200" y="457200"/>
            <a:ext cx="4184182" cy="5549900"/>
          </a:xfrm>
        </p:spPr>
      </p:pic>
    </p:spTree>
    <p:extLst>
      <p:ext uri="{BB962C8B-B14F-4D97-AF65-F5344CB8AC3E}">
        <p14:creationId xmlns:p14="http://schemas.microsoft.com/office/powerpoint/2010/main" val="671620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 C programming puts() function is used to display a group of characters or strings which is already stored in a character array. This function is declared in </a:t>
            </a:r>
            <a:r>
              <a:rPr lang="en-US" dirty="0" err="1"/>
              <a:t>stdio.h</a:t>
            </a:r>
            <a:r>
              <a:rPr lang="en-US" dirty="0"/>
              <a:t>(header file).</a:t>
            </a:r>
          </a:p>
          <a:p>
            <a:endParaRPr lang="en-US" dirty="0"/>
          </a:p>
          <a:p>
            <a:r>
              <a:rPr lang="en-US" dirty="0"/>
              <a:t>Syntax:  </a:t>
            </a:r>
          </a:p>
          <a:p>
            <a:endParaRPr lang="en-US" dirty="0"/>
          </a:p>
          <a:p>
            <a:r>
              <a:rPr lang="en-US" dirty="0">
                <a:solidFill>
                  <a:schemeClr val="accent2"/>
                </a:solidFill>
              </a:rPr>
              <a:t> puts(</a:t>
            </a:r>
            <a:r>
              <a:rPr lang="en-US" dirty="0" err="1">
                <a:solidFill>
                  <a:schemeClr val="accent2"/>
                </a:solidFill>
              </a:rPr>
              <a:t>identifier_name</a:t>
            </a:r>
            <a:r>
              <a:rPr lang="en-US" dirty="0">
                <a:solidFill>
                  <a:schemeClr val="accent2"/>
                </a:solidFill>
              </a:rPr>
              <a:t> );</a:t>
            </a:r>
            <a:endParaRPr lang="en-IN" dirty="0">
              <a:solidFill>
                <a:schemeClr val="accent2"/>
              </a:solidFill>
            </a:endParaRPr>
          </a:p>
        </p:txBody>
      </p:sp>
      <p:sp>
        <p:nvSpPr>
          <p:cNvPr id="3" name="Title 2"/>
          <p:cNvSpPr>
            <a:spLocks noGrp="1"/>
          </p:cNvSpPr>
          <p:nvPr>
            <p:ph type="title"/>
          </p:nvPr>
        </p:nvSpPr>
        <p:spPr/>
        <p:txBody>
          <a:bodyPr/>
          <a:lstStyle/>
          <a:p>
            <a:r>
              <a:rPr lang="en-IN" dirty="0">
                <a:effectLst/>
              </a:rPr>
              <a:t>puts():</a:t>
            </a:r>
            <a:endParaRPr lang="en-IN" dirty="0"/>
          </a:p>
        </p:txBody>
      </p:sp>
    </p:spTree>
    <p:extLst>
      <p:ext uri="{BB962C8B-B14F-4D97-AF65-F5344CB8AC3E}">
        <p14:creationId xmlns:p14="http://schemas.microsoft.com/office/powerpoint/2010/main" val="1869380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0491"/>
          <a:stretch/>
        </p:blipFill>
        <p:spPr>
          <a:xfrm>
            <a:off x="2362200" y="381000"/>
            <a:ext cx="3900723" cy="5867400"/>
          </a:xfrm>
        </p:spPr>
      </p:pic>
    </p:spTree>
    <p:extLst>
      <p:ext uri="{BB962C8B-B14F-4D97-AF65-F5344CB8AC3E}">
        <p14:creationId xmlns:p14="http://schemas.microsoft.com/office/powerpoint/2010/main" val="2780158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endParaRPr lang="en-US" dirty="0"/>
          </a:p>
          <a:p>
            <a:r>
              <a:rPr lang="en-US" dirty="0" err="1"/>
              <a:t>putch</a:t>
            </a:r>
            <a:r>
              <a:rPr lang="en-US" dirty="0"/>
              <a:t>() function is used to display a single character which is given by the user and that character prints at the current cursor location. </a:t>
            </a:r>
          </a:p>
          <a:p>
            <a:endParaRPr lang="en-US" dirty="0"/>
          </a:p>
          <a:p>
            <a:r>
              <a:rPr lang="en-US" dirty="0"/>
              <a:t>This function is declared in </a:t>
            </a:r>
            <a:r>
              <a:rPr lang="en-US" dirty="0" err="1"/>
              <a:t>conio.h</a:t>
            </a:r>
            <a:r>
              <a:rPr lang="en-US" dirty="0"/>
              <a:t>(header file)</a:t>
            </a:r>
          </a:p>
          <a:p>
            <a:endParaRPr lang="en-US" dirty="0"/>
          </a:p>
          <a:p>
            <a:r>
              <a:rPr lang="en-US" dirty="0"/>
              <a:t>Syntax:     </a:t>
            </a:r>
          </a:p>
          <a:p>
            <a:endParaRPr lang="en-US" dirty="0"/>
          </a:p>
          <a:p>
            <a:r>
              <a:rPr lang="en-US" dirty="0" err="1">
                <a:solidFill>
                  <a:schemeClr val="accent2"/>
                </a:solidFill>
              </a:rPr>
              <a:t>putch</a:t>
            </a:r>
            <a:r>
              <a:rPr lang="en-US" dirty="0">
                <a:solidFill>
                  <a:schemeClr val="accent2"/>
                </a:solidFill>
              </a:rPr>
              <a:t>(</a:t>
            </a:r>
            <a:r>
              <a:rPr lang="en-US" dirty="0" err="1">
                <a:solidFill>
                  <a:schemeClr val="accent2"/>
                </a:solidFill>
              </a:rPr>
              <a:t>variable_name</a:t>
            </a:r>
            <a:r>
              <a:rPr lang="en-US" dirty="0">
                <a:solidFill>
                  <a:schemeClr val="accent2"/>
                </a:solidFill>
              </a:rPr>
              <a:t>); </a:t>
            </a:r>
            <a:endParaRPr lang="en-IN" dirty="0">
              <a:solidFill>
                <a:schemeClr val="accent2"/>
              </a:solidFill>
            </a:endParaRPr>
          </a:p>
        </p:txBody>
      </p:sp>
      <p:sp>
        <p:nvSpPr>
          <p:cNvPr id="3" name="Title 2"/>
          <p:cNvSpPr>
            <a:spLocks noGrp="1"/>
          </p:cNvSpPr>
          <p:nvPr>
            <p:ph type="title"/>
          </p:nvPr>
        </p:nvSpPr>
        <p:spPr/>
        <p:txBody>
          <a:bodyPr>
            <a:normAutofit fontScale="90000"/>
          </a:bodyPr>
          <a:lstStyle/>
          <a:p>
            <a:r>
              <a:rPr lang="en-US" dirty="0" err="1"/>
              <a:t>putch</a:t>
            </a:r>
            <a:r>
              <a:rPr lang="en-US" dirty="0"/>
              <a:t>():</a:t>
            </a:r>
            <a:br>
              <a:rPr lang="en-US" dirty="0"/>
            </a:br>
            <a:endParaRPr lang="en-IN" dirty="0"/>
          </a:p>
        </p:txBody>
      </p:sp>
    </p:spTree>
    <p:extLst>
      <p:ext uri="{BB962C8B-B14F-4D97-AF65-F5344CB8AC3E}">
        <p14:creationId xmlns:p14="http://schemas.microsoft.com/office/powerpoint/2010/main" val="1722823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6584"/>
          <a:stretch/>
        </p:blipFill>
        <p:spPr>
          <a:xfrm>
            <a:off x="2514600" y="228600"/>
            <a:ext cx="4324996" cy="5763722"/>
          </a:xfrm>
        </p:spPr>
      </p:pic>
    </p:spTree>
    <p:extLst>
      <p:ext uri="{BB962C8B-B14F-4D97-AF65-F5344CB8AC3E}">
        <p14:creationId xmlns:p14="http://schemas.microsoft.com/office/powerpoint/2010/main" val="16420728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46</TotalTime>
  <Words>857</Words>
  <Application>Microsoft Office PowerPoint</Application>
  <PresentationFormat>On-screen Show (4:3)</PresentationFormat>
  <Paragraphs>102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Lucida Sans Unicode</vt:lpstr>
      <vt:lpstr>Verdana</vt:lpstr>
      <vt:lpstr>Wingdings 2</vt:lpstr>
      <vt:lpstr>Wingdings 3</vt:lpstr>
      <vt:lpstr>Concourse</vt:lpstr>
      <vt:lpstr>Formatted and Unformatted Input/Output functions in C  </vt:lpstr>
      <vt:lpstr>PowerPoint Presentation</vt:lpstr>
      <vt:lpstr>PowerPoint Presentation</vt:lpstr>
      <vt:lpstr>PowerPoint Presentation</vt:lpstr>
      <vt:lpstr>printf():</vt:lpstr>
      <vt:lpstr>scanf():</vt:lpstr>
      <vt:lpstr>PowerPoint Presentation</vt:lpstr>
      <vt:lpstr>sprintf():</vt:lpstr>
      <vt:lpstr>PowerPoint Presentation</vt:lpstr>
      <vt:lpstr>sscanf():</vt:lpstr>
      <vt:lpstr>PowerPoint Presentation</vt:lpstr>
      <vt:lpstr>Unformatted Input/Output functions</vt:lpstr>
      <vt:lpstr>Why they are called unformatted I/O?  </vt:lpstr>
      <vt:lpstr>getch()</vt:lpstr>
      <vt:lpstr>getche():</vt:lpstr>
      <vt:lpstr>PowerPoint Presentation</vt:lpstr>
      <vt:lpstr>getchar(): </vt:lpstr>
      <vt:lpstr>PowerPoint Presentation</vt:lpstr>
      <vt:lpstr>putchar</vt:lpstr>
      <vt:lpstr>PowerPoint Presentation</vt:lpstr>
      <vt:lpstr>gets():</vt:lpstr>
      <vt:lpstr>PowerPoint Presentation</vt:lpstr>
      <vt:lpstr>PowerPoint Presentation</vt:lpstr>
      <vt:lpstr>puts():</vt:lpstr>
      <vt:lpstr>PowerPoint Presentation</vt:lpstr>
      <vt:lpstr>putch():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Formatted and Unformatted Input/Output functions in C  </dc:title>
  <dc:creator>student</dc:creator>
  <cp:lastModifiedBy>VISHNU PRIYA P  M</cp:lastModifiedBy>
  <cp:revision>9</cp:revision>
  <dcterms:created xsi:type="dcterms:W3CDTF">2022-09-05T07:12:28Z</dcterms:created>
  <dcterms:modified xsi:type="dcterms:W3CDTF">2024-09-03T07:18:53Z</dcterms:modified>
</cp:coreProperties>
</file>