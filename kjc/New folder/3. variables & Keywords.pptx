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4" r:id="rId8"/>
    <p:sldId id="269" r:id="rId9"/>
    <p:sldId id="268" r:id="rId10"/>
    <p:sldId id="267" r:id="rId11"/>
  </p:sldIdLst>
  <p:sldSz cx="8102600" cy="6070600"/>
  <p:notesSz cx="8102600" cy="6070600"/>
  <p:embeddedFontLst>
    <p:embeddedFont>
      <p:font typeface="Arial Rounded MT Bold" panose="020F0704030504030204" pitchFamily="3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408" y="5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989B-A615-4272-9E29-B4EE9640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30" y="168628"/>
            <a:ext cx="7292340" cy="2769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15776-4561-4061-85B9-6ED8DF7C881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05130" y="1039871"/>
            <a:ext cx="3578648" cy="13849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88270-CD22-4F3F-9166-8C8F8E3B7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18822" y="1039871"/>
            <a:ext cx="3578648" cy="13849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BB1DA-72DD-4CC0-A194-D5B04AF2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130" y="5528181"/>
            <a:ext cx="1890607" cy="276999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CC382-CCF4-4C40-809E-64CD92842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8389" y="5528181"/>
            <a:ext cx="2565823" cy="276999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633C9-7341-47F7-8623-E6A2A8B5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6863" y="5528181"/>
            <a:ext cx="1890607" cy="276999"/>
          </a:xfrm>
        </p:spPr>
        <p:txBody>
          <a:bodyPr/>
          <a:lstStyle>
            <a:lvl1pPr>
              <a:defRPr/>
            </a:lvl1pPr>
          </a:lstStyle>
          <a:p>
            <a:fld id="{EAF512EE-58C9-4D04-834E-37CB8A253C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76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3584-295F-4051-9EE5-E2253A2C2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2769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B4DC7-B30F-4BF2-83F4-F9A0CE89D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66" y="2459482"/>
            <a:ext cx="6797992" cy="13849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5AF2B-F941-4DF7-952F-53DDC940EE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7666" y="9944862"/>
            <a:ext cx="1737264" cy="276999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1C693-2C60-4809-A75C-0F6061416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8130" y="9944862"/>
            <a:ext cx="2417063" cy="276999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E687D-BC49-4463-8419-D61F06A7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38394" y="9944862"/>
            <a:ext cx="1737264" cy="276999"/>
          </a:xfrm>
        </p:spPr>
        <p:txBody>
          <a:bodyPr/>
          <a:lstStyle>
            <a:lvl1pPr>
              <a:defRPr/>
            </a:lvl1pPr>
          </a:lstStyle>
          <a:p>
            <a:fld id="{149590E2-D043-42E3-AF87-22F5DF40AD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895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DF27FE-E4EA-458D-AF50-6F7560D81A93}"/>
              </a:ext>
            </a:extLst>
          </p:cNvPr>
          <p:cNvSpPr txBox="1"/>
          <p:nvPr/>
        </p:nvSpPr>
        <p:spPr>
          <a:xfrm>
            <a:off x="954956" y="1595140"/>
            <a:ext cx="576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u="sng" dirty="0">
                <a:latin typeface="Arial Rounded MT Bold" panose="020F0704030504030204" pitchFamily="34" charset="0"/>
              </a:rPr>
              <a:t>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CFC81-D3B3-4363-82FC-DAC3552F7AF0}"/>
              </a:ext>
            </a:extLst>
          </p:cNvPr>
          <p:cNvSpPr txBox="1"/>
          <p:nvPr/>
        </p:nvSpPr>
        <p:spPr>
          <a:xfrm>
            <a:off x="4411340" y="3539356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Prof. Vishnu Priya P M</a:t>
            </a:r>
          </a:p>
          <a:p>
            <a:pPr algn="ctr"/>
            <a:r>
              <a:rPr lang="en-IN" b="1" dirty="0"/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31577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3F9B80-E59E-4C68-BF68-24AD962D7B82}"/>
              </a:ext>
            </a:extLst>
          </p:cNvPr>
          <p:cNvSpPr txBox="1"/>
          <p:nvPr/>
        </p:nvSpPr>
        <p:spPr>
          <a:xfrm>
            <a:off x="0" y="82972"/>
            <a:ext cx="78677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Declaration of Variables in C</a:t>
            </a:r>
          </a:p>
          <a:p>
            <a:endParaRPr lang="en-US" dirty="0"/>
          </a:p>
          <a:p>
            <a:r>
              <a:rPr lang="en-US" dirty="0"/>
              <a:t>In C, a variable must be declared before it is used. The declaration involves specifying the data type of the variable followed by its name. Variables can be declared individually or in groups.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DB20A-8C95-4D75-88A3-2279ECA4E207}"/>
              </a:ext>
            </a:extLst>
          </p:cNvPr>
          <p:cNvSpPr txBox="1"/>
          <p:nvPr/>
        </p:nvSpPr>
        <p:spPr>
          <a:xfrm>
            <a:off x="201128" y="1560300"/>
            <a:ext cx="4050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data_type</a:t>
            </a:r>
            <a:r>
              <a:rPr lang="en-IN" b="1" dirty="0"/>
              <a:t> </a:t>
            </a:r>
            <a:r>
              <a:rPr lang="en-IN" b="1" dirty="0" err="1"/>
              <a:t>variable_name</a:t>
            </a:r>
            <a:r>
              <a:rPr lang="en-IN" b="1" dirty="0"/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AE6BC-F6E3-4D7A-9A11-C2578206B598}"/>
              </a:ext>
            </a:extLst>
          </p:cNvPr>
          <p:cNvSpPr txBox="1"/>
          <p:nvPr/>
        </p:nvSpPr>
        <p:spPr>
          <a:xfrm>
            <a:off x="2827164" y="1739156"/>
            <a:ext cx="4050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 age;</a:t>
            </a:r>
          </a:p>
          <a:p>
            <a:r>
              <a:rPr lang="en-US" b="1" dirty="0"/>
              <a:t>float salary;</a:t>
            </a:r>
          </a:p>
          <a:p>
            <a:r>
              <a:rPr lang="en-US" b="1" dirty="0"/>
              <a:t>char grade;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FE4932-B744-492D-9B4E-79597C57F35C}"/>
              </a:ext>
            </a:extLst>
          </p:cNvPr>
          <p:cNvSpPr txBox="1"/>
          <p:nvPr/>
        </p:nvSpPr>
        <p:spPr>
          <a:xfrm>
            <a:off x="90860" y="2662486"/>
            <a:ext cx="77768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Assigning Values to Variables in C</a:t>
            </a:r>
          </a:p>
          <a:p>
            <a:endParaRPr lang="en-US" dirty="0"/>
          </a:p>
          <a:p>
            <a:r>
              <a:rPr lang="en-US" dirty="0"/>
              <a:t>Once a variable is declared, a value can be assigned to it using the assignment operator (=). The assignment can be done either at the time of declaration or later in the code.</a:t>
            </a:r>
          </a:p>
          <a:p>
            <a:endParaRPr lang="en-US" dirty="0"/>
          </a:p>
          <a:p>
            <a:r>
              <a:rPr lang="en-US" dirty="0"/>
              <a:t>Syntax:							</a:t>
            </a:r>
            <a:r>
              <a:rPr lang="en-US" b="1" dirty="0"/>
              <a:t>Example:</a:t>
            </a:r>
          </a:p>
          <a:p>
            <a:r>
              <a:rPr lang="en-IN" dirty="0" err="1"/>
              <a:t>variable_name</a:t>
            </a:r>
            <a:r>
              <a:rPr lang="en-IN" dirty="0"/>
              <a:t> = value;</a:t>
            </a:r>
          </a:p>
          <a:p>
            <a:pPr algn="r"/>
            <a:r>
              <a:rPr lang="en-US" dirty="0"/>
              <a:t>age = 25;      // Assigning value after declaration</a:t>
            </a:r>
          </a:p>
          <a:p>
            <a:pPr algn="r"/>
            <a:r>
              <a:rPr lang="en-US" dirty="0"/>
              <a:t>float salary = 50000.50;  // Declaration and assignment together</a:t>
            </a:r>
          </a:p>
          <a:p>
            <a:pPr algn="r"/>
            <a:r>
              <a:rPr lang="en-US" dirty="0"/>
              <a:t>char grade = 'A';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534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237697C-D54C-464A-B3AC-5941DDC4E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8940" y="168628"/>
            <a:ext cx="7284720" cy="435953"/>
          </a:xfrm>
        </p:spPr>
        <p:txBody>
          <a:bodyPr/>
          <a:lstStyle/>
          <a:p>
            <a:r>
              <a:rPr lang="en-IN" altLang="en-US" sz="2833"/>
              <a:t>Variables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04D7AB8-5DA0-49DB-89A9-ADB463AF2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4470" y="957808"/>
            <a:ext cx="7693660" cy="4154984"/>
          </a:xfrm>
        </p:spPr>
        <p:txBody>
          <a:bodyPr/>
          <a:lstStyle/>
          <a:p>
            <a:pPr algn="just"/>
            <a:r>
              <a:rPr lang="en-US" altLang="en-US" dirty="0"/>
              <a:t>A variable is nothing but a name given to a storage area that our programs can manipulate. Each variable in C has a specific type, which determines the size and layout of the variable's memory; the range of values that can be stored within that memory; and the set of operations that can be applied to the variable.</a:t>
            </a:r>
          </a:p>
          <a:p>
            <a:pPr algn="just"/>
            <a:r>
              <a:rPr lang="en-US" altLang="en-US" dirty="0"/>
              <a:t>The name of a variable can be composed of letters, digits, and the underscore character. It must begin with either a letter or an underscore. Upper and lowercase letters are distinct because C is case-sensitive.  </a:t>
            </a:r>
            <a:r>
              <a:rPr lang="en-IN" altLang="en-US" dirty="0"/>
              <a:t>T</a:t>
            </a:r>
            <a:r>
              <a:rPr lang="en-US" altLang="en-US" dirty="0"/>
              <a:t>here </a:t>
            </a:r>
            <a:r>
              <a:rPr lang="en-IN" altLang="en-US" dirty="0"/>
              <a:t>are</a:t>
            </a:r>
            <a:r>
              <a:rPr lang="en-US" altLang="en-US" dirty="0"/>
              <a:t> following basic variable types −</a:t>
            </a:r>
          </a:p>
          <a:p>
            <a:pPr algn="just"/>
            <a:endParaRPr lang="en-US" altLang="en-US" dirty="0"/>
          </a:p>
          <a:p>
            <a:pPr algn="just">
              <a:buFontTx/>
              <a:buNone/>
            </a:pPr>
            <a:r>
              <a:rPr lang="en-IN" altLang="en-US" dirty="0"/>
              <a:t>   </a:t>
            </a:r>
            <a:r>
              <a:rPr lang="en-US" altLang="en-US" dirty="0"/>
              <a:t>Type</a:t>
            </a:r>
            <a:r>
              <a:rPr lang="en-IN" altLang="en-US" dirty="0"/>
              <a:t>   </a:t>
            </a:r>
            <a:r>
              <a:rPr lang="en-US" altLang="en-US" dirty="0"/>
              <a:t>	</a:t>
            </a:r>
            <a:r>
              <a:rPr lang="en-IN" altLang="en-US" dirty="0"/>
              <a:t>                 </a:t>
            </a:r>
            <a:r>
              <a:rPr lang="en-US" altLang="en-US" dirty="0"/>
              <a:t>Description</a:t>
            </a:r>
          </a:p>
          <a:p>
            <a:pPr algn="just"/>
            <a:r>
              <a:rPr lang="en-US" altLang="en-US" dirty="0"/>
              <a:t>char	</a:t>
            </a:r>
            <a:r>
              <a:rPr lang="en-IN" altLang="en-US" dirty="0"/>
              <a:t>                 </a:t>
            </a:r>
            <a:r>
              <a:rPr lang="en-US" altLang="en-US" dirty="0"/>
              <a:t>Typically a single octet(one byte). This is an integer type.</a:t>
            </a:r>
          </a:p>
          <a:p>
            <a:pPr algn="just"/>
            <a:r>
              <a:rPr lang="en-US" altLang="en-US" dirty="0"/>
              <a:t>int	</a:t>
            </a:r>
            <a:r>
              <a:rPr lang="en-IN" altLang="en-US" dirty="0"/>
              <a:t>                  </a:t>
            </a:r>
            <a:r>
              <a:rPr lang="en-US" altLang="en-US" dirty="0"/>
              <a:t>The most natural size of integer for the machine.</a:t>
            </a:r>
          </a:p>
          <a:p>
            <a:pPr algn="just"/>
            <a:r>
              <a:rPr lang="en-US" altLang="en-US" dirty="0"/>
              <a:t>float	</a:t>
            </a:r>
            <a:r>
              <a:rPr lang="en-IN" altLang="en-US" dirty="0"/>
              <a:t>                  </a:t>
            </a:r>
            <a:r>
              <a:rPr lang="en-US" altLang="en-US" dirty="0"/>
              <a:t>A single-precision floating point value.</a:t>
            </a:r>
          </a:p>
          <a:p>
            <a:pPr algn="just"/>
            <a:r>
              <a:rPr lang="en-US" altLang="en-US" dirty="0"/>
              <a:t>double	</a:t>
            </a:r>
            <a:r>
              <a:rPr lang="en-IN" altLang="en-US" dirty="0"/>
              <a:t>   </a:t>
            </a:r>
            <a:r>
              <a:rPr lang="en-US" altLang="en-US" dirty="0"/>
              <a:t>A double-precision floating point value.</a:t>
            </a:r>
          </a:p>
          <a:p>
            <a:pPr algn="just"/>
            <a:r>
              <a:rPr lang="en-US" altLang="en-US" dirty="0"/>
              <a:t>void	</a:t>
            </a:r>
            <a:r>
              <a:rPr lang="en-IN" altLang="en-US" dirty="0"/>
              <a:t>                   </a:t>
            </a:r>
            <a:r>
              <a:rPr lang="en-US" altLang="en-US" dirty="0"/>
              <a:t>Represents the absence of 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083082E-726E-4F6F-AC75-9D0DF6E3E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2849" y="149267"/>
            <a:ext cx="6455071" cy="599395"/>
          </a:xfrm>
        </p:spPr>
        <p:txBody>
          <a:bodyPr/>
          <a:lstStyle/>
          <a:p>
            <a:r>
              <a:rPr lang="en-IN" altLang="en-US" sz="3895"/>
              <a:t>Keywords</a:t>
            </a:r>
            <a:endParaRPr lang="en-US" altLang="en-US" sz="3895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CEC42FB-4647-4993-B821-7CA13EE4D2B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62849" y="920479"/>
            <a:ext cx="3167766" cy="3295967"/>
          </a:xfrm>
        </p:spPr>
        <p:txBody>
          <a:bodyPr/>
          <a:lstStyle/>
          <a:p>
            <a:r>
              <a:rPr lang="en-IN" altLang="en-US" sz="1947" dirty="0"/>
              <a:t>Keywords are nothing but system defined identifiers.</a:t>
            </a:r>
          </a:p>
          <a:p>
            <a:r>
              <a:rPr lang="en-IN" altLang="en-US" sz="1947" dirty="0"/>
              <a:t>Keywords are  reserved words of the language.</a:t>
            </a:r>
          </a:p>
          <a:p>
            <a:r>
              <a:rPr lang="en-IN" altLang="en-US" sz="1947" dirty="0"/>
              <a:t>They have specific meaning in the language and cannot be used by the programmer as variable or constant names</a:t>
            </a:r>
          </a:p>
          <a:p>
            <a:r>
              <a:rPr lang="en-IN" altLang="en-US" sz="1947" dirty="0"/>
              <a:t>C is case </a:t>
            </a:r>
            <a:r>
              <a:rPr lang="en-IN" altLang="en-US" sz="1947" dirty="0" err="1"/>
              <a:t>senitive</a:t>
            </a:r>
            <a:r>
              <a:rPr lang="en-IN" altLang="en-US" sz="1947" dirty="0"/>
              <a:t>, it means these must be used as it is</a:t>
            </a:r>
          </a:p>
          <a:p>
            <a:r>
              <a:rPr lang="en-IN" altLang="en-US" sz="1947" dirty="0"/>
              <a:t>32 Keywords in C Programming</a:t>
            </a:r>
            <a:endParaRPr lang="en-US" altLang="en-US" sz="1947" dirty="0"/>
          </a:p>
        </p:txBody>
      </p:sp>
      <p:graphicFrame>
        <p:nvGraphicFramePr>
          <p:cNvPr id="8196" name="Group 4">
            <a:extLst>
              <a:ext uri="{FF2B5EF4-FFF2-40B4-BE49-F238E27FC236}">
                <a16:creationId xmlns:a16="http://schemas.microsoft.com/office/drawing/2014/main" id="{A7674601-267C-4086-A27D-26B34D5A107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118751" y="1039871"/>
          <a:ext cx="3574909" cy="4384324"/>
        </p:xfrm>
        <a:graphic>
          <a:graphicData uri="http://schemas.openxmlformats.org/drawingml/2006/table">
            <a:tbl>
              <a:tblPr/>
              <a:tblGrid>
                <a:gridCol w="952747">
                  <a:extLst>
                    <a:ext uri="{9D8B030D-6E8A-4147-A177-3AD203B41FA5}">
                      <a16:colId xmlns:a16="http://schemas.microsoft.com/office/drawing/2014/main" val="656795457"/>
                    </a:ext>
                  </a:extLst>
                </a:gridCol>
                <a:gridCol w="798171">
                  <a:extLst>
                    <a:ext uri="{9D8B030D-6E8A-4147-A177-3AD203B41FA5}">
                      <a16:colId xmlns:a16="http://schemas.microsoft.com/office/drawing/2014/main" val="2834358860"/>
                    </a:ext>
                  </a:extLst>
                </a:gridCol>
                <a:gridCol w="848760">
                  <a:extLst>
                    <a:ext uri="{9D8B030D-6E8A-4147-A177-3AD203B41FA5}">
                      <a16:colId xmlns:a16="http://schemas.microsoft.com/office/drawing/2014/main" val="1055379469"/>
                    </a:ext>
                  </a:extLst>
                </a:gridCol>
                <a:gridCol w="975231">
                  <a:extLst>
                    <a:ext uri="{9D8B030D-6E8A-4147-A177-3AD203B41FA5}">
                      <a16:colId xmlns:a16="http://schemas.microsoft.com/office/drawing/2014/main" val="3148386050"/>
                    </a:ext>
                  </a:extLst>
                </a:gridCol>
              </a:tblGrid>
              <a:tr h="5494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auto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double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int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struct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177222"/>
                  </a:ext>
                </a:extLst>
              </a:tr>
              <a:tr h="5452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break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else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long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switch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583536"/>
                  </a:ext>
                </a:extLst>
              </a:tr>
              <a:tr h="5494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case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enum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register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typedef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993865"/>
                  </a:ext>
                </a:extLst>
              </a:tr>
              <a:tr h="5480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char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extern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return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union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348154"/>
                  </a:ext>
                </a:extLst>
              </a:tr>
              <a:tr h="5480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const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float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short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unsigned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3477"/>
                  </a:ext>
                </a:extLst>
              </a:tr>
              <a:tr h="5494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continue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for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signed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void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693674"/>
                  </a:ext>
                </a:extLst>
              </a:tr>
              <a:tr h="5452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default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goto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sizeof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volatile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366832"/>
                  </a:ext>
                </a:extLst>
              </a:tr>
              <a:tr h="5494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do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if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static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</a:rPr>
                        <a:t>while</a:t>
                      </a:r>
                    </a:p>
                  </a:txBody>
                  <a:tcPr marL="80941" marR="80941" marT="40471" marB="4047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4048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6073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412</Words>
  <Application>Microsoft Office PowerPoint</Application>
  <PresentationFormat>Custom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Arial Rounded MT Bold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Variables</vt:lpstr>
      <vt:lpstr>Keywords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sejda</dc:creator>
  <cp:lastModifiedBy>VISHNU PRIYA P  M</cp:lastModifiedBy>
  <cp:revision>9</cp:revision>
  <dcterms:modified xsi:type="dcterms:W3CDTF">2024-08-22T17:56:32Z</dcterms:modified>
</cp:coreProperties>
</file>